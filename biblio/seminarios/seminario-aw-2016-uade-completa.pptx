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0.xml" ContentType="application/vnd.openxmlformats-officedocument.presentationml.notesSlide+xml"/>
  <Override PartName="/ppt/notesSlides/notesSlide161.xml" ContentType="application/vnd.openxmlformats-officedocument.presentationml.notesSlide+xml"/>
  <Override PartName="/ppt/notesSlides/notesSlide162.xml" ContentType="application/vnd.openxmlformats-officedocument.presentationml.notesSlide+xml"/>
  <Override PartName="/ppt/notesSlides/notesSlide163.xml" ContentType="application/vnd.openxmlformats-officedocument.presentationml.notesSlide+xml"/>
  <Override PartName="/ppt/notesSlides/notesSlide164.xml" ContentType="application/vnd.openxmlformats-officedocument.presentationml.notesSlide+xml"/>
  <Override PartName="/ppt/notesSlides/notesSlide165.xml" ContentType="application/vnd.openxmlformats-officedocument.presentationml.notesSlide+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notesSlides/notesSlide176.xml" ContentType="application/vnd.openxmlformats-officedocument.presentationml.notesSlide+xml"/>
  <Override PartName="/ppt/notesSlides/notesSlide177.xml" ContentType="application/vnd.openxmlformats-officedocument.presentationml.notesSlide+xml"/>
  <Override PartName="/ppt/notesSlides/notesSlide178.xml" ContentType="application/vnd.openxmlformats-officedocument.presentationml.notesSlide+xml"/>
  <Override PartName="/ppt/notesSlides/notesSlide179.xml" ContentType="application/vnd.openxmlformats-officedocument.presentationml.notesSlide+xml"/>
  <Override PartName="/ppt/notesSlides/notesSlide180.xml" ContentType="application/vnd.openxmlformats-officedocument.presentationml.notesSlide+xml"/>
  <Override PartName="/ppt/notesSlides/notesSlide181.xml" ContentType="application/vnd.openxmlformats-officedocument.presentationml.notesSlide+xml"/>
  <Override PartName="/ppt/notesSlides/notesSlide182.xml" ContentType="application/vnd.openxmlformats-officedocument.presentationml.notesSlide+xml"/>
  <Override PartName="/ppt/notesSlides/notesSlide183.xml" ContentType="application/vnd.openxmlformats-officedocument.presentationml.notesSlide+xml"/>
  <Override PartName="/ppt/notesSlides/notesSlide184.xml" ContentType="application/vnd.openxmlformats-officedocument.presentationml.notesSlide+xml"/>
  <Override PartName="/ppt/notesSlides/notesSlide185.xml" ContentType="application/vnd.openxmlformats-officedocument.presentationml.notesSlide+xml"/>
  <Override PartName="/ppt/notesSlides/notesSlide186.xml" ContentType="application/vnd.openxmlformats-officedocument.presentationml.notesSlide+xml"/>
  <Override PartName="/ppt/notesSlides/notesSlide187.xml" ContentType="application/vnd.openxmlformats-officedocument.presentationml.notesSlide+xml"/>
  <Override PartName="/ppt/notesSlides/notesSlide188.xml" ContentType="application/vnd.openxmlformats-officedocument.presentationml.notesSlide+xml"/>
  <Override PartName="/ppt/notesSlides/notesSlide189.xml" ContentType="application/vnd.openxmlformats-officedocument.presentationml.notesSlide+xml"/>
  <Override PartName="/ppt/notesSlides/notesSlide190.xml" ContentType="application/vnd.openxmlformats-officedocument.presentationml.notesSlide+xml"/>
  <Override PartName="/ppt/notesSlides/notesSlide191.xml" ContentType="application/vnd.openxmlformats-officedocument.presentationml.notesSlide+xml"/>
  <Override PartName="/ppt/notesSlides/notesSlide192.xml" ContentType="application/vnd.openxmlformats-officedocument.presentationml.notesSlide+xml"/>
  <Override PartName="/ppt/notesSlides/notesSlide193.xml" ContentType="application/vnd.openxmlformats-officedocument.presentationml.notesSlide+xml"/>
  <Override PartName="/ppt/notesSlides/notesSlide194.xml" ContentType="application/vnd.openxmlformats-officedocument.presentationml.notesSlide+xml"/>
  <Override PartName="/ppt/notesSlides/notesSlide195.xml" ContentType="application/vnd.openxmlformats-officedocument.presentationml.notesSlide+xml"/>
  <Override PartName="/ppt/notesSlides/notesSlide196.xml" ContentType="application/vnd.openxmlformats-officedocument.presentationml.notesSlide+xml"/>
  <Override PartName="/ppt/notesSlides/notesSlide19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473" r:id="rId35"/>
    <p:sldId id="474" r:id="rId36"/>
    <p:sldId id="289" r:id="rId37"/>
    <p:sldId id="290" r:id="rId38"/>
    <p:sldId id="291" r:id="rId39"/>
    <p:sldId id="296" r:id="rId40"/>
    <p:sldId id="292" r:id="rId41"/>
    <p:sldId id="293" r:id="rId42"/>
    <p:sldId id="294" r:id="rId43"/>
    <p:sldId id="295" r:id="rId44"/>
    <p:sldId id="297" r:id="rId45"/>
    <p:sldId id="298" r:id="rId46"/>
    <p:sldId id="305" r:id="rId47"/>
    <p:sldId id="299" r:id="rId48"/>
    <p:sldId id="300" r:id="rId49"/>
    <p:sldId id="301" r:id="rId50"/>
    <p:sldId id="302" r:id="rId51"/>
    <p:sldId id="303" r:id="rId52"/>
    <p:sldId id="304" r:id="rId53"/>
    <p:sldId id="306" r:id="rId54"/>
    <p:sldId id="307" r:id="rId55"/>
    <p:sldId id="308" r:id="rId56"/>
    <p:sldId id="309" r:id="rId57"/>
    <p:sldId id="310" r:id="rId58"/>
    <p:sldId id="311" r:id="rId59"/>
    <p:sldId id="312" r:id="rId60"/>
    <p:sldId id="313" r:id="rId61"/>
    <p:sldId id="314" r:id="rId62"/>
    <p:sldId id="315" r:id="rId63"/>
    <p:sldId id="316" r:id="rId64"/>
    <p:sldId id="317" r:id="rId65"/>
    <p:sldId id="318" r:id="rId66"/>
    <p:sldId id="319" r:id="rId67"/>
    <p:sldId id="320" r:id="rId68"/>
    <p:sldId id="321" r:id="rId69"/>
    <p:sldId id="322" r:id="rId70"/>
    <p:sldId id="323" r:id="rId71"/>
    <p:sldId id="324" r:id="rId72"/>
    <p:sldId id="325" r:id="rId73"/>
    <p:sldId id="326" r:id="rId74"/>
    <p:sldId id="327" r:id="rId75"/>
    <p:sldId id="328" r:id="rId76"/>
    <p:sldId id="329" r:id="rId77"/>
    <p:sldId id="330" r:id="rId78"/>
    <p:sldId id="331" r:id="rId79"/>
    <p:sldId id="332" r:id="rId80"/>
    <p:sldId id="333" r:id="rId81"/>
    <p:sldId id="334" r:id="rId82"/>
    <p:sldId id="335" r:id="rId83"/>
    <p:sldId id="336" r:id="rId84"/>
    <p:sldId id="337" r:id="rId85"/>
    <p:sldId id="338" r:id="rId86"/>
    <p:sldId id="339" r:id="rId87"/>
    <p:sldId id="340" r:id="rId88"/>
    <p:sldId id="341" r:id="rId89"/>
    <p:sldId id="342" r:id="rId90"/>
    <p:sldId id="343" r:id="rId91"/>
    <p:sldId id="344" r:id="rId92"/>
    <p:sldId id="345" r:id="rId93"/>
    <p:sldId id="346" r:id="rId94"/>
    <p:sldId id="347" r:id="rId95"/>
    <p:sldId id="348" r:id="rId96"/>
    <p:sldId id="349" r:id="rId97"/>
    <p:sldId id="350" r:id="rId98"/>
    <p:sldId id="351" r:id="rId99"/>
    <p:sldId id="352" r:id="rId100"/>
    <p:sldId id="354" r:id="rId101"/>
    <p:sldId id="353" r:id="rId102"/>
    <p:sldId id="355" r:id="rId103"/>
    <p:sldId id="356" r:id="rId104"/>
    <p:sldId id="357" r:id="rId105"/>
    <p:sldId id="358" r:id="rId106"/>
    <p:sldId id="359" r:id="rId107"/>
    <p:sldId id="360" r:id="rId108"/>
    <p:sldId id="363" r:id="rId109"/>
    <p:sldId id="361" r:id="rId110"/>
    <p:sldId id="362" r:id="rId111"/>
    <p:sldId id="366" r:id="rId112"/>
    <p:sldId id="364" r:id="rId113"/>
    <p:sldId id="365" r:id="rId114"/>
    <p:sldId id="367" r:id="rId115"/>
    <p:sldId id="368" r:id="rId116"/>
    <p:sldId id="369" r:id="rId117"/>
    <p:sldId id="370" r:id="rId118"/>
    <p:sldId id="371" r:id="rId119"/>
    <p:sldId id="372" r:id="rId120"/>
    <p:sldId id="373" r:id="rId121"/>
    <p:sldId id="374" r:id="rId122"/>
    <p:sldId id="375" r:id="rId123"/>
    <p:sldId id="381" r:id="rId124"/>
    <p:sldId id="376" r:id="rId125"/>
    <p:sldId id="377" r:id="rId126"/>
    <p:sldId id="378" r:id="rId127"/>
    <p:sldId id="382" r:id="rId128"/>
    <p:sldId id="383" r:id="rId129"/>
    <p:sldId id="384" r:id="rId130"/>
    <p:sldId id="385" r:id="rId131"/>
    <p:sldId id="386" r:id="rId132"/>
    <p:sldId id="387" r:id="rId133"/>
    <p:sldId id="388" r:id="rId134"/>
    <p:sldId id="389" r:id="rId135"/>
    <p:sldId id="390" r:id="rId136"/>
    <p:sldId id="391" r:id="rId137"/>
    <p:sldId id="392" r:id="rId138"/>
    <p:sldId id="393" r:id="rId139"/>
    <p:sldId id="394" r:id="rId140"/>
    <p:sldId id="395" r:id="rId141"/>
    <p:sldId id="396" r:id="rId142"/>
    <p:sldId id="475" r:id="rId143"/>
    <p:sldId id="397" r:id="rId144"/>
    <p:sldId id="398" r:id="rId145"/>
    <p:sldId id="399" r:id="rId146"/>
    <p:sldId id="400" r:id="rId147"/>
    <p:sldId id="401" r:id="rId148"/>
    <p:sldId id="402" r:id="rId149"/>
    <p:sldId id="403" r:id="rId150"/>
    <p:sldId id="404" r:id="rId151"/>
    <p:sldId id="405" r:id="rId152"/>
    <p:sldId id="406" r:id="rId153"/>
    <p:sldId id="407" r:id="rId154"/>
    <p:sldId id="408" r:id="rId155"/>
    <p:sldId id="409" r:id="rId156"/>
    <p:sldId id="410" r:id="rId157"/>
    <p:sldId id="411" r:id="rId158"/>
    <p:sldId id="412" r:id="rId159"/>
    <p:sldId id="413" r:id="rId160"/>
    <p:sldId id="414" r:id="rId161"/>
    <p:sldId id="415" r:id="rId162"/>
    <p:sldId id="416" r:id="rId163"/>
    <p:sldId id="417" r:id="rId164"/>
    <p:sldId id="418" r:id="rId165"/>
    <p:sldId id="419" r:id="rId166"/>
    <p:sldId id="420" r:id="rId167"/>
    <p:sldId id="421" r:id="rId168"/>
    <p:sldId id="423" r:id="rId169"/>
    <p:sldId id="428" r:id="rId170"/>
    <p:sldId id="424" r:id="rId171"/>
    <p:sldId id="429" r:id="rId172"/>
    <p:sldId id="425" r:id="rId173"/>
    <p:sldId id="430" r:id="rId174"/>
    <p:sldId id="426" r:id="rId175"/>
    <p:sldId id="431" r:id="rId176"/>
    <p:sldId id="427" r:id="rId177"/>
    <p:sldId id="432" r:id="rId178"/>
    <p:sldId id="433" r:id="rId179"/>
    <p:sldId id="434" r:id="rId180"/>
    <p:sldId id="435" r:id="rId181"/>
    <p:sldId id="439" r:id="rId182"/>
    <p:sldId id="440" r:id="rId183"/>
    <p:sldId id="441" r:id="rId184"/>
    <p:sldId id="436" r:id="rId185"/>
    <p:sldId id="442" r:id="rId186"/>
    <p:sldId id="443" r:id="rId187"/>
    <p:sldId id="444" r:id="rId188"/>
    <p:sldId id="445" r:id="rId189"/>
    <p:sldId id="446" r:id="rId190"/>
    <p:sldId id="447" r:id="rId191"/>
    <p:sldId id="448" r:id="rId192"/>
    <p:sldId id="437" r:id="rId193"/>
    <p:sldId id="449" r:id="rId194"/>
    <p:sldId id="438" r:id="rId195"/>
    <p:sldId id="450" r:id="rId196"/>
    <p:sldId id="451" r:id="rId197"/>
    <p:sldId id="452" r:id="rId198"/>
    <p:sldId id="453" r:id="rId199"/>
    <p:sldId id="454" r:id="rId200"/>
    <p:sldId id="455" r:id="rId201"/>
    <p:sldId id="456" r:id="rId202"/>
    <p:sldId id="457" r:id="rId203"/>
    <p:sldId id="458" r:id="rId204"/>
    <p:sldId id="459" r:id="rId205"/>
    <p:sldId id="460" r:id="rId206"/>
    <p:sldId id="461" r:id="rId207"/>
    <p:sldId id="462" r:id="rId208"/>
    <p:sldId id="463" r:id="rId209"/>
    <p:sldId id="464" r:id="rId210"/>
    <p:sldId id="465" r:id="rId211"/>
    <p:sldId id="466" r:id="rId212"/>
    <p:sldId id="467" r:id="rId213"/>
    <p:sldId id="468" r:id="rId214"/>
    <p:sldId id="469" r:id="rId215"/>
    <p:sldId id="470" r:id="rId216"/>
    <p:sldId id="477" r:id="rId217"/>
    <p:sldId id="478" r:id="rId218"/>
    <p:sldId id="471" r:id="rId219"/>
  </p:sldIdLst>
  <p:sldSz cx="9144000" cy="6858000" type="screen4x3"/>
  <p:notesSz cx="6858000" cy="9144000"/>
  <p:defaultTextStyle>
    <a:defPPr>
      <a:defRPr lang="es-E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99"/>
    <a:srgbClr val="422C16"/>
    <a:srgbClr val="0C788E"/>
    <a:srgbClr val="025198"/>
    <a:srgbClr val="1C1C1C"/>
    <a:srgbClr val="660066"/>
    <a:srgbClr val="000058"/>
    <a:srgbClr val="2E17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1575" autoAdjust="0"/>
    <p:restoredTop sz="62731" autoAdjust="0"/>
  </p:normalViewPr>
  <p:slideViewPr>
    <p:cSldViewPr>
      <p:cViewPr varScale="1">
        <p:scale>
          <a:sx n="45" d="100"/>
          <a:sy n="45" d="100"/>
        </p:scale>
        <p:origin x="1860" y="5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170" Type="http://schemas.openxmlformats.org/officeDocument/2006/relationships/slide" Target="slides/slide169.xml"/><Relationship Id="rId191" Type="http://schemas.openxmlformats.org/officeDocument/2006/relationships/slide" Target="slides/slide190.xml"/><Relationship Id="rId205" Type="http://schemas.openxmlformats.org/officeDocument/2006/relationships/slide" Target="slides/slide204.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181" Type="http://schemas.openxmlformats.org/officeDocument/2006/relationships/slide" Target="slides/slide180.xml"/><Relationship Id="rId216" Type="http://schemas.openxmlformats.org/officeDocument/2006/relationships/slide" Target="slides/slide215.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71" Type="http://schemas.openxmlformats.org/officeDocument/2006/relationships/slide" Target="slides/slide170.xml"/><Relationship Id="rId192" Type="http://schemas.openxmlformats.org/officeDocument/2006/relationships/slide" Target="slides/slide191.xml"/><Relationship Id="rId206" Type="http://schemas.openxmlformats.org/officeDocument/2006/relationships/slide" Target="slides/slide205.xml"/><Relationship Id="rId12" Type="http://schemas.openxmlformats.org/officeDocument/2006/relationships/slide" Target="slides/slide11.xml"/><Relationship Id="rId33" Type="http://schemas.openxmlformats.org/officeDocument/2006/relationships/slide" Target="slides/slide32.xml"/><Relationship Id="rId108" Type="http://schemas.openxmlformats.org/officeDocument/2006/relationships/slide" Target="slides/slide107.xml"/><Relationship Id="rId129" Type="http://schemas.openxmlformats.org/officeDocument/2006/relationships/slide" Target="slides/slide128.xml"/><Relationship Id="rId54" Type="http://schemas.openxmlformats.org/officeDocument/2006/relationships/slide" Target="slides/slide53.xml"/><Relationship Id="rId75" Type="http://schemas.openxmlformats.org/officeDocument/2006/relationships/slide" Target="slides/slide74.xml"/><Relationship Id="rId96" Type="http://schemas.openxmlformats.org/officeDocument/2006/relationships/slide" Target="slides/slide95.xml"/><Relationship Id="rId140" Type="http://schemas.openxmlformats.org/officeDocument/2006/relationships/slide" Target="slides/slide139.xml"/><Relationship Id="rId161" Type="http://schemas.openxmlformats.org/officeDocument/2006/relationships/slide" Target="slides/slide160.xml"/><Relationship Id="rId182" Type="http://schemas.openxmlformats.org/officeDocument/2006/relationships/slide" Target="slides/slide181.xml"/><Relationship Id="rId217" Type="http://schemas.openxmlformats.org/officeDocument/2006/relationships/slide" Target="slides/slide216.xml"/><Relationship Id="rId6" Type="http://schemas.openxmlformats.org/officeDocument/2006/relationships/slide" Target="slides/slide5.xml"/><Relationship Id="rId23" Type="http://schemas.openxmlformats.org/officeDocument/2006/relationships/slide" Target="slides/slide22.xml"/><Relationship Id="rId119" Type="http://schemas.openxmlformats.org/officeDocument/2006/relationships/slide" Target="slides/slide118.xml"/><Relationship Id="rId44" Type="http://schemas.openxmlformats.org/officeDocument/2006/relationships/slide" Target="slides/slide43.xml"/><Relationship Id="rId65" Type="http://schemas.openxmlformats.org/officeDocument/2006/relationships/slide" Target="slides/slide64.xml"/><Relationship Id="rId86" Type="http://schemas.openxmlformats.org/officeDocument/2006/relationships/slide" Target="slides/slide85.xml"/><Relationship Id="rId130" Type="http://schemas.openxmlformats.org/officeDocument/2006/relationships/slide" Target="slides/slide129.xml"/><Relationship Id="rId151" Type="http://schemas.openxmlformats.org/officeDocument/2006/relationships/slide" Target="slides/slide150.xml"/><Relationship Id="rId172" Type="http://schemas.openxmlformats.org/officeDocument/2006/relationships/slide" Target="slides/slide171.xml"/><Relationship Id="rId193" Type="http://schemas.openxmlformats.org/officeDocument/2006/relationships/slide" Target="slides/slide192.xml"/><Relationship Id="rId207" Type="http://schemas.openxmlformats.org/officeDocument/2006/relationships/slide" Target="slides/slide206.xml"/><Relationship Id="rId13" Type="http://schemas.openxmlformats.org/officeDocument/2006/relationships/slide" Target="slides/slide12.xml"/><Relationship Id="rId109" Type="http://schemas.openxmlformats.org/officeDocument/2006/relationships/slide" Target="slides/slide108.xml"/><Relationship Id="rId34" Type="http://schemas.openxmlformats.org/officeDocument/2006/relationships/slide" Target="slides/slide33.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20" Type="http://schemas.openxmlformats.org/officeDocument/2006/relationships/slide" Target="slides/slide119.xml"/><Relationship Id="rId141" Type="http://schemas.openxmlformats.org/officeDocument/2006/relationships/slide" Target="slides/slide140.xml"/><Relationship Id="rId7" Type="http://schemas.openxmlformats.org/officeDocument/2006/relationships/slide" Target="slides/slide6.xml"/><Relationship Id="rId162" Type="http://schemas.openxmlformats.org/officeDocument/2006/relationships/slide" Target="slides/slide161.xml"/><Relationship Id="rId183" Type="http://schemas.openxmlformats.org/officeDocument/2006/relationships/slide" Target="slides/slide182.xml"/><Relationship Id="rId218" Type="http://schemas.openxmlformats.org/officeDocument/2006/relationships/slide" Target="slides/slide217.xml"/><Relationship Id="rId24" Type="http://schemas.openxmlformats.org/officeDocument/2006/relationships/slide" Target="slides/slide23.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31" Type="http://schemas.openxmlformats.org/officeDocument/2006/relationships/slide" Target="slides/slide130.xml"/><Relationship Id="rId152" Type="http://schemas.openxmlformats.org/officeDocument/2006/relationships/slide" Target="slides/slide151.xml"/><Relationship Id="rId173" Type="http://schemas.openxmlformats.org/officeDocument/2006/relationships/slide" Target="slides/slide172.xml"/><Relationship Id="rId194" Type="http://schemas.openxmlformats.org/officeDocument/2006/relationships/slide" Target="slides/slide193.xml"/><Relationship Id="rId208" Type="http://schemas.openxmlformats.org/officeDocument/2006/relationships/slide" Target="slides/slide207.xml"/><Relationship Id="rId14" Type="http://schemas.openxmlformats.org/officeDocument/2006/relationships/slide" Target="slides/slide13.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slide" Target="slides/slide183.xml"/><Relationship Id="rId189" Type="http://schemas.openxmlformats.org/officeDocument/2006/relationships/slide" Target="slides/slide188.xml"/><Relationship Id="rId219" Type="http://schemas.openxmlformats.org/officeDocument/2006/relationships/slide" Target="slides/slide218.xml"/><Relationship Id="rId3" Type="http://schemas.openxmlformats.org/officeDocument/2006/relationships/slide" Target="slides/slide2.xml"/><Relationship Id="rId214" Type="http://schemas.openxmlformats.org/officeDocument/2006/relationships/slide" Target="slides/slide213.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79" Type="http://schemas.openxmlformats.org/officeDocument/2006/relationships/slide" Target="slides/slide178.xml"/><Relationship Id="rId195" Type="http://schemas.openxmlformats.org/officeDocument/2006/relationships/slide" Target="slides/slide194.xml"/><Relationship Id="rId209" Type="http://schemas.openxmlformats.org/officeDocument/2006/relationships/slide" Target="slides/slide208.xml"/><Relationship Id="rId190" Type="http://schemas.openxmlformats.org/officeDocument/2006/relationships/slide" Target="slides/slide189.xml"/><Relationship Id="rId204" Type="http://schemas.openxmlformats.org/officeDocument/2006/relationships/slide" Target="slides/slide203.xml"/><Relationship Id="rId220" Type="http://schemas.openxmlformats.org/officeDocument/2006/relationships/notesMaster" Target="notesMasters/notesMaster1.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slide" Target="slides/slide163.xml"/><Relationship Id="rId169" Type="http://schemas.openxmlformats.org/officeDocument/2006/relationships/slide" Target="slides/slide168.xml"/><Relationship Id="rId185" Type="http://schemas.openxmlformats.org/officeDocument/2006/relationships/slide" Target="slides/slide184.xml"/><Relationship Id="rId4" Type="http://schemas.openxmlformats.org/officeDocument/2006/relationships/slide" Target="slides/slide3.xml"/><Relationship Id="rId9" Type="http://schemas.openxmlformats.org/officeDocument/2006/relationships/slide" Target="slides/slide8.xml"/><Relationship Id="rId180" Type="http://schemas.openxmlformats.org/officeDocument/2006/relationships/slide" Target="slides/slide179.xml"/><Relationship Id="rId210" Type="http://schemas.openxmlformats.org/officeDocument/2006/relationships/slide" Target="slides/slide209.xml"/><Relationship Id="rId215" Type="http://schemas.openxmlformats.org/officeDocument/2006/relationships/slide" Target="slides/slide214.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slide" Target="slides/slide174.xml"/><Relationship Id="rId196" Type="http://schemas.openxmlformats.org/officeDocument/2006/relationships/slide" Target="slides/slide195.xml"/><Relationship Id="rId200" Type="http://schemas.openxmlformats.org/officeDocument/2006/relationships/slide" Target="slides/slide199.xml"/><Relationship Id="rId16" Type="http://schemas.openxmlformats.org/officeDocument/2006/relationships/slide" Target="slides/slide15.xml"/><Relationship Id="rId221" Type="http://schemas.openxmlformats.org/officeDocument/2006/relationships/presProps" Target="presProps.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slide" Target="slides/slide164.xml"/><Relationship Id="rId186" Type="http://schemas.openxmlformats.org/officeDocument/2006/relationships/slide" Target="slides/slide185.xml"/><Relationship Id="rId211" Type="http://schemas.openxmlformats.org/officeDocument/2006/relationships/slide" Target="slides/slide210.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 Id="rId176" Type="http://schemas.openxmlformats.org/officeDocument/2006/relationships/slide" Target="slides/slide175.xml"/><Relationship Id="rId197" Type="http://schemas.openxmlformats.org/officeDocument/2006/relationships/slide" Target="slides/slide196.xml"/><Relationship Id="rId201" Type="http://schemas.openxmlformats.org/officeDocument/2006/relationships/slide" Target="slides/slide200.xml"/><Relationship Id="rId222" Type="http://schemas.openxmlformats.org/officeDocument/2006/relationships/viewProps" Target="viewProps.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 Id="rId70" Type="http://schemas.openxmlformats.org/officeDocument/2006/relationships/slide" Target="slides/slide69.xml"/><Relationship Id="rId91" Type="http://schemas.openxmlformats.org/officeDocument/2006/relationships/slide" Target="slides/slide90.xml"/><Relationship Id="rId145" Type="http://schemas.openxmlformats.org/officeDocument/2006/relationships/slide" Target="slides/slide144.xml"/><Relationship Id="rId166" Type="http://schemas.openxmlformats.org/officeDocument/2006/relationships/slide" Target="slides/slide165.xml"/><Relationship Id="rId187" Type="http://schemas.openxmlformats.org/officeDocument/2006/relationships/slide" Target="slides/slide186.xml"/><Relationship Id="rId1" Type="http://schemas.openxmlformats.org/officeDocument/2006/relationships/slideMaster" Target="slideMasters/slideMaster1.xml"/><Relationship Id="rId212" Type="http://schemas.openxmlformats.org/officeDocument/2006/relationships/slide" Target="slides/slide211.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60" Type="http://schemas.openxmlformats.org/officeDocument/2006/relationships/slide" Target="slides/slide59.xml"/><Relationship Id="rId81" Type="http://schemas.openxmlformats.org/officeDocument/2006/relationships/slide" Target="slides/slide80.xml"/><Relationship Id="rId135" Type="http://schemas.openxmlformats.org/officeDocument/2006/relationships/slide" Target="slides/slide134.xml"/><Relationship Id="rId156" Type="http://schemas.openxmlformats.org/officeDocument/2006/relationships/slide" Target="slides/slide155.xml"/><Relationship Id="rId177" Type="http://schemas.openxmlformats.org/officeDocument/2006/relationships/slide" Target="slides/slide176.xml"/><Relationship Id="rId198" Type="http://schemas.openxmlformats.org/officeDocument/2006/relationships/slide" Target="slides/slide197.xml"/><Relationship Id="rId202" Type="http://schemas.openxmlformats.org/officeDocument/2006/relationships/slide" Target="slides/slide201.xml"/><Relationship Id="rId223" Type="http://schemas.openxmlformats.org/officeDocument/2006/relationships/theme" Target="theme/theme1.xml"/><Relationship Id="rId18" Type="http://schemas.openxmlformats.org/officeDocument/2006/relationships/slide" Target="slides/slide17.xml"/><Relationship Id="rId39" Type="http://schemas.openxmlformats.org/officeDocument/2006/relationships/slide" Target="slides/slide38.xml"/><Relationship Id="rId50" Type="http://schemas.openxmlformats.org/officeDocument/2006/relationships/slide" Target="slides/slide49.xml"/><Relationship Id="rId104" Type="http://schemas.openxmlformats.org/officeDocument/2006/relationships/slide" Target="slides/slide103.xml"/><Relationship Id="rId125" Type="http://schemas.openxmlformats.org/officeDocument/2006/relationships/slide" Target="slides/slide124.xml"/><Relationship Id="rId146" Type="http://schemas.openxmlformats.org/officeDocument/2006/relationships/slide" Target="slides/slide145.xml"/><Relationship Id="rId167" Type="http://schemas.openxmlformats.org/officeDocument/2006/relationships/slide" Target="slides/slide166.xml"/><Relationship Id="rId188" Type="http://schemas.openxmlformats.org/officeDocument/2006/relationships/slide" Target="slides/slide187.xml"/><Relationship Id="rId71" Type="http://schemas.openxmlformats.org/officeDocument/2006/relationships/slide" Target="slides/slide70.xml"/><Relationship Id="rId92" Type="http://schemas.openxmlformats.org/officeDocument/2006/relationships/slide" Target="slides/slide91.xml"/><Relationship Id="rId213" Type="http://schemas.openxmlformats.org/officeDocument/2006/relationships/slide" Target="slides/slide212.xml"/><Relationship Id="rId2" Type="http://schemas.openxmlformats.org/officeDocument/2006/relationships/slide" Target="slides/slide1.xml"/><Relationship Id="rId29" Type="http://schemas.openxmlformats.org/officeDocument/2006/relationships/slide" Target="slides/slide28.xml"/><Relationship Id="rId40" Type="http://schemas.openxmlformats.org/officeDocument/2006/relationships/slide" Target="slides/slide39.xml"/><Relationship Id="rId115" Type="http://schemas.openxmlformats.org/officeDocument/2006/relationships/slide" Target="slides/slide114.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61" Type="http://schemas.openxmlformats.org/officeDocument/2006/relationships/slide" Target="slides/slide60.xml"/><Relationship Id="rId82" Type="http://schemas.openxmlformats.org/officeDocument/2006/relationships/slide" Target="slides/slide81.xml"/><Relationship Id="rId199" Type="http://schemas.openxmlformats.org/officeDocument/2006/relationships/slide" Target="slides/slide198.xml"/><Relationship Id="rId203" Type="http://schemas.openxmlformats.org/officeDocument/2006/relationships/slide" Target="slides/slide202.xml"/><Relationship Id="rId19" Type="http://schemas.openxmlformats.org/officeDocument/2006/relationships/slide" Target="slides/slide18.xml"/><Relationship Id="rId224" Type="http://schemas.openxmlformats.org/officeDocument/2006/relationships/tableStyles" Target="tableStyles.xml"/><Relationship Id="rId30" Type="http://schemas.openxmlformats.org/officeDocument/2006/relationships/slide" Target="slides/slide2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AR"/>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EF4DA3C-E0ED-4D12-86F6-1536B7F95009}" type="datetimeFigureOut">
              <a:rPr lang="es-AR" smtClean="0"/>
              <a:t>27/9/2016</a:t>
            </a:fld>
            <a:endParaRPr lang="es-AR"/>
          </a:p>
        </p:txBody>
      </p:sp>
      <p:sp>
        <p:nvSpPr>
          <p:cNvPr id="4" name="Marcador de imagen de diapositiva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s-AR"/>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AR"/>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6056653-EB7C-4C2C-8160-84A14F109A05}" type="slidenum">
              <a:rPr lang="es-AR" smtClean="0"/>
              <a:t>‹Nº›</a:t>
            </a:fld>
            <a:endParaRPr lang="es-AR"/>
          </a:p>
        </p:txBody>
      </p:sp>
    </p:spTree>
    <p:extLst>
      <p:ext uri="{BB962C8B-B14F-4D97-AF65-F5344CB8AC3E}">
        <p14:creationId xmlns:p14="http://schemas.microsoft.com/office/powerpoint/2010/main" val="7463098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3" Type="http://schemas.openxmlformats.org/officeDocument/2006/relationships/hyperlink" Target="http://accesibilidadweb.dlsi.ua.es/" TargetMode="External"/><Relationship Id="rId2" Type="http://schemas.openxmlformats.org/officeDocument/2006/relationships/slide" Target="../slides/slide20.xml"/><Relationship Id="rId1" Type="http://schemas.openxmlformats.org/officeDocument/2006/relationships/notesMaster" Target="../notesMasters/notesMaster1.xml"/><Relationship Id="rId4" Type="http://schemas.openxmlformats.org/officeDocument/2006/relationships/hyperlink" Target="https://www.oercommons.org/" TargetMode="Externa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3" Type="http://schemas.openxmlformats.org/officeDocument/2006/relationships/hyperlink" Target="ppppp" TargetMode="External"/><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2" Type="http://schemas.openxmlformats.org/officeDocument/2006/relationships/slide" Target="../slides/slide143.xml"/><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2" Type="http://schemas.openxmlformats.org/officeDocument/2006/relationships/slide" Target="../slides/slide144.xml"/><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2" Type="http://schemas.openxmlformats.org/officeDocument/2006/relationships/slide" Target="../slides/slide145.xml"/><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2" Type="http://schemas.openxmlformats.org/officeDocument/2006/relationships/slide" Target="../slides/slide146.xml"/><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2" Type="http://schemas.openxmlformats.org/officeDocument/2006/relationships/slide" Target="../slides/slide147.xml"/><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2" Type="http://schemas.openxmlformats.org/officeDocument/2006/relationships/slide" Target="../slides/slide148.xml"/><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2" Type="http://schemas.openxmlformats.org/officeDocument/2006/relationships/slide" Target="../slides/slide149.xml"/><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2" Type="http://schemas.openxmlformats.org/officeDocument/2006/relationships/slide" Target="../slides/slide150.xml"/><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2" Type="http://schemas.openxmlformats.org/officeDocument/2006/relationships/slide" Target="../slides/slide151.xml"/><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2" Type="http://schemas.openxmlformats.org/officeDocument/2006/relationships/slide" Target="../slides/slide152.xml"/><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2" Type="http://schemas.openxmlformats.org/officeDocument/2006/relationships/slide" Target="../slides/slide153.xml"/><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2" Type="http://schemas.openxmlformats.org/officeDocument/2006/relationships/slide" Target="../slides/slide154.xml"/><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2" Type="http://schemas.openxmlformats.org/officeDocument/2006/relationships/slide" Target="../slides/slide155.xml"/><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2" Type="http://schemas.openxmlformats.org/officeDocument/2006/relationships/slide" Target="../slides/slide156.xml"/><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2" Type="http://schemas.openxmlformats.org/officeDocument/2006/relationships/slide" Target="../slides/slide157.xml"/><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2" Type="http://schemas.openxmlformats.org/officeDocument/2006/relationships/slide" Target="../slides/slide158.xml"/><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2" Type="http://schemas.openxmlformats.org/officeDocument/2006/relationships/slide" Target="../slides/slide159.xml"/><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2" Type="http://schemas.openxmlformats.org/officeDocument/2006/relationships/slide" Target="../slides/slide160.xml"/><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2" Type="http://schemas.openxmlformats.org/officeDocument/2006/relationships/slide" Target="../slides/slide161.xml"/><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2" Type="http://schemas.openxmlformats.org/officeDocument/2006/relationships/slide" Target="../slides/slide162.xml"/><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2" Type="http://schemas.openxmlformats.org/officeDocument/2006/relationships/slide" Target="../slides/slide163.xml"/><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2" Type="http://schemas.openxmlformats.org/officeDocument/2006/relationships/slide" Target="../slides/slide164.xml"/><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2" Type="http://schemas.openxmlformats.org/officeDocument/2006/relationships/slide" Target="../slides/slide165.xml"/><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2" Type="http://schemas.openxmlformats.org/officeDocument/2006/relationships/slide" Target="../slides/slide166.xml"/><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2" Type="http://schemas.openxmlformats.org/officeDocument/2006/relationships/slide" Target="../slides/slide167.xml"/><Relationship Id="rId1" Type="http://schemas.openxmlformats.org/officeDocument/2006/relationships/notesMaster" Target="../notesMasters/notesMaster1.xml"/></Relationships>
</file>

<file path=ppt/notesSlides/_rels/notesSlide151.xml.rels><?xml version="1.0" encoding="UTF-8" standalone="yes"?>
<Relationships xmlns="http://schemas.openxmlformats.org/package/2006/relationships"><Relationship Id="rId2" Type="http://schemas.openxmlformats.org/officeDocument/2006/relationships/slide" Target="../slides/slide168.xml"/><Relationship Id="rId1" Type="http://schemas.openxmlformats.org/officeDocument/2006/relationships/notesMaster" Target="../notesMasters/notesMaster1.xml"/></Relationships>
</file>

<file path=ppt/notesSlides/_rels/notesSlide152.xml.rels><?xml version="1.0" encoding="UTF-8" standalone="yes"?>
<Relationships xmlns="http://schemas.openxmlformats.org/package/2006/relationships"><Relationship Id="rId2" Type="http://schemas.openxmlformats.org/officeDocument/2006/relationships/slide" Target="../slides/slide169.xml"/><Relationship Id="rId1" Type="http://schemas.openxmlformats.org/officeDocument/2006/relationships/notesMaster" Target="../notesMasters/notesMaster1.xml"/></Relationships>
</file>

<file path=ppt/notesSlides/_rels/notesSlide153.xml.rels><?xml version="1.0" encoding="UTF-8" standalone="yes"?>
<Relationships xmlns="http://schemas.openxmlformats.org/package/2006/relationships"><Relationship Id="rId2" Type="http://schemas.openxmlformats.org/officeDocument/2006/relationships/slide" Target="../slides/slide170.xml"/><Relationship Id="rId1" Type="http://schemas.openxmlformats.org/officeDocument/2006/relationships/notesMaster" Target="../notesMasters/notesMaster1.xml"/></Relationships>
</file>

<file path=ppt/notesSlides/_rels/notesSlide154.xml.rels><?xml version="1.0" encoding="UTF-8" standalone="yes"?>
<Relationships xmlns="http://schemas.openxmlformats.org/package/2006/relationships"><Relationship Id="rId2" Type="http://schemas.openxmlformats.org/officeDocument/2006/relationships/slide" Target="../slides/slide171.xml"/><Relationship Id="rId1" Type="http://schemas.openxmlformats.org/officeDocument/2006/relationships/notesMaster" Target="../notesMasters/notesMaster1.xml"/></Relationships>
</file>

<file path=ppt/notesSlides/_rels/notesSlide155.xml.rels><?xml version="1.0" encoding="UTF-8" standalone="yes"?>
<Relationships xmlns="http://schemas.openxmlformats.org/package/2006/relationships"><Relationship Id="rId2" Type="http://schemas.openxmlformats.org/officeDocument/2006/relationships/slide" Target="../slides/slide172.xml"/><Relationship Id="rId1" Type="http://schemas.openxmlformats.org/officeDocument/2006/relationships/notesMaster" Target="../notesMasters/notesMaster1.xml"/></Relationships>
</file>

<file path=ppt/notesSlides/_rels/notesSlide156.xml.rels><?xml version="1.0" encoding="UTF-8" standalone="yes"?>
<Relationships xmlns="http://schemas.openxmlformats.org/package/2006/relationships"><Relationship Id="rId2" Type="http://schemas.openxmlformats.org/officeDocument/2006/relationships/slide" Target="../slides/slide173.xml"/><Relationship Id="rId1" Type="http://schemas.openxmlformats.org/officeDocument/2006/relationships/notesMaster" Target="../notesMasters/notesMaster1.xml"/></Relationships>
</file>

<file path=ppt/notesSlides/_rels/notesSlide157.xml.rels><?xml version="1.0" encoding="UTF-8" standalone="yes"?>
<Relationships xmlns="http://schemas.openxmlformats.org/package/2006/relationships"><Relationship Id="rId2" Type="http://schemas.openxmlformats.org/officeDocument/2006/relationships/slide" Target="../slides/slide174.xml"/><Relationship Id="rId1" Type="http://schemas.openxmlformats.org/officeDocument/2006/relationships/notesMaster" Target="../notesMasters/notesMaster1.xml"/></Relationships>
</file>

<file path=ppt/notesSlides/_rels/notesSlide158.xml.rels><?xml version="1.0" encoding="UTF-8" standalone="yes"?>
<Relationships xmlns="http://schemas.openxmlformats.org/package/2006/relationships"><Relationship Id="rId2" Type="http://schemas.openxmlformats.org/officeDocument/2006/relationships/slide" Target="../slides/slide175.xml"/><Relationship Id="rId1" Type="http://schemas.openxmlformats.org/officeDocument/2006/relationships/notesMaster" Target="../notesMasters/notesMaster1.xml"/></Relationships>
</file>

<file path=ppt/notesSlides/_rels/notesSlide159.xml.rels><?xml version="1.0" encoding="UTF-8" standalone="yes"?>
<Relationships xmlns="http://schemas.openxmlformats.org/package/2006/relationships"><Relationship Id="rId2" Type="http://schemas.openxmlformats.org/officeDocument/2006/relationships/slide" Target="../slides/slide176.xml"/><Relationship Id="rId1" Type="http://schemas.openxmlformats.org/officeDocument/2006/relationships/notesMaster" Target="../notesMasters/notesMaster1.xml"/></Relationships>
</file>

<file path=ppt/notesSlides/_rels/notesSlide160.xml.rels><?xml version="1.0" encoding="UTF-8" standalone="yes"?>
<Relationships xmlns="http://schemas.openxmlformats.org/package/2006/relationships"><Relationship Id="rId3" Type="http://schemas.openxmlformats.org/officeDocument/2006/relationships/hyperlink" Target="http://www.w3.org/TR/accessibility-metrics-report/" TargetMode="External"/><Relationship Id="rId2" Type="http://schemas.openxmlformats.org/officeDocument/2006/relationships/slide" Target="../slides/slide177.xml"/><Relationship Id="rId1" Type="http://schemas.openxmlformats.org/officeDocument/2006/relationships/notesMaster" Target="../notesMasters/notesMaster1.xml"/></Relationships>
</file>

<file path=ppt/notesSlides/_rels/notesSlide161.xml.rels><?xml version="1.0" encoding="UTF-8" standalone="yes"?>
<Relationships xmlns="http://schemas.openxmlformats.org/package/2006/relationships"><Relationship Id="rId2" Type="http://schemas.openxmlformats.org/officeDocument/2006/relationships/slide" Target="../slides/slide178.xml"/><Relationship Id="rId1" Type="http://schemas.openxmlformats.org/officeDocument/2006/relationships/notesMaster" Target="../notesMasters/notesMaster1.xml"/></Relationships>
</file>

<file path=ppt/notesSlides/_rels/notesSlide162.xml.rels><?xml version="1.0" encoding="UTF-8" standalone="yes"?>
<Relationships xmlns="http://schemas.openxmlformats.org/package/2006/relationships"><Relationship Id="rId2" Type="http://schemas.openxmlformats.org/officeDocument/2006/relationships/slide" Target="../slides/slide179.xml"/><Relationship Id="rId1" Type="http://schemas.openxmlformats.org/officeDocument/2006/relationships/notesMaster" Target="../notesMasters/notesMaster1.xml"/></Relationships>
</file>

<file path=ppt/notesSlides/_rels/notesSlide163.xml.rels><?xml version="1.0" encoding="UTF-8" standalone="yes"?>
<Relationships xmlns="http://schemas.openxmlformats.org/package/2006/relationships"><Relationship Id="rId2" Type="http://schemas.openxmlformats.org/officeDocument/2006/relationships/slide" Target="../slides/slide180.xml"/><Relationship Id="rId1" Type="http://schemas.openxmlformats.org/officeDocument/2006/relationships/notesMaster" Target="../notesMasters/notesMaster1.xml"/></Relationships>
</file>

<file path=ppt/notesSlides/_rels/notesSlide164.xml.rels><?xml version="1.0" encoding="UTF-8" standalone="yes"?>
<Relationships xmlns="http://schemas.openxmlformats.org/package/2006/relationships"><Relationship Id="rId2" Type="http://schemas.openxmlformats.org/officeDocument/2006/relationships/slide" Target="../slides/slide181.xml"/><Relationship Id="rId1" Type="http://schemas.openxmlformats.org/officeDocument/2006/relationships/notesMaster" Target="../notesMasters/notesMaster1.xml"/></Relationships>
</file>

<file path=ppt/notesSlides/_rels/notesSlide165.xml.rels><?xml version="1.0" encoding="UTF-8" standalone="yes"?>
<Relationships xmlns="http://schemas.openxmlformats.org/package/2006/relationships"><Relationship Id="rId2" Type="http://schemas.openxmlformats.org/officeDocument/2006/relationships/slide" Target="../slides/slide182.xml"/><Relationship Id="rId1" Type="http://schemas.openxmlformats.org/officeDocument/2006/relationships/notesMaster" Target="../notesMasters/notesMaster1.xml"/></Relationships>
</file>

<file path=ppt/notesSlides/_rels/notesSlide166.xml.rels><?xml version="1.0" encoding="UTF-8" standalone="yes"?>
<Relationships xmlns="http://schemas.openxmlformats.org/package/2006/relationships"><Relationship Id="rId2" Type="http://schemas.openxmlformats.org/officeDocument/2006/relationships/slide" Target="../slides/slide183.xml"/><Relationship Id="rId1" Type="http://schemas.openxmlformats.org/officeDocument/2006/relationships/notesMaster" Target="../notesMasters/notesMaster1.xml"/></Relationships>
</file>

<file path=ppt/notesSlides/_rels/notesSlide167.xml.rels><?xml version="1.0" encoding="UTF-8" standalone="yes"?>
<Relationships xmlns="http://schemas.openxmlformats.org/package/2006/relationships"><Relationship Id="rId2" Type="http://schemas.openxmlformats.org/officeDocument/2006/relationships/slide" Target="../slides/slide184.xml"/><Relationship Id="rId1" Type="http://schemas.openxmlformats.org/officeDocument/2006/relationships/notesMaster" Target="../notesMasters/notesMaster1.xml"/></Relationships>
</file>

<file path=ppt/notesSlides/_rels/notesSlide168.xml.rels><?xml version="1.0" encoding="UTF-8" standalone="yes"?>
<Relationships xmlns="http://schemas.openxmlformats.org/package/2006/relationships"><Relationship Id="rId2" Type="http://schemas.openxmlformats.org/officeDocument/2006/relationships/slide" Target="../slides/slide185.xml"/><Relationship Id="rId1" Type="http://schemas.openxmlformats.org/officeDocument/2006/relationships/notesMaster" Target="../notesMasters/notesMaster1.xml"/></Relationships>
</file>

<file path=ppt/notesSlides/_rels/notesSlide169.xml.rels><?xml version="1.0" encoding="UTF-8" standalone="yes"?>
<Relationships xmlns="http://schemas.openxmlformats.org/package/2006/relationships"><Relationship Id="rId2" Type="http://schemas.openxmlformats.org/officeDocument/2006/relationships/slide" Target="../slides/slide186.xml"/><Relationship Id="rId1" Type="http://schemas.openxmlformats.org/officeDocument/2006/relationships/notesMaster" Target="../notesMasters/notesMaster1.xml"/></Relationships>
</file>

<file path=ppt/notesSlides/_rels/notesSlide170.xml.rels><?xml version="1.0" encoding="UTF-8" standalone="yes"?>
<Relationships xmlns="http://schemas.openxmlformats.org/package/2006/relationships"><Relationship Id="rId2" Type="http://schemas.openxmlformats.org/officeDocument/2006/relationships/slide" Target="../slides/slide187.xml"/><Relationship Id="rId1" Type="http://schemas.openxmlformats.org/officeDocument/2006/relationships/notesMaster" Target="../notesMasters/notesMaster1.xml"/></Relationships>
</file>

<file path=ppt/notesSlides/_rels/notesSlide171.xml.rels><?xml version="1.0" encoding="UTF-8" standalone="yes"?>
<Relationships xmlns="http://schemas.openxmlformats.org/package/2006/relationships"><Relationship Id="rId2" Type="http://schemas.openxmlformats.org/officeDocument/2006/relationships/slide" Target="../slides/slide188.xml"/><Relationship Id="rId1" Type="http://schemas.openxmlformats.org/officeDocument/2006/relationships/notesMaster" Target="../notesMasters/notesMaster1.xml"/></Relationships>
</file>

<file path=ppt/notesSlides/_rels/notesSlide172.xml.rels><?xml version="1.0" encoding="UTF-8" standalone="yes"?>
<Relationships xmlns="http://schemas.openxmlformats.org/package/2006/relationships"><Relationship Id="rId2" Type="http://schemas.openxmlformats.org/officeDocument/2006/relationships/slide" Target="../slides/slide189.xml"/><Relationship Id="rId1" Type="http://schemas.openxmlformats.org/officeDocument/2006/relationships/notesMaster" Target="../notesMasters/notesMaster1.xml"/></Relationships>
</file>

<file path=ppt/notesSlides/_rels/notesSlide173.xml.rels><?xml version="1.0" encoding="UTF-8" standalone="yes"?>
<Relationships xmlns="http://schemas.openxmlformats.org/package/2006/relationships"><Relationship Id="rId2" Type="http://schemas.openxmlformats.org/officeDocument/2006/relationships/slide" Target="../slides/slide190.xml"/><Relationship Id="rId1" Type="http://schemas.openxmlformats.org/officeDocument/2006/relationships/notesMaster" Target="../notesMasters/notesMaster1.xml"/></Relationships>
</file>

<file path=ppt/notesSlides/_rels/notesSlide174.xml.rels><?xml version="1.0" encoding="UTF-8" standalone="yes"?>
<Relationships xmlns="http://schemas.openxmlformats.org/package/2006/relationships"><Relationship Id="rId2" Type="http://schemas.openxmlformats.org/officeDocument/2006/relationships/slide" Target="../slides/slide191.xml"/><Relationship Id="rId1" Type="http://schemas.openxmlformats.org/officeDocument/2006/relationships/notesMaster" Target="../notesMasters/notesMaster1.xml"/></Relationships>
</file>

<file path=ppt/notesSlides/_rels/notesSlide175.xml.rels><?xml version="1.0" encoding="UTF-8" standalone="yes"?>
<Relationships xmlns="http://schemas.openxmlformats.org/package/2006/relationships"><Relationship Id="rId2" Type="http://schemas.openxmlformats.org/officeDocument/2006/relationships/slide" Target="../slides/slide192.xml"/><Relationship Id="rId1" Type="http://schemas.openxmlformats.org/officeDocument/2006/relationships/notesMaster" Target="../notesMasters/notesMaster1.xml"/></Relationships>
</file>

<file path=ppt/notesSlides/_rels/notesSlide176.xml.rels><?xml version="1.0" encoding="UTF-8" standalone="yes"?>
<Relationships xmlns="http://schemas.openxmlformats.org/package/2006/relationships"><Relationship Id="rId2" Type="http://schemas.openxmlformats.org/officeDocument/2006/relationships/slide" Target="../slides/slide193.xml"/><Relationship Id="rId1" Type="http://schemas.openxmlformats.org/officeDocument/2006/relationships/notesMaster" Target="../notesMasters/notesMaster1.xml"/></Relationships>
</file>

<file path=ppt/notesSlides/_rels/notesSlide177.xml.rels><?xml version="1.0" encoding="UTF-8" standalone="yes"?>
<Relationships xmlns="http://schemas.openxmlformats.org/package/2006/relationships"><Relationship Id="rId2" Type="http://schemas.openxmlformats.org/officeDocument/2006/relationships/slide" Target="../slides/slide194.xml"/><Relationship Id="rId1" Type="http://schemas.openxmlformats.org/officeDocument/2006/relationships/notesMaster" Target="../notesMasters/notesMaster1.xml"/></Relationships>
</file>

<file path=ppt/notesSlides/_rels/notesSlide178.xml.rels><?xml version="1.0" encoding="UTF-8" standalone="yes"?>
<Relationships xmlns="http://schemas.openxmlformats.org/package/2006/relationships"><Relationship Id="rId2" Type="http://schemas.openxmlformats.org/officeDocument/2006/relationships/slide" Target="../slides/slide195.xml"/><Relationship Id="rId1" Type="http://schemas.openxmlformats.org/officeDocument/2006/relationships/notesMaster" Target="../notesMasters/notesMaster1.xml"/></Relationships>
</file>

<file path=ppt/notesSlides/_rels/notesSlide179.xml.rels><?xml version="1.0" encoding="UTF-8" standalone="yes"?>
<Relationships xmlns="http://schemas.openxmlformats.org/package/2006/relationships"><Relationship Id="rId2" Type="http://schemas.openxmlformats.org/officeDocument/2006/relationships/slide" Target="../slides/slide196.xml"/><Relationship Id="rId1" Type="http://schemas.openxmlformats.org/officeDocument/2006/relationships/notesMaster" Target="../notesMasters/notesMaster1.xml"/></Relationships>
</file>

<file path=ppt/notesSlides/_rels/notesSlide180.xml.rels><?xml version="1.0" encoding="UTF-8" standalone="yes"?>
<Relationships xmlns="http://schemas.openxmlformats.org/package/2006/relationships"><Relationship Id="rId2" Type="http://schemas.openxmlformats.org/officeDocument/2006/relationships/slide" Target="../slides/slide197.xml"/><Relationship Id="rId1" Type="http://schemas.openxmlformats.org/officeDocument/2006/relationships/notesMaster" Target="../notesMasters/notesMaster1.xml"/></Relationships>
</file>

<file path=ppt/notesSlides/_rels/notesSlide181.xml.rels><?xml version="1.0" encoding="UTF-8" standalone="yes"?>
<Relationships xmlns="http://schemas.openxmlformats.org/package/2006/relationships"><Relationship Id="rId2" Type="http://schemas.openxmlformats.org/officeDocument/2006/relationships/slide" Target="../slides/slide198.xml"/><Relationship Id="rId1" Type="http://schemas.openxmlformats.org/officeDocument/2006/relationships/notesMaster" Target="../notesMasters/notesMaster1.xml"/></Relationships>
</file>

<file path=ppt/notesSlides/_rels/notesSlide182.xml.rels><?xml version="1.0" encoding="UTF-8" standalone="yes"?>
<Relationships xmlns="http://schemas.openxmlformats.org/package/2006/relationships"><Relationship Id="rId2" Type="http://schemas.openxmlformats.org/officeDocument/2006/relationships/slide" Target="../slides/slide199.xml"/><Relationship Id="rId1" Type="http://schemas.openxmlformats.org/officeDocument/2006/relationships/notesMaster" Target="../notesMasters/notesMaster1.xml"/></Relationships>
</file>

<file path=ppt/notesSlides/_rels/notesSlide183.xml.rels><?xml version="1.0" encoding="UTF-8" standalone="yes"?>
<Relationships xmlns="http://schemas.openxmlformats.org/package/2006/relationships"><Relationship Id="rId2" Type="http://schemas.openxmlformats.org/officeDocument/2006/relationships/slide" Target="../slides/slide200.xml"/><Relationship Id="rId1" Type="http://schemas.openxmlformats.org/officeDocument/2006/relationships/notesMaster" Target="../notesMasters/notesMaster1.xml"/></Relationships>
</file>

<file path=ppt/notesSlides/_rels/notesSlide184.xml.rels><?xml version="1.0" encoding="UTF-8" standalone="yes"?>
<Relationships xmlns="http://schemas.openxmlformats.org/package/2006/relationships"><Relationship Id="rId2" Type="http://schemas.openxmlformats.org/officeDocument/2006/relationships/slide" Target="../slides/slide201.xml"/><Relationship Id="rId1" Type="http://schemas.openxmlformats.org/officeDocument/2006/relationships/notesMaster" Target="../notesMasters/notesMaster1.xml"/></Relationships>
</file>

<file path=ppt/notesSlides/_rels/notesSlide185.xml.rels><?xml version="1.0" encoding="UTF-8" standalone="yes"?>
<Relationships xmlns="http://schemas.openxmlformats.org/package/2006/relationships"><Relationship Id="rId2" Type="http://schemas.openxmlformats.org/officeDocument/2006/relationships/slide" Target="../slides/slide202.xml"/><Relationship Id="rId1" Type="http://schemas.openxmlformats.org/officeDocument/2006/relationships/notesMaster" Target="../notesMasters/notesMaster1.xml"/></Relationships>
</file>

<file path=ppt/notesSlides/_rels/notesSlide186.xml.rels><?xml version="1.0" encoding="UTF-8" standalone="yes"?>
<Relationships xmlns="http://schemas.openxmlformats.org/package/2006/relationships"><Relationship Id="rId2" Type="http://schemas.openxmlformats.org/officeDocument/2006/relationships/slide" Target="../slides/slide203.xml"/><Relationship Id="rId1" Type="http://schemas.openxmlformats.org/officeDocument/2006/relationships/notesMaster" Target="../notesMasters/notesMaster1.xml"/></Relationships>
</file>

<file path=ppt/notesSlides/_rels/notesSlide187.xml.rels><?xml version="1.0" encoding="UTF-8" standalone="yes"?>
<Relationships xmlns="http://schemas.openxmlformats.org/package/2006/relationships"><Relationship Id="rId2" Type="http://schemas.openxmlformats.org/officeDocument/2006/relationships/slide" Target="../slides/slide204.xml"/><Relationship Id="rId1" Type="http://schemas.openxmlformats.org/officeDocument/2006/relationships/notesMaster" Target="../notesMasters/notesMaster1.xml"/></Relationships>
</file>

<file path=ppt/notesSlides/_rels/notesSlide188.xml.rels><?xml version="1.0" encoding="UTF-8" standalone="yes"?>
<Relationships xmlns="http://schemas.openxmlformats.org/package/2006/relationships"><Relationship Id="rId2" Type="http://schemas.openxmlformats.org/officeDocument/2006/relationships/slide" Target="../slides/slide205.xml"/><Relationship Id="rId1" Type="http://schemas.openxmlformats.org/officeDocument/2006/relationships/notesMaster" Target="../notesMasters/notesMaster1.xml"/></Relationships>
</file>

<file path=ppt/notesSlides/_rels/notesSlide189.xml.rels><?xml version="1.0" encoding="UTF-8" standalone="yes"?>
<Relationships xmlns="http://schemas.openxmlformats.org/package/2006/relationships"><Relationship Id="rId2" Type="http://schemas.openxmlformats.org/officeDocument/2006/relationships/slide" Target="../slides/slide206.xml"/><Relationship Id="rId1" Type="http://schemas.openxmlformats.org/officeDocument/2006/relationships/notesMaster" Target="../notesMasters/notesMaster1.xml"/></Relationships>
</file>

<file path=ppt/notesSlides/_rels/notesSlide190.xml.rels><?xml version="1.0" encoding="UTF-8" standalone="yes"?>
<Relationships xmlns="http://schemas.openxmlformats.org/package/2006/relationships"><Relationship Id="rId2" Type="http://schemas.openxmlformats.org/officeDocument/2006/relationships/slide" Target="../slides/slide207.xml"/><Relationship Id="rId1" Type="http://schemas.openxmlformats.org/officeDocument/2006/relationships/notesMaster" Target="../notesMasters/notesMaster1.xml"/></Relationships>
</file>

<file path=ppt/notesSlides/_rels/notesSlide191.xml.rels><?xml version="1.0" encoding="UTF-8" standalone="yes"?>
<Relationships xmlns="http://schemas.openxmlformats.org/package/2006/relationships"><Relationship Id="rId2" Type="http://schemas.openxmlformats.org/officeDocument/2006/relationships/slide" Target="../slides/slide208.xml"/><Relationship Id="rId1" Type="http://schemas.openxmlformats.org/officeDocument/2006/relationships/notesMaster" Target="../notesMasters/notesMaster1.xml"/></Relationships>
</file>

<file path=ppt/notesSlides/_rels/notesSlide192.xml.rels><?xml version="1.0" encoding="UTF-8" standalone="yes"?>
<Relationships xmlns="http://schemas.openxmlformats.org/package/2006/relationships"><Relationship Id="rId2" Type="http://schemas.openxmlformats.org/officeDocument/2006/relationships/slide" Target="../slides/slide209.xml"/><Relationship Id="rId1" Type="http://schemas.openxmlformats.org/officeDocument/2006/relationships/notesMaster" Target="../notesMasters/notesMaster1.xml"/></Relationships>
</file>

<file path=ppt/notesSlides/_rels/notesSlide193.xml.rels><?xml version="1.0" encoding="UTF-8" standalone="yes"?>
<Relationships xmlns="http://schemas.openxmlformats.org/package/2006/relationships"><Relationship Id="rId2" Type="http://schemas.openxmlformats.org/officeDocument/2006/relationships/slide" Target="../slides/slide210.xml"/><Relationship Id="rId1" Type="http://schemas.openxmlformats.org/officeDocument/2006/relationships/notesMaster" Target="../notesMasters/notesMaster1.xml"/></Relationships>
</file>

<file path=ppt/notesSlides/_rels/notesSlide194.xml.rels><?xml version="1.0" encoding="UTF-8" standalone="yes"?>
<Relationships xmlns="http://schemas.openxmlformats.org/package/2006/relationships"><Relationship Id="rId2" Type="http://schemas.openxmlformats.org/officeDocument/2006/relationships/slide" Target="../slides/slide211.xml"/><Relationship Id="rId1" Type="http://schemas.openxmlformats.org/officeDocument/2006/relationships/notesMaster" Target="../notesMasters/notesMaster1.xml"/></Relationships>
</file>

<file path=ppt/notesSlides/_rels/notesSlide195.xml.rels><?xml version="1.0" encoding="UTF-8" standalone="yes"?>
<Relationships xmlns="http://schemas.openxmlformats.org/package/2006/relationships"><Relationship Id="rId2" Type="http://schemas.openxmlformats.org/officeDocument/2006/relationships/slide" Target="../slides/slide212.xml"/><Relationship Id="rId1" Type="http://schemas.openxmlformats.org/officeDocument/2006/relationships/notesMaster" Target="../notesMasters/notesMaster1.xml"/></Relationships>
</file>

<file path=ppt/notesSlides/_rels/notesSlide196.xml.rels><?xml version="1.0" encoding="UTF-8" standalone="yes"?>
<Relationships xmlns="http://schemas.openxmlformats.org/package/2006/relationships"><Relationship Id="rId2" Type="http://schemas.openxmlformats.org/officeDocument/2006/relationships/slide" Target="../slides/slide213.xml"/><Relationship Id="rId1" Type="http://schemas.openxmlformats.org/officeDocument/2006/relationships/notesMaster" Target="../notesMasters/notesMaster1.xml"/></Relationships>
</file>

<file path=ppt/notesSlides/_rels/notesSlide197.xml.rels><?xml version="1.0" encoding="UTF-8" standalone="yes"?>
<Relationships xmlns="http://schemas.openxmlformats.org/package/2006/relationships"><Relationship Id="rId2" Type="http://schemas.openxmlformats.org/officeDocument/2006/relationships/slide" Target="../slides/slide2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AR" dirty="0"/>
              <a:t>Este seminario</a:t>
            </a:r>
            <a:r>
              <a:rPr lang="es-AR" baseline="0" dirty="0"/>
              <a:t> es una introducción a la accesibilidad web. </a:t>
            </a:r>
          </a:p>
          <a:p>
            <a:r>
              <a:rPr lang="es-AR" baseline="0" dirty="0"/>
              <a:t>Al finalizar este seminario conocerán los principales problemas de falta de accesibilidad que presentan las páginas web </a:t>
            </a:r>
          </a:p>
          <a:p>
            <a:r>
              <a:rPr lang="es-AR" baseline="0" dirty="0"/>
              <a:t>y serán capaces de plantear e implementar soluciones para esos problemas.</a:t>
            </a:r>
          </a:p>
          <a:p>
            <a:r>
              <a:rPr lang="es-AR" altLang="es-AR" sz="2000" dirty="0"/>
              <a:t>La accesibilidad web significa que personas con algún tipo de discapacidad van a poder hacer uso de la Web. </a:t>
            </a:r>
          </a:p>
          <a:p>
            <a:r>
              <a:rPr lang="es-AR" altLang="es-AR" sz="2000" dirty="0"/>
              <a:t>En concreto, al hablar de accesibilidad web se está haciendo referencia a un diseño web que va a permitir que estas personas puedan percibir, entender, navegar e interactuar con la Web, aportando a su vez contenidos.</a:t>
            </a:r>
          </a:p>
          <a:p>
            <a:pPr algn="just" eaLnBrk="1" hangingPunct="1">
              <a:lnSpc>
                <a:spcPct val="90000"/>
              </a:lnSpc>
            </a:pPr>
            <a:r>
              <a:rPr lang="es-AR" altLang="es-AR" sz="2400" dirty="0"/>
              <a:t>Por otro lado, </a:t>
            </a:r>
            <a:r>
              <a:rPr lang="es-AR" altLang="es-AR" sz="2400" dirty="0" err="1"/>
              <a:t>Jim</a:t>
            </a:r>
            <a:r>
              <a:rPr lang="es-AR" altLang="es-AR" sz="2400" dirty="0"/>
              <a:t> Thatcher, gurú internacional de la accesibilidad web explica que la accesibilidad web se puede dividir en tres categorías:</a:t>
            </a:r>
          </a:p>
          <a:p>
            <a:pPr algn="just" eaLnBrk="1" hangingPunct="1">
              <a:lnSpc>
                <a:spcPct val="90000"/>
              </a:lnSpc>
            </a:pPr>
            <a:r>
              <a:rPr lang="es-AR" altLang="es-AR" sz="2000" dirty="0"/>
              <a:t>La accesibilidad web se puede dividir en tres categorías principales:  </a:t>
            </a:r>
            <a:r>
              <a:rPr lang="es-AR" altLang="es-AR" sz="1800" dirty="0"/>
              <a:t>del contenido, de la navegación y del diseño.</a:t>
            </a:r>
            <a:endParaRPr lang="es-AR" dirty="0"/>
          </a:p>
        </p:txBody>
      </p:sp>
      <p:sp>
        <p:nvSpPr>
          <p:cNvPr id="4" name="Marcador de número de diapositiva 3"/>
          <p:cNvSpPr>
            <a:spLocks noGrp="1"/>
          </p:cNvSpPr>
          <p:nvPr>
            <p:ph type="sldNum" sz="quarter" idx="10"/>
          </p:nvPr>
        </p:nvSpPr>
        <p:spPr/>
        <p:txBody>
          <a:bodyPr/>
          <a:lstStyle/>
          <a:p>
            <a:fld id="{16056653-EB7C-4C2C-8160-84A14F109A05}" type="slidenum">
              <a:rPr lang="es-AR" smtClean="0"/>
              <a:t>3</a:t>
            </a:fld>
            <a:endParaRPr lang="es-AR"/>
          </a:p>
        </p:txBody>
      </p:sp>
    </p:spTree>
    <p:extLst>
      <p:ext uri="{BB962C8B-B14F-4D97-AF65-F5344CB8AC3E}">
        <p14:creationId xmlns:p14="http://schemas.microsoft.com/office/powerpoint/2010/main" val="393633006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AR" dirty="0"/>
              <a:t>Introducción</a:t>
            </a:r>
            <a:r>
              <a:rPr lang="es-AR" baseline="0" dirty="0"/>
              <a:t> a la Accesibilidad Web.</a:t>
            </a:r>
            <a:endParaRPr lang="es-AR" dirty="0"/>
          </a:p>
        </p:txBody>
      </p:sp>
      <p:sp>
        <p:nvSpPr>
          <p:cNvPr id="4" name="Marcador de número de diapositiva 3"/>
          <p:cNvSpPr>
            <a:spLocks noGrp="1"/>
          </p:cNvSpPr>
          <p:nvPr>
            <p:ph type="sldNum" sz="quarter" idx="10"/>
          </p:nvPr>
        </p:nvSpPr>
        <p:spPr/>
        <p:txBody>
          <a:bodyPr/>
          <a:lstStyle/>
          <a:p>
            <a:fld id="{16056653-EB7C-4C2C-8160-84A14F109A05}" type="slidenum">
              <a:rPr lang="es-AR" smtClean="0"/>
              <a:t>4</a:t>
            </a:fld>
            <a:endParaRPr lang="es-AR"/>
          </a:p>
        </p:txBody>
      </p:sp>
    </p:spTree>
    <p:extLst>
      <p:ext uri="{BB962C8B-B14F-4D97-AF65-F5344CB8AC3E}">
        <p14:creationId xmlns:p14="http://schemas.microsoft.com/office/powerpoint/2010/main" val="72565474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AR" altLang="es-AR" sz="1200" dirty="0"/>
              <a:t>Todos nosotros difícilmente podemos concebir nuestras vidas sin la Web. </a:t>
            </a:r>
          </a:p>
          <a:p>
            <a:pPr marL="0" marR="0" lvl="0" indent="0" algn="l" defTabSz="914400" rtl="0" eaLnBrk="1" fontAlgn="auto" latinLnBrk="0" hangingPunct="1">
              <a:lnSpc>
                <a:spcPct val="100000"/>
              </a:lnSpc>
              <a:spcBef>
                <a:spcPts val="0"/>
              </a:spcBef>
              <a:spcAft>
                <a:spcPts val="0"/>
              </a:spcAft>
              <a:buClrTx/>
              <a:buSzTx/>
              <a:buFontTx/>
              <a:buNone/>
              <a:tabLst/>
              <a:defRPr/>
            </a:pPr>
            <a:r>
              <a:rPr lang="es-AR" altLang="es-AR" sz="1200" dirty="0"/>
              <a:t>La Web nos permite acceder a las noticias de cualquier parte del mundo. </a:t>
            </a:r>
          </a:p>
          <a:p>
            <a:pPr marL="0" marR="0" lvl="0" indent="0" algn="l" defTabSz="914400" rtl="0" eaLnBrk="1" fontAlgn="auto" latinLnBrk="0" hangingPunct="1">
              <a:lnSpc>
                <a:spcPct val="100000"/>
              </a:lnSpc>
              <a:spcBef>
                <a:spcPts val="0"/>
              </a:spcBef>
              <a:spcAft>
                <a:spcPts val="0"/>
              </a:spcAft>
              <a:buClrTx/>
              <a:buSzTx/>
              <a:buFontTx/>
              <a:buNone/>
              <a:tabLst/>
              <a:defRPr/>
            </a:pPr>
            <a:r>
              <a:rPr lang="es-AR" altLang="es-AR" sz="1200" dirty="0"/>
              <a:t>La Web nos permite comunicarnos con personas de cualquier parte del mundo a través del correo electrónico, el chat o incluso mediante videoconferencia. </a:t>
            </a:r>
          </a:p>
          <a:p>
            <a:pPr marL="0" marR="0" lvl="0" indent="0" algn="l" defTabSz="914400" rtl="0" eaLnBrk="1" fontAlgn="auto" latinLnBrk="0" hangingPunct="1">
              <a:lnSpc>
                <a:spcPct val="100000"/>
              </a:lnSpc>
              <a:spcBef>
                <a:spcPts val="0"/>
              </a:spcBef>
              <a:spcAft>
                <a:spcPts val="0"/>
              </a:spcAft>
              <a:buClrTx/>
              <a:buSzTx/>
              <a:buFontTx/>
              <a:buNone/>
              <a:tabLst/>
              <a:defRPr/>
            </a:pPr>
            <a:r>
              <a:rPr lang="es-AR" altLang="es-AR" sz="1200" dirty="0"/>
              <a:t>La Web nos permite comprar casi cualquier producto y recibirlo a los pocos días en casa. </a:t>
            </a:r>
          </a:p>
          <a:p>
            <a:pPr marL="0" marR="0" lvl="0" indent="0" algn="l" defTabSz="914400" rtl="0" eaLnBrk="1" fontAlgn="auto" latinLnBrk="0" hangingPunct="1">
              <a:lnSpc>
                <a:spcPct val="100000"/>
              </a:lnSpc>
              <a:spcBef>
                <a:spcPts val="0"/>
              </a:spcBef>
              <a:spcAft>
                <a:spcPts val="0"/>
              </a:spcAft>
              <a:buClrTx/>
              <a:buSzTx/>
              <a:buFontTx/>
              <a:buNone/>
              <a:tabLst/>
              <a:defRPr/>
            </a:pPr>
            <a:r>
              <a:rPr lang="es-AR" altLang="es-AR" sz="1200" dirty="0"/>
              <a:t>La Web nos ofrece infinitas posibilidades de entretenimiento. </a:t>
            </a:r>
          </a:p>
          <a:p>
            <a:pPr marL="0" marR="0" lvl="0" indent="0" algn="l" defTabSz="914400" rtl="0" eaLnBrk="1" fontAlgn="auto" latinLnBrk="0" hangingPunct="1">
              <a:lnSpc>
                <a:spcPct val="100000"/>
              </a:lnSpc>
              <a:spcBef>
                <a:spcPts val="0"/>
              </a:spcBef>
              <a:spcAft>
                <a:spcPts val="0"/>
              </a:spcAft>
              <a:buClrTx/>
              <a:buSzTx/>
              <a:buFontTx/>
              <a:buNone/>
              <a:tabLst/>
              <a:defRPr/>
            </a:pPr>
            <a:r>
              <a:rPr lang="es-AR" altLang="es-AR" sz="1200" dirty="0"/>
              <a:t>Y todo ello de forma instantánea, muchas veces de forma gratuita, a cualquier hora del día y desde cualquier sitio en el que exista una conexión a Internet. </a:t>
            </a:r>
          </a:p>
          <a:p>
            <a:endParaRPr lang="es-AR" dirty="0"/>
          </a:p>
        </p:txBody>
      </p:sp>
      <p:sp>
        <p:nvSpPr>
          <p:cNvPr id="4" name="Marcador de número de diapositiva 3"/>
          <p:cNvSpPr>
            <a:spLocks noGrp="1"/>
          </p:cNvSpPr>
          <p:nvPr>
            <p:ph type="sldNum" sz="quarter" idx="10"/>
          </p:nvPr>
        </p:nvSpPr>
        <p:spPr/>
        <p:txBody>
          <a:bodyPr/>
          <a:lstStyle/>
          <a:p>
            <a:fld id="{16056653-EB7C-4C2C-8160-84A14F109A05}" type="slidenum">
              <a:rPr lang="es-AR" smtClean="0"/>
              <a:t>5</a:t>
            </a:fld>
            <a:endParaRPr lang="es-AR"/>
          </a:p>
        </p:txBody>
      </p:sp>
    </p:spTree>
    <p:extLst>
      <p:ext uri="{BB962C8B-B14F-4D97-AF65-F5344CB8AC3E}">
        <p14:creationId xmlns:p14="http://schemas.microsoft.com/office/powerpoint/2010/main" val="112350574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algn="just" eaLnBrk="1" hangingPunct="1">
              <a:lnSpc>
                <a:spcPct val="80000"/>
              </a:lnSpc>
            </a:pPr>
            <a:r>
              <a:rPr lang="es-AR" altLang="es-AR" sz="1200" dirty="0"/>
              <a:t>Para las personas con discapacidad, Internet y la Web han supuesto un gran avance. </a:t>
            </a:r>
          </a:p>
          <a:p>
            <a:pPr algn="just" eaLnBrk="1" hangingPunct="1">
              <a:lnSpc>
                <a:spcPct val="80000"/>
              </a:lnSpc>
            </a:pPr>
            <a:r>
              <a:rPr lang="es-AR" altLang="es-AR" sz="1200" dirty="0"/>
              <a:t>Por ejemplo, antes de la Web, ¿cómo leían los diarios las personas ciegas o las personas con discapacidad motora? </a:t>
            </a:r>
          </a:p>
          <a:p>
            <a:pPr algn="just" eaLnBrk="1" hangingPunct="1">
              <a:lnSpc>
                <a:spcPct val="80000"/>
              </a:lnSpc>
            </a:pPr>
            <a:r>
              <a:rPr lang="es-AR" altLang="es-AR" sz="1200" dirty="0"/>
              <a:t>Sin embargo, a pesar del gran potencial que supone la Web para las personas con discapacidad, este potencial está aún en gran medida desaprovechado. </a:t>
            </a:r>
          </a:p>
          <a:p>
            <a:pPr algn="just" eaLnBrk="1" hangingPunct="1">
              <a:lnSpc>
                <a:spcPct val="80000"/>
              </a:lnSpc>
            </a:pPr>
            <a:r>
              <a:rPr lang="es-AR" altLang="es-AR" sz="1200" dirty="0"/>
              <a:t>Por ejemplo, en algunos sitios sólo se puede navegar con el mouse por lo que las personas ciegas o las personas con discapacidad motora no lo pueden usar correctamente. En otros sitios web el contenido multimedia como los vídeos no ha sido subtitulado para las personas sordas. </a:t>
            </a:r>
          </a:p>
          <a:p>
            <a:pPr algn="just" eaLnBrk="1" hangingPunct="1">
              <a:lnSpc>
                <a:spcPct val="80000"/>
              </a:lnSpc>
            </a:pPr>
            <a:r>
              <a:rPr lang="es-AR" altLang="es-AR" sz="1200" dirty="0"/>
              <a:t>La </a:t>
            </a:r>
            <a:r>
              <a:rPr lang="es-AR" altLang="es-AR" sz="1200" b="1" dirty="0"/>
              <a:t>accesibilidad web</a:t>
            </a:r>
            <a:r>
              <a:rPr lang="es-AR" altLang="es-AR" sz="1200" dirty="0"/>
              <a:t> tiene como objetivo lograr que las páginas web sean utilizables por el máximo número de personas, independientemente de sus conocimientos o capacidades personales e independientemente de las características técnicas del equipo utilizado para acceder a la Web.</a:t>
            </a:r>
          </a:p>
          <a:p>
            <a:endParaRPr lang="es-AR" dirty="0"/>
          </a:p>
        </p:txBody>
      </p:sp>
      <p:sp>
        <p:nvSpPr>
          <p:cNvPr id="4" name="Marcador de número de diapositiva 3"/>
          <p:cNvSpPr>
            <a:spLocks noGrp="1"/>
          </p:cNvSpPr>
          <p:nvPr>
            <p:ph type="sldNum" sz="quarter" idx="10"/>
          </p:nvPr>
        </p:nvSpPr>
        <p:spPr/>
        <p:txBody>
          <a:bodyPr/>
          <a:lstStyle/>
          <a:p>
            <a:fld id="{16056653-EB7C-4C2C-8160-84A14F109A05}" type="slidenum">
              <a:rPr lang="es-AR" smtClean="0"/>
              <a:t>6</a:t>
            </a:fld>
            <a:endParaRPr lang="es-AR"/>
          </a:p>
        </p:txBody>
      </p:sp>
    </p:spTree>
    <p:extLst>
      <p:ext uri="{BB962C8B-B14F-4D97-AF65-F5344CB8AC3E}">
        <p14:creationId xmlns:p14="http://schemas.microsoft.com/office/powerpoint/2010/main" val="265857906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AR" dirty="0"/>
              <a:t>Vamos a ver tres ejemplos de barreras</a:t>
            </a:r>
            <a:r>
              <a:rPr lang="es-AR" baseline="0" dirty="0"/>
              <a:t> de accesibilidad que podemos encontrar en las páginas web.</a:t>
            </a:r>
          </a:p>
          <a:p>
            <a:r>
              <a:rPr lang="es-AR" baseline="0" dirty="0"/>
              <a:t>Los ejemplos que vamos a analizar afectan principalmente a los usuarios con discapacidad visual, motora y auditiva. Aunque también podría afectar a otros tipos de usuarios.</a:t>
            </a:r>
          </a:p>
          <a:p>
            <a:r>
              <a:rPr lang="es-AR" baseline="0" dirty="0"/>
              <a:t>Usuarios con discapacidad visual son las personas ciega, con baja visión y con ceguera al color (daltonismo).</a:t>
            </a:r>
          </a:p>
          <a:p>
            <a:r>
              <a:rPr lang="es-AR" baseline="0" dirty="0"/>
              <a:t>En este ejemplo se nos indica: Si pulsa el circulo verde….</a:t>
            </a:r>
          </a:p>
          <a:p>
            <a:r>
              <a:rPr lang="es-AR" baseline="0" dirty="0"/>
              <a:t>Una persona que no pueda ver, no puede percibir los colores así que no sabrá que botón tiene que pulsar.</a:t>
            </a:r>
          </a:p>
          <a:p>
            <a:r>
              <a:rPr lang="es-AR" baseline="0" dirty="0"/>
              <a:t>Esto mismo nos puede pasar a todos nosotros, como por ejemplo cuando accedemos a una página web a través desde un celular en un día con mucha luminosidad. </a:t>
            </a:r>
          </a:p>
          <a:p>
            <a:r>
              <a:rPr lang="es-AR" baseline="0" dirty="0"/>
              <a:t>Como se puede eliminar esta barrera?</a:t>
            </a:r>
          </a:p>
          <a:p>
            <a:r>
              <a:rPr lang="es-AR" baseline="0" dirty="0"/>
              <a:t>La barrera de accesibilidad que existía, se ha eliminado al agregar una alternativa textual a los botones.</a:t>
            </a:r>
          </a:p>
        </p:txBody>
      </p:sp>
      <p:sp>
        <p:nvSpPr>
          <p:cNvPr id="4" name="Marcador de número de diapositiva 3"/>
          <p:cNvSpPr>
            <a:spLocks noGrp="1"/>
          </p:cNvSpPr>
          <p:nvPr>
            <p:ph type="sldNum" sz="quarter" idx="10"/>
          </p:nvPr>
        </p:nvSpPr>
        <p:spPr/>
        <p:txBody>
          <a:bodyPr/>
          <a:lstStyle/>
          <a:p>
            <a:fld id="{16056653-EB7C-4C2C-8160-84A14F109A05}" type="slidenum">
              <a:rPr lang="es-AR" smtClean="0"/>
              <a:t>7</a:t>
            </a:fld>
            <a:endParaRPr lang="es-AR"/>
          </a:p>
        </p:txBody>
      </p:sp>
    </p:spTree>
    <p:extLst>
      <p:ext uri="{BB962C8B-B14F-4D97-AF65-F5344CB8AC3E}">
        <p14:creationId xmlns:p14="http://schemas.microsoft.com/office/powerpoint/2010/main" val="107413364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AR" dirty="0"/>
              <a:t>Ahora vamos a ver el ejemplo con usuarios con discapacidad motora,</a:t>
            </a:r>
            <a:r>
              <a:rPr lang="es-AR" baseline="0" dirty="0"/>
              <a:t> como puede ser una persona con paraplejia (no puede mover sus extremidades) o con la enfermedad de </a:t>
            </a:r>
            <a:r>
              <a:rPr lang="es-AR" baseline="0" dirty="0" err="1"/>
              <a:t>parkinson</a:t>
            </a:r>
            <a:r>
              <a:rPr lang="es-AR" baseline="0" dirty="0"/>
              <a:t> (tiene dificultad para controlar sus movimientos).</a:t>
            </a:r>
          </a:p>
          <a:p>
            <a:r>
              <a:rPr lang="es-AR" baseline="0" dirty="0"/>
              <a:t>En este ejemplo se nos indica, si pulsa el circulo verde….</a:t>
            </a:r>
          </a:p>
          <a:p>
            <a:r>
              <a:rPr lang="es-AR" baseline="0" dirty="0"/>
              <a:t>En este ejemplo el usuario tiene que perseguir al botón con el cursor del mouse para poder pulsarlo.</a:t>
            </a:r>
          </a:p>
          <a:p>
            <a:r>
              <a:rPr lang="es-AR" baseline="0" dirty="0"/>
              <a:t>Una persona con discapacidad motora puede tener un tiempo de respuesta lento y quizás no sea capaz de pulsar el circulo.</a:t>
            </a:r>
          </a:p>
          <a:p>
            <a:r>
              <a:rPr lang="es-AR" baseline="0" dirty="0"/>
              <a:t>Esto mismo nos puede pasar a todos nosotros como por ejemplo cuando nos rompemos un brazo.</a:t>
            </a:r>
          </a:p>
          <a:p>
            <a:r>
              <a:rPr lang="es-AR" baseline="0" dirty="0"/>
              <a:t>Como se puede resolver este problema?</a:t>
            </a:r>
          </a:p>
          <a:p>
            <a:r>
              <a:rPr lang="es-AR" baseline="0" dirty="0"/>
              <a:t>Se tiene que ofrecer una alternativa, se tiene que complementar una forma de interactuar con otra.</a:t>
            </a:r>
          </a:p>
          <a:p>
            <a:r>
              <a:rPr lang="es-AR" baseline="0" dirty="0"/>
              <a:t>El usuario que no sea capaz de seguir los círculos, podrá pulsar sobre estos enlaces estáticos que no se mueven. Además deberíamos asegurar que los enlaces también son accesibles a través del teclado, con la tecla tabulador.</a:t>
            </a:r>
          </a:p>
          <a:p>
            <a:endParaRPr lang="es-AR" dirty="0"/>
          </a:p>
        </p:txBody>
      </p:sp>
      <p:sp>
        <p:nvSpPr>
          <p:cNvPr id="4" name="Marcador de número de diapositiva 3"/>
          <p:cNvSpPr>
            <a:spLocks noGrp="1"/>
          </p:cNvSpPr>
          <p:nvPr>
            <p:ph type="sldNum" sz="quarter" idx="10"/>
          </p:nvPr>
        </p:nvSpPr>
        <p:spPr/>
        <p:txBody>
          <a:bodyPr/>
          <a:lstStyle/>
          <a:p>
            <a:fld id="{16056653-EB7C-4C2C-8160-84A14F109A05}" type="slidenum">
              <a:rPr lang="es-AR" smtClean="0"/>
              <a:t>8</a:t>
            </a:fld>
            <a:endParaRPr lang="es-AR"/>
          </a:p>
        </p:txBody>
      </p:sp>
    </p:spTree>
    <p:extLst>
      <p:ext uri="{BB962C8B-B14F-4D97-AF65-F5344CB8AC3E}">
        <p14:creationId xmlns:p14="http://schemas.microsoft.com/office/powerpoint/2010/main" val="402965987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AR" dirty="0"/>
              <a:t>El último ejemplo con usuarios con discapacidad</a:t>
            </a:r>
            <a:r>
              <a:rPr lang="es-AR" baseline="0" dirty="0"/>
              <a:t> auditiva, como puede ser una persona sorda o con baja audición.</a:t>
            </a:r>
          </a:p>
          <a:p>
            <a:r>
              <a:rPr lang="es-AR" baseline="0" dirty="0"/>
              <a:t>En este ejemplo se nos indica, si pulsa el circulo con sonido de …</a:t>
            </a:r>
          </a:p>
          <a:p>
            <a:r>
              <a:rPr lang="es-AR" baseline="0" dirty="0"/>
              <a:t>Al pasar el mouse por encima de cada circulo se escucha el sonido de una explosión o de unos aplausos.</a:t>
            </a:r>
          </a:p>
          <a:p>
            <a:r>
              <a:rPr lang="es-AR" baseline="0" dirty="0"/>
              <a:t>Vamos a escucharlo.</a:t>
            </a:r>
          </a:p>
          <a:p>
            <a:r>
              <a:rPr lang="es-AR" baseline="0" dirty="0"/>
              <a:t>Evidentemente una persona con discapacidad auditiva que no pueda escuchar los sonidos no sabrá que botón tiene que pulsar pero lo mismo le puede pasar a una persona que este en una biblioteca en que se tiene que guardar silencio o una persona que este usando una computadora que no disponga de sonido. </a:t>
            </a:r>
          </a:p>
          <a:p>
            <a:r>
              <a:rPr lang="es-AR" baseline="0" dirty="0"/>
              <a:t>Como se puede resolver este problema?</a:t>
            </a:r>
          </a:p>
          <a:p>
            <a:r>
              <a:rPr lang="es-AR" baseline="0" dirty="0"/>
              <a:t>Cuando se sitúa el botón sobre uno de los círculos además de reproducirse el sonido, también se muestra un texto. </a:t>
            </a:r>
          </a:p>
          <a:p>
            <a:r>
              <a:rPr lang="es-AR" baseline="0" dirty="0"/>
              <a:t>De este modo aunque no se puedan escuchar los sonidos, un usuario puede decidir que botón desea pulsar.</a:t>
            </a:r>
          </a:p>
          <a:p>
            <a:endParaRPr lang="es-AR" dirty="0"/>
          </a:p>
        </p:txBody>
      </p:sp>
      <p:sp>
        <p:nvSpPr>
          <p:cNvPr id="4" name="Marcador de número de diapositiva 3"/>
          <p:cNvSpPr>
            <a:spLocks noGrp="1"/>
          </p:cNvSpPr>
          <p:nvPr>
            <p:ph type="sldNum" sz="quarter" idx="10"/>
          </p:nvPr>
        </p:nvSpPr>
        <p:spPr/>
        <p:txBody>
          <a:bodyPr/>
          <a:lstStyle/>
          <a:p>
            <a:fld id="{16056653-EB7C-4C2C-8160-84A14F109A05}" type="slidenum">
              <a:rPr lang="es-AR" smtClean="0"/>
              <a:t>9</a:t>
            </a:fld>
            <a:endParaRPr lang="es-AR"/>
          </a:p>
        </p:txBody>
      </p:sp>
    </p:spTree>
    <p:extLst>
      <p:ext uri="{BB962C8B-B14F-4D97-AF65-F5344CB8AC3E}">
        <p14:creationId xmlns:p14="http://schemas.microsoft.com/office/powerpoint/2010/main" val="227804526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AR" dirty="0"/>
              <a:t>Ofrecer alternativas,</a:t>
            </a:r>
            <a:r>
              <a:rPr lang="es-AR" baseline="0" dirty="0"/>
              <a:t> diferentes presentaciones que se adapten a las necesidades de diferentes usuarios.</a:t>
            </a:r>
          </a:p>
          <a:p>
            <a:r>
              <a:rPr lang="es-AR" baseline="0" dirty="0"/>
              <a:t>Crear páginas que se transformen correctamente, páginas web que se puedan visualizar correctamente con diferentes dispositivos, diferentes colores, diferentes tamaños de letra.</a:t>
            </a:r>
          </a:p>
          <a:p>
            <a:endParaRPr lang="es-AR" dirty="0"/>
          </a:p>
        </p:txBody>
      </p:sp>
      <p:sp>
        <p:nvSpPr>
          <p:cNvPr id="4" name="Marcador de número de diapositiva 3"/>
          <p:cNvSpPr>
            <a:spLocks noGrp="1"/>
          </p:cNvSpPr>
          <p:nvPr>
            <p:ph type="sldNum" sz="quarter" idx="10"/>
          </p:nvPr>
        </p:nvSpPr>
        <p:spPr/>
        <p:txBody>
          <a:bodyPr/>
          <a:lstStyle/>
          <a:p>
            <a:fld id="{16056653-EB7C-4C2C-8160-84A14F109A05}" type="slidenum">
              <a:rPr lang="es-AR" smtClean="0"/>
              <a:t>10</a:t>
            </a:fld>
            <a:endParaRPr lang="es-AR"/>
          </a:p>
        </p:txBody>
      </p:sp>
    </p:spTree>
    <p:extLst>
      <p:ext uri="{BB962C8B-B14F-4D97-AF65-F5344CB8AC3E}">
        <p14:creationId xmlns:p14="http://schemas.microsoft.com/office/powerpoint/2010/main" val="107275278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AR" dirty="0"/>
              <a:t>Qué</a:t>
            </a:r>
            <a:r>
              <a:rPr lang="es-AR" baseline="0" dirty="0"/>
              <a:t> es la accesibilidad web: definición de accesibilidad web, mitos asociados a la accesibilidad web, beneficios que puede aportar la accesibilidad web a las personas con discapacidad.</a:t>
            </a:r>
            <a:endParaRPr lang="es-AR" dirty="0"/>
          </a:p>
        </p:txBody>
      </p:sp>
      <p:sp>
        <p:nvSpPr>
          <p:cNvPr id="4" name="Marcador de número de diapositiva 3"/>
          <p:cNvSpPr>
            <a:spLocks noGrp="1"/>
          </p:cNvSpPr>
          <p:nvPr>
            <p:ph type="sldNum" sz="quarter" idx="10"/>
          </p:nvPr>
        </p:nvSpPr>
        <p:spPr/>
        <p:txBody>
          <a:bodyPr/>
          <a:lstStyle/>
          <a:p>
            <a:fld id="{16056653-EB7C-4C2C-8160-84A14F109A05}" type="slidenum">
              <a:rPr lang="es-AR" smtClean="0"/>
              <a:t>11</a:t>
            </a:fld>
            <a:endParaRPr lang="es-AR"/>
          </a:p>
        </p:txBody>
      </p:sp>
    </p:spTree>
    <p:extLst>
      <p:ext uri="{BB962C8B-B14F-4D97-AF65-F5344CB8AC3E}">
        <p14:creationId xmlns:p14="http://schemas.microsoft.com/office/powerpoint/2010/main" val="11918269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algn="just" eaLnBrk="1" hangingPunct="1">
              <a:lnSpc>
                <a:spcPct val="80000"/>
              </a:lnSpc>
            </a:pPr>
            <a:r>
              <a:rPr lang="es-AR" altLang="es-AR" sz="1600" dirty="0"/>
              <a:t>Normalmente la accesibilidad web se asocia con la idea de desarrollar páginas web que puedan ser utilizadas por las personas con discapacidad, tal como podemos leer en las siguientes definiciones</a:t>
            </a:r>
          </a:p>
          <a:p>
            <a:pPr algn="just" eaLnBrk="1" hangingPunct="1">
              <a:lnSpc>
                <a:spcPct val="80000"/>
              </a:lnSpc>
            </a:pPr>
            <a:r>
              <a:rPr lang="es-AR" altLang="es-AR" sz="1400" dirty="0"/>
              <a:t>La accesibilidad Web significa que personas con algún tipo de discapacidad van a poder hacer uso de la Web. </a:t>
            </a:r>
          </a:p>
          <a:p>
            <a:pPr algn="just" eaLnBrk="1" hangingPunct="1">
              <a:lnSpc>
                <a:spcPct val="80000"/>
              </a:lnSpc>
            </a:pPr>
            <a:r>
              <a:rPr lang="es-AR" altLang="es-AR" sz="1400" dirty="0"/>
              <a:t>En concreto, al hablar de accesibilidad Web se está haciendo referencia a un diseño Web que va a permitir que estas personas puedan percibir, entender, navegar e interactuar con la Web, aportando a su vez contenidos. </a:t>
            </a:r>
          </a:p>
          <a:p>
            <a:pPr algn="just" eaLnBrk="1" hangingPunct="1">
              <a:lnSpc>
                <a:spcPct val="80000"/>
              </a:lnSpc>
            </a:pPr>
            <a:r>
              <a:rPr lang="es-AR" altLang="es-AR" sz="1400" dirty="0"/>
              <a:t>La accesibilidad Web también beneficia a otras personas, incluyendo personas de edad avanzada que han visto mermadas sus habilidades a consecuencia de la edad. [Fuente: Introducción a la Accesibilidad Web, W3C]</a:t>
            </a:r>
          </a:p>
          <a:p>
            <a:pPr algn="just" eaLnBrk="1" hangingPunct="1">
              <a:lnSpc>
                <a:spcPct val="80000"/>
              </a:lnSpc>
            </a:pPr>
            <a:r>
              <a:rPr lang="es-AR" altLang="es-AR" sz="1400" dirty="0"/>
              <a:t>La accesibilidad web o de la interfaz, indica la capacidad de acceso a la Web y a sus contenidos por todas las personas, independientemente de la discapacidad (física, intelectual o técnica) que presenten o de las que se deriven del contexto de uso (tecnológicas o ambientales). Esta cualidad está íntimamente relacionada con la usabilidad.</a:t>
            </a:r>
          </a:p>
          <a:p>
            <a:pPr algn="just" eaLnBrk="1" hangingPunct="1">
              <a:lnSpc>
                <a:spcPct val="80000"/>
              </a:lnSpc>
            </a:pPr>
            <a:r>
              <a:rPr lang="es-AR" altLang="es-AR" sz="1400" dirty="0"/>
              <a:t>El máximo organismo dentro de la jerarquía de Internet que se encarga de promover la accesibilidad es el W3C, en especial su grupo de trabajo WAI (Web </a:t>
            </a:r>
            <a:r>
              <a:rPr lang="es-AR" altLang="es-AR" sz="1400" dirty="0" err="1"/>
              <a:t>Accessibility</a:t>
            </a:r>
            <a:r>
              <a:rPr lang="es-AR" altLang="es-AR" sz="1400" dirty="0"/>
              <a:t> </a:t>
            </a:r>
            <a:r>
              <a:rPr lang="es-AR" altLang="es-AR" sz="1400" dirty="0" err="1"/>
              <a:t>Initiative</a:t>
            </a:r>
            <a:r>
              <a:rPr lang="es-AR" altLang="es-AR" sz="1400" dirty="0"/>
              <a:t>).</a:t>
            </a:r>
          </a:p>
          <a:p>
            <a:pPr algn="just" eaLnBrk="1" hangingPunct="1">
              <a:lnSpc>
                <a:spcPct val="80000"/>
              </a:lnSpc>
            </a:pPr>
            <a:r>
              <a:rPr lang="es-AR" altLang="es-AR" sz="1600" dirty="0"/>
              <a:t>Sin embargo, hoy en día la accesibilidad web no está orientada exclusivamente a las personas con discapacidad. Con el aumento del uso de los dispositivos móviles que permiten el acceso a la Web con las mismas prestaciones que desde un ordenador, la accesibilidad web pasa a significar que la Web es única (no diferentes versiones según el dispositivo o el navegador que se utilice) y universal (utilizable independientemente de las características del usuario):</a:t>
            </a:r>
          </a:p>
          <a:p>
            <a:pPr algn="just" eaLnBrk="1" hangingPunct="1">
              <a:lnSpc>
                <a:spcPct val="80000"/>
              </a:lnSpc>
            </a:pPr>
            <a:r>
              <a:rPr lang="es-AR" altLang="es-AR" sz="1400" dirty="0"/>
              <a:t>Hablar de Accesibilidad Web es hablar de un acceso universal a la Web, independientemente del tipo de hardware, software, infraestructura de red, idioma, cultura, localización geográfica y capacidades de los usuarios.</a:t>
            </a:r>
          </a:p>
          <a:p>
            <a:pPr marL="0" marR="0" lvl="0" indent="0" algn="just" defTabSz="914400" rtl="0" eaLnBrk="1" fontAlgn="auto" latinLnBrk="0" hangingPunct="1">
              <a:lnSpc>
                <a:spcPct val="80000"/>
              </a:lnSpc>
              <a:spcBef>
                <a:spcPts val="0"/>
              </a:spcBef>
              <a:spcAft>
                <a:spcPts val="0"/>
              </a:spcAft>
              <a:buClrTx/>
              <a:buSzTx/>
              <a:buFontTx/>
              <a:buNone/>
              <a:tabLst/>
              <a:defRPr/>
            </a:pPr>
            <a:r>
              <a:rPr lang="es-AR" altLang="es-AR" sz="1400" dirty="0"/>
              <a:t>Con esta idea de accesibilidad nace la Iniciativa de Accesibilidad Web, conocida como WAI (Web </a:t>
            </a:r>
            <a:r>
              <a:rPr lang="es-AR" altLang="es-AR" sz="1400" dirty="0" err="1"/>
              <a:t>Accessibility</a:t>
            </a:r>
            <a:r>
              <a:rPr lang="es-AR" altLang="es-AR" sz="1400" dirty="0"/>
              <a:t> </a:t>
            </a:r>
            <a:r>
              <a:rPr lang="es-AR" altLang="es-AR" sz="1400" dirty="0" err="1"/>
              <a:t>Initiative</a:t>
            </a:r>
            <a:r>
              <a:rPr lang="es-AR" altLang="es-AR" sz="1400" dirty="0"/>
              <a:t>). Se trata de una actividad desarrollada por el W3C, cuyo objetivo es facilitar el acceso de las personas con discapacidad, desarrollando pautas de accesibilidad, mejorando las herramientas para la evaluación y reparación de accesibilidad Web, llevando a cabo una labor educativa y de concienciación en relación a la importancia del diseño accesible de páginas Web, y abriendo nuevos campos en accesibilidad a través de la investigación en esta área. [Fuente: Guía Breve de Accesibilidad Web, W3C]</a:t>
            </a:r>
          </a:p>
          <a:p>
            <a:pPr algn="just" eaLnBrk="1" hangingPunct="1">
              <a:lnSpc>
                <a:spcPct val="80000"/>
              </a:lnSpc>
            </a:pPr>
            <a:endParaRPr lang="es-AR" altLang="es-AR" sz="1400" dirty="0"/>
          </a:p>
          <a:p>
            <a:pPr algn="just" eaLnBrk="1" hangingPunct="1">
              <a:lnSpc>
                <a:spcPct val="80000"/>
              </a:lnSpc>
            </a:pPr>
            <a:endParaRPr lang="es-AR" dirty="0"/>
          </a:p>
        </p:txBody>
      </p:sp>
      <p:sp>
        <p:nvSpPr>
          <p:cNvPr id="4" name="Marcador de número de diapositiva 3"/>
          <p:cNvSpPr>
            <a:spLocks noGrp="1"/>
          </p:cNvSpPr>
          <p:nvPr>
            <p:ph type="sldNum" sz="quarter" idx="10"/>
          </p:nvPr>
        </p:nvSpPr>
        <p:spPr/>
        <p:txBody>
          <a:bodyPr/>
          <a:lstStyle/>
          <a:p>
            <a:fld id="{16056653-EB7C-4C2C-8160-84A14F109A05}" type="slidenum">
              <a:rPr lang="es-AR" smtClean="0"/>
              <a:t>12</a:t>
            </a:fld>
            <a:endParaRPr lang="es-AR"/>
          </a:p>
        </p:txBody>
      </p:sp>
    </p:spTree>
    <p:extLst>
      <p:ext uri="{BB962C8B-B14F-4D97-AF65-F5344CB8AC3E}">
        <p14:creationId xmlns:p14="http://schemas.microsoft.com/office/powerpoint/2010/main" val="114339414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AR" dirty="0"/>
              <a:t>La</a:t>
            </a:r>
            <a:r>
              <a:rPr lang="es-AR" baseline="0" dirty="0"/>
              <a:t> importancia de la accesibilidad web a través de varias cosas que deberías de saber.</a:t>
            </a:r>
          </a:p>
          <a:p>
            <a:r>
              <a:rPr lang="es-AR" baseline="0" dirty="0"/>
              <a:t>Sabias que…</a:t>
            </a:r>
          </a:p>
          <a:p>
            <a:r>
              <a:rPr lang="es-AR" baseline="0" dirty="0"/>
              <a:t>Sin embargo hay sitios web importantes que ofrecen una versión solo texto como si fuera una versión accesible.</a:t>
            </a:r>
          </a:p>
          <a:p>
            <a:endParaRPr lang="es-AR" dirty="0"/>
          </a:p>
        </p:txBody>
      </p:sp>
      <p:sp>
        <p:nvSpPr>
          <p:cNvPr id="4" name="Marcador de número de diapositiva 3"/>
          <p:cNvSpPr>
            <a:spLocks noGrp="1"/>
          </p:cNvSpPr>
          <p:nvPr>
            <p:ph type="sldNum" sz="quarter" idx="10"/>
          </p:nvPr>
        </p:nvSpPr>
        <p:spPr/>
        <p:txBody>
          <a:bodyPr/>
          <a:lstStyle/>
          <a:p>
            <a:fld id="{16056653-EB7C-4C2C-8160-84A14F109A05}" type="slidenum">
              <a:rPr lang="es-AR" smtClean="0"/>
              <a:t>13</a:t>
            </a:fld>
            <a:endParaRPr lang="es-AR"/>
          </a:p>
        </p:txBody>
      </p:sp>
    </p:spTree>
    <p:extLst>
      <p:ext uri="{BB962C8B-B14F-4D97-AF65-F5344CB8AC3E}">
        <p14:creationId xmlns:p14="http://schemas.microsoft.com/office/powerpoint/2010/main" val="307296412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AR" dirty="0"/>
              <a:t>Sabias que…</a:t>
            </a:r>
          </a:p>
          <a:p>
            <a:r>
              <a:rPr lang="es-AR" dirty="0"/>
              <a:t>Este es un mito que mucha gente tiene asumido y que</a:t>
            </a:r>
            <a:r>
              <a:rPr lang="es-AR" baseline="0" dirty="0"/>
              <a:t> es totalmente FALSO.</a:t>
            </a:r>
          </a:p>
          <a:p>
            <a:r>
              <a:rPr lang="es-AR" baseline="0" dirty="0"/>
              <a:t>En el sitio web Accessites.org recopila sitios web accesibles con diseño de gran calidad.</a:t>
            </a:r>
          </a:p>
          <a:p>
            <a:r>
              <a:rPr lang="es-AR" baseline="0" dirty="0"/>
              <a:t>Por ejemplo podemos encontrar el sitio web oficial del Gobierno de Suecia que es accesible y presenta un diseño limpio, moderno y agradable.</a:t>
            </a:r>
          </a:p>
          <a:p>
            <a:endParaRPr lang="es-AR" dirty="0"/>
          </a:p>
        </p:txBody>
      </p:sp>
      <p:sp>
        <p:nvSpPr>
          <p:cNvPr id="4" name="Marcador de número de diapositiva 3"/>
          <p:cNvSpPr>
            <a:spLocks noGrp="1"/>
          </p:cNvSpPr>
          <p:nvPr>
            <p:ph type="sldNum" sz="quarter" idx="10"/>
          </p:nvPr>
        </p:nvSpPr>
        <p:spPr/>
        <p:txBody>
          <a:bodyPr/>
          <a:lstStyle/>
          <a:p>
            <a:fld id="{16056653-EB7C-4C2C-8160-84A14F109A05}" type="slidenum">
              <a:rPr lang="es-AR" smtClean="0"/>
              <a:t>14</a:t>
            </a:fld>
            <a:endParaRPr lang="es-AR"/>
          </a:p>
        </p:txBody>
      </p:sp>
    </p:spTree>
    <p:extLst>
      <p:ext uri="{BB962C8B-B14F-4D97-AF65-F5344CB8AC3E}">
        <p14:creationId xmlns:p14="http://schemas.microsoft.com/office/powerpoint/2010/main" val="183254166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AR" dirty="0"/>
              <a:t>Desgraciadamente</a:t>
            </a:r>
            <a:r>
              <a:rPr lang="es-AR" baseline="0" dirty="0"/>
              <a:t> en Argentina aun no se ha impuesto ninguna sanción en cuanto a Accesibilidad Web.</a:t>
            </a:r>
          </a:p>
          <a:p>
            <a:r>
              <a:rPr lang="es-AR" baseline="0" dirty="0"/>
              <a:t>Pero en el extranjero si que hay varios casos famosos:</a:t>
            </a:r>
          </a:p>
          <a:p>
            <a:r>
              <a:rPr lang="es-AR" baseline="0" dirty="0"/>
              <a:t>Por ejemplo en Australia, en Agosto del 2000 el Comité Organizador de los Juegos Olímpicos de </a:t>
            </a:r>
            <a:r>
              <a:rPr lang="es-AR" baseline="0" dirty="0" err="1"/>
              <a:t>Sidney</a:t>
            </a:r>
            <a:r>
              <a:rPr lang="es-AR" baseline="0" dirty="0"/>
              <a:t> fue condenado por su Sitio Web ya que no era accesible, por cierto el sitio web fue desarrollado por IBM.</a:t>
            </a:r>
          </a:p>
          <a:p>
            <a:r>
              <a:rPr lang="es-AR" baseline="0" dirty="0"/>
              <a:t>En Febrero del 2011 en EEUU, se presentó una demanda contra la compañía Disney por la falta de accesibilidad en su sitio web.</a:t>
            </a:r>
          </a:p>
          <a:p>
            <a:endParaRPr lang="es-AR" baseline="0" dirty="0"/>
          </a:p>
          <a:p>
            <a:endParaRPr lang="es-AR" dirty="0"/>
          </a:p>
        </p:txBody>
      </p:sp>
      <p:sp>
        <p:nvSpPr>
          <p:cNvPr id="4" name="Marcador de número de diapositiva 3"/>
          <p:cNvSpPr>
            <a:spLocks noGrp="1"/>
          </p:cNvSpPr>
          <p:nvPr>
            <p:ph type="sldNum" sz="quarter" idx="10"/>
          </p:nvPr>
        </p:nvSpPr>
        <p:spPr/>
        <p:txBody>
          <a:bodyPr/>
          <a:lstStyle/>
          <a:p>
            <a:fld id="{16056653-EB7C-4C2C-8160-84A14F109A05}" type="slidenum">
              <a:rPr lang="es-AR" smtClean="0"/>
              <a:t>15</a:t>
            </a:fld>
            <a:endParaRPr lang="es-AR"/>
          </a:p>
        </p:txBody>
      </p:sp>
    </p:spTree>
    <p:extLst>
      <p:ext uri="{BB962C8B-B14F-4D97-AF65-F5344CB8AC3E}">
        <p14:creationId xmlns:p14="http://schemas.microsoft.com/office/powerpoint/2010/main" val="212366929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AR" dirty="0"/>
              <a:t>Por</a:t>
            </a:r>
            <a:r>
              <a:rPr lang="es-AR" baseline="0" dirty="0"/>
              <a:t> ejemplo en varios sitios web no tiene un buen diseño porque emplea lo que se llama un diseño fijo para una pantalla de 1024 pixeles de ancho con una resolución de 1920 pixeles de ancho la página muestra mucho espacio vacío que está desaprovechado. Cuando esta página se visualiza en un dispositivo móvil como no está preparada para distintas resoluciones, la página no se visualiza todo lo bien que se podría visualizar.</a:t>
            </a:r>
            <a:endParaRPr lang="es-AR" dirty="0"/>
          </a:p>
        </p:txBody>
      </p:sp>
      <p:sp>
        <p:nvSpPr>
          <p:cNvPr id="4" name="Marcador de número de diapositiva 3"/>
          <p:cNvSpPr>
            <a:spLocks noGrp="1"/>
          </p:cNvSpPr>
          <p:nvPr>
            <p:ph type="sldNum" sz="quarter" idx="10"/>
          </p:nvPr>
        </p:nvSpPr>
        <p:spPr/>
        <p:txBody>
          <a:bodyPr/>
          <a:lstStyle/>
          <a:p>
            <a:fld id="{16056653-EB7C-4C2C-8160-84A14F109A05}" type="slidenum">
              <a:rPr lang="es-AR" smtClean="0"/>
              <a:t>16</a:t>
            </a:fld>
            <a:endParaRPr lang="es-AR"/>
          </a:p>
        </p:txBody>
      </p:sp>
    </p:spTree>
    <p:extLst>
      <p:ext uri="{BB962C8B-B14F-4D97-AF65-F5344CB8AC3E}">
        <p14:creationId xmlns:p14="http://schemas.microsoft.com/office/powerpoint/2010/main" val="279650856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AR" dirty="0"/>
              <a:t>Sabias</a:t>
            </a:r>
            <a:r>
              <a:rPr lang="es-AR" baseline="0" dirty="0"/>
              <a:t> que…</a:t>
            </a:r>
          </a:p>
          <a:p>
            <a:r>
              <a:rPr lang="es-AR" baseline="0" dirty="0"/>
              <a:t>Hoy en día un buscador como Google o como Bing se comportan como un usuario ciego.</a:t>
            </a:r>
          </a:p>
          <a:p>
            <a:r>
              <a:rPr lang="es-AR" baseline="0" dirty="0"/>
              <a:t>Lo que sea bueno para la accesibilidad web también será bueno para el posicionamiento.</a:t>
            </a:r>
          </a:p>
          <a:p>
            <a:endParaRPr lang="es-AR" dirty="0"/>
          </a:p>
        </p:txBody>
      </p:sp>
      <p:sp>
        <p:nvSpPr>
          <p:cNvPr id="4" name="Marcador de número de diapositiva 3"/>
          <p:cNvSpPr>
            <a:spLocks noGrp="1"/>
          </p:cNvSpPr>
          <p:nvPr>
            <p:ph type="sldNum" sz="quarter" idx="10"/>
          </p:nvPr>
        </p:nvSpPr>
        <p:spPr/>
        <p:txBody>
          <a:bodyPr/>
          <a:lstStyle/>
          <a:p>
            <a:fld id="{16056653-EB7C-4C2C-8160-84A14F109A05}" type="slidenum">
              <a:rPr lang="es-AR" smtClean="0"/>
              <a:t>17</a:t>
            </a:fld>
            <a:endParaRPr lang="es-AR"/>
          </a:p>
        </p:txBody>
      </p:sp>
    </p:spTree>
    <p:extLst>
      <p:ext uri="{BB962C8B-B14F-4D97-AF65-F5344CB8AC3E}">
        <p14:creationId xmlns:p14="http://schemas.microsoft.com/office/powerpoint/2010/main" val="48489458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algn="just" eaLnBrk="1" hangingPunct="1">
              <a:lnSpc>
                <a:spcPct val="80000"/>
              </a:lnSpc>
            </a:pPr>
            <a:r>
              <a:rPr lang="es-AR" altLang="es-AR" sz="1200" dirty="0">
                <a:sym typeface="Wingdings" panose="05000000000000000000" pitchFamily="2" charset="2"/>
              </a:rPr>
              <a:t>Desde los inicios de la accesibilidad web han existido unos falsos mitos sobre la misma, seguramente fomentados por una falta de información o por un desconocimiento de las técnicas que permiten lograr que un sitio web sea accesible. El mito principal es creer que la accesibilidad de un sitio web se resuelve creando una versión alternativa de "sólo texto", sin imágenes ni colores y que, por tanto, si quieres tener una única versión de un sitio web y que sea accesible, tendremos que renunciar al empleo de imágenes y colores y el sitio web será "feo y aburrido". Este argumento es totalmente falso.</a:t>
            </a:r>
          </a:p>
          <a:p>
            <a:pPr algn="just" eaLnBrk="1" hangingPunct="1">
              <a:lnSpc>
                <a:spcPct val="80000"/>
              </a:lnSpc>
            </a:pPr>
            <a:r>
              <a:rPr lang="es-AR" altLang="es-AR" sz="1200" dirty="0">
                <a:sym typeface="Wingdings" panose="05000000000000000000" pitchFamily="2" charset="2"/>
              </a:rPr>
              <a:t>Pero además de este mito hay otros más:</a:t>
            </a:r>
          </a:p>
          <a:p>
            <a:pPr algn="just" eaLnBrk="1" hangingPunct="1">
              <a:lnSpc>
                <a:spcPct val="80000"/>
              </a:lnSpc>
            </a:pPr>
            <a:r>
              <a:rPr lang="es-AR" altLang="es-AR" sz="1200" b="1" dirty="0">
                <a:sym typeface="Wingdings" panose="05000000000000000000" pitchFamily="2" charset="2"/>
              </a:rPr>
              <a:t>Las personas con discapacidad no utilizan la Web</a:t>
            </a:r>
            <a:r>
              <a:rPr lang="es-AR" altLang="es-AR" sz="1200" dirty="0">
                <a:sym typeface="Wingdings" panose="05000000000000000000" pitchFamily="2" charset="2"/>
              </a:rPr>
              <a:t>: FALSO. Más bien todo lo contrario, ya que las nuevas tecnologías e Internet ha permitido a un gran numero de personas con discapacidad llevar una vida autónoma e independiente.</a:t>
            </a:r>
          </a:p>
          <a:p>
            <a:pPr algn="just" eaLnBrk="1" hangingPunct="1">
              <a:lnSpc>
                <a:spcPct val="80000"/>
              </a:lnSpc>
            </a:pPr>
            <a:r>
              <a:rPr lang="es-AR" altLang="es-AR" sz="1200" b="1" dirty="0">
                <a:sym typeface="Wingdings" panose="05000000000000000000" pitchFamily="2" charset="2"/>
              </a:rPr>
              <a:t>Las páginas web con solo texto son accesibles</a:t>
            </a:r>
            <a:r>
              <a:rPr lang="es-AR" altLang="es-AR" sz="1200" dirty="0">
                <a:sym typeface="Wingdings" panose="05000000000000000000" pitchFamily="2" charset="2"/>
              </a:rPr>
              <a:t>: FALSO. Las páginas web que sólo contienen texto pueden ser difíciles de entender por personas con discapacidad cognitiva o con dificultades con el lenguaje como las personas sordomudas.</a:t>
            </a:r>
          </a:p>
          <a:p>
            <a:pPr algn="just" eaLnBrk="1" hangingPunct="1">
              <a:lnSpc>
                <a:spcPct val="80000"/>
              </a:lnSpc>
            </a:pPr>
            <a:r>
              <a:rPr lang="es-AR" altLang="es-AR" sz="1200" b="1" dirty="0">
                <a:sym typeface="Wingdings" panose="05000000000000000000" pitchFamily="2" charset="2"/>
              </a:rPr>
              <a:t>La accesibilidad es cara y costosa</a:t>
            </a:r>
            <a:r>
              <a:rPr lang="es-AR" altLang="es-AR" sz="1200" dirty="0">
                <a:sym typeface="Wingdings" panose="05000000000000000000" pitchFamily="2" charset="2"/>
              </a:rPr>
              <a:t>: FALSO. Evidentemente, el proceso de aprendizaje y la posterior adaptación a los sitios web ya existentes suponen un coste, pero igual que aprender una nueva tecnología (por ejemplo, AJAX) y adaptar los sitios web a la nueva tecnología.</a:t>
            </a:r>
          </a:p>
          <a:p>
            <a:pPr algn="just" eaLnBrk="1" hangingPunct="1">
              <a:lnSpc>
                <a:spcPct val="80000"/>
              </a:lnSpc>
            </a:pPr>
            <a:r>
              <a:rPr lang="es-AR" altLang="es-AR" sz="1200" b="1" dirty="0">
                <a:sym typeface="Wingdings" panose="05000000000000000000" pitchFamily="2" charset="2"/>
              </a:rPr>
              <a:t>La accesibilidad es sólo para ciegos</a:t>
            </a:r>
            <a:r>
              <a:rPr lang="es-AR" altLang="es-AR" sz="1200" dirty="0">
                <a:sym typeface="Wingdings" panose="05000000000000000000" pitchFamily="2" charset="2"/>
              </a:rPr>
              <a:t>: FALSO. Existen usuarios con diferentes tipos de discapacidad que pueden experimentar distintos problemas de acceso y uso del contenido de las páginas web.</a:t>
            </a:r>
          </a:p>
          <a:p>
            <a:pPr algn="just" eaLnBrk="1" hangingPunct="1">
              <a:lnSpc>
                <a:spcPct val="80000"/>
              </a:lnSpc>
            </a:pPr>
            <a:r>
              <a:rPr lang="es-AR" altLang="es-AR" sz="1200" b="1" dirty="0">
                <a:sym typeface="Wingdings" panose="05000000000000000000" pitchFamily="2" charset="2"/>
              </a:rPr>
              <a:t>La accesibilidad es sólo para las personas con discapacidad</a:t>
            </a:r>
            <a:r>
              <a:rPr lang="es-AR" altLang="es-AR" sz="1200" dirty="0">
                <a:sym typeface="Wingdings" panose="05000000000000000000" pitchFamily="2" charset="2"/>
              </a:rPr>
              <a:t>: FALSO. Aunque las personas con discapacidad pueden ser los usuarios que más se beneficien al aplicar la accesibilidad web, en realidad se beneficia todo el mundo, ya que también ayuda a cualquier usuario que se encuentre en circunstancias especiales como puede ser entornos con baja iluminación, ambientes ruidosos, acceso a Internet con conexiones y equipos con capacidades limitadas, etc.</a:t>
            </a:r>
            <a:endParaRPr lang="es-ES" altLang="es-AR" sz="1200" dirty="0"/>
          </a:p>
          <a:p>
            <a:endParaRPr lang="es-AR" dirty="0"/>
          </a:p>
        </p:txBody>
      </p:sp>
      <p:sp>
        <p:nvSpPr>
          <p:cNvPr id="4" name="Marcador de número de diapositiva 3"/>
          <p:cNvSpPr>
            <a:spLocks noGrp="1"/>
          </p:cNvSpPr>
          <p:nvPr>
            <p:ph type="sldNum" sz="quarter" idx="10"/>
          </p:nvPr>
        </p:nvSpPr>
        <p:spPr/>
        <p:txBody>
          <a:bodyPr/>
          <a:lstStyle/>
          <a:p>
            <a:fld id="{16056653-EB7C-4C2C-8160-84A14F109A05}" type="slidenum">
              <a:rPr lang="es-AR" smtClean="0"/>
              <a:t>18</a:t>
            </a:fld>
            <a:endParaRPr lang="es-AR"/>
          </a:p>
        </p:txBody>
      </p:sp>
    </p:spTree>
    <p:extLst>
      <p:ext uri="{BB962C8B-B14F-4D97-AF65-F5344CB8AC3E}">
        <p14:creationId xmlns:p14="http://schemas.microsoft.com/office/powerpoint/2010/main" val="342311501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algn="just" eaLnBrk="1" hangingPunct="1">
              <a:lnSpc>
                <a:spcPct val="80000"/>
              </a:lnSpc>
            </a:pPr>
            <a:r>
              <a:rPr lang="es-AR" altLang="es-AR" sz="1200" dirty="0"/>
              <a:t>La accesibilidad web aporta múltiples beneficios, tanto a los beneficiarios directos que son las personas con discapacidad, como a beneficiarios indirectos como el propietario de un sitio web accesible u otros sitios web.</a:t>
            </a:r>
          </a:p>
          <a:p>
            <a:pPr algn="just" eaLnBrk="1" hangingPunct="1">
              <a:lnSpc>
                <a:spcPct val="80000"/>
              </a:lnSpc>
            </a:pPr>
            <a:r>
              <a:rPr lang="es-AR" altLang="es-AR" sz="1200" dirty="0" err="1"/>
              <a:t>Developing</a:t>
            </a:r>
            <a:r>
              <a:rPr lang="es-AR" altLang="es-AR" sz="1200" dirty="0"/>
              <a:t> a Web </a:t>
            </a:r>
            <a:r>
              <a:rPr lang="es-AR" altLang="es-AR" sz="1200" dirty="0" err="1"/>
              <a:t>Accessibility</a:t>
            </a:r>
            <a:r>
              <a:rPr lang="es-AR" altLang="es-AR" sz="1200" dirty="0"/>
              <a:t> Business Case </a:t>
            </a:r>
            <a:r>
              <a:rPr lang="es-AR" altLang="es-AR" sz="1200" dirty="0" err="1"/>
              <a:t>for</a:t>
            </a:r>
            <a:r>
              <a:rPr lang="es-AR" altLang="es-AR" sz="1200" dirty="0"/>
              <a:t> </a:t>
            </a:r>
            <a:r>
              <a:rPr lang="es-AR" altLang="es-AR" sz="1200" dirty="0" err="1"/>
              <a:t>Your</a:t>
            </a:r>
            <a:r>
              <a:rPr lang="es-AR" altLang="es-AR" sz="1200" dirty="0"/>
              <a:t> </a:t>
            </a:r>
            <a:r>
              <a:rPr lang="es-AR" altLang="es-AR" sz="1200" dirty="0" err="1"/>
              <a:t>Organization</a:t>
            </a:r>
            <a:r>
              <a:rPr lang="es-AR" altLang="es-AR" sz="1200" dirty="0"/>
              <a:t> es un artículo del Web </a:t>
            </a:r>
            <a:r>
              <a:rPr lang="es-AR" altLang="es-AR" sz="1200" dirty="0" err="1"/>
              <a:t>Accessibility</a:t>
            </a:r>
            <a:r>
              <a:rPr lang="es-AR" altLang="es-AR" sz="1200" dirty="0"/>
              <a:t> </a:t>
            </a:r>
            <a:r>
              <a:rPr lang="es-AR" altLang="es-AR" sz="1200" dirty="0" err="1"/>
              <a:t>Initiative</a:t>
            </a:r>
            <a:r>
              <a:rPr lang="es-AR" altLang="es-AR" sz="1200" dirty="0"/>
              <a:t> del W3C en el que se explica que aunque la accesibilidad web se centra en la personas con discapacidad, también beneficia a otros colectivos, como por ejemplo las personas mayores, los usuarios de dispositivos móviles y a las empresas. </a:t>
            </a:r>
          </a:p>
          <a:p>
            <a:pPr algn="just" eaLnBrk="1" hangingPunct="1">
              <a:lnSpc>
                <a:spcPct val="80000"/>
              </a:lnSpc>
            </a:pPr>
            <a:r>
              <a:rPr lang="es-AR" altLang="es-AR" sz="1200" dirty="0"/>
              <a:t>Los beneficios se agrupan en cuatro grupos:</a:t>
            </a:r>
          </a:p>
          <a:p>
            <a:pPr algn="just" eaLnBrk="1" hangingPunct="1">
              <a:lnSpc>
                <a:spcPct val="80000"/>
              </a:lnSpc>
            </a:pPr>
            <a:r>
              <a:rPr lang="es-AR" altLang="es-AR" sz="1200" b="1" dirty="0"/>
              <a:t>Factores sociales</a:t>
            </a:r>
            <a:r>
              <a:rPr lang="es-AR" altLang="es-AR" sz="1200" dirty="0"/>
              <a:t>: aborda el papel de la accesibilidad web para ofrecer igualdad de oportunidades a las personas con discapacidad; la superposición con temas de la brecha digital; y los beneficios para las personas sin discapacidad, incluidas las personas que utilizan los dispositivos móviles, las personas mayores, las personas con bajo nivel de alfabetización y que no dominen el idioma, las personas con conexiones a Internet de bajo ancho de banda, las personas que utilizan las tecnologías más antiguas y los usuarios de Internet noveles o que la utilizan con poca frecuencia.</a:t>
            </a:r>
          </a:p>
          <a:p>
            <a:pPr algn="just" eaLnBrk="1" hangingPunct="1">
              <a:lnSpc>
                <a:spcPct val="80000"/>
              </a:lnSpc>
            </a:pPr>
            <a:r>
              <a:rPr lang="es-AR" altLang="es-AR" sz="1200" b="1" dirty="0"/>
              <a:t>Factores técnicos</a:t>
            </a:r>
            <a:r>
              <a:rPr lang="es-AR" altLang="es-AR" sz="1200" dirty="0"/>
              <a:t>: aborda la interoperabilidad, la calidad, la reducción del tiempo de desarrollo y mantenimiento de un sitio, la reducción de la carga del servidor, la existencia del contenido en diferentes formatos, y la preparación para las tecnologías web más avanzadas que puedan aparecer.</a:t>
            </a:r>
          </a:p>
          <a:p>
            <a:pPr algn="just" eaLnBrk="1" hangingPunct="1">
              <a:lnSpc>
                <a:spcPct val="80000"/>
              </a:lnSpc>
            </a:pPr>
            <a:r>
              <a:rPr lang="es-AR" altLang="es-AR" sz="1200" b="1" dirty="0"/>
              <a:t>Factores financieros</a:t>
            </a:r>
            <a:r>
              <a:rPr lang="es-AR" altLang="es-AR" sz="1200" dirty="0"/>
              <a:t>: aborda los beneficios financieros de un mayor uso de un sitio web, por ejemplo, derivado de la optimización de los motores de búsqueda (SEO); ahorro directo; consideraciones para los costos iniciales y los costos corrientes; y las maneras de reducir los costos, incluyendo el desarrollo teniendo en cuenta la accesibilidad y los dispositivos móviles a la vez.</a:t>
            </a:r>
          </a:p>
          <a:p>
            <a:pPr algn="just" eaLnBrk="1" hangingPunct="1">
              <a:lnSpc>
                <a:spcPct val="80000"/>
              </a:lnSpc>
            </a:pPr>
            <a:r>
              <a:rPr lang="es-AR" altLang="es-AR" sz="1200" b="1" dirty="0"/>
              <a:t>Factores legales y de políticas</a:t>
            </a:r>
            <a:r>
              <a:rPr lang="es-AR" altLang="es-AR" sz="1200" dirty="0"/>
              <a:t>: aborda los requisitos de accesibilidad web de los gobiernos y otras organizaciones en la forma de leyes, políticas, reglamentos, normas, directrices, directivas, comunicaciones, pedidos, y otros tipos de documentos.</a:t>
            </a:r>
            <a:endParaRPr lang="es-AR" dirty="0"/>
          </a:p>
        </p:txBody>
      </p:sp>
      <p:sp>
        <p:nvSpPr>
          <p:cNvPr id="4" name="Marcador de número de diapositiva 3"/>
          <p:cNvSpPr>
            <a:spLocks noGrp="1"/>
          </p:cNvSpPr>
          <p:nvPr>
            <p:ph type="sldNum" sz="quarter" idx="10"/>
          </p:nvPr>
        </p:nvSpPr>
        <p:spPr/>
        <p:txBody>
          <a:bodyPr/>
          <a:lstStyle/>
          <a:p>
            <a:fld id="{16056653-EB7C-4C2C-8160-84A14F109A05}" type="slidenum">
              <a:rPr lang="es-AR" smtClean="0"/>
              <a:t>19</a:t>
            </a:fld>
            <a:endParaRPr lang="es-AR"/>
          </a:p>
        </p:txBody>
      </p:sp>
    </p:spTree>
    <p:extLst>
      <p:ext uri="{BB962C8B-B14F-4D97-AF65-F5344CB8AC3E}">
        <p14:creationId xmlns:p14="http://schemas.microsoft.com/office/powerpoint/2010/main" val="422666466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AR" dirty="0"/>
              <a:t>Sitios web accesibles hay muchos aunque no tantos</a:t>
            </a:r>
            <a:r>
              <a:rPr lang="es-AR" baseline="0" dirty="0"/>
              <a:t> como podrían o deberían haber.</a:t>
            </a:r>
          </a:p>
          <a:p>
            <a:r>
              <a:rPr lang="es-AR" baseline="0" dirty="0"/>
              <a:t>Sitios web con configuración de características para mejorar de accesibilidad del sitio web:</a:t>
            </a:r>
          </a:p>
          <a:p>
            <a:r>
              <a:rPr lang="es-AR" baseline="0" dirty="0"/>
              <a:t>Ejemplo </a:t>
            </a:r>
            <a:r>
              <a:rPr lang="es-AR" dirty="0">
                <a:hlinkClick r:id="rId3"/>
              </a:rPr>
              <a:t>http://accesibilidadweb.dlsi.ua.es</a:t>
            </a:r>
            <a:endParaRPr lang="es-AR" baseline="0" dirty="0"/>
          </a:p>
          <a:p>
            <a:r>
              <a:rPr lang="es-AR" baseline="0" dirty="0"/>
              <a:t>. Opción estilos CSS alternativo que mejora el contraste y aumenta el tamaño del texto.</a:t>
            </a:r>
          </a:p>
          <a:p>
            <a:r>
              <a:rPr lang="es-AR" baseline="0" dirty="0"/>
              <a:t>. Opción Enlaces “saltar a”: Activa unos enlaces al principio de la página que permiten saltar directamente a partes especiales de la página web.</a:t>
            </a:r>
          </a:p>
          <a:p>
            <a:r>
              <a:rPr lang="es-AR" baseline="0" dirty="0"/>
              <a:t>. Opción Migas de pan: Activa este mecanismo de navegación que ayuda al usuario a no sentirse perdido cuando navega entre diferentes paginas de un sitio web.</a:t>
            </a:r>
          </a:p>
          <a:p>
            <a:pPr marL="0" marR="0" lvl="0" indent="0" algn="l" defTabSz="914400" rtl="0" eaLnBrk="1" fontAlgn="auto" latinLnBrk="0" hangingPunct="1">
              <a:lnSpc>
                <a:spcPct val="100000"/>
              </a:lnSpc>
              <a:spcBef>
                <a:spcPts val="0"/>
              </a:spcBef>
              <a:spcAft>
                <a:spcPts val="0"/>
              </a:spcAft>
              <a:buClrTx/>
              <a:buSzTx/>
              <a:buFontTx/>
              <a:buNone/>
              <a:tabLst/>
              <a:defRPr/>
            </a:pPr>
            <a:r>
              <a:rPr lang="es-AR" baseline="0" dirty="0"/>
              <a:t>Ejemplo: </a:t>
            </a:r>
            <a:r>
              <a:rPr lang="es-AR" dirty="0">
                <a:hlinkClick r:id="rId4"/>
              </a:rPr>
              <a:t>https://www.oercommons.org/</a:t>
            </a:r>
            <a:endParaRPr lang="es-AR" dirty="0"/>
          </a:p>
          <a:p>
            <a:r>
              <a:rPr lang="es-AR" baseline="0" dirty="0"/>
              <a:t>Es un buscador de recursos educativos de aprendizaje.</a:t>
            </a:r>
          </a:p>
          <a:p>
            <a:r>
              <a:rPr lang="es-AR" baseline="0" dirty="0"/>
              <a:t>Posee un enlace </a:t>
            </a:r>
            <a:r>
              <a:rPr lang="es-AR" baseline="0" dirty="0" err="1"/>
              <a:t>Learned</a:t>
            </a:r>
            <a:r>
              <a:rPr lang="es-AR" baseline="0" dirty="0"/>
              <a:t> </a:t>
            </a:r>
            <a:r>
              <a:rPr lang="es-AR" baseline="0" dirty="0" err="1"/>
              <a:t>Options</a:t>
            </a:r>
            <a:endParaRPr lang="es-AR" baseline="0" dirty="0"/>
          </a:p>
          <a:p>
            <a:r>
              <a:rPr lang="es-AR" baseline="0" dirty="0"/>
              <a:t>Muestra 3 grupos de opciones que permiten mejorar la Accesibilidad del Sitio Web.</a:t>
            </a:r>
          </a:p>
          <a:p>
            <a:r>
              <a:rPr lang="es-AR" baseline="0" dirty="0"/>
              <a:t>. Opción: Cambiar el tamaño del texto, el estilo del texto, el espaciado de línea y los colores de la página.</a:t>
            </a:r>
          </a:p>
          <a:p>
            <a:r>
              <a:rPr lang="es-AR" baseline="0" dirty="0"/>
              <a:t>. Opción: Mostrar la tabla de contenido al principio de la página.</a:t>
            </a:r>
          </a:p>
          <a:p>
            <a:r>
              <a:rPr lang="es-AR" baseline="0" dirty="0"/>
              <a:t>. Opción: Enfatizar los enlaces: tamaño del texto mayor y con el subrayado.</a:t>
            </a:r>
          </a:p>
          <a:p>
            <a:endParaRPr lang="es-AR" baseline="0" dirty="0"/>
          </a:p>
          <a:p>
            <a:r>
              <a:rPr lang="es-AR" baseline="0" dirty="0"/>
              <a:t>Qué es lo mas importante de estos 2 ejemplos?</a:t>
            </a:r>
          </a:p>
          <a:p>
            <a:r>
              <a:rPr lang="es-AR" baseline="0" dirty="0"/>
              <a:t>Ser consciente de que en las páginas web deben ofrecer alternativas, diferentes presentaciones que se adapten a las necesidades de diferentes usuarios.</a:t>
            </a:r>
          </a:p>
          <a:p>
            <a:r>
              <a:rPr lang="es-AR" baseline="0" dirty="0"/>
              <a:t>Y crear páginas que se transformen correctamente, paginas web que se puedan visualizar correctamente con diferentes dispositivos, diferentes colores, diferentes tamaños de letra, etc.</a:t>
            </a:r>
          </a:p>
          <a:p>
            <a:endParaRPr lang="es-AR" baseline="0" dirty="0"/>
          </a:p>
          <a:p>
            <a:endParaRPr lang="es-AR" baseline="0" dirty="0"/>
          </a:p>
          <a:p>
            <a:endParaRPr lang="es-AR" baseline="0" dirty="0"/>
          </a:p>
          <a:p>
            <a:endParaRPr lang="es-AR" baseline="0" dirty="0"/>
          </a:p>
          <a:p>
            <a:endParaRPr lang="es-AR" dirty="0"/>
          </a:p>
        </p:txBody>
      </p:sp>
      <p:sp>
        <p:nvSpPr>
          <p:cNvPr id="4" name="Marcador de número de diapositiva 3"/>
          <p:cNvSpPr>
            <a:spLocks noGrp="1"/>
          </p:cNvSpPr>
          <p:nvPr>
            <p:ph type="sldNum" sz="quarter" idx="10"/>
          </p:nvPr>
        </p:nvSpPr>
        <p:spPr/>
        <p:txBody>
          <a:bodyPr/>
          <a:lstStyle/>
          <a:p>
            <a:fld id="{16056653-EB7C-4C2C-8160-84A14F109A05}" type="slidenum">
              <a:rPr lang="es-AR" smtClean="0"/>
              <a:t>20</a:t>
            </a:fld>
            <a:endParaRPr lang="es-AR"/>
          </a:p>
        </p:txBody>
      </p:sp>
    </p:spTree>
    <p:extLst>
      <p:ext uri="{BB962C8B-B14F-4D97-AF65-F5344CB8AC3E}">
        <p14:creationId xmlns:p14="http://schemas.microsoft.com/office/powerpoint/2010/main" val="25336966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AR" dirty="0"/>
              <a:t>Pautas internacionales</a:t>
            </a:r>
            <a:r>
              <a:rPr lang="es-AR" baseline="0" dirty="0"/>
              <a:t> para mejorar la accesibilidad de las páginas web, legislación argentina sobre accesibilidad web.</a:t>
            </a:r>
            <a:endParaRPr lang="es-AR" dirty="0"/>
          </a:p>
        </p:txBody>
      </p:sp>
      <p:sp>
        <p:nvSpPr>
          <p:cNvPr id="4" name="Marcador de número de diapositiva 3"/>
          <p:cNvSpPr>
            <a:spLocks noGrp="1"/>
          </p:cNvSpPr>
          <p:nvPr>
            <p:ph type="sldNum" sz="quarter" idx="10"/>
          </p:nvPr>
        </p:nvSpPr>
        <p:spPr/>
        <p:txBody>
          <a:bodyPr/>
          <a:lstStyle/>
          <a:p>
            <a:fld id="{16056653-EB7C-4C2C-8160-84A14F109A05}" type="slidenum">
              <a:rPr lang="es-AR" smtClean="0"/>
              <a:t>21</a:t>
            </a:fld>
            <a:endParaRPr lang="es-AR"/>
          </a:p>
        </p:txBody>
      </p:sp>
    </p:spTree>
    <p:extLst>
      <p:ext uri="{BB962C8B-B14F-4D97-AF65-F5344CB8AC3E}">
        <p14:creationId xmlns:p14="http://schemas.microsoft.com/office/powerpoint/2010/main" val="65401395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10"/>
          </p:nvPr>
        </p:nvSpPr>
        <p:spPr/>
        <p:txBody>
          <a:bodyPr/>
          <a:lstStyle/>
          <a:p>
            <a:fld id="{16056653-EB7C-4C2C-8160-84A14F109A05}" type="slidenum">
              <a:rPr lang="es-AR" smtClean="0"/>
              <a:t>22</a:t>
            </a:fld>
            <a:endParaRPr lang="es-AR"/>
          </a:p>
        </p:txBody>
      </p:sp>
    </p:spTree>
    <p:extLst>
      <p:ext uri="{BB962C8B-B14F-4D97-AF65-F5344CB8AC3E}">
        <p14:creationId xmlns:p14="http://schemas.microsoft.com/office/powerpoint/2010/main" val="342353717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AR" dirty="0"/>
              <a:t>WCAG 2.0: </a:t>
            </a:r>
            <a:r>
              <a:rPr lang="es-AR" baseline="0" dirty="0"/>
              <a:t> Son las Pautas de Accesibilidad Web.</a:t>
            </a:r>
          </a:p>
          <a:p>
            <a:r>
              <a:rPr lang="es-AR" baseline="0" dirty="0"/>
              <a:t>WAI: Iniciativa de Accesibilidad Web, es el grupo de trabajo permanente para promover soluciones de accesibilidad en la web.</a:t>
            </a:r>
          </a:p>
          <a:p>
            <a:r>
              <a:rPr lang="es-AR" baseline="0" dirty="0"/>
              <a:t>W3C: Consorcio </a:t>
            </a:r>
            <a:r>
              <a:rPr lang="es-AR" baseline="0" dirty="0" err="1"/>
              <a:t>World</a:t>
            </a:r>
            <a:r>
              <a:rPr lang="es-AR" baseline="0" dirty="0"/>
              <a:t> Wide Web, es la organización internacional que trabaja en el desarrollo de estándares web.</a:t>
            </a:r>
            <a:endParaRPr lang="es-AR" dirty="0"/>
          </a:p>
        </p:txBody>
      </p:sp>
      <p:sp>
        <p:nvSpPr>
          <p:cNvPr id="4" name="Marcador de número de diapositiva 3"/>
          <p:cNvSpPr>
            <a:spLocks noGrp="1"/>
          </p:cNvSpPr>
          <p:nvPr>
            <p:ph type="sldNum" sz="quarter" idx="10"/>
          </p:nvPr>
        </p:nvSpPr>
        <p:spPr/>
        <p:txBody>
          <a:bodyPr/>
          <a:lstStyle/>
          <a:p>
            <a:fld id="{16056653-EB7C-4C2C-8160-84A14F109A05}" type="slidenum">
              <a:rPr lang="es-AR" smtClean="0"/>
              <a:t>23</a:t>
            </a:fld>
            <a:endParaRPr lang="es-AR"/>
          </a:p>
        </p:txBody>
      </p:sp>
    </p:spTree>
    <p:extLst>
      <p:ext uri="{BB962C8B-B14F-4D97-AF65-F5344CB8AC3E}">
        <p14:creationId xmlns:p14="http://schemas.microsoft.com/office/powerpoint/2010/main" val="403788595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10"/>
          </p:nvPr>
        </p:nvSpPr>
        <p:spPr/>
        <p:txBody>
          <a:bodyPr/>
          <a:lstStyle/>
          <a:p>
            <a:fld id="{16056653-EB7C-4C2C-8160-84A14F109A05}" type="slidenum">
              <a:rPr lang="es-AR" smtClean="0"/>
              <a:t>24</a:t>
            </a:fld>
            <a:endParaRPr lang="es-AR"/>
          </a:p>
        </p:txBody>
      </p:sp>
    </p:spTree>
    <p:extLst>
      <p:ext uri="{BB962C8B-B14F-4D97-AF65-F5344CB8AC3E}">
        <p14:creationId xmlns:p14="http://schemas.microsoft.com/office/powerpoint/2010/main" val="5960097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AR" altLang="es-AR" sz="1200" dirty="0"/>
              <a:t>La accesibilidad web incluye los contenidos y aplicaciones, los navegadores y reproductores multimedia, las herramientas de autor y las tecnologías XML. La WAI ha propuesto para cada una de estas necesidades unas pautas a seguir. </a:t>
            </a:r>
          </a:p>
          <a:p>
            <a:endParaRPr lang="es-AR" dirty="0"/>
          </a:p>
        </p:txBody>
      </p:sp>
      <p:sp>
        <p:nvSpPr>
          <p:cNvPr id="4" name="Marcador de número de diapositiva 3"/>
          <p:cNvSpPr>
            <a:spLocks noGrp="1"/>
          </p:cNvSpPr>
          <p:nvPr>
            <p:ph type="sldNum" sz="quarter" idx="10"/>
          </p:nvPr>
        </p:nvSpPr>
        <p:spPr/>
        <p:txBody>
          <a:bodyPr/>
          <a:lstStyle/>
          <a:p>
            <a:fld id="{16056653-EB7C-4C2C-8160-84A14F109A05}" type="slidenum">
              <a:rPr lang="es-AR" smtClean="0"/>
              <a:t>25</a:t>
            </a:fld>
            <a:endParaRPr lang="es-AR"/>
          </a:p>
        </p:txBody>
      </p:sp>
    </p:spTree>
    <p:extLst>
      <p:ext uri="{BB962C8B-B14F-4D97-AF65-F5344CB8AC3E}">
        <p14:creationId xmlns:p14="http://schemas.microsoft.com/office/powerpoint/2010/main" val="293733922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algn="just" eaLnBrk="1" hangingPunct="1">
              <a:lnSpc>
                <a:spcPct val="80000"/>
              </a:lnSpc>
            </a:pPr>
            <a:r>
              <a:rPr lang="es-AR" altLang="es-AR" sz="1200" dirty="0"/>
              <a:t>En 1999 se publica las Pautas de Accesibilidad para el Contenido Web, </a:t>
            </a:r>
            <a:r>
              <a:rPr lang="es-AR" altLang="es-AR" sz="1200" b="1" dirty="0"/>
              <a:t>WCAG 1.0</a:t>
            </a:r>
            <a:r>
              <a:rPr lang="es-AR" altLang="es-AR" sz="1200" dirty="0"/>
              <a:t> (Web Content </a:t>
            </a:r>
            <a:r>
              <a:rPr lang="es-AR" altLang="es-AR" sz="1200" dirty="0" err="1"/>
              <a:t>Accessibility</a:t>
            </a:r>
            <a:r>
              <a:rPr lang="es-AR" altLang="es-AR" sz="1200" dirty="0"/>
              <a:t> </a:t>
            </a:r>
            <a:r>
              <a:rPr lang="es-AR" altLang="es-AR" sz="1200" dirty="0" err="1"/>
              <a:t>Guidelines</a:t>
            </a:r>
            <a:r>
              <a:rPr lang="es-AR" altLang="es-AR" sz="1200" dirty="0"/>
              <a:t>, WCAG), que representan el primer y más grande esfuerzo por establecer unas pautas de diseño accesible. </a:t>
            </a:r>
          </a:p>
          <a:p>
            <a:pPr algn="just" eaLnBrk="1" hangingPunct="1">
              <a:lnSpc>
                <a:spcPct val="80000"/>
              </a:lnSpc>
            </a:pPr>
            <a:r>
              <a:rPr lang="es-AR" altLang="es-AR" sz="1200" dirty="0"/>
              <a:t>El 11 de diciembre de 2008 se publica la nueva recomendación, las </a:t>
            </a:r>
            <a:r>
              <a:rPr lang="es-AR" altLang="es-AR" sz="1200" b="1" dirty="0"/>
              <a:t>WCAG 2.0</a:t>
            </a:r>
            <a:r>
              <a:rPr lang="es-AR" altLang="es-AR" sz="1200" dirty="0"/>
              <a:t>. </a:t>
            </a:r>
          </a:p>
          <a:p>
            <a:pPr algn="just" eaLnBrk="1" hangingPunct="1">
              <a:lnSpc>
                <a:spcPct val="80000"/>
              </a:lnSpc>
            </a:pPr>
            <a:endParaRPr lang="es-AR" altLang="es-AR" sz="1200" dirty="0"/>
          </a:p>
          <a:p>
            <a:pPr algn="just" eaLnBrk="1" hangingPunct="1">
              <a:lnSpc>
                <a:spcPct val="80000"/>
              </a:lnSpc>
            </a:pPr>
            <a:r>
              <a:rPr lang="es-AR" altLang="es-AR" sz="1200" dirty="0"/>
              <a:t>Las WCAG 1.0 y las WCAG 2.0 </a:t>
            </a:r>
            <a:r>
              <a:rPr lang="es-AR" altLang="es-AR" sz="1200" b="1" dirty="0"/>
              <a:t>están organizadas y estructuradas de distinta manera.</a:t>
            </a:r>
            <a:r>
              <a:rPr lang="es-AR" altLang="es-AR" sz="1200" dirty="0"/>
              <a:t> </a:t>
            </a:r>
          </a:p>
          <a:p>
            <a:pPr algn="just" eaLnBrk="1" hangingPunct="1">
              <a:lnSpc>
                <a:spcPct val="80000"/>
              </a:lnSpc>
            </a:pPr>
            <a:r>
              <a:rPr lang="es-AR" altLang="es-AR" sz="1200" dirty="0"/>
              <a:t>Las </a:t>
            </a:r>
            <a:r>
              <a:rPr lang="es-AR" altLang="es-AR" sz="1200" b="1" dirty="0"/>
              <a:t>WCAG 1.0</a:t>
            </a:r>
            <a:r>
              <a:rPr lang="es-AR" altLang="es-AR" sz="1200" dirty="0"/>
              <a:t> se organizan en </a:t>
            </a:r>
            <a:r>
              <a:rPr lang="es-AR" altLang="es-AR" sz="1200" b="1" dirty="0"/>
              <a:t>14 pautas</a:t>
            </a:r>
            <a:r>
              <a:rPr lang="es-AR" altLang="es-AR" sz="1200" dirty="0"/>
              <a:t> que constituyen los principios generales del diseño accesible. </a:t>
            </a:r>
          </a:p>
          <a:p>
            <a:pPr algn="just" eaLnBrk="1" hangingPunct="1">
              <a:lnSpc>
                <a:spcPct val="80000"/>
              </a:lnSpc>
            </a:pPr>
            <a:r>
              <a:rPr lang="es-AR" altLang="es-AR" sz="1200" dirty="0"/>
              <a:t>Cada una de estas pautas tiene asociados x </a:t>
            </a:r>
            <a:r>
              <a:rPr lang="es-AR" altLang="es-AR" sz="1200" b="1" dirty="0"/>
              <a:t>puntos de verificación (65 en total)</a:t>
            </a:r>
            <a:r>
              <a:rPr lang="es-AR" altLang="es-AR" sz="1200" dirty="0"/>
              <a:t> que explican cómo se aplica la pauta. </a:t>
            </a:r>
          </a:p>
          <a:p>
            <a:pPr algn="just" eaLnBrk="1" hangingPunct="1">
              <a:lnSpc>
                <a:spcPct val="80000"/>
              </a:lnSpc>
            </a:pPr>
            <a:r>
              <a:rPr lang="es-AR" altLang="es-AR" sz="1200" dirty="0"/>
              <a:t>A su vez, cada punto de verificación tiene asignada una prioridad (1, 2, 3). </a:t>
            </a:r>
          </a:p>
          <a:p>
            <a:pPr eaLnBrk="1" hangingPunct="1">
              <a:lnSpc>
                <a:spcPct val="80000"/>
              </a:lnSpc>
            </a:pPr>
            <a:r>
              <a:rPr lang="es-AR" altLang="es-AR" sz="1200" dirty="0"/>
              <a:t>El nivel de adecuación de accesibilidad (nivel de conformidad) será: </a:t>
            </a:r>
          </a:p>
          <a:p>
            <a:pPr eaLnBrk="1" hangingPunct="1">
              <a:lnSpc>
                <a:spcPct val="80000"/>
              </a:lnSpc>
            </a:pPr>
            <a:r>
              <a:rPr lang="es-AR" altLang="es-AR" sz="1200" b="1" dirty="0"/>
              <a:t>Simple - A (A):</a:t>
            </a:r>
            <a:r>
              <a:rPr lang="es-AR" altLang="es-AR" sz="1200" dirty="0"/>
              <a:t> cuando cumple todos los puntos de verificación de prioridad 1. </a:t>
            </a:r>
          </a:p>
          <a:p>
            <a:pPr eaLnBrk="1" hangingPunct="1">
              <a:lnSpc>
                <a:spcPct val="80000"/>
              </a:lnSpc>
            </a:pPr>
            <a:r>
              <a:rPr lang="es-AR" altLang="es-AR" sz="1200" b="1" dirty="0"/>
              <a:t>Doble - A (AA):</a:t>
            </a:r>
            <a:r>
              <a:rPr lang="es-AR" altLang="es-AR" sz="1200" dirty="0"/>
              <a:t> cuando cumple todos los puntos de verificación de prioridad 1 y 2. </a:t>
            </a:r>
          </a:p>
          <a:p>
            <a:pPr eaLnBrk="1" hangingPunct="1">
              <a:lnSpc>
                <a:spcPct val="80000"/>
              </a:lnSpc>
            </a:pPr>
            <a:r>
              <a:rPr lang="es-AR" altLang="es-AR" sz="1200" b="1" dirty="0"/>
              <a:t>Triple - A (AAA):</a:t>
            </a:r>
            <a:r>
              <a:rPr lang="es-AR" altLang="es-AR" sz="1200" dirty="0"/>
              <a:t> cuando cumple todos los puntos de verificación de prioridad 1, 2 y 3. </a:t>
            </a:r>
          </a:p>
          <a:p>
            <a:pPr eaLnBrk="1" hangingPunct="1">
              <a:lnSpc>
                <a:spcPct val="80000"/>
              </a:lnSpc>
            </a:pPr>
            <a:endParaRPr lang="es-AR" altLang="es-AR" sz="1200" dirty="0"/>
          </a:p>
          <a:p>
            <a:pPr algn="just" eaLnBrk="1" hangingPunct="1">
              <a:lnSpc>
                <a:spcPct val="80000"/>
              </a:lnSpc>
            </a:pPr>
            <a:r>
              <a:rPr lang="es-AR" altLang="es-AR" sz="1200" dirty="0"/>
              <a:t>Las </a:t>
            </a:r>
            <a:r>
              <a:rPr lang="es-AR" altLang="es-AR" sz="1200" b="1" dirty="0"/>
              <a:t>WCAG 2.0</a:t>
            </a:r>
            <a:r>
              <a:rPr lang="es-AR" altLang="es-AR" sz="1200" dirty="0"/>
              <a:t> se organizan en </a:t>
            </a:r>
            <a:r>
              <a:rPr lang="es-AR" altLang="es-AR" sz="1200" b="1" dirty="0"/>
              <a:t>4 principios</a:t>
            </a:r>
            <a:r>
              <a:rPr lang="es-AR" altLang="es-AR" sz="1200" dirty="0"/>
              <a:t> fundamentales para la accesibilidad del contenido: </a:t>
            </a:r>
            <a:endParaRPr lang="es-AR" altLang="es-AR" sz="1200" b="1" dirty="0"/>
          </a:p>
          <a:p>
            <a:pPr algn="just" eaLnBrk="1" hangingPunct="1">
              <a:lnSpc>
                <a:spcPct val="80000"/>
              </a:lnSpc>
            </a:pPr>
            <a:r>
              <a:rPr lang="es-AR" altLang="es-AR" sz="1200" b="1" dirty="0"/>
              <a:t>PERCEPTIBLE</a:t>
            </a:r>
            <a:r>
              <a:rPr lang="es-AR" altLang="es-AR" sz="1200" dirty="0"/>
              <a:t>: La información y los componentes de la interfaz de usuario deben ser presentados a los usuarios de modo que ellos puedan percibirlos. </a:t>
            </a:r>
            <a:r>
              <a:rPr lang="es-AR" altLang="es-AR" sz="1200" b="1" dirty="0"/>
              <a:t>OPERABLE</a:t>
            </a:r>
            <a:r>
              <a:rPr lang="es-AR" altLang="es-AR" sz="1200" dirty="0"/>
              <a:t>: Los componentes de la interfaz de usuario y la navegación deben ser operables. </a:t>
            </a:r>
          </a:p>
          <a:p>
            <a:pPr algn="just" eaLnBrk="1" hangingPunct="1">
              <a:lnSpc>
                <a:spcPct val="80000"/>
              </a:lnSpc>
            </a:pPr>
            <a:r>
              <a:rPr lang="es-AR" altLang="es-AR" sz="1200" b="1" dirty="0"/>
              <a:t>COMPRENSIBLE: </a:t>
            </a:r>
            <a:r>
              <a:rPr lang="es-AR" altLang="es-AR" sz="1200" dirty="0"/>
              <a:t>La información y el manejo de la interfaz de usuario deben ser comprensibles. </a:t>
            </a:r>
          </a:p>
          <a:p>
            <a:pPr algn="just" eaLnBrk="1" hangingPunct="1">
              <a:lnSpc>
                <a:spcPct val="80000"/>
              </a:lnSpc>
            </a:pPr>
            <a:r>
              <a:rPr lang="es-AR" altLang="es-AR" sz="1200" b="1" dirty="0"/>
              <a:t>ROBUSTO: </a:t>
            </a:r>
            <a:r>
              <a:rPr lang="es-AR" altLang="es-AR" sz="1200" dirty="0"/>
              <a:t>El contenido debe ser suficientemente robusto como para ser interpretado de forma fiable por una amplia variedad de aplicaciones de usuario, incluyendo los productos de apoyo. </a:t>
            </a:r>
          </a:p>
          <a:p>
            <a:pPr algn="just" eaLnBrk="1" hangingPunct="1">
              <a:lnSpc>
                <a:spcPct val="80000"/>
              </a:lnSpc>
            </a:pPr>
            <a:r>
              <a:rPr lang="es-AR" altLang="es-AR" sz="1200" dirty="0"/>
              <a:t>A su vez, cada uno de estos grandes principios tiene asociadas unas pautas. En total son </a:t>
            </a:r>
            <a:r>
              <a:rPr lang="es-AR" altLang="es-AR" sz="1200" b="1" dirty="0"/>
              <a:t>12 pautas:</a:t>
            </a:r>
            <a:r>
              <a:rPr lang="es-AR" altLang="es-AR" sz="1200" dirty="0"/>
              <a:t> los dos primeros principios tienen 4 pautas asociadas, el tercero tiene 3 y el último 1 pauta. Estas pautas no son </a:t>
            </a:r>
            <a:r>
              <a:rPr lang="es-AR" altLang="es-AR" sz="1200" dirty="0" err="1"/>
              <a:t>testeables</a:t>
            </a:r>
            <a:r>
              <a:rPr lang="es-AR" altLang="es-AR" sz="1200" dirty="0"/>
              <a:t> en si, sino que proporcionan las metas básicas para hacer el contenido accesible, y sirven para comprender los criterios de conformidad e implementarlos. </a:t>
            </a:r>
          </a:p>
          <a:p>
            <a:pPr algn="just" eaLnBrk="1" hangingPunct="1">
              <a:lnSpc>
                <a:spcPct val="80000"/>
              </a:lnSpc>
            </a:pPr>
            <a:r>
              <a:rPr lang="es-AR" altLang="es-AR" sz="1200" dirty="0"/>
              <a:t>Cada una de estas pautas tiene </a:t>
            </a:r>
            <a:r>
              <a:rPr lang="es-AR" altLang="es-AR" sz="1200" b="1" dirty="0"/>
              <a:t>asociados x criterios de conformidad (61 en total)</a:t>
            </a:r>
            <a:r>
              <a:rPr lang="es-AR" altLang="es-AR" sz="1200" dirty="0"/>
              <a:t> que se han de cumplir y que sí son </a:t>
            </a:r>
            <a:r>
              <a:rPr lang="es-AR" altLang="es-AR" sz="1200" dirty="0" err="1"/>
              <a:t>testeables</a:t>
            </a:r>
            <a:r>
              <a:rPr lang="es-AR" altLang="es-AR" sz="1200" dirty="0"/>
              <a:t>. Los criterios de conformidad están ordenados según su nivel de cumplimiento asociado (A, AA y AAA). </a:t>
            </a:r>
          </a:p>
          <a:p>
            <a:pPr marL="0" marR="0" lvl="0" indent="0" algn="just" defTabSz="914400" rtl="0" eaLnBrk="1" fontAlgn="auto" latinLnBrk="0" hangingPunct="1">
              <a:lnSpc>
                <a:spcPct val="80000"/>
              </a:lnSpc>
              <a:spcBef>
                <a:spcPts val="0"/>
              </a:spcBef>
              <a:spcAft>
                <a:spcPts val="0"/>
              </a:spcAft>
              <a:buClrTx/>
              <a:buSzTx/>
              <a:buFontTx/>
              <a:buNone/>
              <a:tabLst/>
              <a:defRPr/>
            </a:pPr>
            <a:r>
              <a:rPr lang="es-AR" altLang="es-AR" b="1" dirty="0"/>
              <a:t>Las técnicas son sólo informativas, no normativas,</a:t>
            </a:r>
            <a:r>
              <a:rPr lang="es-AR" altLang="es-AR" dirty="0"/>
              <a:t> pues el criterio de conformidad podría resolverse de otro modo no documentado en las técnicas o podría haber técnicas aplicables a una tecnología todavía no documentada. Por eso estos documentos no son normativos y están en constante evolución. Según se vayan descubriendo nuevas técnicas, con el avance de las tecnologías web y productos de apoyo, se podrán ir documentando y añadiendo a la lista ya existente. </a:t>
            </a:r>
            <a:endParaRPr lang="es-AR" sz="1200" dirty="0"/>
          </a:p>
        </p:txBody>
      </p:sp>
      <p:sp>
        <p:nvSpPr>
          <p:cNvPr id="4" name="Marcador de número de diapositiva 3"/>
          <p:cNvSpPr>
            <a:spLocks noGrp="1"/>
          </p:cNvSpPr>
          <p:nvPr>
            <p:ph type="sldNum" sz="quarter" idx="10"/>
          </p:nvPr>
        </p:nvSpPr>
        <p:spPr/>
        <p:txBody>
          <a:bodyPr/>
          <a:lstStyle/>
          <a:p>
            <a:fld id="{16056653-EB7C-4C2C-8160-84A14F109A05}" type="slidenum">
              <a:rPr lang="es-AR" smtClean="0"/>
              <a:t>26</a:t>
            </a:fld>
            <a:endParaRPr lang="es-AR"/>
          </a:p>
        </p:txBody>
      </p:sp>
    </p:spTree>
    <p:extLst>
      <p:ext uri="{BB962C8B-B14F-4D97-AF65-F5344CB8AC3E}">
        <p14:creationId xmlns:p14="http://schemas.microsoft.com/office/powerpoint/2010/main" val="174542380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AR" dirty="0"/>
              <a:t>Nivel A tiene 25 criterios de conformidad y 146 técnicas (generales, HTML y CSS).</a:t>
            </a:r>
          </a:p>
        </p:txBody>
      </p:sp>
      <p:sp>
        <p:nvSpPr>
          <p:cNvPr id="4" name="Marcador de número de diapositiva 3"/>
          <p:cNvSpPr>
            <a:spLocks noGrp="1"/>
          </p:cNvSpPr>
          <p:nvPr>
            <p:ph type="sldNum" sz="quarter" idx="10"/>
          </p:nvPr>
        </p:nvSpPr>
        <p:spPr/>
        <p:txBody>
          <a:bodyPr/>
          <a:lstStyle/>
          <a:p>
            <a:fld id="{16056653-EB7C-4C2C-8160-84A14F109A05}" type="slidenum">
              <a:rPr lang="es-AR" smtClean="0"/>
              <a:t>28</a:t>
            </a:fld>
            <a:endParaRPr lang="es-AR"/>
          </a:p>
        </p:txBody>
      </p:sp>
    </p:spTree>
    <p:extLst>
      <p:ext uri="{BB962C8B-B14F-4D97-AF65-F5344CB8AC3E}">
        <p14:creationId xmlns:p14="http://schemas.microsoft.com/office/powerpoint/2010/main" val="417025188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lvl="0" algn="just" eaLnBrk="1" hangingPunct="1">
              <a:lnSpc>
                <a:spcPct val="80000"/>
              </a:lnSpc>
            </a:pPr>
            <a:r>
              <a:rPr lang="es-AR" altLang="es-AR" sz="1200" b="1" dirty="0"/>
              <a:t>Principio 1: Perceptible</a:t>
            </a:r>
            <a:r>
              <a:rPr lang="es-AR" altLang="es-AR" sz="1200" dirty="0"/>
              <a:t> - La información y los componentes de la interfaz de usuario deben ser presentados a los usuarios de modo que ellos puedan percibirlos. </a:t>
            </a:r>
            <a:endParaRPr lang="es-AR" altLang="es-AR" sz="1200" b="1" dirty="0"/>
          </a:p>
          <a:p>
            <a:pPr lvl="0" algn="just" eaLnBrk="1" hangingPunct="1">
              <a:lnSpc>
                <a:spcPct val="80000"/>
              </a:lnSpc>
            </a:pPr>
            <a:r>
              <a:rPr lang="es-AR" altLang="es-AR" sz="1200" b="1" dirty="0"/>
              <a:t>Pauta 1.1</a:t>
            </a:r>
            <a:r>
              <a:rPr lang="es-AR" altLang="es-AR" sz="1200" dirty="0"/>
              <a:t> Alternativas textuales: Proporcionar alternativas textuales para todo contenido no textual de modo que se pueda convertir a otros formatos que las personas necesiten, tales como textos ampliados, braille, voz, símbolos o en un lenguaje más simple.</a:t>
            </a:r>
          </a:p>
          <a:p>
            <a:pPr lvl="0" algn="just" eaLnBrk="1" hangingPunct="1">
              <a:lnSpc>
                <a:spcPct val="80000"/>
              </a:lnSpc>
            </a:pPr>
            <a:r>
              <a:rPr lang="es-AR" altLang="es-AR" sz="1200" b="1" dirty="0"/>
              <a:t>Pauta 1.2</a:t>
            </a:r>
            <a:r>
              <a:rPr lang="es-AR" altLang="es-AR" sz="1200" dirty="0"/>
              <a:t> Medios tempodependientes: Proporcionar alternativas para los medios tempodependientes. </a:t>
            </a:r>
          </a:p>
          <a:p>
            <a:pPr lvl="0" algn="just" eaLnBrk="1" hangingPunct="1">
              <a:lnSpc>
                <a:spcPct val="80000"/>
              </a:lnSpc>
            </a:pPr>
            <a:r>
              <a:rPr lang="es-AR" altLang="es-AR" sz="1200" b="1" dirty="0"/>
              <a:t>Pauta 1.3</a:t>
            </a:r>
            <a:r>
              <a:rPr lang="es-AR" altLang="es-AR" sz="1200" dirty="0"/>
              <a:t> Adaptable: Crear contenido que pueda presentarse de diferentes formas (por ejemplo, con una disposición más simple) sin perder información o estructura. </a:t>
            </a:r>
          </a:p>
          <a:p>
            <a:pPr lvl="0" algn="just" eaLnBrk="1" hangingPunct="1">
              <a:lnSpc>
                <a:spcPct val="80000"/>
              </a:lnSpc>
            </a:pPr>
            <a:r>
              <a:rPr lang="es-AR" altLang="es-AR" sz="1200" b="1" dirty="0"/>
              <a:t>Pauta 1.4</a:t>
            </a:r>
            <a:r>
              <a:rPr lang="es-AR" altLang="es-AR" sz="1200" dirty="0"/>
              <a:t> Distinguible: Facilitar a los usuarios ver y oír el contenido, incluyendo la separación entre el primer plano y el fondo.</a:t>
            </a:r>
          </a:p>
          <a:p>
            <a:endParaRPr lang="es-AR" dirty="0"/>
          </a:p>
        </p:txBody>
      </p:sp>
      <p:sp>
        <p:nvSpPr>
          <p:cNvPr id="4" name="Marcador de número de diapositiva 3"/>
          <p:cNvSpPr>
            <a:spLocks noGrp="1"/>
          </p:cNvSpPr>
          <p:nvPr>
            <p:ph type="sldNum" sz="quarter" idx="10"/>
          </p:nvPr>
        </p:nvSpPr>
        <p:spPr/>
        <p:txBody>
          <a:bodyPr/>
          <a:lstStyle/>
          <a:p>
            <a:fld id="{16056653-EB7C-4C2C-8160-84A14F109A05}" type="slidenum">
              <a:rPr lang="es-AR" smtClean="0"/>
              <a:t>30</a:t>
            </a:fld>
            <a:endParaRPr lang="es-AR"/>
          </a:p>
        </p:txBody>
      </p:sp>
    </p:spTree>
    <p:extLst>
      <p:ext uri="{BB962C8B-B14F-4D97-AF65-F5344CB8AC3E}">
        <p14:creationId xmlns:p14="http://schemas.microsoft.com/office/powerpoint/2010/main" val="314464390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lvl="0" algn="just" eaLnBrk="1" hangingPunct="1">
              <a:lnSpc>
                <a:spcPct val="80000"/>
              </a:lnSpc>
            </a:pPr>
            <a:r>
              <a:rPr lang="es-AR" altLang="es-AR" sz="1200" b="1" dirty="0"/>
              <a:t>Principio 2: Operable</a:t>
            </a:r>
            <a:r>
              <a:rPr lang="es-AR" altLang="es-AR" sz="1200" dirty="0"/>
              <a:t> - Los componentes de la interfaz de usuario y la navegación deben ser operables. </a:t>
            </a:r>
          </a:p>
          <a:p>
            <a:pPr lvl="0" algn="just" eaLnBrk="1" hangingPunct="1">
              <a:lnSpc>
                <a:spcPct val="80000"/>
              </a:lnSpc>
            </a:pPr>
            <a:r>
              <a:rPr lang="es-AR" altLang="es-AR" sz="1200" b="1" dirty="0"/>
              <a:t>Pauta 2.1</a:t>
            </a:r>
            <a:r>
              <a:rPr lang="es-AR" altLang="es-AR" sz="1200" dirty="0"/>
              <a:t> Accesible por teclado: Proporcionar acceso a toda la funcionalidad mediante el teclado.</a:t>
            </a:r>
          </a:p>
          <a:p>
            <a:pPr lvl="0" algn="just" eaLnBrk="1" hangingPunct="1">
              <a:lnSpc>
                <a:spcPct val="80000"/>
              </a:lnSpc>
            </a:pPr>
            <a:r>
              <a:rPr lang="es-AR" altLang="es-AR" sz="1200" b="1" dirty="0"/>
              <a:t>Pauta 2.2</a:t>
            </a:r>
            <a:r>
              <a:rPr lang="es-AR" altLang="es-AR" sz="1200" dirty="0"/>
              <a:t> Tiempo suficiente: Proporcionar a los usuarios el tiempo suficiente para leer y usar el contenido. </a:t>
            </a:r>
          </a:p>
          <a:p>
            <a:pPr lvl="0" algn="just" eaLnBrk="1" hangingPunct="1">
              <a:lnSpc>
                <a:spcPct val="80000"/>
              </a:lnSpc>
            </a:pPr>
            <a:r>
              <a:rPr lang="es-AR" altLang="es-AR" sz="1200" b="1" dirty="0"/>
              <a:t>Pauta 2.3</a:t>
            </a:r>
            <a:r>
              <a:rPr lang="es-AR" altLang="es-AR" sz="1200" dirty="0"/>
              <a:t> Convulsiones: No diseñar contenido de un modo que se sepa podría provocar ataques, espasmos o convulsiones.</a:t>
            </a:r>
          </a:p>
          <a:p>
            <a:pPr lvl="0" algn="just" eaLnBrk="1" hangingPunct="1">
              <a:lnSpc>
                <a:spcPct val="80000"/>
              </a:lnSpc>
            </a:pPr>
            <a:r>
              <a:rPr lang="es-AR" altLang="es-AR" sz="1200" b="1" dirty="0"/>
              <a:t>Pauta 2.4</a:t>
            </a:r>
            <a:r>
              <a:rPr lang="es-AR" altLang="es-AR" sz="1200" dirty="0"/>
              <a:t> Navegable: Proporcionar medios para ayudar a los usuarios a navegar, encontrar contenido y determinar dónde se encuentran. </a:t>
            </a:r>
          </a:p>
          <a:p>
            <a:endParaRPr lang="es-AR" dirty="0"/>
          </a:p>
        </p:txBody>
      </p:sp>
      <p:sp>
        <p:nvSpPr>
          <p:cNvPr id="4" name="Marcador de número de diapositiva 3"/>
          <p:cNvSpPr>
            <a:spLocks noGrp="1"/>
          </p:cNvSpPr>
          <p:nvPr>
            <p:ph type="sldNum" sz="quarter" idx="10"/>
          </p:nvPr>
        </p:nvSpPr>
        <p:spPr/>
        <p:txBody>
          <a:bodyPr/>
          <a:lstStyle/>
          <a:p>
            <a:fld id="{16056653-EB7C-4C2C-8160-84A14F109A05}" type="slidenum">
              <a:rPr lang="es-AR" smtClean="0"/>
              <a:t>31</a:t>
            </a:fld>
            <a:endParaRPr lang="es-AR"/>
          </a:p>
        </p:txBody>
      </p:sp>
    </p:spTree>
    <p:extLst>
      <p:ext uri="{BB962C8B-B14F-4D97-AF65-F5344CB8AC3E}">
        <p14:creationId xmlns:p14="http://schemas.microsoft.com/office/powerpoint/2010/main" val="65134711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lvl="0" algn="just" eaLnBrk="1" hangingPunct="1">
              <a:lnSpc>
                <a:spcPct val="80000"/>
              </a:lnSpc>
            </a:pPr>
            <a:r>
              <a:rPr lang="es-AR" altLang="es-AR" sz="1200" b="1" dirty="0"/>
              <a:t>Principio 3: Comprensible</a:t>
            </a:r>
            <a:r>
              <a:rPr lang="es-AR" altLang="es-AR" sz="1200" dirty="0"/>
              <a:t> - La información y el manejo de la interfaz de usuario deben ser comprensibles. </a:t>
            </a:r>
          </a:p>
          <a:p>
            <a:pPr lvl="0" algn="just" eaLnBrk="1" hangingPunct="1">
              <a:lnSpc>
                <a:spcPct val="80000"/>
              </a:lnSpc>
            </a:pPr>
            <a:r>
              <a:rPr lang="es-AR" altLang="es-AR" sz="1200" b="1" dirty="0"/>
              <a:t>Pauta 3.1</a:t>
            </a:r>
            <a:r>
              <a:rPr lang="es-AR" altLang="es-AR" sz="1200" dirty="0"/>
              <a:t> Legible: Hacer que los contenidos textuales resulten legibles y comprensibles.</a:t>
            </a:r>
          </a:p>
          <a:p>
            <a:pPr lvl="0" algn="just" eaLnBrk="1" hangingPunct="1">
              <a:lnSpc>
                <a:spcPct val="80000"/>
              </a:lnSpc>
            </a:pPr>
            <a:r>
              <a:rPr lang="es-AR" altLang="es-AR" sz="1200" b="1" dirty="0"/>
              <a:t>Pauta 3.2</a:t>
            </a:r>
            <a:r>
              <a:rPr lang="es-AR" altLang="es-AR" sz="1200" dirty="0"/>
              <a:t> Predecible: Hacer que las páginas web aparezcan y operen de manera predecible. </a:t>
            </a:r>
          </a:p>
          <a:p>
            <a:pPr lvl="0" algn="just" eaLnBrk="1" hangingPunct="1">
              <a:lnSpc>
                <a:spcPct val="80000"/>
              </a:lnSpc>
            </a:pPr>
            <a:r>
              <a:rPr lang="es-AR" altLang="es-AR" sz="1200" b="1" dirty="0"/>
              <a:t>Pauta 3.3</a:t>
            </a:r>
            <a:r>
              <a:rPr lang="es-AR" altLang="es-AR" sz="1200" dirty="0"/>
              <a:t> Entrada de datos asistida: Ayudar a los usuarios a evitar y corregir los errores. </a:t>
            </a:r>
          </a:p>
          <a:p>
            <a:pPr lvl="0" algn="just" eaLnBrk="1" hangingPunct="1">
              <a:lnSpc>
                <a:spcPct val="80000"/>
              </a:lnSpc>
            </a:pPr>
            <a:endParaRPr lang="es-AR" altLang="es-AR" sz="1200" dirty="0"/>
          </a:p>
          <a:p>
            <a:pPr lvl="0" algn="just" eaLnBrk="1" hangingPunct="1">
              <a:lnSpc>
                <a:spcPct val="80000"/>
              </a:lnSpc>
            </a:pPr>
            <a:r>
              <a:rPr lang="es-AR" altLang="es-AR" sz="1200" b="1" dirty="0"/>
              <a:t>Principio 4: Robusto</a:t>
            </a:r>
            <a:r>
              <a:rPr lang="es-AR" altLang="es-AR" sz="1200" dirty="0"/>
              <a:t> - El contenido debe ser suficientemente robusto como para ser interpretado de forma fiable por una amplia variedad de aplicaciones de usuario, incluyendo las ayudas técnicas. </a:t>
            </a:r>
          </a:p>
          <a:p>
            <a:pPr lvl="0" algn="just" eaLnBrk="1" hangingPunct="1">
              <a:lnSpc>
                <a:spcPct val="80000"/>
              </a:lnSpc>
            </a:pPr>
            <a:r>
              <a:rPr lang="es-AR" altLang="es-AR" sz="1200" b="1" dirty="0"/>
              <a:t>Pauta 4.1</a:t>
            </a:r>
            <a:r>
              <a:rPr lang="es-AR" altLang="es-AR" sz="1200" dirty="0"/>
              <a:t> Compatible: Maximizar la compatibilidad con las aplicaciones de usuario actuales y futuras, incluyendo las ayudas técnicas.</a:t>
            </a:r>
            <a:endParaRPr lang="es-AR" sz="1200" dirty="0"/>
          </a:p>
        </p:txBody>
      </p:sp>
      <p:sp>
        <p:nvSpPr>
          <p:cNvPr id="4" name="Marcador de número de diapositiva 3"/>
          <p:cNvSpPr>
            <a:spLocks noGrp="1"/>
          </p:cNvSpPr>
          <p:nvPr>
            <p:ph type="sldNum" sz="quarter" idx="10"/>
          </p:nvPr>
        </p:nvSpPr>
        <p:spPr/>
        <p:txBody>
          <a:bodyPr/>
          <a:lstStyle/>
          <a:p>
            <a:fld id="{16056653-EB7C-4C2C-8160-84A14F109A05}" type="slidenum">
              <a:rPr lang="es-AR" smtClean="0"/>
              <a:t>32</a:t>
            </a:fld>
            <a:endParaRPr lang="es-AR"/>
          </a:p>
        </p:txBody>
      </p:sp>
    </p:spTree>
    <p:extLst>
      <p:ext uri="{BB962C8B-B14F-4D97-AF65-F5344CB8AC3E}">
        <p14:creationId xmlns:p14="http://schemas.microsoft.com/office/powerpoint/2010/main" val="390173942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algn="just" eaLnBrk="1" hangingPunct="1">
              <a:lnSpc>
                <a:spcPct val="80000"/>
              </a:lnSpc>
            </a:pPr>
            <a:r>
              <a:rPr lang="es-AR" altLang="es-AR" sz="1200" dirty="0"/>
              <a:t>Es necesario indicar primero que las WCAG 2.0 incorporan el concepto </a:t>
            </a:r>
            <a:r>
              <a:rPr lang="es-AR" altLang="es-AR" sz="1200" b="1" dirty="0"/>
              <a:t>"compatible con la accesibilidad"</a:t>
            </a:r>
            <a:r>
              <a:rPr lang="es-AR" altLang="es-AR" sz="1200" dirty="0"/>
              <a:t>, cuya comprensión es vital para entenderlas y aplicarlas correctamente. Una tecnología compatible con la accesibilidad es aquella que dispone de los mecanismos necesarios para proporcionar información de accesibilidad a los agentes de usuario (navegadores) y productos de apoyo (como un lector de pantalla) que a su vez son capaces de comprender estos mecanismos y proporcionar dicha información a los usuarios que la requieran. </a:t>
            </a:r>
          </a:p>
          <a:p>
            <a:pPr algn="just" eaLnBrk="1" hangingPunct="1">
              <a:lnSpc>
                <a:spcPct val="80000"/>
              </a:lnSpc>
            </a:pPr>
            <a:r>
              <a:rPr lang="es-AR" altLang="es-AR" sz="1200" dirty="0"/>
              <a:t>Las WCAG 2.0 permiten usar cualquier tecnología que sea compatible con la accesibilidad siempre que se use de forma accesible (compatible con los productos de apoyo) y siempre que los agentes de usuario y productos de apoyo soporten dicha tecnología. El W3C no especifica qué o cuántos productos de apoyo debe soportar una tecnología web para que pueda considerarse que es compatible con la accesibilidad. </a:t>
            </a:r>
          </a:p>
          <a:p>
            <a:endParaRPr lang="es-AR" dirty="0"/>
          </a:p>
        </p:txBody>
      </p:sp>
      <p:sp>
        <p:nvSpPr>
          <p:cNvPr id="4" name="Marcador de número de diapositiva 3"/>
          <p:cNvSpPr>
            <a:spLocks noGrp="1"/>
          </p:cNvSpPr>
          <p:nvPr>
            <p:ph type="sldNum" sz="quarter" idx="10"/>
          </p:nvPr>
        </p:nvSpPr>
        <p:spPr/>
        <p:txBody>
          <a:bodyPr/>
          <a:lstStyle/>
          <a:p>
            <a:fld id="{16056653-EB7C-4C2C-8160-84A14F109A05}" type="slidenum">
              <a:rPr lang="es-AR" smtClean="0"/>
              <a:t>33</a:t>
            </a:fld>
            <a:endParaRPr lang="es-AR"/>
          </a:p>
        </p:txBody>
      </p:sp>
    </p:spTree>
    <p:extLst>
      <p:ext uri="{BB962C8B-B14F-4D97-AF65-F5344CB8AC3E}">
        <p14:creationId xmlns:p14="http://schemas.microsoft.com/office/powerpoint/2010/main" val="217864752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eaLnBrk="1" hangingPunct="1">
              <a:lnSpc>
                <a:spcPct val="90000"/>
              </a:lnSpc>
            </a:pPr>
            <a:r>
              <a:rPr lang="es-AR" altLang="es-AR" sz="1200" dirty="0"/>
              <a:t>Las leyes relacionadas con la accesibilidad digital protegen los derechos de las personas con discapacidad. </a:t>
            </a:r>
          </a:p>
          <a:p>
            <a:pPr eaLnBrk="1" hangingPunct="1">
              <a:lnSpc>
                <a:spcPct val="90000"/>
              </a:lnSpc>
            </a:pPr>
            <a:r>
              <a:rPr lang="es-AR" altLang="es-AR" sz="1200" dirty="0"/>
              <a:t>Estas leyes son necesarias porque muchos aspectos de la vida actual se realizan en un entorno digital o virtual, y por tanto, estas leyes son necesarias para salvar guardar otros derechos, como el derecho a la información, el derecho a la educación y el derecho a la sanidad, por citar algunos derechos humanos básicos. </a:t>
            </a:r>
          </a:p>
          <a:p>
            <a:pPr eaLnBrk="1" hangingPunct="1">
              <a:lnSpc>
                <a:spcPct val="90000"/>
              </a:lnSpc>
            </a:pPr>
            <a:r>
              <a:rPr lang="es-AR" altLang="es-AR" sz="1200" dirty="0"/>
              <a:t>Con el fin de promover la creación de sitios web accesibles y de defender los derechos de las personas con discapacidad, se han promulgado diversas leyes en Argentina.</a:t>
            </a:r>
          </a:p>
          <a:p>
            <a:pPr eaLnBrk="1" hangingPunct="1">
              <a:lnSpc>
                <a:spcPct val="90000"/>
              </a:lnSpc>
            </a:pPr>
            <a:r>
              <a:rPr lang="es-AR" altLang="es-AR" sz="1200" dirty="0"/>
              <a:t> </a:t>
            </a:r>
            <a:endParaRPr lang="es-AR" sz="1200" dirty="0"/>
          </a:p>
        </p:txBody>
      </p:sp>
      <p:sp>
        <p:nvSpPr>
          <p:cNvPr id="4" name="Marcador de número de diapositiva 3"/>
          <p:cNvSpPr>
            <a:spLocks noGrp="1"/>
          </p:cNvSpPr>
          <p:nvPr>
            <p:ph type="sldNum" sz="quarter" idx="10"/>
          </p:nvPr>
        </p:nvSpPr>
        <p:spPr/>
        <p:txBody>
          <a:bodyPr/>
          <a:lstStyle/>
          <a:p>
            <a:fld id="{16056653-EB7C-4C2C-8160-84A14F109A05}" type="slidenum">
              <a:rPr lang="es-AR" smtClean="0"/>
              <a:t>34</a:t>
            </a:fld>
            <a:endParaRPr lang="es-AR"/>
          </a:p>
        </p:txBody>
      </p:sp>
    </p:spTree>
    <p:extLst>
      <p:ext uri="{BB962C8B-B14F-4D97-AF65-F5344CB8AC3E}">
        <p14:creationId xmlns:p14="http://schemas.microsoft.com/office/powerpoint/2010/main" val="295079484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eaLnBrk="1" hangingPunct="1">
              <a:lnSpc>
                <a:spcPct val="90000"/>
              </a:lnSpc>
            </a:pPr>
            <a:r>
              <a:rPr lang="es-AR" altLang="es-AR" sz="1200" dirty="0"/>
              <a:t> </a:t>
            </a:r>
            <a:endParaRPr lang="es-AR" sz="1200" dirty="0"/>
          </a:p>
        </p:txBody>
      </p:sp>
      <p:sp>
        <p:nvSpPr>
          <p:cNvPr id="4" name="Marcador de número de diapositiva 3"/>
          <p:cNvSpPr>
            <a:spLocks noGrp="1"/>
          </p:cNvSpPr>
          <p:nvPr>
            <p:ph type="sldNum" sz="quarter" idx="10"/>
          </p:nvPr>
        </p:nvSpPr>
        <p:spPr/>
        <p:txBody>
          <a:bodyPr/>
          <a:lstStyle/>
          <a:p>
            <a:fld id="{16056653-EB7C-4C2C-8160-84A14F109A05}" type="slidenum">
              <a:rPr lang="es-AR" smtClean="0"/>
              <a:t>35</a:t>
            </a:fld>
            <a:endParaRPr lang="es-AR"/>
          </a:p>
        </p:txBody>
      </p:sp>
    </p:spTree>
    <p:extLst>
      <p:ext uri="{BB962C8B-B14F-4D97-AF65-F5344CB8AC3E}">
        <p14:creationId xmlns:p14="http://schemas.microsoft.com/office/powerpoint/2010/main" val="61146724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AR" dirty="0"/>
              <a:t>Cómo lograr que el contenido de una</a:t>
            </a:r>
            <a:r>
              <a:rPr lang="es-AR" baseline="0" dirty="0"/>
              <a:t> página web sea accesible y comprensible.</a:t>
            </a:r>
            <a:endParaRPr lang="es-AR" dirty="0"/>
          </a:p>
        </p:txBody>
      </p:sp>
      <p:sp>
        <p:nvSpPr>
          <p:cNvPr id="4" name="Marcador de número de diapositiva 3"/>
          <p:cNvSpPr>
            <a:spLocks noGrp="1"/>
          </p:cNvSpPr>
          <p:nvPr>
            <p:ph type="sldNum" sz="quarter" idx="10"/>
          </p:nvPr>
        </p:nvSpPr>
        <p:spPr/>
        <p:txBody>
          <a:bodyPr/>
          <a:lstStyle/>
          <a:p>
            <a:fld id="{16056653-EB7C-4C2C-8160-84A14F109A05}" type="slidenum">
              <a:rPr lang="es-AR" smtClean="0"/>
              <a:t>36</a:t>
            </a:fld>
            <a:endParaRPr lang="es-AR"/>
          </a:p>
        </p:txBody>
      </p:sp>
    </p:spTree>
    <p:extLst>
      <p:ext uri="{BB962C8B-B14F-4D97-AF65-F5344CB8AC3E}">
        <p14:creationId xmlns:p14="http://schemas.microsoft.com/office/powerpoint/2010/main" val="370376154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AR" altLang="es-AR" sz="1200" dirty="0"/>
              <a:t>El contenido web hace referencia a la información contenida en una página web o en una aplicación web, incluyendo texto, imágenes, formularios, sonido, etc. Es decir, todo lo que se incluye en una página web o es enlazado desde una página web se considera contenido web. </a:t>
            </a:r>
          </a:p>
          <a:p>
            <a:endParaRPr lang="es-AR" dirty="0"/>
          </a:p>
        </p:txBody>
      </p:sp>
      <p:sp>
        <p:nvSpPr>
          <p:cNvPr id="4" name="Marcador de número de diapositiva 3"/>
          <p:cNvSpPr>
            <a:spLocks noGrp="1"/>
          </p:cNvSpPr>
          <p:nvPr>
            <p:ph type="sldNum" sz="quarter" idx="10"/>
          </p:nvPr>
        </p:nvSpPr>
        <p:spPr/>
        <p:txBody>
          <a:bodyPr/>
          <a:lstStyle/>
          <a:p>
            <a:fld id="{16056653-EB7C-4C2C-8160-84A14F109A05}" type="slidenum">
              <a:rPr lang="es-AR" smtClean="0"/>
              <a:t>37</a:t>
            </a:fld>
            <a:endParaRPr lang="es-AR"/>
          </a:p>
        </p:txBody>
      </p:sp>
    </p:spTree>
    <p:extLst>
      <p:ext uri="{BB962C8B-B14F-4D97-AF65-F5344CB8AC3E}">
        <p14:creationId xmlns:p14="http://schemas.microsoft.com/office/powerpoint/2010/main" val="155476695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AR" altLang="es-AR" sz="1200" dirty="0"/>
              <a:t>En esta sección del seminario se muestran los principales problemas de accesibilidad que presenta el contenido web, como las imágenes, las tablas y el contenido multimedia (audio y vídeo). También se explican las soluciones que se deben aplicar en cada caso. </a:t>
            </a:r>
            <a:endParaRPr lang="es-AR" dirty="0"/>
          </a:p>
        </p:txBody>
      </p:sp>
      <p:sp>
        <p:nvSpPr>
          <p:cNvPr id="4" name="Marcador de número de diapositiva 3"/>
          <p:cNvSpPr>
            <a:spLocks noGrp="1"/>
          </p:cNvSpPr>
          <p:nvPr>
            <p:ph type="sldNum" sz="quarter" idx="10"/>
          </p:nvPr>
        </p:nvSpPr>
        <p:spPr/>
        <p:txBody>
          <a:bodyPr/>
          <a:lstStyle/>
          <a:p>
            <a:fld id="{16056653-EB7C-4C2C-8160-84A14F109A05}" type="slidenum">
              <a:rPr lang="es-AR" smtClean="0"/>
              <a:t>38</a:t>
            </a:fld>
            <a:endParaRPr lang="es-AR"/>
          </a:p>
        </p:txBody>
      </p:sp>
    </p:spTree>
    <p:extLst>
      <p:ext uri="{BB962C8B-B14F-4D97-AF65-F5344CB8AC3E}">
        <p14:creationId xmlns:p14="http://schemas.microsoft.com/office/powerpoint/2010/main" val="335653577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10"/>
          </p:nvPr>
        </p:nvSpPr>
        <p:spPr/>
        <p:txBody>
          <a:bodyPr/>
          <a:lstStyle/>
          <a:p>
            <a:fld id="{16056653-EB7C-4C2C-8160-84A14F109A05}" type="slidenum">
              <a:rPr lang="es-AR" smtClean="0"/>
              <a:t>39</a:t>
            </a:fld>
            <a:endParaRPr lang="es-AR"/>
          </a:p>
        </p:txBody>
      </p:sp>
    </p:spTree>
    <p:extLst>
      <p:ext uri="{BB962C8B-B14F-4D97-AF65-F5344CB8AC3E}">
        <p14:creationId xmlns:p14="http://schemas.microsoft.com/office/powerpoint/2010/main" val="232273136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AR" dirty="0"/>
              <a:t>Problema que</a:t>
            </a:r>
            <a:r>
              <a:rPr lang="es-AR" baseline="0" dirty="0"/>
              <a:t> presenta dificultad de acceso a los usuarios de lector de pantalla es el uso de CAPTCHA</a:t>
            </a:r>
          </a:p>
          <a:p>
            <a:r>
              <a:rPr lang="es-AR" baseline="0" dirty="0"/>
              <a:t>Pueden ser:</a:t>
            </a:r>
          </a:p>
          <a:p>
            <a:r>
              <a:rPr lang="es-AR" baseline="0" dirty="0"/>
              <a:t>Visuales, muestran en una imagen las letras o palabras distorsionadas que hemos de introducir.</a:t>
            </a:r>
          </a:p>
          <a:p>
            <a:r>
              <a:rPr lang="es-AR" baseline="0" dirty="0"/>
              <a:t>Auditivos, pronuncian la palabra que hay que reconocer sobre un ruido de fondo.</a:t>
            </a:r>
          </a:p>
          <a:p>
            <a:r>
              <a:rPr lang="es-AR" dirty="0"/>
              <a:t>Lógicos,</a:t>
            </a:r>
            <a:r>
              <a:rPr lang="es-AR" baseline="0" dirty="0"/>
              <a:t> se realiza una pregunta lógica Ejemplo: cuanto es 2+2? Cual es la tercer palabra de : Hoy esta lloviendo?</a:t>
            </a:r>
          </a:p>
          <a:p>
            <a:endParaRPr lang="es-AR" baseline="0" dirty="0"/>
          </a:p>
          <a:p>
            <a:pPr marL="0" marR="0" lvl="0" indent="0" algn="l" defTabSz="914400" rtl="0" eaLnBrk="1" fontAlgn="auto" latinLnBrk="0" hangingPunct="1">
              <a:lnSpc>
                <a:spcPct val="100000"/>
              </a:lnSpc>
              <a:spcBef>
                <a:spcPts val="0"/>
              </a:spcBef>
              <a:spcAft>
                <a:spcPts val="0"/>
              </a:spcAft>
              <a:buClrTx/>
              <a:buSzTx/>
              <a:buFontTx/>
              <a:buNone/>
              <a:tabLst/>
              <a:defRPr/>
            </a:pPr>
            <a:r>
              <a:rPr lang="es-AR" altLang="es-AR" dirty="0"/>
              <a:t>Proporcionar otro CAPTCHA con el mismo propósito pero en una modalidad sensorial diferente.</a:t>
            </a:r>
          </a:p>
          <a:p>
            <a:r>
              <a:rPr lang="es-AR" baseline="0" dirty="0"/>
              <a:t>Cada modalidad sensorial, usada por separado crea problemas de acceso:</a:t>
            </a:r>
          </a:p>
          <a:p>
            <a:r>
              <a:rPr lang="es-AR" baseline="0" dirty="0"/>
              <a:t>Visuales =&gt; Barrera de acceso a las personas que no ven.</a:t>
            </a:r>
          </a:p>
          <a:p>
            <a:r>
              <a:rPr lang="es-AR" baseline="0" dirty="0"/>
              <a:t>Auditivos =&gt; Inaccesibles para los que no pueden oír.</a:t>
            </a:r>
          </a:p>
          <a:p>
            <a:r>
              <a:rPr lang="es-AR" baseline="0" dirty="0"/>
              <a:t>Lógicos =&gt; Problemas para usuarios con problemas cognitivos.</a:t>
            </a:r>
          </a:p>
          <a:p>
            <a:endParaRPr lang="es-AR" baseline="0" dirty="0"/>
          </a:p>
          <a:p>
            <a:r>
              <a:rPr lang="es-AR" altLang="es-AR" dirty="0">
                <a:sym typeface="Wingdings" panose="05000000000000000000" pitchFamily="2" charset="2"/>
              </a:rPr>
              <a:t> “Se considera suficiente usar dos modalidades”</a:t>
            </a:r>
            <a:endParaRPr lang="es-AR" dirty="0"/>
          </a:p>
        </p:txBody>
      </p:sp>
      <p:sp>
        <p:nvSpPr>
          <p:cNvPr id="4" name="Marcador de número de diapositiva 3"/>
          <p:cNvSpPr>
            <a:spLocks noGrp="1"/>
          </p:cNvSpPr>
          <p:nvPr>
            <p:ph type="sldNum" sz="quarter" idx="10"/>
          </p:nvPr>
        </p:nvSpPr>
        <p:spPr/>
        <p:txBody>
          <a:bodyPr/>
          <a:lstStyle/>
          <a:p>
            <a:fld id="{16056653-EB7C-4C2C-8160-84A14F109A05}" type="slidenum">
              <a:rPr lang="es-AR" smtClean="0"/>
              <a:t>40</a:t>
            </a:fld>
            <a:endParaRPr lang="es-AR"/>
          </a:p>
        </p:txBody>
      </p:sp>
    </p:spTree>
    <p:extLst>
      <p:ext uri="{BB962C8B-B14F-4D97-AF65-F5344CB8AC3E}">
        <p14:creationId xmlns:p14="http://schemas.microsoft.com/office/powerpoint/2010/main" val="103553713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lvl="0" algn="just" eaLnBrk="1" hangingPunct="1">
              <a:lnSpc>
                <a:spcPct val="90000"/>
              </a:lnSpc>
            </a:pPr>
            <a:r>
              <a:rPr lang="es-AR" altLang="es-AR" sz="1800" dirty="0"/>
              <a:t>Una de las estrategias de interacción de las personas que usan lectores de pantalla es el uso del tabulador para recorrer los enlaces del sitio web.</a:t>
            </a:r>
          </a:p>
          <a:p>
            <a:pPr lvl="0" algn="just" eaLnBrk="1" hangingPunct="1">
              <a:lnSpc>
                <a:spcPct val="90000"/>
              </a:lnSpc>
            </a:pPr>
            <a:r>
              <a:rPr lang="es-AR" altLang="es-AR" sz="1600" dirty="0"/>
              <a:t>Ejemplo: </a:t>
            </a:r>
            <a:r>
              <a:rPr lang="es-AR" altLang="es-AR" sz="1600" b="1" dirty="0">
                <a:hlinkClick r:id="rId3" action="ppaction://hlinkfile"/>
              </a:rPr>
              <a:t>Pinche aquí</a:t>
            </a:r>
            <a:r>
              <a:rPr lang="es-AR" altLang="es-AR" sz="1600" dirty="0">
                <a:hlinkClick r:id="rId3" action="ppaction://hlinkfile"/>
              </a:rPr>
              <a:t> </a:t>
            </a:r>
            <a:r>
              <a:rPr lang="es-AR" altLang="es-AR" sz="1600" dirty="0"/>
              <a:t>para más información sobre accesibilidad web  </a:t>
            </a:r>
          </a:p>
          <a:p>
            <a:pPr lvl="0" algn="just" eaLnBrk="1" hangingPunct="1">
              <a:lnSpc>
                <a:spcPct val="90000"/>
              </a:lnSpc>
            </a:pPr>
            <a:r>
              <a:rPr lang="es-AR" altLang="es-AR" sz="1800" dirty="0"/>
              <a:t>Si realizamos enlaces como el del ejemplo y navegamos con el tabulador, el lector de pantalla nos leerá “Pinche aquí”, con esta información no podemos saber que el destino del enlace hay mas información sobre accesibilidad web.</a:t>
            </a:r>
          </a:p>
          <a:p>
            <a:pPr lvl="0" algn="just" eaLnBrk="1" hangingPunct="1">
              <a:lnSpc>
                <a:spcPct val="90000"/>
              </a:lnSpc>
            </a:pPr>
            <a:endParaRPr lang="es-AR" altLang="es-AR" sz="1800" dirty="0"/>
          </a:p>
          <a:p>
            <a:pPr lvl="0" algn="just" eaLnBrk="1" hangingPunct="1">
              <a:lnSpc>
                <a:spcPct val="90000"/>
              </a:lnSpc>
            </a:pPr>
            <a:r>
              <a:rPr lang="es-AR" altLang="es-AR" sz="1800" dirty="0"/>
              <a:t>¿Cómo se define el propósito de los enlaces?</a:t>
            </a:r>
          </a:p>
          <a:p>
            <a:pPr lvl="0" algn="just" eaLnBrk="1" hangingPunct="1">
              <a:lnSpc>
                <a:spcPct val="90000"/>
              </a:lnSpc>
            </a:pPr>
            <a:r>
              <a:rPr lang="es-AR" altLang="es-AR" sz="1600" dirty="0"/>
              <a:t>Con sólo el texto del enlace.</a:t>
            </a:r>
          </a:p>
          <a:p>
            <a:pPr lvl="0" algn="just" eaLnBrk="1" hangingPunct="1">
              <a:lnSpc>
                <a:spcPct val="90000"/>
              </a:lnSpc>
            </a:pPr>
            <a:r>
              <a:rPr lang="es-AR" altLang="es-AR" sz="1600" dirty="0"/>
              <a:t>A través del texto del enlace sumado al contexto del enlace determinado por software.</a:t>
            </a:r>
          </a:p>
          <a:p>
            <a:pPr lvl="0" algn="just" eaLnBrk="1" hangingPunct="1">
              <a:lnSpc>
                <a:spcPct val="90000"/>
              </a:lnSpc>
            </a:pPr>
            <a:r>
              <a:rPr lang="es-AR" altLang="es-AR" sz="1600" dirty="0"/>
              <a:t>Excepto cuando el propósito del enlace resultara ambiguo para los usuarios en general.</a:t>
            </a:r>
          </a:p>
          <a:p>
            <a:endParaRPr lang="es-AR" dirty="0"/>
          </a:p>
        </p:txBody>
      </p:sp>
      <p:sp>
        <p:nvSpPr>
          <p:cNvPr id="4" name="Marcador de número de diapositiva 3"/>
          <p:cNvSpPr>
            <a:spLocks noGrp="1"/>
          </p:cNvSpPr>
          <p:nvPr>
            <p:ph type="sldNum" sz="quarter" idx="10"/>
          </p:nvPr>
        </p:nvSpPr>
        <p:spPr/>
        <p:txBody>
          <a:bodyPr/>
          <a:lstStyle/>
          <a:p>
            <a:fld id="{16056653-EB7C-4C2C-8160-84A14F109A05}" type="slidenum">
              <a:rPr lang="es-AR" smtClean="0"/>
              <a:t>41</a:t>
            </a:fld>
            <a:endParaRPr lang="es-AR"/>
          </a:p>
        </p:txBody>
      </p:sp>
    </p:spTree>
    <p:extLst>
      <p:ext uri="{BB962C8B-B14F-4D97-AF65-F5344CB8AC3E}">
        <p14:creationId xmlns:p14="http://schemas.microsoft.com/office/powerpoint/2010/main" val="3812870146"/>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AR" dirty="0"/>
              <a:t>El atributo</a:t>
            </a:r>
            <a:r>
              <a:rPr lang="es-AR" baseline="0" dirty="0"/>
              <a:t> </a:t>
            </a:r>
            <a:r>
              <a:rPr lang="es-AR" baseline="0" dirty="0" err="1"/>
              <a:t>title</a:t>
            </a:r>
            <a:r>
              <a:rPr lang="es-AR" baseline="0" dirty="0"/>
              <a:t> para complementar la información o</a:t>
            </a:r>
          </a:p>
          <a:p>
            <a:r>
              <a:rPr lang="es-AR" baseline="0" dirty="0"/>
              <a:t>Usar hojas de estilo para ocultar parte del texto del enlace, visualmente no lo veremos pero si lo leerán los lectores de pantalla.</a:t>
            </a:r>
          </a:p>
          <a:p>
            <a:endParaRPr lang="es-AR" baseline="0" dirty="0"/>
          </a:p>
        </p:txBody>
      </p:sp>
      <p:sp>
        <p:nvSpPr>
          <p:cNvPr id="4" name="Marcador de número de diapositiva 3"/>
          <p:cNvSpPr>
            <a:spLocks noGrp="1"/>
          </p:cNvSpPr>
          <p:nvPr>
            <p:ph type="sldNum" sz="quarter" idx="10"/>
          </p:nvPr>
        </p:nvSpPr>
        <p:spPr/>
        <p:txBody>
          <a:bodyPr/>
          <a:lstStyle/>
          <a:p>
            <a:fld id="{16056653-EB7C-4C2C-8160-84A14F109A05}" type="slidenum">
              <a:rPr lang="es-AR" smtClean="0"/>
              <a:t>43</a:t>
            </a:fld>
            <a:endParaRPr lang="es-AR"/>
          </a:p>
        </p:txBody>
      </p:sp>
    </p:spTree>
    <p:extLst>
      <p:ext uri="{BB962C8B-B14F-4D97-AF65-F5344CB8AC3E}">
        <p14:creationId xmlns:p14="http://schemas.microsoft.com/office/powerpoint/2010/main" val="337673453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AR" dirty="0"/>
              <a:t>Distinguir entre imágenes decorativas e imágenes necesarias.</a:t>
            </a:r>
          </a:p>
          <a:p>
            <a:r>
              <a:rPr lang="es-AR" dirty="0"/>
              <a:t>Para las imágenes</a:t>
            </a:r>
            <a:r>
              <a:rPr lang="es-AR" baseline="0" dirty="0"/>
              <a:t> decorativas es obligatorio incluir el atributo </a:t>
            </a:r>
            <a:r>
              <a:rPr lang="es-AR" baseline="0" dirty="0" err="1"/>
              <a:t>alt</a:t>
            </a:r>
            <a:r>
              <a:rPr lang="es-AR" baseline="0" dirty="0"/>
              <a:t>.</a:t>
            </a:r>
            <a:endParaRPr lang="es-AR" dirty="0"/>
          </a:p>
        </p:txBody>
      </p:sp>
      <p:sp>
        <p:nvSpPr>
          <p:cNvPr id="4" name="Marcador de número de diapositiva 3"/>
          <p:cNvSpPr>
            <a:spLocks noGrp="1"/>
          </p:cNvSpPr>
          <p:nvPr>
            <p:ph type="sldNum" sz="quarter" idx="10"/>
          </p:nvPr>
        </p:nvSpPr>
        <p:spPr/>
        <p:txBody>
          <a:bodyPr/>
          <a:lstStyle/>
          <a:p>
            <a:fld id="{16056653-EB7C-4C2C-8160-84A14F109A05}" type="slidenum">
              <a:rPr lang="es-AR" smtClean="0"/>
              <a:t>44</a:t>
            </a:fld>
            <a:endParaRPr lang="es-AR"/>
          </a:p>
        </p:txBody>
      </p:sp>
    </p:spTree>
    <p:extLst>
      <p:ext uri="{BB962C8B-B14F-4D97-AF65-F5344CB8AC3E}">
        <p14:creationId xmlns:p14="http://schemas.microsoft.com/office/powerpoint/2010/main" val="4059634856"/>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AR" dirty="0"/>
              <a:t>No hay que se redundante</a:t>
            </a:r>
          </a:p>
          <a:p>
            <a:r>
              <a:rPr lang="es-AR" dirty="0"/>
              <a:t>Por ejemplo </a:t>
            </a:r>
          </a:p>
          <a:p>
            <a:r>
              <a:rPr lang="es-AR" altLang="es-AR" b="0" dirty="0"/>
              <a:t>Botón solo con la impresora</a:t>
            </a:r>
            <a:r>
              <a:rPr lang="es-AR" altLang="es-AR" b="0" baseline="0" dirty="0"/>
              <a:t>                         </a:t>
            </a:r>
            <a:r>
              <a:rPr lang="es-AR" altLang="es-AR" b="1" dirty="0"/>
              <a:t>&lt;a </a:t>
            </a:r>
            <a:r>
              <a:rPr lang="es-AR" altLang="es-AR" b="1" dirty="0" err="1"/>
              <a:t>href</a:t>
            </a:r>
            <a:r>
              <a:rPr lang="es-AR" altLang="es-AR" b="1" dirty="0"/>
              <a:t>=“”&gt;&lt;</a:t>
            </a:r>
            <a:r>
              <a:rPr lang="es-AR" altLang="es-AR" b="1" dirty="0" err="1"/>
              <a:t>img</a:t>
            </a:r>
            <a:r>
              <a:rPr lang="es-AR" altLang="es-AR" b="1" dirty="0"/>
              <a:t> </a:t>
            </a:r>
            <a:r>
              <a:rPr lang="es-AR" altLang="es-AR" b="1" dirty="0" err="1"/>
              <a:t>src</a:t>
            </a:r>
            <a:r>
              <a:rPr lang="es-AR" altLang="es-AR" b="1" dirty="0"/>
              <a:t>=“imprimir.jpg” </a:t>
            </a:r>
            <a:r>
              <a:rPr lang="es-AR" altLang="es-AR" b="1" dirty="0" err="1">
                <a:solidFill>
                  <a:srgbClr val="FF0000"/>
                </a:solidFill>
              </a:rPr>
              <a:t>alt</a:t>
            </a:r>
            <a:r>
              <a:rPr lang="es-AR" altLang="es-AR" b="1" dirty="0">
                <a:solidFill>
                  <a:srgbClr val="FF0000"/>
                </a:solidFill>
              </a:rPr>
              <a:t>=“Imprimir”</a:t>
            </a:r>
            <a:r>
              <a:rPr lang="es-AR" altLang="es-AR" b="1" dirty="0"/>
              <a:t>&gt;&lt;/a&gt;</a:t>
            </a:r>
          </a:p>
          <a:p>
            <a:r>
              <a:rPr lang="es-AR" altLang="es-AR" b="0" dirty="0"/>
              <a:t>Botón con</a:t>
            </a:r>
            <a:r>
              <a:rPr lang="es-AR" altLang="es-AR" b="0" baseline="0" dirty="0"/>
              <a:t> la impresora + texto Impresora </a:t>
            </a:r>
            <a:r>
              <a:rPr lang="es-AR" altLang="es-AR" b="1" baseline="0" dirty="0"/>
              <a:t>  </a:t>
            </a:r>
            <a:r>
              <a:rPr lang="es-AR" altLang="es-AR" b="1" dirty="0"/>
              <a:t>&lt;a </a:t>
            </a:r>
            <a:r>
              <a:rPr lang="es-AR" altLang="es-AR" b="1" dirty="0" err="1"/>
              <a:t>href</a:t>
            </a:r>
            <a:r>
              <a:rPr lang="es-AR" altLang="es-AR" b="1" dirty="0"/>
              <a:t>=“”&gt;&lt;</a:t>
            </a:r>
            <a:r>
              <a:rPr lang="es-AR" altLang="es-AR" b="1" dirty="0" err="1"/>
              <a:t>img</a:t>
            </a:r>
            <a:r>
              <a:rPr lang="es-AR" altLang="es-AR" b="1" dirty="0"/>
              <a:t> </a:t>
            </a:r>
            <a:r>
              <a:rPr lang="es-AR" altLang="es-AR" b="1" dirty="0" err="1"/>
              <a:t>src</a:t>
            </a:r>
            <a:r>
              <a:rPr lang="es-AR" altLang="es-AR" b="1" dirty="0"/>
              <a:t>=“imprimir.jpg” </a:t>
            </a:r>
            <a:r>
              <a:rPr lang="es-AR" altLang="es-AR" b="1" dirty="0" err="1">
                <a:solidFill>
                  <a:srgbClr val="FF0000"/>
                </a:solidFill>
              </a:rPr>
              <a:t>alt</a:t>
            </a:r>
            <a:r>
              <a:rPr lang="es-AR" altLang="es-AR" b="1" dirty="0">
                <a:solidFill>
                  <a:srgbClr val="FF0000"/>
                </a:solidFill>
              </a:rPr>
              <a:t>=“”</a:t>
            </a:r>
            <a:r>
              <a:rPr lang="es-AR" altLang="es-AR" b="1" dirty="0"/>
              <a:t>&gt;Imprimir&lt;/a&gt;</a:t>
            </a:r>
          </a:p>
          <a:p>
            <a:r>
              <a:rPr lang="es-AR" b="0" dirty="0"/>
              <a:t>Ya</a:t>
            </a:r>
            <a:r>
              <a:rPr lang="es-AR" b="0" baseline="0" dirty="0"/>
              <a:t> que el lector de pantalla leerá “Imprimir </a:t>
            </a:r>
            <a:r>
              <a:rPr lang="es-AR" b="0" baseline="0" dirty="0" err="1"/>
              <a:t>Imprimir</a:t>
            </a:r>
            <a:r>
              <a:rPr lang="es-AR" b="0" baseline="0" dirty="0"/>
              <a:t>”</a:t>
            </a:r>
            <a:endParaRPr lang="es-AR" b="0" dirty="0"/>
          </a:p>
          <a:p>
            <a:pPr algn="just" eaLnBrk="1" hangingPunct="1"/>
            <a:endParaRPr lang="es-AR" altLang="es-AR" dirty="0"/>
          </a:p>
          <a:p>
            <a:pPr algn="just" eaLnBrk="1" hangingPunct="1"/>
            <a:r>
              <a:rPr lang="es-AR" altLang="es-AR" dirty="0"/>
              <a:t>Fallos más comunes:</a:t>
            </a:r>
          </a:p>
          <a:p>
            <a:pPr lvl="0" algn="just" eaLnBrk="1" hangingPunct="1"/>
            <a:r>
              <a:rPr lang="es-AR" altLang="es-AR" dirty="0"/>
              <a:t>. Usar </a:t>
            </a:r>
            <a:r>
              <a:rPr lang="es-AR" altLang="es-AR" b="1" dirty="0"/>
              <a:t>alternativas inapropiadas que no proporcionan la misma información o función</a:t>
            </a:r>
            <a:r>
              <a:rPr lang="es-AR" altLang="es-AR" dirty="0"/>
              <a:t>, como por ejemplo usar nombres de archivos, textos de relleno o genéricos, etc.</a:t>
            </a:r>
          </a:p>
          <a:p>
            <a:pPr lvl="0" algn="just" eaLnBrk="1" hangingPunct="1"/>
            <a:r>
              <a:rPr lang="es-AR" altLang="es-AR" b="1" dirty="0"/>
              <a:t>. No actualizar las alternativas textuales cuando cambia el contenido no textual.</a:t>
            </a:r>
            <a:r>
              <a:rPr lang="es-AR" altLang="es-AR" dirty="0"/>
              <a:t> Por ejemplo, si tenemos una imagen con información meteorológica, la alternativa textual debe variar a la vez que la imagen.</a:t>
            </a:r>
          </a:p>
          <a:p>
            <a:endParaRPr lang="es-AR" dirty="0"/>
          </a:p>
        </p:txBody>
      </p:sp>
      <p:sp>
        <p:nvSpPr>
          <p:cNvPr id="4" name="Marcador de número de diapositiva 3"/>
          <p:cNvSpPr>
            <a:spLocks noGrp="1"/>
          </p:cNvSpPr>
          <p:nvPr>
            <p:ph type="sldNum" sz="quarter" idx="10"/>
          </p:nvPr>
        </p:nvSpPr>
        <p:spPr/>
        <p:txBody>
          <a:bodyPr/>
          <a:lstStyle/>
          <a:p>
            <a:fld id="{16056653-EB7C-4C2C-8160-84A14F109A05}" type="slidenum">
              <a:rPr lang="es-AR" smtClean="0"/>
              <a:t>45</a:t>
            </a:fld>
            <a:endParaRPr lang="es-AR"/>
          </a:p>
        </p:txBody>
      </p:sp>
    </p:spTree>
    <p:extLst>
      <p:ext uri="{BB962C8B-B14F-4D97-AF65-F5344CB8AC3E}">
        <p14:creationId xmlns:p14="http://schemas.microsoft.com/office/powerpoint/2010/main" val="2622624512"/>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AR" dirty="0"/>
              <a:t>En función del tipo de imagen, su contexto y su función,</a:t>
            </a:r>
            <a:r>
              <a:rPr lang="es-AR" baseline="0" dirty="0"/>
              <a:t> y a través de una serie de preguntas, recomienda la forma adecuada de incluir un texto alternativo a es imagen.</a:t>
            </a:r>
          </a:p>
          <a:p>
            <a:r>
              <a:rPr lang="es-AR" baseline="0" dirty="0"/>
              <a:t>Proporcionar una alternativa textual a la imagen para que pueda ser percibida, por ejemplo, cuando no se cargan las imágenes del sitio o que, por ejemplo, pueda ser leída al usuario que accede con un lector de pantalla.</a:t>
            </a:r>
          </a:p>
          <a:p>
            <a:r>
              <a:rPr lang="es-AR" baseline="0" dirty="0"/>
              <a:t>El criterio de conformidad es el 1.1.1 Alternativas textuales al contenido no textual (nivel A).</a:t>
            </a:r>
            <a:endParaRPr lang="es-AR" dirty="0"/>
          </a:p>
        </p:txBody>
      </p:sp>
      <p:sp>
        <p:nvSpPr>
          <p:cNvPr id="4" name="Marcador de número de diapositiva 3"/>
          <p:cNvSpPr>
            <a:spLocks noGrp="1"/>
          </p:cNvSpPr>
          <p:nvPr>
            <p:ph type="sldNum" sz="quarter" idx="10"/>
          </p:nvPr>
        </p:nvSpPr>
        <p:spPr/>
        <p:txBody>
          <a:bodyPr/>
          <a:lstStyle/>
          <a:p>
            <a:fld id="{16056653-EB7C-4C2C-8160-84A14F109A05}" type="slidenum">
              <a:rPr lang="es-AR" smtClean="0"/>
              <a:t>46</a:t>
            </a:fld>
            <a:endParaRPr lang="es-AR"/>
          </a:p>
        </p:txBody>
      </p:sp>
    </p:spTree>
    <p:extLst>
      <p:ext uri="{BB962C8B-B14F-4D97-AF65-F5344CB8AC3E}">
        <p14:creationId xmlns:p14="http://schemas.microsoft.com/office/powerpoint/2010/main" val="248840122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AR" b="1" dirty="0"/>
              <a:t>Tipos de alternativas:</a:t>
            </a:r>
          </a:p>
          <a:p>
            <a:r>
              <a:rPr lang="es-AR" dirty="0"/>
              <a:t>Vamos a aclarar ahora qué es cada una de las alternativas que deben proporcionarse: </a:t>
            </a:r>
          </a:p>
          <a:p>
            <a:r>
              <a:rPr lang="es-AR" b="1" dirty="0"/>
              <a:t>Transcripción textual:</a:t>
            </a:r>
            <a:r>
              <a:rPr lang="es-AR" dirty="0"/>
              <a:t> que en las WCAG se denomina "alternativa para los medios tempodependientes". Es un documento que incluye una secuencia correcta de descripciones textuales de la información visual y auditiva tempodependiente, y que proporciona los medios para lograr los resultados de cualquier interacción basada en el tiempo. El guion empleado para crear el contenido multimedia sincronizado podría satisfacer esta definición sólo si ha sido corregido para representar con precisión el contenido multimedia sincronizado resultante tras la edición. </a:t>
            </a:r>
          </a:p>
          <a:p>
            <a:r>
              <a:rPr lang="es-AR" b="1" dirty="0"/>
              <a:t>Alternativa en audio</a:t>
            </a:r>
            <a:r>
              <a:rPr lang="es-AR" dirty="0"/>
              <a:t>: pista sonora que presenta información equivalente al contenido del medio de sólo vídeo grabado. </a:t>
            </a:r>
          </a:p>
          <a:p>
            <a:r>
              <a:rPr lang="es-AR" b="1" dirty="0"/>
              <a:t>Subtítulos:</a:t>
            </a:r>
            <a:r>
              <a:rPr lang="es-AR" dirty="0"/>
              <a:t> alternativa sincronizada de carácter visual y/o textual para la información sonora, necesaria para comprender el contenido multimedia, que puede ser tanto hablada como no hablada. Los subtítulos para sordos son similares a los subtítulos que presentan solo los diálogos, salvo que los subtítulos para sordos transmiten no sólo el contenido de los diálogos sino también el equivalente para la información sonora que no es diálogo y que es necesaria para comprender el contenido del programa, incluyendo efectos sonoros, música, risas, identificación del hablante y localización. </a:t>
            </a:r>
          </a:p>
          <a:p>
            <a:r>
              <a:rPr lang="es-AR" b="1" dirty="0"/>
              <a:t>Audiodescripción: </a:t>
            </a:r>
            <a:r>
              <a:rPr lang="es-AR" dirty="0"/>
              <a:t>la narración agregada a la pista de sonido para describir los detalles visuales importantes que no se pueden entender sólo con la banda de sonido principal. La audiodescripción del vídeo proporciona información sobre las acciones, personajes, cambios de escena, textos que aparecen en pantalla y otros contenidos visuales. En las audiodescripciones estándares, la narración se añade durante las pausas existentes en el diálogo. Cuando toda la información sobre el vídeo ya se proporciona en el audio de la presentación, no es necesaria ninguna audiodescripción adicional. En inglés también se la denomina "video </a:t>
            </a:r>
            <a:r>
              <a:rPr lang="es-AR" dirty="0" err="1"/>
              <a:t>description</a:t>
            </a:r>
            <a:r>
              <a:rPr lang="es-AR" dirty="0"/>
              <a:t>" (descripción de vídeo) o "</a:t>
            </a:r>
            <a:r>
              <a:rPr lang="es-AR" dirty="0" err="1"/>
              <a:t>descriptive</a:t>
            </a:r>
            <a:r>
              <a:rPr lang="es-AR" dirty="0"/>
              <a:t> </a:t>
            </a:r>
            <a:r>
              <a:rPr lang="es-AR" dirty="0" err="1"/>
              <a:t>narration</a:t>
            </a:r>
            <a:r>
              <a:rPr lang="es-AR" dirty="0"/>
              <a:t>" (narración descriptiva). </a:t>
            </a:r>
          </a:p>
        </p:txBody>
      </p:sp>
      <p:sp>
        <p:nvSpPr>
          <p:cNvPr id="4" name="Marcador de número de diapositiva 3"/>
          <p:cNvSpPr>
            <a:spLocks noGrp="1"/>
          </p:cNvSpPr>
          <p:nvPr>
            <p:ph type="sldNum" sz="quarter" idx="10"/>
          </p:nvPr>
        </p:nvSpPr>
        <p:spPr/>
        <p:txBody>
          <a:bodyPr/>
          <a:lstStyle/>
          <a:p>
            <a:fld id="{16056653-EB7C-4C2C-8160-84A14F109A05}" type="slidenum">
              <a:rPr lang="es-AR" smtClean="0"/>
              <a:t>58</a:t>
            </a:fld>
            <a:endParaRPr lang="es-AR"/>
          </a:p>
        </p:txBody>
      </p:sp>
    </p:spTree>
    <p:extLst>
      <p:ext uri="{BB962C8B-B14F-4D97-AF65-F5344CB8AC3E}">
        <p14:creationId xmlns:p14="http://schemas.microsoft.com/office/powerpoint/2010/main" val="237689197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AR" dirty="0"/>
              <a:t>Como crear subtítulos</a:t>
            </a:r>
            <a:r>
              <a:rPr lang="es-AR" baseline="0" dirty="0"/>
              <a:t> para el contenido multimedia?</a:t>
            </a:r>
          </a:p>
          <a:p>
            <a:r>
              <a:rPr lang="es-AR" baseline="0" dirty="0"/>
              <a:t>Las WCAG 2.0 tienen 2 criterios de conformidad que hacen referencia a los subtítulos del contenido multimedia:</a:t>
            </a:r>
          </a:p>
          <a:p>
            <a:r>
              <a:rPr lang="es-AR" baseline="0" dirty="0"/>
              <a:t>Criterio 1.2.2</a:t>
            </a:r>
          </a:p>
          <a:p>
            <a:r>
              <a:rPr lang="es-AR" baseline="0" dirty="0"/>
              <a:t>Criterio 1.2.4</a:t>
            </a:r>
            <a:endParaRPr lang="es-AR" dirty="0"/>
          </a:p>
        </p:txBody>
      </p:sp>
      <p:sp>
        <p:nvSpPr>
          <p:cNvPr id="4" name="Marcador de número de diapositiva 3"/>
          <p:cNvSpPr>
            <a:spLocks noGrp="1"/>
          </p:cNvSpPr>
          <p:nvPr>
            <p:ph type="sldNum" sz="quarter" idx="10"/>
          </p:nvPr>
        </p:nvSpPr>
        <p:spPr/>
        <p:txBody>
          <a:bodyPr/>
          <a:lstStyle/>
          <a:p>
            <a:fld id="{16056653-EB7C-4C2C-8160-84A14F109A05}" type="slidenum">
              <a:rPr lang="es-AR" smtClean="0"/>
              <a:t>59</a:t>
            </a:fld>
            <a:endParaRPr lang="es-AR"/>
          </a:p>
        </p:txBody>
      </p:sp>
    </p:spTree>
    <p:extLst>
      <p:ext uri="{BB962C8B-B14F-4D97-AF65-F5344CB8AC3E}">
        <p14:creationId xmlns:p14="http://schemas.microsoft.com/office/powerpoint/2010/main" val="994084304"/>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AR" dirty="0"/>
              <a:t>Es</a:t>
            </a:r>
            <a:r>
              <a:rPr lang="es-AR" baseline="0" dirty="0"/>
              <a:t> importante diferenciar:</a:t>
            </a:r>
          </a:p>
          <a:p>
            <a:r>
              <a:rPr lang="es-AR" baseline="0" dirty="0"/>
              <a:t>Subtítulos normales y subtítulos para sordos.</a:t>
            </a:r>
          </a:p>
          <a:p>
            <a:endParaRPr lang="es-AR" dirty="0"/>
          </a:p>
          <a:p>
            <a:r>
              <a:rPr lang="es-AR" baseline="0" dirty="0"/>
              <a:t>Subtítulos normales, solo incluyen el diálogo.</a:t>
            </a:r>
          </a:p>
          <a:p>
            <a:r>
              <a:rPr lang="es-AR" baseline="0" dirty="0"/>
              <a:t>Subtítulos para sordos, además del dialogo incluyen equivalentes para que la información sonora se pueda entender sin problemas.</a:t>
            </a:r>
          </a:p>
          <a:p>
            <a:endParaRPr lang="es-AR" dirty="0"/>
          </a:p>
          <a:p>
            <a:r>
              <a:rPr lang="es-AR" dirty="0"/>
              <a:t>Subtítulos benefician</a:t>
            </a:r>
            <a:r>
              <a:rPr lang="es-AR" baseline="0" dirty="0"/>
              <a:t> a TODOS:</a:t>
            </a:r>
          </a:p>
          <a:p>
            <a:r>
              <a:rPr lang="es-AR" baseline="0" dirty="0"/>
              <a:t>Ver un video en una biblioteca en que se tiene que guardar silencio.</a:t>
            </a:r>
          </a:p>
          <a:p>
            <a:r>
              <a:rPr lang="es-AR" baseline="0" dirty="0"/>
              <a:t>La computadora que estamos usando no dispone de sonido.</a:t>
            </a:r>
          </a:p>
          <a:p>
            <a:r>
              <a:rPr lang="es-AR" baseline="0" dirty="0"/>
              <a:t>El audio del video esta en otro idioma que no entendemos muy bien.</a:t>
            </a:r>
          </a:p>
          <a:p>
            <a:endParaRPr lang="es-AR" baseline="0" dirty="0"/>
          </a:p>
          <a:p>
            <a:r>
              <a:rPr lang="es-AR" baseline="0" dirty="0"/>
              <a:t>En estas u otras situaciones agradecemos que los video tengan subtítulos.</a:t>
            </a:r>
          </a:p>
          <a:p>
            <a:r>
              <a:rPr lang="es-AR" baseline="0" dirty="0"/>
              <a:t>Normalmente los subtítulos se pueden activar en diferentes idiomas.</a:t>
            </a:r>
          </a:p>
          <a:p>
            <a:endParaRPr lang="es-AR" baseline="0" dirty="0"/>
          </a:p>
          <a:p>
            <a:endParaRPr lang="es-AR" dirty="0"/>
          </a:p>
        </p:txBody>
      </p:sp>
      <p:sp>
        <p:nvSpPr>
          <p:cNvPr id="4" name="Marcador de número de diapositiva 3"/>
          <p:cNvSpPr>
            <a:spLocks noGrp="1"/>
          </p:cNvSpPr>
          <p:nvPr>
            <p:ph type="sldNum" sz="quarter" idx="10"/>
          </p:nvPr>
        </p:nvSpPr>
        <p:spPr/>
        <p:txBody>
          <a:bodyPr/>
          <a:lstStyle/>
          <a:p>
            <a:fld id="{16056653-EB7C-4C2C-8160-84A14F109A05}" type="slidenum">
              <a:rPr lang="es-AR" smtClean="0"/>
              <a:t>60</a:t>
            </a:fld>
            <a:endParaRPr lang="es-AR"/>
          </a:p>
        </p:txBody>
      </p:sp>
    </p:spTree>
    <p:extLst>
      <p:ext uri="{BB962C8B-B14F-4D97-AF65-F5344CB8AC3E}">
        <p14:creationId xmlns:p14="http://schemas.microsoft.com/office/powerpoint/2010/main" val="1965252986"/>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AR" dirty="0"/>
              <a:t>En las diapositivas anteriores hemos abordado con detalle los requisitos de accesibilidad, relacionados con el contenido multimedia, que deben conocer en profundidad. </a:t>
            </a:r>
          </a:p>
          <a:p>
            <a:r>
              <a:rPr lang="es-AR" dirty="0"/>
              <a:t>Sin embargo, en las WCAG 2.0 hay otros requisitos relacionados con el audio, con el contenido que destella, con el tiempo que se impone al contenido o con el contenido que debe poderse pausar, detener u ocultar. </a:t>
            </a:r>
          </a:p>
          <a:p>
            <a:r>
              <a:rPr lang="es-AR" dirty="0"/>
              <a:t>A continuación incluimos una relación de todos ellos.</a:t>
            </a:r>
          </a:p>
          <a:p>
            <a:endParaRPr lang="es-AR" dirty="0"/>
          </a:p>
          <a:p>
            <a:endParaRPr lang="es-AR" dirty="0"/>
          </a:p>
        </p:txBody>
      </p:sp>
      <p:sp>
        <p:nvSpPr>
          <p:cNvPr id="4" name="Marcador de número de diapositiva 3"/>
          <p:cNvSpPr>
            <a:spLocks noGrp="1"/>
          </p:cNvSpPr>
          <p:nvPr>
            <p:ph type="sldNum" sz="quarter" idx="10"/>
          </p:nvPr>
        </p:nvSpPr>
        <p:spPr/>
        <p:txBody>
          <a:bodyPr/>
          <a:lstStyle/>
          <a:p>
            <a:fld id="{16056653-EB7C-4C2C-8160-84A14F109A05}" type="slidenum">
              <a:rPr lang="es-AR" smtClean="0"/>
              <a:t>62</a:t>
            </a:fld>
            <a:endParaRPr lang="es-AR"/>
          </a:p>
        </p:txBody>
      </p:sp>
    </p:spTree>
    <p:extLst>
      <p:ext uri="{BB962C8B-B14F-4D97-AF65-F5344CB8AC3E}">
        <p14:creationId xmlns:p14="http://schemas.microsoft.com/office/powerpoint/2010/main" val="1164369359"/>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AR" i="1" dirty="0"/>
              <a:t>Nota:</a:t>
            </a:r>
            <a:r>
              <a:rPr lang="es-AR" dirty="0"/>
              <a:t> En la medida en que cualquier contenido que no satisfaga este criterio puede interferir con la capacidad del usuario de emplear la página en su conjunto, todo contenido de la página web (tanto si satisface o no otros criterios de conformidad) debe satisfacer este criterio.</a:t>
            </a:r>
          </a:p>
        </p:txBody>
      </p:sp>
      <p:sp>
        <p:nvSpPr>
          <p:cNvPr id="4" name="Marcador de número de diapositiva 3"/>
          <p:cNvSpPr>
            <a:spLocks noGrp="1"/>
          </p:cNvSpPr>
          <p:nvPr>
            <p:ph type="sldNum" sz="quarter" idx="10"/>
          </p:nvPr>
        </p:nvSpPr>
        <p:spPr/>
        <p:txBody>
          <a:bodyPr/>
          <a:lstStyle/>
          <a:p>
            <a:fld id="{16056653-EB7C-4C2C-8160-84A14F109A05}" type="slidenum">
              <a:rPr lang="es-AR" smtClean="0"/>
              <a:t>63</a:t>
            </a:fld>
            <a:endParaRPr lang="es-AR"/>
          </a:p>
        </p:txBody>
      </p:sp>
    </p:spTree>
    <p:extLst>
      <p:ext uri="{BB962C8B-B14F-4D97-AF65-F5344CB8AC3E}">
        <p14:creationId xmlns:p14="http://schemas.microsoft.com/office/powerpoint/2010/main" val="1090916415"/>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AR" i="1" dirty="0"/>
              <a:t>Nota:</a:t>
            </a:r>
            <a:r>
              <a:rPr lang="es-AR" dirty="0"/>
              <a:t> En la medida en que cualquier contenido que no satisfaga este criterio puede interferir con la capacidad del usuario de emplear la página en su conjunto, todo contenido de la página web (tanto si satisface o no otros criterios de conformidad) debe satisfacer este criterio.</a:t>
            </a:r>
          </a:p>
          <a:p>
            <a:endParaRPr lang="es-AR" dirty="0"/>
          </a:p>
        </p:txBody>
      </p:sp>
      <p:sp>
        <p:nvSpPr>
          <p:cNvPr id="4" name="Marcador de número de diapositiva 3"/>
          <p:cNvSpPr>
            <a:spLocks noGrp="1"/>
          </p:cNvSpPr>
          <p:nvPr>
            <p:ph type="sldNum" sz="quarter" idx="10"/>
          </p:nvPr>
        </p:nvSpPr>
        <p:spPr/>
        <p:txBody>
          <a:bodyPr/>
          <a:lstStyle/>
          <a:p>
            <a:fld id="{16056653-EB7C-4C2C-8160-84A14F109A05}" type="slidenum">
              <a:rPr lang="es-AR" smtClean="0"/>
              <a:t>64</a:t>
            </a:fld>
            <a:endParaRPr lang="es-AR"/>
          </a:p>
        </p:txBody>
      </p:sp>
    </p:spTree>
    <p:extLst>
      <p:ext uri="{BB962C8B-B14F-4D97-AF65-F5344CB8AC3E}">
        <p14:creationId xmlns:p14="http://schemas.microsoft.com/office/powerpoint/2010/main" val="4142333689"/>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AR" dirty="0"/>
              <a:t>Pauta 2.2.1 Tiempo ajustable</a:t>
            </a:r>
          </a:p>
          <a:p>
            <a:r>
              <a:rPr lang="es-AR" b="1" dirty="0"/>
              <a:t>Apagar:</a:t>
            </a:r>
            <a:r>
              <a:rPr lang="es-AR" dirty="0"/>
              <a:t> El usuario puede detener el límite de tiempo antes de alcanzar el límite de tiempo; o </a:t>
            </a:r>
          </a:p>
          <a:p>
            <a:r>
              <a:rPr lang="es-AR" b="1" dirty="0"/>
              <a:t>Ajustar:</a:t>
            </a:r>
            <a:r>
              <a:rPr lang="es-AR" dirty="0"/>
              <a:t> El usuario puede ajustar el límite de tiempo antes de alcanzar dicho límite en un rango amplio que es, al menos, diez veces mayor al tiempo fijado originalmente; o</a:t>
            </a:r>
          </a:p>
          <a:p>
            <a:r>
              <a:rPr lang="es-AR" b="1" dirty="0"/>
              <a:t>Extender:</a:t>
            </a:r>
            <a:r>
              <a:rPr lang="es-AR" dirty="0"/>
              <a:t> Se advierte al usuario antes de que el tiempo expire y se le conceden al menos 20 segundos para extender el límite temporal con una acción simple (por ejemplo, "presione la barra de espacio") y el usuario puede extender ese límite de tiempo al menos diez veces; o</a:t>
            </a:r>
          </a:p>
          <a:p>
            <a:r>
              <a:rPr lang="es-AR" b="1" dirty="0"/>
              <a:t>Excepción de tiempo real:</a:t>
            </a:r>
            <a:r>
              <a:rPr lang="es-AR" dirty="0"/>
              <a:t> El límite de tiempo es un requisito que forma parte de un evento en tiempo real (por ejemplo, una subasta) y no resulta posible ofrecer una alternativa al límite de tiempo; o</a:t>
            </a:r>
          </a:p>
          <a:p>
            <a:r>
              <a:rPr lang="es-AR" b="1" dirty="0"/>
              <a:t>Excepción por ser esencial:</a:t>
            </a:r>
            <a:r>
              <a:rPr lang="es-AR" dirty="0"/>
              <a:t> El límite de tiempo es esencial y, si se extendiera, invalidaría la actividad; o</a:t>
            </a:r>
          </a:p>
          <a:p>
            <a:r>
              <a:rPr lang="es-AR" b="1" dirty="0"/>
              <a:t>Excepción de 20 horas:</a:t>
            </a:r>
            <a:r>
              <a:rPr lang="es-AR" dirty="0"/>
              <a:t> El límite de tiempo es mayor a 20 horas.</a:t>
            </a:r>
          </a:p>
          <a:p>
            <a:endParaRPr lang="es-AR" dirty="0"/>
          </a:p>
          <a:p>
            <a:r>
              <a:rPr lang="es-AR" dirty="0"/>
              <a:t>Pauta 2.2.2 Poner</a:t>
            </a:r>
            <a:r>
              <a:rPr lang="es-AR" baseline="0" dirty="0"/>
              <a:t> en pausa, detener, ocultar</a:t>
            </a:r>
          </a:p>
          <a:p>
            <a:r>
              <a:rPr lang="es-AR" b="1" dirty="0"/>
              <a:t>Movimiento, parpadeo, desplazamiento:</a:t>
            </a:r>
            <a:r>
              <a:rPr lang="es-AR" dirty="0"/>
              <a:t> Para toda información que se mueve, parpadea o se desplaza, que (1) comienza automáticamente, (2) dura más de cinco segundos y (3) se presenta en paralelo con otro contenido, existe un mecanismo para que el usuario la pueda poner en pausa, detener u ocultar, a menos que el movimiento, parpadeo o desplazamiento sea parte esencial de una actividad; y </a:t>
            </a:r>
          </a:p>
          <a:p>
            <a:r>
              <a:rPr lang="es-AR" b="1" dirty="0"/>
              <a:t>Actualización automática:</a:t>
            </a:r>
            <a:r>
              <a:rPr lang="es-AR" dirty="0"/>
              <a:t> Para toda información que se actualiza automáticamente, que (1) se inicia automáticamente y (2) se presenta en paralelo con otro contenido, existe un mecanismo para que el usuario la pueda poner en pausa, detener u ocultar, o controlar la frecuencia de actualización a menos que la actualización automática sea parte esencial de una actividad.</a:t>
            </a:r>
          </a:p>
          <a:p>
            <a:endParaRPr lang="es-AR" dirty="0"/>
          </a:p>
          <a:p>
            <a:endParaRPr lang="es-AR" dirty="0"/>
          </a:p>
        </p:txBody>
      </p:sp>
      <p:sp>
        <p:nvSpPr>
          <p:cNvPr id="4" name="Marcador de número de diapositiva 3"/>
          <p:cNvSpPr>
            <a:spLocks noGrp="1"/>
          </p:cNvSpPr>
          <p:nvPr>
            <p:ph type="sldNum" sz="quarter" idx="10"/>
          </p:nvPr>
        </p:nvSpPr>
        <p:spPr/>
        <p:txBody>
          <a:bodyPr/>
          <a:lstStyle/>
          <a:p>
            <a:fld id="{16056653-EB7C-4C2C-8160-84A14F109A05}" type="slidenum">
              <a:rPr lang="es-AR" smtClean="0"/>
              <a:t>65</a:t>
            </a:fld>
            <a:endParaRPr lang="es-AR"/>
          </a:p>
        </p:txBody>
      </p:sp>
    </p:spTree>
    <p:extLst>
      <p:ext uri="{BB962C8B-B14F-4D97-AF65-F5344CB8AC3E}">
        <p14:creationId xmlns:p14="http://schemas.microsoft.com/office/powerpoint/2010/main" val="2481338102"/>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lvl="0" algn="just" eaLnBrk="1" hangingPunct="1">
              <a:lnSpc>
                <a:spcPct val="90000"/>
              </a:lnSpc>
            </a:pPr>
            <a:r>
              <a:rPr lang="es-AR" altLang="es-AR" sz="1200" dirty="0"/>
              <a:t>Vamos</a:t>
            </a:r>
            <a:r>
              <a:rPr lang="es-AR" altLang="es-AR" sz="1200" baseline="0" dirty="0"/>
              <a:t> a aprender la importancia de incluir encabezados en nuestras páginas HTML.</a:t>
            </a:r>
            <a:endParaRPr lang="es-AR" altLang="es-AR" sz="1200" dirty="0"/>
          </a:p>
          <a:p>
            <a:pPr lvl="0" algn="just" eaLnBrk="1" hangingPunct="1">
              <a:lnSpc>
                <a:spcPct val="90000"/>
              </a:lnSpc>
            </a:pPr>
            <a:r>
              <a:rPr lang="es-AR" altLang="es-AR" sz="1200" dirty="0"/>
              <a:t>Navegar</a:t>
            </a:r>
            <a:r>
              <a:rPr lang="es-AR" altLang="es-AR" sz="1200" baseline="0" dirty="0"/>
              <a:t> a través de los encabezados de las página es una forma de obtener un resumen de las ideas principales y saltar entre contenidos para leer las partes que mas les interesan.</a:t>
            </a:r>
          </a:p>
          <a:p>
            <a:pPr lvl="0" algn="just" eaLnBrk="1" hangingPunct="1">
              <a:lnSpc>
                <a:spcPct val="90000"/>
              </a:lnSpc>
            </a:pPr>
            <a:r>
              <a:rPr lang="es-AR" altLang="es-AR" sz="1200" baseline="0" dirty="0"/>
              <a:t>Usar los encabezados para proporcionar una estructura lógica, es decir, un esquema preciso a nuestros contenidos.</a:t>
            </a:r>
          </a:p>
          <a:p>
            <a:endParaRPr lang="es-AR" dirty="0"/>
          </a:p>
        </p:txBody>
      </p:sp>
      <p:sp>
        <p:nvSpPr>
          <p:cNvPr id="4" name="Marcador de número de diapositiva 3"/>
          <p:cNvSpPr>
            <a:spLocks noGrp="1"/>
          </p:cNvSpPr>
          <p:nvPr>
            <p:ph type="sldNum" sz="quarter" idx="10"/>
          </p:nvPr>
        </p:nvSpPr>
        <p:spPr/>
        <p:txBody>
          <a:bodyPr/>
          <a:lstStyle/>
          <a:p>
            <a:fld id="{16056653-EB7C-4C2C-8160-84A14F109A05}" type="slidenum">
              <a:rPr lang="es-AR" smtClean="0"/>
              <a:t>66</a:t>
            </a:fld>
            <a:endParaRPr lang="es-AR"/>
          </a:p>
        </p:txBody>
      </p:sp>
    </p:spTree>
    <p:extLst>
      <p:ext uri="{BB962C8B-B14F-4D97-AF65-F5344CB8AC3E}">
        <p14:creationId xmlns:p14="http://schemas.microsoft.com/office/powerpoint/2010/main" val="2410208542"/>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AR" dirty="0"/>
              <a:t>Facilitar</a:t>
            </a:r>
            <a:r>
              <a:rPr lang="es-AR" baseline="0" dirty="0"/>
              <a:t> la navegabilidad de las páginas es uno de los propósitos del marcado de los encabezados.</a:t>
            </a:r>
            <a:endParaRPr lang="es-AR" dirty="0"/>
          </a:p>
        </p:txBody>
      </p:sp>
      <p:sp>
        <p:nvSpPr>
          <p:cNvPr id="4" name="Marcador de número de diapositiva 3"/>
          <p:cNvSpPr>
            <a:spLocks noGrp="1"/>
          </p:cNvSpPr>
          <p:nvPr>
            <p:ph type="sldNum" sz="quarter" idx="10"/>
          </p:nvPr>
        </p:nvSpPr>
        <p:spPr/>
        <p:txBody>
          <a:bodyPr/>
          <a:lstStyle/>
          <a:p>
            <a:fld id="{16056653-EB7C-4C2C-8160-84A14F109A05}" type="slidenum">
              <a:rPr lang="es-AR" smtClean="0"/>
              <a:t>67</a:t>
            </a:fld>
            <a:endParaRPr lang="es-AR"/>
          </a:p>
        </p:txBody>
      </p:sp>
    </p:spTree>
    <p:extLst>
      <p:ext uri="{BB962C8B-B14F-4D97-AF65-F5344CB8AC3E}">
        <p14:creationId xmlns:p14="http://schemas.microsoft.com/office/powerpoint/2010/main" val="3138703582"/>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AR" dirty="0"/>
              <a:t>Con este criterio de conformidad</a:t>
            </a:r>
            <a:r>
              <a:rPr lang="es-AR" baseline="0" dirty="0"/>
              <a:t> se pretende asegurar que la información y las relaciones implícitas en el formato visual o auditivo se mantengan cuando cambia el formato de la presentación. Por ejemplo el formato de la presentación cambia cuando el lector de pantalla lee el contenido o cuando se sustituye la hoja de estilo proporcionada por el autor por la hoja de estilo del usuario.</a:t>
            </a:r>
            <a:endParaRPr lang="es-AR" dirty="0"/>
          </a:p>
        </p:txBody>
      </p:sp>
      <p:sp>
        <p:nvSpPr>
          <p:cNvPr id="4" name="Marcador de número de diapositiva 3"/>
          <p:cNvSpPr>
            <a:spLocks noGrp="1"/>
          </p:cNvSpPr>
          <p:nvPr>
            <p:ph type="sldNum" sz="quarter" idx="10"/>
          </p:nvPr>
        </p:nvSpPr>
        <p:spPr/>
        <p:txBody>
          <a:bodyPr/>
          <a:lstStyle/>
          <a:p>
            <a:fld id="{16056653-EB7C-4C2C-8160-84A14F109A05}" type="slidenum">
              <a:rPr lang="es-AR" smtClean="0"/>
              <a:t>68</a:t>
            </a:fld>
            <a:endParaRPr lang="es-AR"/>
          </a:p>
        </p:txBody>
      </p:sp>
    </p:spTree>
    <p:extLst>
      <p:ext uri="{BB962C8B-B14F-4D97-AF65-F5344CB8AC3E}">
        <p14:creationId xmlns:p14="http://schemas.microsoft.com/office/powerpoint/2010/main" val="1991918449"/>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AR" dirty="0"/>
              <a:t>En HTML y XHTML</a:t>
            </a:r>
            <a:r>
              <a:rPr lang="es-AR" baseline="0" dirty="0"/>
              <a:t> existen 6 niveles de encabezados que podemos definir con las etiquetas semánticas H1, H2, H3, H4, H5 y H6.</a:t>
            </a:r>
          </a:p>
          <a:p>
            <a:r>
              <a:rPr lang="es-AR" baseline="0" dirty="0"/>
              <a:t>Siendo H1 el encabezado mas importante de nuestra página web y H6 el de menor importancia.</a:t>
            </a:r>
          </a:p>
          <a:p>
            <a:r>
              <a:rPr lang="es-AR" baseline="0" dirty="0"/>
              <a:t>En el código que se muestra en la diapositiva podemos ver la inserción del encabezado de primer nivel.</a:t>
            </a:r>
          </a:p>
          <a:p>
            <a:endParaRPr lang="es-AR" dirty="0"/>
          </a:p>
        </p:txBody>
      </p:sp>
      <p:sp>
        <p:nvSpPr>
          <p:cNvPr id="4" name="Marcador de número de diapositiva 3"/>
          <p:cNvSpPr>
            <a:spLocks noGrp="1"/>
          </p:cNvSpPr>
          <p:nvPr>
            <p:ph type="sldNum" sz="quarter" idx="10"/>
          </p:nvPr>
        </p:nvSpPr>
        <p:spPr/>
        <p:txBody>
          <a:bodyPr/>
          <a:lstStyle/>
          <a:p>
            <a:fld id="{16056653-EB7C-4C2C-8160-84A14F109A05}" type="slidenum">
              <a:rPr lang="es-AR" smtClean="0"/>
              <a:t>69</a:t>
            </a:fld>
            <a:endParaRPr lang="es-AR"/>
          </a:p>
        </p:txBody>
      </p:sp>
    </p:spTree>
    <p:extLst>
      <p:ext uri="{BB962C8B-B14F-4D97-AF65-F5344CB8AC3E}">
        <p14:creationId xmlns:p14="http://schemas.microsoft.com/office/powerpoint/2010/main" val="201159550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AR" dirty="0"/>
              <a:t>Hemos de anidarlos</a:t>
            </a:r>
            <a:r>
              <a:rPr lang="es-AR" baseline="0" dirty="0"/>
              <a:t> en forma correcta, es decir, después de un encabezado de primer nivel puede ir uno de segundo nivel u otro de primer nivel pero no uno de tercer nivel.</a:t>
            </a:r>
          </a:p>
          <a:p>
            <a:r>
              <a:rPr lang="es-AR" baseline="0" dirty="0"/>
              <a:t>No pueden existir encabezados que no contengan contenido.</a:t>
            </a:r>
          </a:p>
          <a:p>
            <a:endParaRPr lang="es-AR" dirty="0"/>
          </a:p>
        </p:txBody>
      </p:sp>
      <p:sp>
        <p:nvSpPr>
          <p:cNvPr id="4" name="Marcador de número de diapositiva 3"/>
          <p:cNvSpPr>
            <a:spLocks noGrp="1"/>
          </p:cNvSpPr>
          <p:nvPr>
            <p:ph type="sldNum" sz="quarter" idx="10"/>
          </p:nvPr>
        </p:nvSpPr>
        <p:spPr/>
        <p:txBody>
          <a:bodyPr/>
          <a:lstStyle/>
          <a:p>
            <a:fld id="{16056653-EB7C-4C2C-8160-84A14F109A05}" type="slidenum">
              <a:rPr lang="es-AR" smtClean="0"/>
              <a:t>70</a:t>
            </a:fld>
            <a:endParaRPr lang="es-AR"/>
          </a:p>
        </p:txBody>
      </p:sp>
    </p:spTree>
    <p:extLst>
      <p:ext uri="{BB962C8B-B14F-4D97-AF65-F5344CB8AC3E}">
        <p14:creationId xmlns:p14="http://schemas.microsoft.com/office/powerpoint/2010/main" val="411329363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AR" dirty="0"/>
              <a:t>El código del ejemplo, en vez de usar un encabezado de primer nivel para marcar técnicas</a:t>
            </a:r>
            <a:r>
              <a:rPr lang="es-AR" baseline="0" dirty="0"/>
              <a:t> de cocina se ha usado un párrafo y a través de los estilos se ha aumentado el tamaño de letra, se ha incluido la negrita, etc. </a:t>
            </a:r>
          </a:p>
          <a:p>
            <a:r>
              <a:rPr lang="es-AR" baseline="0" dirty="0"/>
              <a:t>De esta forma visualmente parecerá que es un encabezado pero los usuario de lector pantalla no van a poder ojear nuestros documentos y los usuario que poseen una discapacidad visual al cambiar la hoja de estilo van a perder esta información.</a:t>
            </a:r>
          </a:p>
          <a:p>
            <a:endParaRPr lang="es-AR" dirty="0"/>
          </a:p>
        </p:txBody>
      </p:sp>
      <p:sp>
        <p:nvSpPr>
          <p:cNvPr id="4" name="Marcador de número de diapositiva 3"/>
          <p:cNvSpPr>
            <a:spLocks noGrp="1"/>
          </p:cNvSpPr>
          <p:nvPr>
            <p:ph type="sldNum" sz="quarter" idx="10"/>
          </p:nvPr>
        </p:nvSpPr>
        <p:spPr/>
        <p:txBody>
          <a:bodyPr/>
          <a:lstStyle/>
          <a:p>
            <a:fld id="{16056653-EB7C-4C2C-8160-84A14F109A05}" type="slidenum">
              <a:rPr lang="es-AR" smtClean="0"/>
              <a:t>71</a:t>
            </a:fld>
            <a:endParaRPr lang="es-AR"/>
          </a:p>
        </p:txBody>
      </p:sp>
    </p:spTree>
    <p:extLst>
      <p:ext uri="{BB962C8B-B14F-4D97-AF65-F5344CB8AC3E}">
        <p14:creationId xmlns:p14="http://schemas.microsoft.com/office/powerpoint/2010/main" val="4230291540"/>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AR" dirty="0"/>
              <a:t>H49: Usar marcado semántico para identificar el texto especial o enfatizado (HTML) </a:t>
            </a:r>
          </a:p>
        </p:txBody>
      </p:sp>
      <p:sp>
        <p:nvSpPr>
          <p:cNvPr id="4" name="Marcador de número de diapositiva 3"/>
          <p:cNvSpPr>
            <a:spLocks noGrp="1"/>
          </p:cNvSpPr>
          <p:nvPr>
            <p:ph type="sldNum" sz="quarter" idx="10"/>
          </p:nvPr>
        </p:nvSpPr>
        <p:spPr/>
        <p:txBody>
          <a:bodyPr/>
          <a:lstStyle/>
          <a:p>
            <a:fld id="{16056653-EB7C-4C2C-8160-84A14F109A05}" type="slidenum">
              <a:rPr lang="es-AR" smtClean="0"/>
              <a:t>72</a:t>
            </a:fld>
            <a:endParaRPr lang="es-AR"/>
          </a:p>
        </p:txBody>
      </p:sp>
    </p:spTree>
    <p:extLst>
      <p:ext uri="{BB962C8B-B14F-4D97-AF65-F5344CB8AC3E}">
        <p14:creationId xmlns:p14="http://schemas.microsoft.com/office/powerpoint/2010/main" val="315967150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10"/>
          </p:nvPr>
        </p:nvSpPr>
        <p:spPr/>
        <p:txBody>
          <a:bodyPr/>
          <a:lstStyle/>
          <a:p>
            <a:fld id="{16056653-EB7C-4C2C-8160-84A14F109A05}" type="slidenum">
              <a:rPr lang="es-AR" smtClean="0"/>
              <a:t>73</a:t>
            </a:fld>
            <a:endParaRPr lang="es-AR"/>
          </a:p>
        </p:txBody>
      </p:sp>
    </p:spTree>
    <p:extLst>
      <p:ext uri="{BB962C8B-B14F-4D97-AF65-F5344CB8AC3E}">
        <p14:creationId xmlns:p14="http://schemas.microsoft.com/office/powerpoint/2010/main" val="339355857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AR" dirty="0"/>
              <a:t>Beneficiando</a:t>
            </a:r>
            <a:r>
              <a:rPr lang="es-AR" baseline="0" dirty="0"/>
              <a:t> a todos los usuarios, no solo a las personas con discapacidad.</a:t>
            </a:r>
          </a:p>
          <a:p>
            <a:r>
              <a:rPr lang="es-AR" baseline="0" dirty="0"/>
              <a:t>Facilita la lectura de los documentos en distintos idiomas por parte de los lectores de pantalla y programas de síntesis de voz.</a:t>
            </a:r>
          </a:p>
          <a:p>
            <a:pPr marL="0" marR="0" lvl="0" indent="0" algn="l" defTabSz="914400" rtl="0" eaLnBrk="1" fontAlgn="auto" latinLnBrk="0" hangingPunct="1">
              <a:lnSpc>
                <a:spcPct val="100000"/>
              </a:lnSpc>
              <a:spcBef>
                <a:spcPts val="0"/>
              </a:spcBef>
              <a:spcAft>
                <a:spcPts val="0"/>
              </a:spcAft>
              <a:buClrTx/>
              <a:buSzTx/>
              <a:buFontTx/>
              <a:buNone/>
              <a:tabLst/>
              <a:defRPr/>
            </a:pPr>
            <a:r>
              <a:rPr lang="es-AR" baseline="0" dirty="0"/>
              <a:t>Así, u</a:t>
            </a:r>
            <a:r>
              <a:rPr lang="es-AR" dirty="0"/>
              <a:t>suarios que leen el documento en braille</a:t>
            </a:r>
            <a:r>
              <a:rPr lang="es-AR" baseline="0" dirty="0"/>
              <a:t> podrán insertar los códigos adecuados donde ocurren los cambios de idioma para asegurar que el programa de traducción a braille generará los caracteres correctos, por ejemplo, caracteres acentuados.</a:t>
            </a:r>
          </a:p>
          <a:p>
            <a:pPr marL="0" marR="0" lvl="0" indent="0" algn="l" defTabSz="914400" rtl="0" eaLnBrk="1" fontAlgn="auto" latinLnBrk="0" hangingPunct="1">
              <a:lnSpc>
                <a:spcPct val="100000"/>
              </a:lnSpc>
              <a:spcBef>
                <a:spcPts val="0"/>
              </a:spcBef>
              <a:spcAft>
                <a:spcPts val="0"/>
              </a:spcAft>
              <a:buClrTx/>
              <a:buSzTx/>
              <a:buFontTx/>
              <a:buNone/>
              <a:tabLst/>
              <a:defRPr/>
            </a:pPr>
            <a:r>
              <a:rPr lang="es-AR" dirty="0"/>
              <a:t>También a usuarios que no saben idiomas, ya que obtendrán</a:t>
            </a:r>
            <a:r>
              <a:rPr lang="es-AR" baseline="0" dirty="0"/>
              <a:t> la traducción de los textos de idiomas desconocidos mediante programas de traducción.</a:t>
            </a:r>
            <a:endParaRPr lang="es-AR" dirty="0"/>
          </a:p>
          <a:p>
            <a:endParaRPr lang="es-AR" baseline="0" dirty="0"/>
          </a:p>
        </p:txBody>
      </p:sp>
      <p:sp>
        <p:nvSpPr>
          <p:cNvPr id="4" name="Marcador de número de diapositiva 3"/>
          <p:cNvSpPr>
            <a:spLocks noGrp="1"/>
          </p:cNvSpPr>
          <p:nvPr>
            <p:ph type="sldNum" sz="quarter" idx="10"/>
          </p:nvPr>
        </p:nvSpPr>
        <p:spPr/>
        <p:txBody>
          <a:bodyPr/>
          <a:lstStyle/>
          <a:p>
            <a:fld id="{16056653-EB7C-4C2C-8160-84A14F109A05}" type="slidenum">
              <a:rPr lang="es-AR" smtClean="0"/>
              <a:t>74</a:t>
            </a:fld>
            <a:endParaRPr lang="es-AR"/>
          </a:p>
        </p:txBody>
      </p:sp>
    </p:spTree>
    <p:extLst>
      <p:ext uri="{BB962C8B-B14F-4D97-AF65-F5344CB8AC3E}">
        <p14:creationId xmlns:p14="http://schemas.microsoft.com/office/powerpoint/2010/main" val="3246845394"/>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lvl="0" eaLnBrk="1" hangingPunct="1"/>
            <a:r>
              <a:rPr lang="es-AR" altLang="es-AR" dirty="0"/>
              <a:t>Cambiar la voz al pronunciar el texto: Los sintetizadores de voz que hablan varios idiomas serán capaces de generar el texto con el acento y la pronunciación adecuado.</a:t>
            </a:r>
          </a:p>
          <a:p>
            <a:endParaRPr lang="es-AR" dirty="0"/>
          </a:p>
          <a:p>
            <a:r>
              <a:rPr lang="es-AR" dirty="0"/>
              <a:t>Cuanto</a:t>
            </a:r>
            <a:r>
              <a:rPr lang="es-AR" baseline="0" dirty="0"/>
              <a:t> m</a:t>
            </a:r>
            <a:r>
              <a:rPr lang="es-AR" dirty="0"/>
              <a:t>ayor</a:t>
            </a:r>
            <a:r>
              <a:rPr lang="es-AR" baseline="0" dirty="0"/>
              <a:t> sea el flujo de información sobre el idioma =&gt; mayor nivel de estandarización, utilidad y flexibilidad se alcanzará en dichas aplicaciones.</a:t>
            </a:r>
            <a:endParaRPr lang="es-AR" dirty="0"/>
          </a:p>
        </p:txBody>
      </p:sp>
      <p:sp>
        <p:nvSpPr>
          <p:cNvPr id="4" name="Marcador de número de diapositiva 3"/>
          <p:cNvSpPr>
            <a:spLocks noGrp="1"/>
          </p:cNvSpPr>
          <p:nvPr>
            <p:ph type="sldNum" sz="quarter" idx="10"/>
          </p:nvPr>
        </p:nvSpPr>
        <p:spPr/>
        <p:txBody>
          <a:bodyPr/>
          <a:lstStyle/>
          <a:p>
            <a:fld id="{16056653-EB7C-4C2C-8160-84A14F109A05}" type="slidenum">
              <a:rPr lang="es-AR" smtClean="0"/>
              <a:t>75</a:t>
            </a:fld>
            <a:endParaRPr lang="es-AR"/>
          </a:p>
        </p:txBody>
      </p:sp>
    </p:spTree>
    <p:extLst>
      <p:ext uri="{BB962C8B-B14F-4D97-AF65-F5344CB8AC3E}">
        <p14:creationId xmlns:p14="http://schemas.microsoft.com/office/powerpoint/2010/main" val="3757942184"/>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AR" dirty="0"/>
              <a:t>Si tenemos definido</a:t>
            </a:r>
            <a:r>
              <a:rPr lang="es-AR" baseline="0" dirty="0"/>
              <a:t> el idioma en nuestro documento en castellano, realizará la traducción automática a “Ayuda”.</a:t>
            </a:r>
            <a:endParaRPr lang="es-AR" dirty="0"/>
          </a:p>
        </p:txBody>
      </p:sp>
      <p:sp>
        <p:nvSpPr>
          <p:cNvPr id="4" name="Marcador de número de diapositiva 3"/>
          <p:cNvSpPr>
            <a:spLocks noGrp="1"/>
          </p:cNvSpPr>
          <p:nvPr>
            <p:ph type="sldNum" sz="quarter" idx="10"/>
          </p:nvPr>
        </p:nvSpPr>
        <p:spPr/>
        <p:txBody>
          <a:bodyPr/>
          <a:lstStyle/>
          <a:p>
            <a:fld id="{16056653-EB7C-4C2C-8160-84A14F109A05}" type="slidenum">
              <a:rPr lang="es-AR" smtClean="0"/>
              <a:t>76</a:t>
            </a:fld>
            <a:endParaRPr lang="es-AR"/>
          </a:p>
        </p:txBody>
      </p:sp>
    </p:spTree>
    <p:extLst>
      <p:ext uri="{BB962C8B-B14F-4D97-AF65-F5344CB8AC3E}">
        <p14:creationId xmlns:p14="http://schemas.microsoft.com/office/powerpoint/2010/main" val="719690997"/>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10"/>
          </p:nvPr>
        </p:nvSpPr>
        <p:spPr/>
        <p:txBody>
          <a:bodyPr/>
          <a:lstStyle/>
          <a:p>
            <a:fld id="{16056653-EB7C-4C2C-8160-84A14F109A05}" type="slidenum">
              <a:rPr lang="es-AR" smtClean="0"/>
              <a:t>77</a:t>
            </a:fld>
            <a:endParaRPr lang="es-AR"/>
          </a:p>
        </p:txBody>
      </p:sp>
    </p:spTree>
    <p:extLst>
      <p:ext uri="{BB962C8B-B14F-4D97-AF65-F5344CB8AC3E}">
        <p14:creationId xmlns:p14="http://schemas.microsoft.com/office/powerpoint/2010/main" val="2981546074"/>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10"/>
          </p:nvPr>
        </p:nvSpPr>
        <p:spPr/>
        <p:txBody>
          <a:bodyPr/>
          <a:lstStyle/>
          <a:p>
            <a:fld id="{16056653-EB7C-4C2C-8160-84A14F109A05}" type="slidenum">
              <a:rPr lang="es-AR" smtClean="0"/>
              <a:t>78</a:t>
            </a:fld>
            <a:endParaRPr lang="es-AR"/>
          </a:p>
        </p:txBody>
      </p:sp>
    </p:spTree>
    <p:extLst>
      <p:ext uri="{BB962C8B-B14F-4D97-AF65-F5344CB8AC3E}">
        <p14:creationId xmlns:p14="http://schemas.microsoft.com/office/powerpoint/2010/main" val="4032757359"/>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AR" dirty="0"/>
              <a:t>En</a:t>
            </a:r>
            <a:r>
              <a:rPr lang="es-AR" baseline="0" dirty="0"/>
              <a:t> la siguiente dirección del W3C pueden encontrar las etiquetas de idiomas en HTML y XHTML que van a adaptar a sus contenidos.</a:t>
            </a:r>
            <a:endParaRPr lang="es-AR" dirty="0"/>
          </a:p>
        </p:txBody>
      </p:sp>
      <p:sp>
        <p:nvSpPr>
          <p:cNvPr id="4" name="Marcador de número de diapositiva 3"/>
          <p:cNvSpPr>
            <a:spLocks noGrp="1"/>
          </p:cNvSpPr>
          <p:nvPr>
            <p:ph type="sldNum" sz="quarter" idx="10"/>
          </p:nvPr>
        </p:nvSpPr>
        <p:spPr/>
        <p:txBody>
          <a:bodyPr/>
          <a:lstStyle/>
          <a:p>
            <a:fld id="{16056653-EB7C-4C2C-8160-84A14F109A05}" type="slidenum">
              <a:rPr lang="es-AR" smtClean="0"/>
              <a:t>79</a:t>
            </a:fld>
            <a:endParaRPr lang="es-AR"/>
          </a:p>
        </p:txBody>
      </p:sp>
    </p:spTree>
    <p:extLst>
      <p:ext uri="{BB962C8B-B14F-4D97-AF65-F5344CB8AC3E}">
        <p14:creationId xmlns:p14="http://schemas.microsoft.com/office/powerpoint/2010/main" val="3826788755"/>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AR" dirty="0"/>
              <a:t>Vamos a hablar del contenido tabular que se presenta en tablas.</a:t>
            </a:r>
          </a:p>
          <a:p>
            <a:r>
              <a:rPr lang="es-AR" dirty="0"/>
              <a:t>Las tablas son todos los elementos</a:t>
            </a:r>
            <a:r>
              <a:rPr lang="es-AR" baseline="0" dirty="0"/>
              <a:t> que forman parte de la estructura de nuestros sitios web y por lo tanto hemos de programar conforme a las Pautas de Accesibilidad al Contenido Web 2.0 para que sean accesibles; es decir, para que sean perceptibles por todos los usuarios.</a:t>
            </a:r>
          </a:p>
          <a:p>
            <a:endParaRPr lang="es-AR" baseline="0" dirty="0"/>
          </a:p>
          <a:p>
            <a:r>
              <a:rPr lang="es-AR" baseline="0" dirty="0"/>
              <a:t>Información tabular es aquella que permite visualizar, consultar y analizar datos.</a:t>
            </a:r>
            <a:endParaRPr lang="es-AR" dirty="0"/>
          </a:p>
        </p:txBody>
      </p:sp>
      <p:sp>
        <p:nvSpPr>
          <p:cNvPr id="4" name="Marcador de número de diapositiva 3"/>
          <p:cNvSpPr>
            <a:spLocks noGrp="1"/>
          </p:cNvSpPr>
          <p:nvPr>
            <p:ph type="sldNum" sz="quarter" idx="10"/>
          </p:nvPr>
        </p:nvSpPr>
        <p:spPr/>
        <p:txBody>
          <a:bodyPr/>
          <a:lstStyle/>
          <a:p>
            <a:fld id="{16056653-EB7C-4C2C-8160-84A14F109A05}" type="slidenum">
              <a:rPr lang="es-AR" smtClean="0"/>
              <a:t>80</a:t>
            </a:fld>
            <a:endParaRPr lang="es-AR"/>
          </a:p>
        </p:txBody>
      </p:sp>
    </p:spTree>
    <p:extLst>
      <p:ext uri="{BB962C8B-B14F-4D97-AF65-F5344CB8AC3E}">
        <p14:creationId xmlns:p14="http://schemas.microsoft.com/office/powerpoint/2010/main" val="615305830"/>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AR" dirty="0"/>
              <a:t>La utilización de tablas</a:t>
            </a:r>
            <a:r>
              <a:rPr lang="es-AR" baseline="0" dirty="0"/>
              <a:t> para maquetar nuestros sitios web fue una practica muy utilizada en los años 90.</a:t>
            </a:r>
          </a:p>
          <a:p>
            <a:r>
              <a:rPr lang="es-AR" baseline="0" dirty="0"/>
              <a:t>Hoy en día es una práctica no aceptada entre los desarrolladores web.</a:t>
            </a:r>
          </a:p>
          <a:p>
            <a:endParaRPr lang="es-AR" baseline="0" dirty="0"/>
          </a:p>
          <a:p>
            <a:r>
              <a:rPr lang="es-AR" baseline="0" dirty="0"/>
              <a:t>Vemos la estructura base de nuestro sitio web, no deberemos utilizar los elementos semánticos de la tabla para programarla.</a:t>
            </a:r>
          </a:p>
          <a:p>
            <a:endParaRPr lang="es-AR" dirty="0"/>
          </a:p>
        </p:txBody>
      </p:sp>
      <p:sp>
        <p:nvSpPr>
          <p:cNvPr id="4" name="Marcador de número de diapositiva 3"/>
          <p:cNvSpPr>
            <a:spLocks noGrp="1"/>
          </p:cNvSpPr>
          <p:nvPr>
            <p:ph type="sldNum" sz="quarter" idx="10"/>
          </p:nvPr>
        </p:nvSpPr>
        <p:spPr/>
        <p:txBody>
          <a:bodyPr/>
          <a:lstStyle/>
          <a:p>
            <a:fld id="{16056653-EB7C-4C2C-8160-84A14F109A05}" type="slidenum">
              <a:rPr lang="es-AR" smtClean="0"/>
              <a:t>81</a:t>
            </a:fld>
            <a:endParaRPr lang="es-AR"/>
          </a:p>
        </p:txBody>
      </p:sp>
    </p:spTree>
    <p:extLst>
      <p:ext uri="{BB962C8B-B14F-4D97-AF65-F5344CB8AC3E}">
        <p14:creationId xmlns:p14="http://schemas.microsoft.com/office/powerpoint/2010/main" val="282759236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AR" dirty="0"/>
              <a:t>Deberemos</a:t>
            </a:r>
            <a:r>
              <a:rPr lang="es-AR" baseline="0" dirty="0"/>
              <a:t> usar las capas, es decir, DIV.</a:t>
            </a:r>
          </a:p>
          <a:p>
            <a:r>
              <a:rPr lang="es-AR" baseline="0" dirty="0"/>
              <a:t>Y a través de las hojas de estilos definir el tamaño y la posición de cada uno de los elementos como podemos observar en la diapositiva.</a:t>
            </a:r>
            <a:endParaRPr lang="es-AR" dirty="0"/>
          </a:p>
        </p:txBody>
      </p:sp>
      <p:sp>
        <p:nvSpPr>
          <p:cNvPr id="4" name="Marcador de número de diapositiva 3"/>
          <p:cNvSpPr>
            <a:spLocks noGrp="1"/>
          </p:cNvSpPr>
          <p:nvPr>
            <p:ph type="sldNum" sz="quarter" idx="10"/>
          </p:nvPr>
        </p:nvSpPr>
        <p:spPr/>
        <p:txBody>
          <a:bodyPr/>
          <a:lstStyle/>
          <a:p>
            <a:fld id="{16056653-EB7C-4C2C-8160-84A14F109A05}" type="slidenum">
              <a:rPr lang="es-AR" smtClean="0"/>
              <a:t>82</a:t>
            </a:fld>
            <a:endParaRPr lang="es-AR"/>
          </a:p>
        </p:txBody>
      </p:sp>
    </p:spTree>
    <p:extLst>
      <p:ext uri="{BB962C8B-B14F-4D97-AF65-F5344CB8AC3E}">
        <p14:creationId xmlns:p14="http://schemas.microsoft.com/office/powerpoint/2010/main" val="175312475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AR" dirty="0"/>
              <a:t>Para entender la importancia de la programación accesible</a:t>
            </a:r>
            <a:r>
              <a:rPr lang="es-AR" baseline="0" dirty="0"/>
              <a:t> de las tablas de datos, </a:t>
            </a:r>
          </a:p>
          <a:p>
            <a:r>
              <a:rPr lang="es-AR" baseline="0" dirty="0"/>
              <a:t>hemos de responder a la pregunta: Cómo leemos las tabla?</a:t>
            </a:r>
          </a:p>
          <a:p>
            <a:endParaRPr lang="es-AR" baseline="0" dirty="0"/>
          </a:p>
          <a:p>
            <a:r>
              <a:rPr lang="es-AR" baseline="0" dirty="0"/>
              <a:t>Personas invidentes: recordar que las personas ciegas usan lectores de pantalla.</a:t>
            </a:r>
            <a:endParaRPr lang="es-AR" dirty="0"/>
          </a:p>
        </p:txBody>
      </p:sp>
      <p:sp>
        <p:nvSpPr>
          <p:cNvPr id="4" name="Marcador de número de diapositiva 3"/>
          <p:cNvSpPr>
            <a:spLocks noGrp="1"/>
          </p:cNvSpPr>
          <p:nvPr>
            <p:ph type="sldNum" sz="quarter" idx="10"/>
          </p:nvPr>
        </p:nvSpPr>
        <p:spPr/>
        <p:txBody>
          <a:bodyPr/>
          <a:lstStyle/>
          <a:p>
            <a:fld id="{16056653-EB7C-4C2C-8160-84A14F109A05}" type="slidenum">
              <a:rPr lang="es-AR" smtClean="0"/>
              <a:t>83</a:t>
            </a:fld>
            <a:endParaRPr lang="es-AR"/>
          </a:p>
        </p:txBody>
      </p:sp>
    </p:spTree>
    <p:extLst>
      <p:ext uri="{BB962C8B-B14F-4D97-AF65-F5344CB8AC3E}">
        <p14:creationId xmlns:p14="http://schemas.microsoft.com/office/powerpoint/2010/main" val="3214341668"/>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AR" dirty="0"/>
              <a:t>Un  lector de pantalla,</a:t>
            </a:r>
            <a:r>
              <a:rPr lang="es-AR" baseline="0" dirty="0"/>
              <a:t> si nuestra tabla no es accesible, la leería de forma secuencial, es decir, leería….</a:t>
            </a:r>
          </a:p>
          <a:p>
            <a:endParaRPr lang="es-AR" baseline="0" dirty="0"/>
          </a:p>
          <a:p>
            <a:r>
              <a:rPr lang="es-AR" baseline="0" dirty="0"/>
              <a:t>Resultando incomprensible para el usuario que utiliza un lector de pantalla.</a:t>
            </a:r>
            <a:endParaRPr lang="es-AR" dirty="0"/>
          </a:p>
        </p:txBody>
      </p:sp>
      <p:sp>
        <p:nvSpPr>
          <p:cNvPr id="4" name="Marcador de número de diapositiva 3"/>
          <p:cNvSpPr>
            <a:spLocks noGrp="1"/>
          </p:cNvSpPr>
          <p:nvPr>
            <p:ph type="sldNum" sz="quarter" idx="10"/>
          </p:nvPr>
        </p:nvSpPr>
        <p:spPr/>
        <p:txBody>
          <a:bodyPr/>
          <a:lstStyle/>
          <a:p>
            <a:fld id="{16056653-EB7C-4C2C-8160-84A14F109A05}" type="slidenum">
              <a:rPr lang="es-AR" smtClean="0"/>
              <a:t>84</a:t>
            </a:fld>
            <a:endParaRPr lang="es-AR"/>
          </a:p>
        </p:txBody>
      </p:sp>
    </p:spTree>
    <p:extLst>
      <p:ext uri="{BB962C8B-B14F-4D97-AF65-F5344CB8AC3E}">
        <p14:creationId xmlns:p14="http://schemas.microsoft.com/office/powerpoint/2010/main" val="4203334845"/>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AR" dirty="0"/>
              <a:t>Por</a:t>
            </a:r>
            <a:r>
              <a:rPr lang="es-AR" baseline="0" dirty="0"/>
              <a:t> el contrario, si nuestra tabla es accesible, leería en:</a:t>
            </a:r>
          </a:p>
          <a:p>
            <a:r>
              <a:rPr lang="es-AR" baseline="0" dirty="0"/>
              <a:t>primer lugar la etiqueta </a:t>
            </a:r>
            <a:r>
              <a:rPr lang="es-AR" baseline="0" dirty="0" err="1"/>
              <a:t>caption</a:t>
            </a:r>
            <a:r>
              <a:rPr lang="es-AR" baseline="0" dirty="0"/>
              <a:t>; es decir, el título de la tabla: Visitantes de rrrr.com por países.</a:t>
            </a:r>
          </a:p>
          <a:p>
            <a:r>
              <a:rPr lang="es-AR" dirty="0"/>
              <a:t>segundo lugar la etiqueta</a:t>
            </a:r>
            <a:r>
              <a:rPr lang="es-AR" baseline="0" dirty="0"/>
              <a:t> </a:t>
            </a:r>
            <a:r>
              <a:rPr lang="es-AR" baseline="0" dirty="0" err="1"/>
              <a:t>summary</a:t>
            </a:r>
            <a:r>
              <a:rPr lang="es-AR" baseline="0" dirty="0"/>
              <a:t>, a través de la cual se proporciona un resumen de la relación de los datos de la tabla. En el ejemplo: Visitantes….</a:t>
            </a:r>
          </a:p>
          <a:p>
            <a:r>
              <a:rPr lang="es-AR" baseline="0" dirty="0"/>
              <a:t>Y por último leería la relación de las celdas que hemos indicado desde la programación, es decir, Argentina, si, Enero=10….</a:t>
            </a:r>
          </a:p>
          <a:p>
            <a:r>
              <a:rPr lang="es-AR" baseline="0" dirty="0"/>
              <a:t>De esta forma todos los usuarios van a poder comprender la relación de los datos en cada celda de nuestra tabla.</a:t>
            </a:r>
            <a:endParaRPr lang="es-AR" dirty="0"/>
          </a:p>
        </p:txBody>
      </p:sp>
      <p:sp>
        <p:nvSpPr>
          <p:cNvPr id="4" name="Marcador de número de diapositiva 3"/>
          <p:cNvSpPr>
            <a:spLocks noGrp="1"/>
          </p:cNvSpPr>
          <p:nvPr>
            <p:ph type="sldNum" sz="quarter" idx="10"/>
          </p:nvPr>
        </p:nvSpPr>
        <p:spPr/>
        <p:txBody>
          <a:bodyPr/>
          <a:lstStyle/>
          <a:p>
            <a:fld id="{16056653-EB7C-4C2C-8160-84A14F109A05}" type="slidenum">
              <a:rPr lang="es-AR" smtClean="0"/>
              <a:t>85</a:t>
            </a:fld>
            <a:endParaRPr lang="es-AR"/>
          </a:p>
        </p:txBody>
      </p:sp>
    </p:spTree>
    <p:extLst>
      <p:ext uri="{BB962C8B-B14F-4D97-AF65-F5344CB8AC3E}">
        <p14:creationId xmlns:p14="http://schemas.microsoft.com/office/powerpoint/2010/main" val="673355714"/>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AR" dirty="0"/>
              <a:t>Técnicas</a:t>
            </a:r>
            <a:r>
              <a:rPr lang="es-AR" baseline="0" dirty="0"/>
              <a:t> suficientes que tenemos que tener en cuenta cuando tengamos que insertar en nuestros contenidos una tabla de datos.</a:t>
            </a:r>
          </a:p>
          <a:p>
            <a:endParaRPr lang="es-AR" dirty="0"/>
          </a:p>
        </p:txBody>
      </p:sp>
      <p:sp>
        <p:nvSpPr>
          <p:cNvPr id="4" name="Marcador de número de diapositiva 3"/>
          <p:cNvSpPr>
            <a:spLocks noGrp="1"/>
          </p:cNvSpPr>
          <p:nvPr>
            <p:ph type="sldNum" sz="quarter" idx="10"/>
          </p:nvPr>
        </p:nvSpPr>
        <p:spPr/>
        <p:txBody>
          <a:bodyPr/>
          <a:lstStyle/>
          <a:p>
            <a:fld id="{16056653-EB7C-4C2C-8160-84A14F109A05}" type="slidenum">
              <a:rPr lang="es-AR" smtClean="0"/>
              <a:t>86</a:t>
            </a:fld>
            <a:endParaRPr lang="es-AR"/>
          </a:p>
        </p:txBody>
      </p:sp>
    </p:spTree>
    <p:extLst>
      <p:ext uri="{BB962C8B-B14F-4D97-AF65-F5344CB8AC3E}">
        <p14:creationId xmlns:p14="http://schemas.microsoft.com/office/powerpoint/2010/main" val="4282393406"/>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AR" dirty="0"/>
              <a:t>Voy a detallar la Técnica H51</a:t>
            </a:r>
            <a:r>
              <a:rPr lang="es-AR" baseline="0" dirty="0"/>
              <a:t> que nos indica que debemos usar tablas para presentar la información tabular.</a:t>
            </a:r>
          </a:p>
          <a:p>
            <a:r>
              <a:rPr lang="es-AR" baseline="0" dirty="0"/>
              <a:t>Las tablas de datos estructuran la información en filas y en columnas describiendo una relación entre cada celda de datos con otras celdas en su misma fila y/o columna.</a:t>
            </a:r>
          </a:p>
          <a:p>
            <a:r>
              <a:rPr lang="es-AR" baseline="0" dirty="0"/>
              <a:t>A la hora de construir una tabla de datos se deben identificar adecuadamente las celdas de cada fila y/o columna.</a:t>
            </a:r>
          </a:p>
          <a:p>
            <a:r>
              <a:rPr lang="es-AR" baseline="0" dirty="0"/>
              <a:t>Para construir una tabla de datos se precisa de ciertos elementos HTML básicos: </a:t>
            </a:r>
          </a:p>
          <a:p>
            <a:r>
              <a:rPr lang="es-AR" baseline="0" dirty="0" err="1"/>
              <a:t>table</a:t>
            </a:r>
            <a:r>
              <a:rPr lang="es-AR" baseline="0" dirty="0"/>
              <a:t>, identifica toda la tabla y contiene el resto de los elementos</a:t>
            </a:r>
          </a:p>
          <a:p>
            <a:r>
              <a:rPr lang="es-AR" baseline="0" dirty="0" err="1"/>
              <a:t>tr</a:t>
            </a:r>
            <a:r>
              <a:rPr lang="es-AR" baseline="0" dirty="0"/>
              <a:t>, actúa como contenedor para una fila de celdas</a:t>
            </a:r>
          </a:p>
          <a:p>
            <a:r>
              <a:rPr lang="es-AR" baseline="0" dirty="0" err="1"/>
              <a:t>th</a:t>
            </a:r>
            <a:r>
              <a:rPr lang="es-AR" baseline="0" dirty="0"/>
              <a:t>, define una celda que contiene información de encabezado</a:t>
            </a:r>
          </a:p>
          <a:p>
            <a:r>
              <a:rPr lang="es-AR" baseline="0" dirty="0" err="1"/>
              <a:t>td</a:t>
            </a:r>
            <a:r>
              <a:rPr lang="es-AR" baseline="0" dirty="0"/>
              <a:t>, define una celda que contiene datos</a:t>
            </a:r>
            <a:endParaRPr lang="es-AR" dirty="0"/>
          </a:p>
        </p:txBody>
      </p:sp>
      <p:sp>
        <p:nvSpPr>
          <p:cNvPr id="4" name="Marcador de número de diapositiva 3"/>
          <p:cNvSpPr>
            <a:spLocks noGrp="1"/>
          </p:cNvSpPr>
          <p:nvPr>
            <p:ph type="sldNum" sz="quarter" idx="10"/>
          </p:nvPr>
        </p:nvSpPr>
        <p:spPr/>
        <p:txBody>
          <a:bodyPr/>
          <a:lstStyle/>
          <a:p>
            <a:fld id="{16056653-EB7C-4C2C-8160-84A14F109A05}" type="slidenum">
              <a:rPr lang="es-AR" smtClean="0"/>
              <a:t>87</a:t>
            </a:fld>
            <a:endParaRPr lang="es-AR"/>
          </a:p>
        </p:txBody>
      </p:sp>
    </p:spTree>
    <p:extLst>
      <p:ext uri="{BB962C8B-B14F-4D97-AF65-F5344CB8AC3E}">
        <p14:creationId xmlns:p14="http://schemas.microsoft.com/office/powerpoint/2010/main" val="11508157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10"/>
          </p:nvPr>
        </p:nvSpPr>
        <p:spPr/>
        <p:txBody>
          <a:bodyPr/>
          <a:lstStyle/>
          <a:p>
            <a:fld id="{16056653-EB7C-4C2C-8160-84A14F109A05}" type="slidenum">
              <a:rPr lang="es-AR" smtClean="0"/>
              <a:t>88</a:t>
            </a:fld>
            <a:endParaRPr lang="es-AR"/>
          </a:p>
        </p:txBody>
      </p:sp>
    </p:spTree>
    <p:extLst>
      <p:ext uri="{BB962C8B-B14F-4D97-AF65-F5344CB8AC3E}">
        <p14:creationId xmlns:p14="http://schemas.microsoft.com/office/powerpoint/2010/main" val="2051235548"/>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AR" dirty="0"/>
              <a:t>Pasamos</a:t>
            </a:r>
            <a:r>
              <a:rPr lang="es-AR" baseline="0" dirty="0"/>
              <a:t> a la siguiente técnica, la H39 que nos indica…</a:t>
            </a:r>
          </a:p>
          <a:p>
            <a:r>
              <a:rPr lang="es-AR" baseline="0" dirty="0"/>
              <a:t>Tabla de datos: en el ejemplo anterior usado, es decir, la tabla con el horario semanal, es una tabla de datos.</a:t>
            </a:r>
          </a:p>
          <a:p>
            <a:r>
              <a:rPr lang="es-AR" baseline="0" dirty="0"/>
              <a:t>Tabla de maquetación: Ejemplo: una tabla con todos los íconos de las redes sociales. Este uso esta desaconsejado, pero si se da el caso, no deberemos usar el elemento </a:t>
            </a:r>
            <a:r>
              <a:rPr lang="es-AR" baseline="0" dirty="0" err="1"/>
              <a:t>caption</a:t>
            </a:r>
            <a:r>
              <a:rPr lang="es-AR" baseline="0" dirty="0"/>
              <a:t>.</a:t>
            </a:r>
            <a:endParaRPr lang="es-AR" dirty="0"/>
          </a:p>
        </p:txBody>
      </p:sp>
      <p:sp>
        <p:nvSpPr>
          <p:cNvPr id="4" name="Marcador de número de diapositiva 3"/>
          <p:cNvSpPr>
            <a:spLocks noGrp="1"/>
          </p:cNvSpPr>
          <p:nvPr>
            <p:ph type="sldNum" sz="quarter" idx="10"/>
          </p:nvPr>
        </p:nvSpPr>
        <p:spPr/>
        <p:txBody>
          <a:bodyPr/>
          <a:lstStyle/>
          <a:p>
            <a:fld id="{16056653-EB7C-4C2C-8160-84A14F109A05}" type="slidenum">
              <a:rPr lang="es-AR" smtClean="0"/>
              <a:t>89</a:t>
            </a:fld>
            <a:endParaRPr lang="es-AR"/>
          </a:p>
        </p:txBody>
      </p:sp>
    </p:spTree>
    <p:extLst>
      <p:ext uri="{BB962C8B-B14F-4D97-AF65-F5344CB8AC3E}">
        <p14:creationId xmlns:p14="http://schemas.microsoft.com/office/powerpoint/2010/main" val="1258542415"/>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10"/>
          </p:nvPr>
        </p:nvSpPr>
        <p:spPr/>
        <p:txBody>
          <a:bodyPr/>
          <a:lstStyle/>
          <a:p>
            <a:fld id="{16056653-EB7C-4C2C-8160-84A14F109A05}" type="slidenum">
              <a:rPr lang="es-AR" smtClean="0"/>
              <a:t>90</a:t>
            </a:fld>
            <a:endParaRPr lang="es-AR"/>
          </a:p>
        </p:txBody>
      </p:sp>
    </p:spTree>
    <p:extLst>
      <p:ext uri="{BB962C8B-B14F-4D97-AF65-F5344CB8AC3E}">
        <p14:creationId xmlns:p14="http://schemas.microsoft.com/office/powerpoint/2010/main" val="1488859047"/>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AR" dirty="0"/>
              <a:t>Pasamos</a:t>
            </a:r>
            <a:r>
              <a:rPr lang="es-AR" baseline="0" dirty="0"/>
              <a:t> a la siguiente técnica, la técnica H73, que nos indica que debemos usar el atributo </a:t>
            </a:r>
            <a:r>
              <a:rPr lang="es-AR" baseline="0" dirty="0" err="1"/>
              <a:t>summary</a:t>
            </a:r>
            <a:r>
              <a:rPr lang="es-AR" baseline="0" dirty="0"/>
              <a:t>…</a:t>
            </a:r>
          </a:p>
          <a:p>
            <a:r>
              <a:rPr lang="es-AR" baseline="0" dirty="0"/>
              <a:t>La información del atributo </a:t>
            </a:r>
            <a:r>
              <a:rPr lang="es-AR" baseline="0" dirty="0" err="1"/>
              <a:t>summary</a:t>
            </a:r>
            <a:r>
              <a:rPr lang="es-AR" baseline="0" dirty="0"/>
              <a:t> está disponible para los usuarios de lectores de pantalla y no se muestra visualmente.</a:t>
            </a:r>
          </a:p>
          <a:p>
            <a:r>
              <a:rPr lang="es-AR" baseline="0" dirty="0"/>
              <a:t>Es especialmente útil para tablas con una estructura compleja.</a:t>
            </a:r>
            <a:endParaRPr lang="es-AR" dirty="0"/>
          </a:p>
        </p:txBody>
      </p:sp>
      <p:sp>
        <p:nvSpPr>
          <p:cNvPr id="4" name="Marcador de número de diapositiva 3"/>
          <p:cNvSpPr>
            <a:spLocks noGrp="1"/>
          </p:cNvSpPr>
          <p:nvPr>
            <p:ph type="sldNum" sz="quarter" idx="10"/>
          </p:nvPr>
        </p:nvSpPr>
        <p:spPr/>
        <p:txBody>
          <a:bodyPr/>
          <a:lstStyle/>
          <a:p>
            <a:fld id="{16056653-EB7C-4C2C-8160-84A14F109A05}" type="slidenum">
              <a:rPr lang="es-AR" smtClean="0"/>
              <a:t>91</a:t>
            </a:fld>
            <a:endParaRPr lang="es-AR"/>
          </a:p>
        </p:txBody>
      </p:sp>
    </p:spTree>
    <p:extLst>
      <p:ext uri="{BB962C8B-B14F-4D97-AF65-F5344CB8AC3E}">
        <p14:creationId xmlns:p14="http://schemas.microsoft.com/office/powerpoint/2010/main" val="4039773656"/>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10"/>
          </p:nvPr>
        </p:nvSpPr>
        <p:spPr/>
        <p:txBody>
          <a:bodyPr/>
          <a:lstStyle/>
          <a:p>
            <a:fld id="{16056653-EB7C-4C2C-8160-84A14F109A05}" type="slidenum">
              <a:rPr lang="es-AR" smtClean="0"/>
              <a:t>92</a:t>
            </a:fld>
            <a:endParaRPr lang="es-AR"/>
          </a:p>
        </p:txBody>
      </p:sp>
    </p:spTree>
    <p:extLst>
      <p:ext uri="{BB962C8B-B14F-4D97-AF65-F5344CB8AC3E}">
        <p14:creationId xmlns:p14="http://schemas.microsoft.com/office/powerpoint/2010/main" val="1360003494"/>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AR" dirty="0"/>
              <a:t>Vamos</a:t>
            </a:r>
            <a:r>
              <a:rPr lang="es-AR" baseline="0" dirty="0"/>
              <a:t> a explicar como se utiliza el atributo </a:t>
            </a:r>
            <a:r>
              <a:rPr lang="es-AR" baseline="0" dirty="0" err="1"/>
              <a:t>scope</a:t>
            </a:r>
            <a:r>
              <a:rPr lang="es-AR" baseline="0" dirty="0"/>
              <a:t> para asociar las celdas de encabezado y las celdas de datos en las tablas de datos.</a:t>
            </a:r>
          </a:p>
          <a:p>
            <a:endParaRPr lang="es-AR" dirty="0"/>
          </a:p>
        </p:txBody>
      </p:sp>
      <p:sp>
        <p:nvSpPr>
          <p:cNvPr id="4" name="Marcador de número de diapositiva 3"/>
          <p:cNvSpPr>
            <a:spLocks noGrp="1"/>
          </p:cNvSpPr>
          <p:nvPr>
            <p:ph type="sldNum" sz="quarter" idx="10"/>
          </p:nvPr>
        </p:nvSpPr>
        <p:spPr/>
        <p:txBody>
          <a:bodyPr/>
          <a:lstStyle/>
          <a:p>
            <a:fld id="{16056653-EB7C-4C2C-8160-84A14F109A05}" type="slidenum">
              <a:rPr lang="es-AR" smtClean="0"/>
              <a:t>93</a:t>
            </a:fld>
            <a:endParaRPr lang="es-AR"/>
          </a:p>
        </p:txBody>
      </p:sp>
    </p:spTree>
    <p:extLst>
      <p:ext uri="{BB962C8B-B14F-4D97-AF65-F5344CB8AC3E}">
        <p14:creationId xmlns:p14="http://schemas.microsoft.com/office/powerpoint/2010/main" val="3699730092"/>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AR" dirty="0"/>
              <a:t>En el ejemplo, existen 2 encabezados que actúan</a:t>
            </a:r>
            <a:r>
              <a:rPr lang="es-AR" baseline="0" dirty="0"/>
              <a:t> sobre las filas (8:00 y 9:00) y 2 encabezados que actúan sobre las columnas (Lunes y Martes)</a:t>
            </a:r>
          </a:p>
          <a:p>
            <a:endParaRPr lang="es-AR" baseline="0" dirty="0"/>
          </a:p>
          <a:p>
            <a:endParaRPr lang="es-AR" dirty="0"/>
          </a:p>
        </p:txBody>
      </p:sp>
      <p:sp>
        <p:nvSpPr>
          <p:cNvPr id="4" name="Marcador de número de diapositiva 3"/>
          <p:cNvSpPr>
            <a:spLocks noGrp="1"/>
          </p:cNvSpPr>
          <p:nvPr>
            <p:ph type="sldNum" sz="quarter" idx="10"/>
          </p:nvPr>
        </p:nvSpPr>
        <p:spPr/>
        <p:txBody>
          <a:bodyPr/>
          <a:lstStyle/>
          <a:p>
            <a:fld id="{16056653-EB7C-4C2C-8160-84A14F109A05}" type="slidenum">
              <a:rPr lang="es-AR" smtClean="0"/>
              <a:t>94</a:t>
            </a:fld>
            <a:endParaRPr lang="es-AR"/>
          </a:p>
        </p:txBody>
      </p:sp>
    </p:spTree>
    <p:extLst>
      <p:ext uri="{BB962C8B-B14F-4D97-AF65-F5344CB8AC3E}">
        <p14:creationId xmlns:p14="http://schemas.microsoft.com/office/powerpoint/2010/main" val="17946660"/>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AR" dirty="0"/>
              <a:t>La siguiente y última técnica es la H43.</a:t>
            </a:r>
          </a:p>
          <a:p>
            <a:endParaRPr lang="es-AR" dirty="0"/>
          </a:p>
        </p:txBody>
      </p:sp>
      <p:sp>
        <p:nvSpPr>
          <p:cNvPr id="4" name="Marcador de número de diapositiva 3"/>
          <p:cNvSpPr>
            <a:spLocks noGrp="1"/>
          </p:cNvSpPr>
          <p:nvPr>
            <p:ph type="sldNum" sz="quarter" idx="10"/>
          </p:nvPr>
        </p:nvSpPr>
        <p:spPr/>
        <p:txBody>
          <a:bodyPr/>
          <a:lstStyle/>
          <a:p>
            <a:fld id="{16056653-EB7C-4C2C-8160-84A14F109A05}" type="slidenum">
              <a:rPr lang="es-AR" smtClean="0"/>
              <a:t>95</a:t>
            </a:fld>
            <a:endParaRPr lang="es-AR"/>
          </a:p>
        </p:txBody>
      </p:sp>
    </p:spTree>
    <p:extLst>
      <p:ext uri="{BB962C8B-B14F-4D97-AF65-F5344CB8AC3E}">
        <p14:creationId xmlns:p14="http://schemas.microsoft.com/office/powerpoint/2010/main" val="366556780"/>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AR" dirty="0"/>
              <a:t>Para el encabezado</a:t>
            </a:r>
            <a:r>
              <a:rPr lang="es-AR" baseline="0" dirty="0"/>
              <a:t> Lunes  he definido un id con el valor L</a:t>
            </a:r>
          </a:p>
          <a:p>
            <a:r>
              <a:rPr lang="es-AR" baseline="0" dirty="0"/>
              <a:t>Para el encabezado Martes he definido un id con el valor M</a:t>
            </a:r>
          </a:p>
          <a:p>
            <a:endParaRPr lang="es-AR" baseline="0" dirty="0"/>
          </a:p>
          <a:p>
            <a:r>
              <a:rPr lang="es-AR" baseline="0" dirty="0"/>
              <a:t>Para el encabezado 8:00 he definido un id con el valor 8</a:t>
            </a:r>
          </a:p>
          <a:p>
            <a:pPr marL="0" marR="0" lvl="0" indent="0" algn="l" defTabSz="914400" rtl="0" eaLnBrk="1" fontAlgn="auto" latinLnBrk="0" hangingPunct="1">
              <a:lnSpc>
                <a:spcPct val="100000"/>
              </a:lnSpc>
              <a:spcBef>
                <a:spcPts val="0"/>
              </a:spcBef>
              <a:spcAft>
                <a:spcPts val="0"/>
              </a:spcAft>
              <a:buClrTx/>
              <a:buSzTx/>
              <a:buFontTx/>
              <a:buNone/>
              <a:tabLst/>
              <a:defRPr/>
            </a:pPr>
            <a:r>
              <a:rPr lang="es-AR" baseline="0" dirty="0"/>
              <a:t>Para el encabezado 9:00 he definido un id con el valor 9</a:t>
            </a:r>
          </a:p>
          <a:p>
            <a:pPr marL="0" marR="0" lvl="0" indent="0" algn="l" defTabSz="914400" rtl="0" eaLnBrk="1" fontAlgn="auto" latinLnBrk="0" hangingPunct="1">
              <a:lnSpc>
                <a:spcPct val="100000"/>
              </a:lnSpc>
              <a:spcBef>
                <a:spcPts val="0"/>
              </a:spcBef>
              <a:spcAft>
                <a:spcPts val="0"/>
              </a:spcAft>
              <a:buClrTx/>
              <a:buSzTx/>
              <a:buFontTx/>
              <a:buNone/>
              <a:tabLst/>
              <a:defRPr/>
            </a:pPr>
            <a:endParaRPr lang="es-AR" baseline="0" dirty="0"/>
          </a:p>
          <a:p>
            <a:pPr marL="0" marR="0" lvl="0" indent="0" algn="l" defTabSz="914400" rtl="0" eaLnBrk="1" fontAlgn="auto" latinLnBrk="0" hangingPunct="1">
              <a:lnSpc>
                <a:spcPct val="100000"/>
              </a:lnSpc>
              <a:spcBef>
                <a:spcPts val="0"/>
              </a:spcBef>
              <a:spcAft>
                <a:spcPts val="0"/>
              </a:spcAft>
              <a:buClrTx/>
              <a:buSzTx/>
              <a:buFontTx/>
              <a:buNone/>
              <a:tabLst/>
              <a:defRPr/>
            </a:pPr>
            <a:r>
              <a:rPr lang="es-AR" baseline="0" dirty="0"/>
              <a:t>Ahora hay que relacionarlos con las celdas de datos:</a:t>
            </a:r>
          </a:p>
          <a:p>
            <a:pPr marL="0" marR="0" lvl="0" indent="0" algn="l" defTabSz="914400" rtl="0" eaLnBrk="1" fontAlgn="auto" latinLnBrk="0" hangingPunct="1">
              <a:lnSpc>
                <a:spcPct val="100000"/>
              </a:lnSpc>
              <a:spcBef>
                <a:spcPts val="0"/>
              </a:spcBef>
              <a:spcAft>
                <a:spcPts val="0"/>
              </a:spcAft>
              <a:buClrTx/>
              <a:buSzTx/>
              <a:buFontTx/>
              <a:buNone/>
              <a:tabLst/>
              <a:defRPr/>
            </a:pPr>
            <a:r>
              <a:rPr lang="es-AR" baseline="0" dirty="0"/>
              <a:t>En la celda de datos TAW el valor de </a:t>
            </a:r>
            <a:r>
              <a:rPr lang="es-AR" baseline="0" dirty="0" err="1"/>
              <a:t>header</a:t>
            </a:r>
            <a:r>
              <a:rPr lang="es-AR" baseline="0" dirty="0"/>
              <a:t> será 8_L</a:t>
            </a:r>
          </a:p>
          <a:p>
            <a:pPr marL="0" marR="0" lvl="0" indent="0" algn="l" defTabSz="914400" rtl="0" eaLnBrk="1" fontAlgn="auto" latinLnBrk="0" hangingPunct="1">
              <a:lnSpc>
                <a:spcPct val="100000"/>
              </a:lnSpc>
              <a:spcBef>
                <a:spcPts val="0"/>
              </a:spcBef>
              <a:spcAft>
                <a:spcPts val="0"/>
              </a:spcAft>
              <a:buClrTx/>
              <a:buSzTx/>
              <a:buFontTx/>
              <a:buNone/>
              <a:tabLst/>
              <a:defRPr/>
            </a:pPr>
            <a:endParaRPr lang="es-AR" baseline="0" dirty="0"/>
          </a:p>
          <a:p>
            <a:pPr marL="0" marR="0" lvl="0" indent="0" algn="l" defTabSz="914400" rtl="0" eaLnBrk="1" fontAlgn="auto" latinLnBrk="0" hangingPunct="1">
              <a:lnSpc>
                <a:spcPct val="100000"/>
              </a:lnSpc>
              <a:spcBef>
                <a:spcPts val="0"/>
              </a:spcBef>
              <a:spcAft>
                <a:spcPts val="0"/>
              </a:spcAft>
              <a:buClrTx/>
              <a:buSzTx/>
              <a:buFontTx/>
              <a:buNone/>
              <a:tabLst/>
              <a:defRPr/>
            </a:pPr>
            <a:r>
              <a:rPr lang="es-AR" baseline="0" dirty="0"/>
              <a:t>De esta forma se ha definido el valor de </a:t>
            </a:r>
            <a:r>
              <a:rPr lang="es-AR" baseline="0" dirty="0" err="1"/>
              <a:t>header</a:t>
            </a:r>
            <a:r>
              <a:rPr lang="es-AR" baseline="0" dirty="0"/>
              <a:t> para todas las celdas de datos de la tabla.</a:t>
            </a:r>
          </a:p>
          <a:p>
            <a:endParaRPr lang="es-AR" dirty="0"/>
          </a:p>
        </p:txBody>
      </p:sp>
      <p:sp>
        <p:nvSpPr>
          <p:cNvPr id="4" name="Marcador de número de diapositiva 3"/>
          <p:cNvSpPr>
            <a:spLocks noGrp="1"/>
          </p:cNvSpPr>
          <p:nvPr>
            <p:ph type="sldNum" sz="quarter" idx="10"/>
          </p:nvPr>
        </p:nvSpPr>
        <p:spPr/>
        <p:txBody>
          <a:bodyPr/>
          <a:lstStyle/>
          <a:p>
            <a:fld id="{16056653-EB7C-4C2C-8160-84A14F109A05}" type="slidenum">
              <a:rPr lang="es-AR" smtClean="0"/>
              <a:t>96</a:t>
            </a:fld>
            <a:endParaRPr lang="es-AR"/>
          </a:p>
        </p:txBody>
      </p:sp>
    </p:spTree>
    <p:extLst>
      <p:ext uri="{BB962C8B-B14F-4D97-AF65-F5344CB8AC3E}">
        <p14:creationId xmlns:p14="http://schemas.microsoft.com/office/powerpoint/2010/main" val="3629692765"/>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10"/>
          </p:nvPr>
        </p:nvSpPr>
        <p:spPr/>
        <p:txBody>
          <a:bodyPr/>
          <a:lstStyle/>
          <a:p>
            <a:fld id="{16056653-EB7C-4C2C-8160-84A14F109A05}" type="slidenum">
              <a:rPr lang="es-AR" smtClean="0"/>
              <a:t>97</a:t>
            </a:fld>
            <a:endParaRPr lang="es-AR"/>
          </a:p>
        </p:txBody>
      </p:sp>
    </p:spTree>
    <p:extLst>
      <p:ext uri="{BB962C8B-B14F-4D97-AF65-F5344CB8AC3E}">
        <p14:creationId xmlns:p14="http://schemas.microsoft.com/office/powerpoint/2010/main" val="4027542577"/>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AR" dirty="0"/>
              <a:t>El problema es que existen agentes de usuario que no</a:t>
            </a:r>
            <a:r>
              <a:rPr lang="es-AR" baseline="0" dirty="0"/>
              <a:t> tienen compatibilidad con el atributo </a:t>
            </a:r>
            <a:r>
              <a:rPr lang="es-AR" baseline="0" dirty="0" err="1"/>
              <a:t>scope</a:t>
            </a:r>
            <a:r>
              <a:rPr lang="es-AR" baseline="0" dirty="0"/>
              <a:t> (Técnica H63)</a:t>
            </a:r>
          </a:p>
          <a:p>
            <a:r>
              <a:rPr lang="es-AR" baseline="0" dirty="0"/>
              <a:t>Se recomienda usar la técnica H43 usando id y </a:t>
            </a:r>
            <a:r>
              <a:rPr lang="es-AR" baseline="0" dirty="0" err="1"/>
              <a:t>headers</a:t>
            </a:r>
            <a:r>
              <a:rPr lang="es-AR" baseline="0" dirty="0"/>
              <a:t> para definir la relación de las celdas de datos.</a:t>
            </a:r>
            <a:endParaRPr lang="es-AR" dirty="0"/>
          </a:p>
        </p:txBody>
      </p:sp>
      <p:sp>
        <p:nvSpPr>
          <p:cNvPr id="4" name="Marcador de número de diapositiva 3"/>
          <p:cNvSpPr>
            <a:spLocks noGrp="1"/>
          </p:cNvSpPr>
          <p:nvPr>
            <p:ph type="sldNum" sz="quarter" idx="10"/>
          </p:nvPr>
        </p:nvSpPr>
        <p:spPr/>
        <p:txBody>
          <a:bodyPr/>
          <a:lstStyle/>
          <a:p>
            <a:fld id="{16056653-EB7C-4C2C-8160-84A14F109A05}" type="slidenum">
              <a:rPr lang="es-AR" smtClean="0"/>
              <a:t>98</a:t>
            </a:fld>
            <a:endParaRPr lang="es-AR"/>
          </a:p>
        </p:txBody>
      </p:sp>
    </p:spTree>
    <p:extLst>
      <p:ext uri="{BB962C8B-B14F-4D97-AF65-F5344CB8AC3E}">
        <p14:creationId xmlns:p14="http://schemas.microsoft.com/office/powerpoint/2010/main" val="1243867707"/>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AR" dirty="0"/>
              <a:t>Vamos a repasar los principales requisitos de accesibilidad que deben cumplir</a:t>
            </a:r>
            <a:r>
              <a:rPr lang="es-AR" baseline="0" dirty="0"/>
              <a:t> los formularios web.</a:t>
            </a:r>
          </a:p>
          <a:p>
            <a:endParaRPr lang="es-AR" dirty="0"/>
          </a:p>
        </p:txBody>
      </p:sp>
      <p:sp>
        <p:nvSpPr>
          <p:cNvPr id="4" name="Marcador de número de diapositiva 3"/>
          <p:cNvSpPr>
            <a:spLocks noGrp="1"/>
          </p:cNvSpPr>
          <p:nvPr>
            <p:ph type="sldNum" sz="quarter" idx="10"/>
          </p:nvPr>
        </p:nvSpPr>
        <p:spPr/>
        <p:txBody>
          <a:bodyPr/>
          <a:lstStyle/>
          <a:p>
            <a:fld id="{16056653-EB7C-4C2C-8160-84A14F109A05}" type="slidenum">
              <a:rPr lang="es-AR" smtClean="0"/>
              <a:t>99</a:t>
            </a:fld>
            <a:endParaRPr lang="es-AR"/>
          </a:p>
        </p:txBody>
      </p:sp>
    </p:spTree>
    <p:extLst>
      <p:ext uri="{BB962C8B-B14F-4D97-AF65-F5344CB8AC3E}">
        <p14:creationId xmlns:p14="http://schemas.microsoft.com/office/powerpoint/2010/main" val="4288307172"/>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AR" dirty="0"/>
              <a:t>Para establecer</a:t>
            </a:r>
            <a:r>
              <a:rPr lang="es-AR" baseline="0" dirty="0"/>
              <a:t> la relación entre la etiqueta (</a:t>
            </a:r>
            <a:r>
              <a:rPr lang="es-AR" baseline="0" dirty="0" err="1"/>
              <a:t>label</a:t>
            </a:r>
            <a:r>
              <a:rPr lang="es-AR" baseline="0" dirty="0"/>
              <a:t>) y el control del formulario (input) debemos asociarla explícitamente con el atributo </a:t>
            </a:r>
            <a:r>
              <a:rPr lang="es-AR" baseline="0" dirty="0" err="1"/>
              <a:t>for</a:t>
            </a:r>
            <a:r>
              <a:rPr lang="es-AR" baseline="0" dirty="0"/>
              <a:t> cuyo valor debe ser igual al del id del control del formulario y a su vez debe ser único en la página.</a:t>
            </a:r>
            <a:endParaRPr lang="es-AR" dirty="0"/>
          </a:p>
        </p:txBody>
      </p:sp>
      <p:sp>
        <p:nvSpPr>
          <p:cNvPr id="4" name="Marcador de número de diapositiva 3"/>
          <p:cNvSpPr>
            <a:spLocks noGrp="1"/>
          </p:cNvSpPr>
          <p:nvPr>
            <p:ph type="sldNum" sz="quarter" idx="10"/>
          </p:nvPr>
        </p:nvSpPr>
        <p:spPr/>
        <p:txBody>
          <a:bodyPr/>
          <a:lstStyle/>
          <a:p>
            <a:fld id="{16056653-EB7C-4C2C-8160-84A14F109A05}" type="slidenum">
              <a:rPr lang="es-AR" smtClean="0"/>
              <a:t>100</a:t>
            </a:fld>
            <a:endParaRPr lang="es-AR"/>
          </a:p>
        </p:txBody>
      </p:sp>
    </p:spTree>
    <p:extLst>
      <p:ext uri="{BB962C8B-B14F-4D97-AF65-F5344CB8AC3E}">
        <p14:creationId xmlns:p14="http://schemas.microsoft.com/office/powerpoint/2010/main" val="1820536124"/>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10"/>
          </p:nvPr>
        </p:nvSpPr>
        <p:spPr/>
        <p:txBody>
          <a:bodyPr/>
          <a:lstStyle/>
          <a:p>
            <a:fld id="{16056653-EB7C-4C2C-8160-84A14F109A05}" type="slidenum">
              <a:rPr lang="es-AR" smtClean="0"/>
              <a:t>101</a:t>
            </a:fld>
            <a:endParaRPr lang="es-AR"/>
          </a:p>
        </p:txBody>
      </p:sp>
    </p:spTree>
    <p:extLst>
      <p:ext uri="{BB962C8B-B14F-4D97-AF65-F5344CB8AC3E}">
        <p14:creationId xmlns:p14="http://schemas.microsoft.com/office/powerpoint/2010/main" val="755213779"/>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AR" dirty="0"/>
              <a:t>Técnica G162: Posicionar las etiquetas para optimizar las previsibilidad de las relaciones.</a:t>
            </a:r>
          </a:p>
        </p:txBody>
      </p:sp>
      <p:sp>
        <p:nvSpPr>
          <p:cNvPr id="4" name="Marcador de número de diapositiva 3"/>
          <p:cNvSpPr>
            <a:spLocks noGrp="1"/>
          </p:cNvSpPr>
          <p:nvPr>
            <p:ph type="sldNum" sz="quarter" idx="10"/>
          </p:nvPr>
        </p:nvSpPr>
        <p:spPr/>
        <p:txBody>
          <a:bodyPr/>
          <a:lstStyle/>
          <a:p>
            <a:fld id="{16056653-EB7C-4C2C-8160-84A14F109A05}" type="slidenum">
              <a:rPr lang="es-AR" smtClean="0"/>
              <a:t>102</a:t>
            </a:fld>
            <a:endParaRPr lang="es-AR"/>
          </a:p>
        </p:txBody>
      </p:sp>
    </p:spTree>
    <p:extLst>
      <p:ext uri="{BB962C8B-B14F-4D97-AF65-F5344CB8AC3E}">
        <p14:creationId xmlns:p14="http://schemas.microsoft.com/office/powerpoint/2010/main" val="2593216928"/>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AR" dirty="0"/>
              <a:t>Técnica</a:t>
            </a:r>
            <a:r>
              <a:rPr lang="es-AR" baseline="0" dirty="0"/>
              <a:t> H65: Usar el atributo </a:t>
            </a:r>
            <a:r>
              <a:rPr lang="es-AR" baseline="0" dirty="0" err="1"/>
              <a:t>title</a:t>
            </a:r>
            <a:r>
              <a:rPr lang="es-AR" baseline="0" dirty="0"/>
              <a:t> para identificar los controles de formulario cuando no se pueda usar el elemento </a:t>
            </a:r>
            <a:r>
              <a:rPr lang="es-AR" baseline="0" dirty="0" err="1"/>
              <a:t>label</a:t>
            </a:r>
            <a:endParaRPr lang="es-AR" baseline="0" dirty="0"/>
          </a:p>
          <a:p>
            <a:r>
              <a:rPr lang="es-AR" baseline="0" dirty="0"/>
              <a:t>Técnica G167: El uso de un botón adyacente para etiquetar el propósito de un campo</a:t>
            </a:r>
          </a:p>
          <a:p>
            <a:endParaRPr lang="es-AR" baseline="0" dirty="0"/>
          </a:p>
          <a:p>
            <a:r>
              <a:rPr lang="es-AR" baseline="0" dirty="0"/>
              <a:t>Mostrar una etiqueta podría generar confusión, las WCAG 2.0 permiten utilizar el atributo </a:t>
            </a:r>
            <a:r>
              <a:rPr lang="es-AR" baseline="0" dirty="0" err="1"/>
              <a:t>title</a:t>
            </a:r>
            <a:r>
              <a:rPr lang="es-AR" baseline="0" dirty="0"/>
              <a:t> para etiquetar los controles del formulario e identificar su propósito.</a:t>
            </a:r>
          </a:p>
          <a:p>
            <a:r>
              <a:rPr lang="es-AR" baseline="0" dirty="0"/>
              <a:t>Es habitual usar esta técnica cuando hay varios campos seguidos para introducir partes de un dato: como una fecha </a:t>
            </a:r>
            <a:r>
              <a:rPr lang="es-AR" baseline="0" dirty="0" err="1"/>
              <a:t>dd</a:t>
            </a:r>
            <a:r>
              <a:rPr lang="es-AR" baseline="0" dirty="0"/>
              <a:t> mm </a:t>
            </a:r>
            <a:r>
              <a:rPr lang="es-AR" baseline="0" dirty="0" err="1"/>
              <a:t>aa</a:t>
            </a:r>
            <a:r>
              <a:rPr lang="es-AR" baseline="0" dirty="0"/>
              <a:t> o un número de tarjeta.</a:t>
            </a:r>
          </a:p>
          <a:p>
            <a:endParaRPr lang="es-AR" baseline="0" dirty="0"/>
          </a:p>
          <a:p>
            <a:r>
              <a:rPr lang="es-AR" baseline="0" dirty="0"/>
              <a:t>En este caso podemos utilizar el atributo </a:t>
            </a:r>
            <a:r>
              <a:rPr lang="es-AR" baseline="0" dirty="0" err="1"/>
              <a:t>title</a:t>
            </a:r>
            <a:r>
              <a:rPr lang="es-AR" baseline="0" dirty="0"/>
              <a:t> para identificar la función del campo, </a:t>
            </a:r>
          </a:p>
          <a:p>
            <a:r>
              <a:rPr lang="es-AR" baseline="0" dirty="0"/>
              <a:t>además el botón adyacente “Buscar” invoca una acción sobre el campo también actúa como etiqueta del propio campo</a:t>
            </a:r>
          </a:p>
          <a:p>
            <a:r>
              <a:rPr lang="es-AR" baseline="0" dirty="0"/>
              <a:t>De modo que el botón adyacente ayuda a comprender el propósito del campo sin necesidad de introducir un texto repetitivo con una etiqueta previa.</a:t>
            </a:r>
          </a:p>
          <a:p>
            <a:r>
              <a:rPr lang="es-AR" baseline="0" dirty="0"/>
              <a:t>Por lo tanto el </a:t>
            </a:r>
            <a:r>
              <a:rPr lang="es-AR" baseline="0" dirty="0" err="1"/>
              <a:t>title</a:t>
            </a:r>
            <a:r>
              <a:rPr lang="es-AR" baseline="0" dirty="0"/>
              <a:t> del campo y el botón adyacente son suficientes para etiquetar el campo e identificar su función.</a:t>
            </a:r>
            <a:endParaRPr lang="es-AR" dirty="0"/>
          </a:p>
        </p:txBody>
      </p:sp>
      <p:sp>
        <p:nvSpPr>
          <p:cNvPr id="4" name="Marcador de número de diapositiva 3"/>
          <p:cNvSpPr>
            <a:spLocks noGrp="1"/>
          </p:cNvSpPr>
          <p:nvPr>
            <p:ph type="sldNum" sz="quarter" idx="10"/>
          </p:nvPr>
        </p:nvSpPr>
        <p:spPr/>
        <p:txBody>
          <a:bodyPr/>
          <a:lstStyle/>
          <a:p>
            <a:fld id="{16056653-EB7C-4C2C-8160-84A14F109A05}" type="slidenum">
              <a:rPr lang="es-AR" smtClean="0"/>
              <a:t>103</a:t>
            </a:fld>
            <a:endParaRPr lang="es-AR"/>
          </a:p>
        </p:txBody>
      </p:sp>
    </p:spTree>
    <p:extLst>
      <p:ext uri="{BB962C8B-B14F-4D97-AF65-F5344CB8AC3E}">
        <p14:creationId xmlns:p14="http://schemas.microsoft.com/office/powerpoint/2010/main" val="482680965"/>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10"/>
          </p:nvPr>
        </p:nvSpPr>
        <p:spPr/>
        <p:txBody>
          <a:bodyPr/>
          <a:lstStyle/>
          <a:p>
            <a:fld id="{16056653-EB7C-4C2C-8160-84A14F109A05}" type="slidenum">
              <a:rPr lang="es-AR" smtClean="0"/>
              <a:t>104</a:t>
            </a:fld>
            <a:endParaRPr lang="es-AR"/>
          </a:p>
        </p:txBody>
      </p:sp>
    </p:spTree>
    <p:extLst>
      <p:ext uri="{BB962C8B-B14F-4D97-AF65-F5344CB8AC3E}">
        <p14:creationId xmlns:p14="http://schemas.microsoft.com/office/powerpoint/2010/main" val="197339765"/>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10"/>
          </p:nvPr>
        </p:nvSpPr>
        <p:spPr/>
        <p:txBody>
          <a:bodyPr/>
          <a:lstStyle/>
          <a:p>
            <a:fld id="{16056653-EB7C-4C2C-8160-84A14F109A05}" type="slidenum">
              <a:rPr lang="es-AR" smtClean="0"/>
              <a:t>105</a:t>
            </a:fld>
            <a:endParaRPr lang="es-AR"/>
          </a:p>
        </p:txBody>
      </p:sp>
    </p:spTree>
    <p:extLst>
      <p:ext uri="{BB962C8B-B14F-4D97-AF65-F5344CB8AC3E}">
        <p14:creationId xmlns:p14="http://schemas.microsoft.com/office/powerpoint/2010/main" val="3995385985"/>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10"/>
          </p:nvPr>
        </p:nvSpPr>
        <p:spPr/>
        <p:txBody>
          <a:bodyPr/>
          <a:lstStyle/>
          <a:p>
            <a:fld id="{16056653-EB7C-4C2C-8160-84A14F109A05}" type="slidenum">
              <a:rPr lang="es-AR" smtClean="0"/>
              <a:t>106</a:t>
            </a:fld>
            <a:endParaRPr lang="es-AR"/>
          </a:p>
        </p:txBody>
      </p:sp>
    </p:spTree>
    <p:extLst>
      <p:ext uri="{BB962C8B-B14F-4D97-AF65-F5344CB8AC3E}">
        <p14:creationId xmlns:p14="http://schemas.microsoft.com/office/powerpoint/2010/main" val="1547614620"/>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AR" dirty="0"/>
              <a:t>Técnica</a:t>
            </a:r>
            <a:r>
              <a:rPr lang="es-AR" baseline="0" dirty="0"/>
              <a:t> H71: Proporcionar una descripción de los grupos de controles de formulario usando los elementos </a:t>
            </a:r>
            <a:r>
              <a:rPr lang="es-AR" baseline="0" dirty="0" err="1"/>
              <a:t>fieldset</a:t>
            </a:r>
            <a:r>
              <a:rPr lang="es-AR" baseline="0" dirty="0"/>
              <a:t> y </a:t>
            </a:r>
            <a:r>
              <a:rPr lang="es-AR" baseline="0" dirty="0" err="1"/>
              <a:t>legend</a:t>
            </a:r>
            <a:endParaRPr lang="es-AR" dirty="0"/>
          </a:p>
        </p:txBody>
      </p:sp>
      <p:sp>
        <p:nvSpPr>
          <p:cNvPr id="4" name="Marcador de número de diapositiva 3"/>
          <p:cNvSpPr>
            <a:spLocks noGrp="1"/>
          </p:cNvSpPr>
          <p:nvPr>
            <p:ph type="sldNum" sz="quarter" idx="10"/>
          </p:nvPr>
        </p:nvSpPr>
        <p:spPr/>
        <p:txBody>
          <a:bodyPr/>
          <a:lstStyle/>
          <a:p>
            <a:fld id="{16056653-EB7C-4C2C-8160-84A14F109A05}" type="slidenum">
              <a:rPr lang="es-AR" smtClean="0"/>
              <a:t>107</a:t>
            </a:fld>
            <a:endParaRPr lang="es-AR"/>
          </a:p>
        </p:txBody>
      </p:sp>
    </p:spTree>
    <p:extLst>
      <p:ext uri="{BB962C8B-B14F-4D97-AF65-F5344CB8AC3E}">
        <p14:creationId xmlns:p14="http://schemas.microsoft.com/office/powerpoint/2010/main" val="377012583"/>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AR" dirty="0"/>
              <a:t>Los campos</a:t>
            </a:r>
            <a:r>
              <a:rPr lang="es-AR" baseline="0" dirty="0"/>
              <a:t> están agrupados semánticamente mediante el elemento </a:t>
            </a:r>
            <a:r>
              <a:rPr lang="es-AR" baseline="0" dirty="0" err="1"/>
              <a:t>fieldset</a:t>
            </a:r>
            <a:r>
              <a:rPr lang="es-AR" baseline="0" dirty="0"/>
              <a:t>.</a:t>
            </a:r>
          </a:p>
          <a:p>
            <a:r>
              <a:rPr lang="es-AR" baseline="0" dirty="0"/>
              <a:t>Su primer elemento es </a:t>
            </a:r>
            <a:r>
              <a:rPr lang="es-AR" baseline="0" dirty="0" err="1"/>
              <a:t>legend</a:t>
            </a:r>
            <a:r>
              <a:rPr lang="es-AR" baseline="0" dirty="0"/>
              <a:t> que nos permite proporcionar una etiqueta o descripción del grupo.</a:t>
            </a:r>
          </a:p>
          <a:p>
            <a:r>
              <a:rPr lang="es-AR" baseline="0" dirty="0"/>
              <a:t>Los productos de apoyo anunciarán esta leyenda antes de la etiqueta de cada control para recordarles a los usuarios que esos campos forman parte del mismo grupo.</a:t>
            </a:r>
          </a:p>
          <a:p>
            <a:r>
              <a:rPr lang="es-AR" baseline="0" dirty="0"/>
              <a:t>El uso de </a:t>
            </a:r>
            <a:r>
              <a:rPr lang="es-AR" baseline="0" dirty="0" err="1"/>
              <a:t>fieldset</a:t>
            </a:r>
            <a:r>
              <a:rPr lang="es-AR" baseline="0" dirty="0"/>
              <a:t> es especialmente importante en los grupos de radios y </a:t>
            </a:r>
            <a:r>
              <a:rPr lang="es-AR" baseline="0" dirty="0" err="1"/>
              <a:t>checks</a:t>
            </a:r>
            <a:r>
              <a:rPr lang="es-AR" baseline="0" dirty="0"/>
              <a:t>, puesto que la etiqueta individual de cada uno no transmite plenamente el contexto descriptivo del grupo y es esencial que se agrupen para facilitar que sean tratados semánticamente como un único conjunto con una descripción adicional a nivel de grupo.</a:t>
            </a:r>
            <a:endParaRPr lang="es-AR" dirty="0"/>
          </a:p>
        </p:txBody>
      </p:sp>
      <p:sp>
        <p:nvSpPr>
          <p:cNvPr id="4" name="Marcador de número de diapositiva 3"/>
          <p:cNvSpPr>
            <a:spLocks noGrp="1"/>
          </p:cNvSpPr>
          <p:nvPr>
            <p:ph type="sldNum" sz="quarter" idx="10"/>
          </p:nvPr>
        </p:nvSpPr>
        <p:spPr/>
        <p:txBody>
          <a:bodyPr/>
          <a:lstStyle/>
          <a:p>
            <a:fld id="{16056653-EB7C-4C2C-8160-84A14F109A05}" type="slidenum">
              <a:rPr lang="es-AR" smtClean="0"/>
              <a:t>108</a:t>
            </a:fld>
            <a:endParaRPr lang="es-AR"/>
          </a:p>
        </p:txBody>
      </p:sp>
    </p:spTree>
    <p:extLst>
      <p:ext uri="{BB962C8B-B14F-4D97-AF65-F5344CB8AC3E}">
        <p14:creationId xmlns:p14="http://schemas.microsoft.com/office/powerpoint/2010/main" val="2041600837"/>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AR" dirty="0"/>
              <a:t>No anidar elementos &lt;</a:t>
            </a:r>
            <a:r>
              <a:rPr lang="es-AR" dirty="0" err="1"/>
              <a:t>fieldset</a:t>
            </a:r>
            <a:r>
              <a:rPr lang="es-AR" dirty="0"/>
              <a:t>&gt;, crean confusión.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s-AR" dirty="0"/>
          </a:p>
          <a:p>
            <a:endParaRPr lang="es-AR" dirty="0"/>
          </a:p>
        </p:txBody>
      </p:sp>
      <p:sp>
        <p:nvSpPr>
          <p:cNvPr id="4" name="Marcador de número de diapositiva 3"/>
          <p:cNvSpPr>
            <a:spLocks noGrp="1"/>
          </p:cNvSpPr>
          <p:nvPr>
            <p:ph type="sldNum" sz="quarter" idx="10"/>
          </p:nvPr>
        </p:nvSpPr>
        <p:spPr/>
        <p:txBody>
          <a:bodyPr/>
          <a:lstStyle/>
          <a:p>
            <a:fld id="{16056653-EB7C-4C2C-8160-84A14F109A05}" type="slidenum">
              <a:rPr lang="es-AR" smtClean="0"/>
              <a:t>109</a:t>
            </a:fld>
            <a:endParaRPr lang="es-AR"/>
          </a:p>
        </p:txBody>
      </p:sp>
    </p:spTree>
    <p:extLst>
      <p:ext uri="{BB962C8B-B14F-4D97-AF65-F5344CB8AC3E}">
        <p14:creationId xmlns:p14="http://schemas.microsoft.com/office/powerpoint/2010/main" val="2057137446"/>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AR" dirty="0"/>
              <a:t>Porqu</a:t>
            </a:r>
            <a:r>
              <a:rPr lang="es-AR" baseline="0" dirty="0"/>
              <a:t>e a menudo las vistas de selección tienen grupos de opciones relacionadas.</a:t>
            </a:r>
          </a:p>
          <a:p>
            <a:r>
              <a:rPr lang="es-AR" baseline="0" dirty="0"/>
              <a:t>Estos grupos deben ser semánticamente identificados mediante </a:t>
            </a:r>
            <a:r>
              <a:rPr lang="es-AR" baseline="0" dirty="0" err="1"/>
              <a:t>optgroup</a:t>
            </a:r>
            <a:r>
              <a:rPr lang="es-AR" baseline="0" dirty="0"/>
              <a:t>.</a:t>
            </a:r>
          </a:p>
          <a:p>
            <a:r>
              <a:rPr lang="es-AR" dirty="0" err="1"/>
              <a:t>Optgroup</a:t>
            </a:r>
            <a:r>
              <a:rPr lang="es-AR" dirty="0"/>
              <a:t> ayuda a romper visualmente</a:t>
            </a:r>
            <a:r>
              <a:rPr lang="es-AR" baseline="0" dirty="0"/>
              <a:t> </a:t>
            </a:r>
            <a:r>
              <a:rPr lang="es-AR" dirty="0"/>
              <a:t>las listas largas,</a:t>
            </a:r>
            <a:r>
              <a:rPr lang="es-AR" baseline="0" dirty="0"/>
              <a:t> para que los usuarios puedan localizar mas fácilmente la opción deseada.</a:t>
            </a:r>
            <a:endParaRPr lang="es-AR" dirty="0"/>
          </a:p>
        </p:txBody>
      </p:sp>
      <p:sp>
        <p:nvSpPr>
          <p:cNvPr id="4" name="Marcador de número de diapositiva 3"/>
          <p:cNvSpPr>
            <a:spLocks noGrp="1"/>
          </p:cNvSpPr>
          <p:nvPr>
            <p:ph type="sldNum" sz="quarter" idx="10"/>
          </p:nvPr>
        </p:nvSpPr>
        <p:spPr/>
        <p:txBody>
          <a:bodyPr/>
          <a:lstStyle/>
          <a:p>
            <a:fld id="{16056653-EB7C-4C2C-8160-84A14F109A05}" type="slidenum">
              <a:rPr lang="es-AR" smtClean="0"/>
              <a:t>110</a:t>
            </a:fld>
            <a:endParaRPr lang="es-AR"/>
          </a:p>
        </p:txBody>
      </p:sp>
    </p:spTree>
    <p:extLst>
      <p:ext uri="{BB962C8B-B14F-4D97-AF65-F5344CB8AC3E}">
        <p14:creationId xmlns:p14="http://schemas.microsoft.com/office/powerpoint/2010/main" val="246078626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10"/>
          </p:nvPr>
        </p:nvSpPr>
        <p:spPr/>
        <p:txBody>
          <a:bodyPr/>
          <a:lstStyle/>
          <a:p>
            <a:fld id="{16056653-EB7C-4C2C-8160-84A14F109A05}" type="slidenum">
              <a:rPr lang="es-AR" smtClean="0"/>
              <a:t>111</a:t>
            </a:fld>
            <a:endParaRPr lang="es-AR"/>
          </a:p>
        </p:txBody>
      </p:sp>
    </p:spTree>
    <p:extLst>
      <p:ext uri="{BB962C8B-B14F-4D97-AF65-F5344CB8AC3E}">
        <p14:creationId xmlns:p14="http://schemas.microsoft.com/office/powerpoint/2010/main" val="1335136197"/>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AR" dirty="0"/>
              <a:t>&lt;input </a:t>
            </a:r>
            <a:r>
              <a:rPr lang="es-AR" dirty="0" err="1"/>
              <a:t>type</a:t>
            </a:r>
            <a:r>
              <a:rPr lang="es-AR" dirty="0"/>
              <a:t>=“</a:t>
            </a:r>
            <a:r>
              <a:rPr lang="es-AR" dirty="0" err="1"/>
              <a:t>submit</a:t>
            </a:r>
            <a:r>
              <a:rPr lang="es-AR" dirty="0"/>
              <a:t>” </a:t>
            </a:r>
            <a:r>
              <a:rPr lang="es-AR" dirty="0" err="1"/>
              <a:t>name</a:t>
            </a:r>
            <a:r>
              <a:rPr lang="es-AR" dirty="0"/>
              <a:t>=“enviar” </a:t>
            </a:r>
            <a:r>
              <a:rPr lang="es-AR" dirty="0" err="1"/>
              <a:t>value</a:t>
            </a:r>
            <a:r>
              <a:rPr lang="es-AR" dirty="0"/>
              <a:t>=“Enviar” /&gt;</a:t>
            </a:r>
          </a:p>
          <a:p>
            <a:pPr marL="0" marR="0" lvl="0" indent="0" algn="l" defTabSz="914400" rtl="0" eaLnBrk="1" fontAlgn="auto" latinLnBrk="0" hangingPunct="1">
              <a:lnSpc>
                <a:spcPct val="100000"/>
              </a:lnSpc>
              <a:spcBef>
                <a:spcPts val="0"/>
              </a:spcBef>
              <a:spcAft>
                <a:spcPts val="0"/>
              </a:spcAft>
              <a:buClrTx/>
              <a:buSzTx/>
              <a:buFontTx/>
              <a:buNone/>
              <a:tabLst/>
              <a:defRPr/>
            </a:pPr>
            <a:r>
              <a:rPr lang="es-AR" dirty="0"/>
              <a:t>Permite a los</a:t>
            </a:r>
            <a:r>
              <a:rPr lang="es-AR" baseline="0" dirty="0"/>
              <a:t> usuarios solicitar explícitamente enviar los datos. Técnica H32: Proporcionar botones de envío.</a:t>
            </a:r>
          </a:p>
          <a:p>
            <a:pPr marL="0" marR="0" lvl="0" indent="0" algn="l" defTabSz="914400" rtl="0" eaLnBrk="1" fontAlgn="auto" latinLnBrk="0" hangingPunct="1">
              <a:lnSpc>
                <a:spcPct val="100000"/>
              </a:lnSpc>
              <a:spcBef>
                <a:spcPts val="0"/>
              </a:spcBef>
              <a:spcAft>
                <a:spcPts val="0"/>
              </a:spcAft>
              <a:buClrTx/>
              <a:buSzTx/>
              <a:buFontTx/>
              <a:buNone/>
              <a:tabLst/>
              <a:defRPr/>
            </a:pPr>
            <a:endParaRPr lang="es-AR" dirty="0"/>
          </a:p>
          <a:p>
            <a:r>
              <a:rPr lang="es-AR" dirty="0"/>
              <a:t>&lt;</a:t>
            </a:r>
            <a:r>
              <a:rPr lang="es-AR" dirty="0" err="1"/>
              <a:t>select</a:t>
            </a:r>
            <a:r>
              <a:rPr lang="es-AR" dirty="0"/>
              <a:t>&gt; + botón</a:t>
            </a:r>
          </a:p>
          <a:p>
            <a:r>
              <a:rPr lang="es-AR" dirty="0"/>
              <a:t>Lista de idiomas</a:t>
            </a:r>
            <a:r>
              <a:rPr lang="es-AR" baseline="0" dirty="0"/>
              <a:t> + botón “Cambiar idioma”</a:t>
            </a:r>
          </a:p>
          <a:p>
            <a:pPr marL="0" marR="0" lvl="0" indent="0" algn="l" defTabSz="914400" rtl="0" eaLnBrk="1" fontAlgn="auto" latinLnBrk="0" hangingPunct="1">
              <a:lnSpc>
                <a:spcPct val="100000"/>
              </a:lnSpc>
              <a:spcBef>
                <a:spcPts val="0"/>
              </a:spcBef>
              <a:spcAft>
                <a:spcPts val="0"/>
              </a:spcAft>
              <a:buClrTx/>
              <a:buSzTx/>
              <a:buFontTx/>
              <a:buNone/>
              <a:tabLst/>
              <a:defRPr/>
            </a:pPr>
            <a:r>
              <a:rPr lang="es-AR" baseline="0" dirty="0"/>
              <a:t>Sin el botón “Cambiar idioma” no podemos hacer que el usuario navegue a otra pagina sin avisarle antes.</a:t>
            </a:r>
          </a:p>
          <a:p>
            <a:pPr marL="0" marR="0" lvl="0" indent="0" algn="l" defTabSz="914400" rtl="0" eaLnBrk="1" fontAlgn="auto" latinLnBrk="0" hangingPunct="1">
              <a:lnSpc>
                <a:spcPct val="100000"/>
              </a:lnSpc>
              <a:spcBef>
                <a:spcPts val="0"/>
              </a:spcBef>
              <a:spcAft>
                <a:spcPts val="0"/>
              </a:spcAft>
              <a:buClrTx/>
              <a:buSzTx/>
              <a:buFontTx/>
              <a:buNone/>
              <a:tabLst/>
              <a:defRPr/>
            </a:pPr>
            <a:r>
              <a:rPr lang="es-AR" baseline="0" dirty="0"/>
              <a:t>Con el botón, el usuario lo esta solicitando explícitamente.</a:t>
            </a:r>
          </a:p>
          <a:p>
            <a:pPr marL="0" marR="0" lvl="0" indent="0" algn="l" defTabSz="914400" rtl="0" eaLnBrk="1" fontAlgn="auto" latinLnBrk="0" hangingPunct="1">
              <a:lnSpc>
                <a:spcPct val="100000"/>
              </a:lnSpc>
              <a:spcBef>
                <a:spcPts val="0"/>
              </a:spcBef>
              <a:spcAft>
                <a:spcPts val="0"/>
              </a:spcAft>
              <a:buClrTx/>
              <a:buSzTx/>
              <a:buFontTx/>
              <a:buNone/>
              <a:tabLst/>
              <a:defRPr/>
            </a:pPr>
            <a:r>
              <a:rPr lang="es-AR" baseline="0" dirty="0"/>
              <a:t>Técnica H84: El uso de un botón con un elemento de selección para realizar una acción.</a:t>
            </a:r>
            <a:endParaRPr lang="es-AR" dirty="0"/>
          </a:p>
        </p:txBody>
      </p:sp>
      <p:sp>
        <p:nvSpPr>
          <p:cNvPr id="4" name="Marcador de número de diapositiva 3"/>
          <p:cNvSpPr>
            <a:spLocks noGrp="1"/>
          </p:cNvSpPr>
          <p:nvPr>
            <p:ph type="sldNum" sz="quarter" idx="10"/>
          </p:nvPr>
        </p:nvSpPr>
        <p:spPr/>
        <p:txBody>
          <a:bodyPr/>
          <a:lstStyle/>
          <a:p>
            <a:fld id="{16056653-EB7C-4C2C-8160-84A14F109A05}" type="slidenum">
              <a:rPr lang="es-AR" smtClean="0"/>
              <a:t>112</a:t>
            </a:fld>
            <a:endParaRPr lang="es-AR"/>
          </a:p>
        </p:txBody>
      </p:sp>
    </p:spTree>
    <p:extLst>
      <p:ext uri="{BB962C8B-B14F-4D97-AF65-F5344CB8AC3E}">
        <p14:creationId xmlns:p14="http://schemas.microsoft.com/office/powerpoint/2010/main" val="3360415220"/>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AR" dirty="0"/>
              <a:t>Técnica H90: Indicando requiere controles de formulario usando la etiqueta o leyenda.</a:t>
            </a:r>
          </a:p>
          <a:p>
            <a:r>
              <a:rPr lang="es-AR" dirty="0"/>
              <a:t>Por cada control de formulario requerido, verificar que el estado requerido está indicado en el </a:t>
            </a:r>
            <a:r>
              <a:rPr lang="es-AR" dirty="0" err="1"/>
              <a:t>label</a:t>
            </a:r>
            <a:r>
              <a:rPr lang="es-AR" dirty="0"/>
              <a:t> o </a:t>
            </a:r>
            <a:r>
              <a:rPr lang="es-AR" dirty="0" err="1"/>
              <a:t>legend</a:t>
            </a:r>
            <a:r>
              <a:rPr lang="es-AR" dirty="0"/>
              <a:t> del control del formulario.</a:t>
            </a:r>
          </a:p>
          <a:p>
            <a:r>
              <a:rPr lang="es-AR" dirty="0"/>
              <a:t>	</a:t>
            </a:r>
          </a:p>
          <a:p>
            <a:r>
              <a:rPr lang="es-AR" dirty="0"/>
              <a:t>Técnica G205: La inclusión de una entrada de texto para las etiquetas de control de formulario de colores.</a:t>
            </a:r>
          </a:p>
          <a:p>
            <a:r>
              <a:rPr lang="es-AR" dirty="0"/>
              <a:t>Si se comunica información mediante el color en palabras, fondos u otros contenidos: Incluye una señal de texto para etiquetas de controles de formulario coloreadas.</a:t>
            </a:r>
          </a:p>
          <a:p>
            <a:endParaRPr lang="es-AR" dirty="0"/>
          </a:p>
          <a:p>
            <a:r>
              <a:rPr lang="es-AR" dirty="0"/>
              <a:t>Técnica</a:t>
            </a:r>
            <a:r>
              <a:rPr lang="es-AR" baseline="0" dirty="0"/>
              <a:t> G89: Proporcionar espera formato de datos y el ejemplo</a:t>
            </a:r>
          </a:p>
          <a:p>
            <a:r>
              <a:rPr lang="es-AR" dirty="0"/>
              <a:t>Determinar si cada uno de los controles de formulario que sólo aceptará los datos de entrada del usuario en un formato determinado proporciona información sobre el formato esperado.</a:t>
            </a:r>
          </a:p>
        </p:txBody>
      </p:sp>
      <p:sp>
        <p:nvSpPr>
          <p:cNvPr id="4" name="Marcador de número de diapositiva 3"/>
          <p:cNvSpPr>
            <a:spLocks noGrp="1"/>
          </p:cNvSpPr>
          <p:nvPr>
            <p:ph type="sldNum" sz="quarter" idx="10"/>
          </p:nvPr>
        </p:nvSpPr>
        <p:spPr/>
        <p:txBody>
          <a:bodyPr/>
          <a:lstStyle/>
          <a:p>
            <a:fld id="{16056653-EB7C-4C2C-8160-84A14F109A05}" type="slidenum">
              <a:rPr lang="es-AR" smtClean="0"/>
              <a:t>113</a:t>
            </a:fld>
            <a:endParaRPr lang="es-AR"/>
          </a:p>
        </p:txBody>
      </p:sp>
    </p:spTree>
    <p:extLst>
      <p:ext uri="{BB962C8B-B14F-4D97-AF65-F5344CB8AC3E}">
        <p14:creationId xmlns:p14="http://schemas.microsoft.com/office/powerpoint/2010/main" val="507234335"/>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AR" dirty="0"/>
              <a:t>Técnica H90: Indicando requiere controles de formulario usando la etiqueta o leyenda.</a:t>
            </a:r>
          </a:p>
          <a:p>
            <a:r>
              <a:rPr lang="es-AR" dirty="0"/>
              <a:t>Por cada control de formulario requerido, verificar que el estado requerido está indicado en el </a:t>
            </a:r>
            <a:r>
              <a:rPr lang="es-AR" dirty="0" err="1"/>
              <a:t>label</a:t>
            </a:r>
            <a:r>
              <a:rPr lang="es-AR" dirty="0"/>
              <a:t> o </a:t>
            </a:r>
            <a:r>
              <a:rPr lang="es-AR" dirty="0" err="1"/>
              <a:t>legend</a:t>
            </a:r>
            <a:r>
              <a:rPr lang="es-AR" dirty="0"/>
              <a:t> del control del formulario.</a:t>
            </a:r>
          </a:p>
          <a:p>
            <a:endParaRPr lang="es-AR" dirty="0"/>
          </a:p>
        </p:txBody>
      </p:sp>
      <p:sp>
        <p:nvSpPr>
          <p:cNvPr id="4" name="Marcador de número de diapositiva 3"/>
          <p:cNvSpPr>
            <a:spLocks noGrp="1"/>
          </p:cNvSpPr>
          <p:nvPr>
            <p:ph type="sldNum" sz="quarter" idx="10"/>
          </p:nvPr>
        </p:nvSpPr>
        <p:spPr/>
        <p:txBody>
          <a:bodyPr/>
          <a:lstStyle/>
          <a:p>
            <a:fld id="{16056653-EB7C-4C2C-8160-84A14F109A05}" type="slidenum">
              <a:rPr lang="es-AR" smtClean="0"/>
              <a:t>114</a:t>
            </a:fld>
            <a:endParaRPr lang="es-AR"/>
          </a:p>
        </p:txBody>
      </p:sp>
    </p:spTree>
    <p:extLst>
      <p:ext uri="{BB962C8B-B14F-4D97-AF65-F5344CB8AC3E}">
        <p14:creationId xmlns:p14="http://schemas.microsoft.com/office/powerpoint/2010/main" val="27974277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AR" dirty="0"/>
              <a:t>Técnica G205: La inclusión de una entrada de texto para las etiquetas de control de formulario de colores.</a:t>
            </a:r>
          </a:p>
          <a:p>
            <a:r>
              <a:rPr lang="es-AR" dirty="0"/>
              <a:t>Si se comunica información mediante el color en palabras, fondos u otros contenidos: Incluye una señal de texto para etiquetas de controles de formulario coloreadas.</a:t>
            </a:r>
          </a:p>
          <a:p>
            <a:endParaRPr lang="es-AR" dirty="0"/>
          </a:p>
          <a:p>
            <a:r>
              <a:rPr lang="es-AR" dirty="0"/>
              <a:t>Ya que esta información</a:t>
            </a:r>
            <a:r>
              <a:rPr lang="es-AR" baseline="0" dirty="0"/>
              <a:t> pasara desapercibida para muchos usuarios. </a:t>
            </a:r>
            <a:endParaRPr lang="es-AR" dirty="0"/>
          </a:p>
          <a:p>
            <a:endParaRPr lang="es-AR" dirty="0"/>
          </a:p>
        </p:txBody>
      </p:sp>
      <p:sp>
        <p:nvSpPr>
          <p:cNvPr id="4" name="Marcador de número de diapositiva 3"/>
          <p:cNvSpPr>
            <a:spLocks noGrp="1"/>
          </p:cNvSpPr>
          <p:nvPr>
            <p:ph type="sldNum" sz="quarter" idx="10"/>
          </p:nvPr>
        </p:nvSpPr>
        <p:spPr/>
        <p:txBody>
          <a:bodyPr/>
          <a:lstStyle/>
          <a:p>
            <a:fld id="{16056653-EB7C-4C2C-8160-84A14F109A05}" type="slidenum">
              <a:rPr lang="es-AR" smtClean="0"/>
              <a:t>115</a:t>
            </a:fld>
            <a:endParaRPr lang="es-AR"/>
          </a:p>
        </p:txBody>
      </p:sp>
    </p:spTree>
    <p:extLst>
      <p:ext uri="{BB962C8B-B14F-4D97-AF65-F5344CB8AC3E}">
        <p14:creationId xmlns:p14="http://schemas.microsoft.com/office/powerpoint/2010/main" val="3413325292"/>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AR" dirty="0"/>
              <a:t>Técnica</a:t>
            </a:r>
            <a:r>
              <a:rPr lang="es-AR" baseline="0" dirty="0"/>
              <a:t> G89: Proporcionar espera formato de datos y el ejemplo</a:t>
            </a:r>
          </a:p>
          <a:p>
            <a:r>
              <a:rPr lang="es-AR" dirty="0"/>
              <a:t>Determinar si cada uno de los controles de formulario que sólo aceptará los datos de entrada del usuario en un formato determinado proporciona información sobre el formato esperado.</a:t>
            </a:r>
          </a:p>
          <a:p>
            <a:endParaRPr lang="es-AR" dirty="0"/>
          </a:p>
        </p:txBody>
      </p:sp>
      <p:sp>
        <p:nvSpPr>
          <p:cNvPr id="4" name="Marcador de número de diapositiva 3"/>
          <p:cNvSpPr>
            <a:spLocks noGrp="1"/>
          </p:cNvSpPr>
          <p:nvPr>
            <p:ph type="sldNum" sz="quarter" idx="10"/>
          </p:nvPr>
        </p:nvSpPr>
        <p:spPr/>
        <p:txBody>
          <a:bodyPr/>
          <a:lstStyle/>
          <a:p>
            <a:fld id="{16056653-EB7C-4C2C-8160-84A14F109A05}" type="slidenum">
              <a:rPr lang="es-AR" smtClean="0"/>
              <a:t>116</a:t>
            </a:fld>
            <a:endParaRPr lang="es-AR"/>
          </a:p>
        </p:txBody>
      </p:sp>
    </p:spTree>
    <p:extLst>
      <p:ext uri="{BB962C8B-B14F-4D97-AF65-F5344CB8AC3E}">
        <p14:creationId xmlns:p14="http://schemas.microsoft.com/office/powerpoint/2010/main" val="424417746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10"/>
          </p:nvPr>
        </p:nvSpPr>
        <p:spPr/>
        <p:txBody>
          <a:bodyPr/>
          <a:lstStyle/>
          <a:p>
            <a:fld id="{16056653-EB7C-4C2C-8160-84A14F109A05}" type="slidenum">
              <a:rPr lang="es-AR" smtClean="0"/>
              <a:t>117</a:t>
            </a:fld>
            <a:endParaRPr lang="es-AR"/>
          </a:p>
        </p:txBody>
      </p:sp>
    </p:spTree>
    <p:extLst>
      <p:ext uri="{BB962C8B-B14F-4D97-AF65-F5344CB8AC3E}">
        <p14:creationId xmlns:p14="http://schemas.microsoft.com/office/powerpoint/2010/main" val="2144568648"/>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AR" dirty="0"/>
              <a:t>Tenemos un formulario donde se solicita obligatoriamente el campo nombre y apellidos</a:t>
            </a:r>
            <a:r>
              <a:rPr lang="es-AR" baseline="0" dirty="0"/>
              <a:t> y el campo email.</a:t>
            </a:r>
          </a:p>
          <a:p>
            <a:r>
              <a:rPr lang="es-AR" baseline="0" dirty="0"/>
              <a:t>Imaginemos que pulsamos el botón Suscribirme sin rellenar el campo email.</a:t>
            </a:r>
          </a:p>
          <a:p>
            <a:endParaRPr lang="es-AR" baseline="0" dirty="0"/>
          </a:p>
          <a:p>
            <a:r>
              <a:rPr lang="es-AR" baseline="0" dirty="0"/>
              <a:t>En la parte superior del formulario se informa mediante texto de los errores existentes.</a:t>
            </a:r>
          </a:p>
          <a:p>
            <a:r>
              <a:rPr lang="es-AR" baseline="0" dirty="0"/>
              <a:t>Se identifica el campo que ha dado error por su nombre y un enlace al mismo.</a:t>
            </a:r>
          </a:p>
          <a:p>
            <a:r>
              <a:rPr lang="es-AR" baseline="0" dirty="0"/>
              <a:t>El mismo campo se resalta con otro color pero también con un texto con el mensaje asociado.</a:t>
            </a:r>
          </a:p>
          <a:p>
            <a:r>
              <a:rPr lang="es-AR" baseline="0" dirty="0"/>
              <a:t>La validación debería realizarse tanto en cliente como en servidor.</a:t>
            </a:r>
          </a:p>
          <a:p>
            <a:r>
              <a:rPr lang="es-AR" baseline="0" dirty="0"/>
              <a:t>El mensaje de error al comienzo de la página debe tener el foco para que no pase desapercibido a ningún usuario.</a:t>
            </a:r>
          </a:p>
          <a:p>
            <a:endParaRPr lang="es-AR" baseline="0" dirty="0"/>
          </a:p>
          <a:p>
            <a:endParaRPr lang="es-AR" dirty="0"/>
          </a:p>
        </p:txBody>
      </p:sp>
      <p:sp>
        <p:nvSpPr>
          <p:cNvPr id="4" name="Marcador de número de diapositiva 3"/>
          <p:cNvSpPr>
            <a:spLocks noGrp="1"/>
          </p:cNvSpPr>
          <p:nvPr>
            <p:ph type="sldNum" sz="quarter" idx="10"/>
          </p:nvPr>
        </p:nvSpPr>
        <p:spPr/>
        <p:txBody>
          <a:bodyPr/>
          <a:lstStyle/>
          <a:p>
            <a:fld id="{16056653-EB7C-4C2C-8160-84A14F109A05}" type="slidenum">
              <a:rPr lang="es-AR" smtClean="0"/>
              <a:t>118</a:t>
            </a:fld>
            <a:endParaRPr lang="es-AR"/>
          </a:p>
        </p:txBody>
      </p:sp>
    </p:spTree>
    <p:extLst>
      <p:ext uri="{BB962C8B-B14F-4D97-AF65-F5344CB8AC3E}">
        <p14:creationId xmlns:p14="http://schemas.microsoft.com/office/powerpoint/2010/main" val="2842947503"/>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AR" dirty="0"/>
              <a:t>Cómo</a:t>
            </a:r>
            <a:r>
              <a:rPr lang="es-AR" baseline="0" dirty="0"/>
              <a:t> lograr que la navegación dentro de una página web y entre las páginas de un sitio web sea accesible.</a:t>
            </a:r>
            <a:endParaRPr lang="es-AR" dirty="0"/>
          </a:p>
        </p:txBody>
      </p:sp>
      <p:sp>
        <p:nvSpPr>
          <p:cNvPr id="4" name="Marcador de número de diapositiva 3"/>
          <p:cNvSpPr>
            <a:spLocks noGrp="1"/>
          </p:cNvSpPr>
          <p:nvPr>
            <p:ph type="sldNum" sz="quarter" idx="10"/>
          </p:nvPr>
        </p:nvSpPr>
        <p:spPr/>
        <p:txBody>
          <a:bodyPr/>
          <a:lstStyle/>
          <a:p>
            <a:fld id="{16056653-EB7C-4C2C-8160-84A14F109A05}" type="slidenum">
              <a:rPr lang="es-AR" smtClean="0"/>
              <a:t>119</a:t>
            </a:fld>
            <a:endParaRPr lang="es-AR"/>
          </a:p>
        </p:txBody>
      </p:sp>
    </p:spTree>
    <p:extLst>
      <p:ext uri="{BB962C8B-B14F-4D97-AF65-F5344CB8AC3E}">
        <p14:creationId xmlns:p14="http://schemas.microsoft.com/office/powerpoint/2010/main" val="1032468894"/>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AR" dirty="0"/>
              <a:t>Una navegación más accesible mejorará no solo la accesibilidad de la página sino también su usabilidad. </a:t>
            </a:r>
          </a:p>
          <a:p>
            <a:r>
              <a:rPr lang="es-AR" dirty="0"/>
              <a:t>Beneficia a todos los usuarios, pero especialmente a los usuarios que acceden con un lector de pantalla o una línea braille, y a los usuarios con discapacidad cognitiva, facilitándoles la navegación y la localización de la información. </a:t>
            </a:r>
          </a:p>
        </p:txBody>
      </p:sp>
      <p:sp>
        <p:nvSpPr>
          <p:cNvPr id="4" name="Marcador de número de diapositiva 3"/>
          <p:cNvSpPr>
            <a:spLocks noGrp="1"/>
          </p:cNvSpPr>
          <p:nvPr>
            <p:ph type="sldNum" sz="quarter" idx="10"/>
          </p:nvPr>
        </p:nvSpPr>
        <p:spPr/>
        <p:txBody>
          <a:bodyPr/>
          <a:lstStyle/>
          <a:p>
            <a:fld id="{16056653-EB7C-4C2C-8160-84A14F109A05}" type="slidenum">
              <a:rPr lang="es-AR" smtClean="0"/>
              <a:t>120</a:t>
            </a:fld>
            <a:endParaRPr lang="es-AR"/>
          </a:p>
        </p:txBody>
      </p:sp>
    </p:spTree>
    <p:extLst>
      <p:ext uri="{BB962C8B-B14F-4D97-AF65-F5344CB8AC3E}">
        <p14:creationId xmlns:p14="http://schemas.microsoft.com/office/powerpoint/2010/main" val="2174943314"/>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AR" b="1" dirty="0"/>
              <a:t>Saltar contenido repetido</a:t>
            </a:r>
            <a:r>
              <a:rPr lang="es-AR" dirty="0"/>
              <a:t>. Está muy relacionado con estructurar correctamente la página mediante encabezados o agrupar las opciones de menú en listas, temas que hemos visto en lecciones anteriores. En esta sección dedicaremos una lección a una de las técnicas suficientes que proponen las WCAG 2.0 para poder saltar contenido repetido, los enlaces "saltar a".</a:t>
            </a:r>
          </a:p>
          <a:p>
            <a:r>
              <a:rPr lang="es-AR" b="1" dirty="0"/>
              <a:t>Identificar el contenido</a:t>
            </a:r>
            <a:r>
              <a:rPr lang="es-AR" dirty="0"/>
              <a:t>. Identificar correctamente el contenido permite que la página sea más fácil de comprender y navegar. Esto implica un título para cada la página, tema al que dedicaremos una lección específica, o incluir encabezados y etiquetas que describan correctamente el tema o propósito, como hemos tratado en lecciones anteriores.</a:t>
            </a:r>
          </a:p>
          <a:p>
            <a:r>
              <a:rPr lang="es-AR" b="1" dirty="0"/>
              <a:t>Describir adecuadamente el propósito de los enlaces</a:t>
            </a:r>
            <a:r>
              <a:rPr lang="es-AR" dirty="0"/>
              <a:t>. Los enlaces son uno de los elementos de la navegación más importantes y a ellos vamos a dedicar una lección en esta sección.</a:t>
            </a:r>
          </a:p>
          <a:p>
            <a:r>
              <a:rPr lang="es-AR" b="1" dirty="0"/>
              <a:t>Información sobre la localización del sitio</a:t>
            </a:r>
            <a:r>
              <a:rPr lang="es-AR" dirty="0"/>
              <a:t>, permitiendo más de un camino para localizar una página (múltiples vías) y proporcionando información acerca de la ubicación del usuario dentro de un conjunto de páginas (ubicación). Dedicaremos también una lección específica al tema de la ubicación y las múltiples vías para localizar una página.</a:t>
            </a:r>
          </a:p>
          <a:p>
            <a:r>
              <a:rPr lang="es-AR" b="1" dirty="0"/>
              <a:t>Orden adecuado del foco y visibilidad del mismo, </a:t>
            </a:r>
            <a:r>
              <a:rPr lang="es-AR" dirty="0"/>
              <a:t>que asegure que los usuarios pueden interactuar mediante el teclado, el foco se puede localizar visualmente, y es posible navegar secuencialmente por el contenido y encontrar la información en el orden correcto. Trataremos de todo ello en una lección específica junto a los cambios de contexto (pauta "3.2 Predecible"), para conseguir que las páginas sean predecibles y el usuario no se desoriente.</a:t>
            </a:r>
          </a:p>
          <a:p>
            <a:endParaRPr lang="es-AR" dirty="0"/>
          </a:p>
        </p:txBody>
      </p:sp>
      <p:sp>
        <p:nvSpPr>
          <p:cNvPr id="4" name="Marcador de número de diapositiva 3"/>
          <p:cNvSpPr>
            <a:spLocks noGrp="1"/>
          </p:cNvSpPr>
          <p:nvPr>
            <p:ph type="sldNum" sz="quarter" idx="10"/>
          </p:nvPr>
        </p:nvSpPr>
        <p:spPr/>
        <p:txBody>
          <a:bodyPr/>
          <a:lstStyle/>
          <a:p>
            <a:fld id="{16056653-EB7C-4C2C-8160-84A14F109A05}" type="slidenum">
              <a:rPr lang="es-AR" smtClean="0"/>
              <a:t>121</a:t>
            </a:fld>
            <a:endParaRPr lang="es-AR"/>
          </a:p>
        </p:txBody>
      </p:sp>
    </p:spTree>
    <p:extLst>
      <p:ext uri="{BB962C8B-B14F-4D97-AF65-F5344CB8AC3E}">
        <p14:creationId xmlns:p14="http://schemas.microsoft.com/office/powerpoint/2010/main" val="3681875681"/>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AR" dirty="0"/>
              <a:t>El título de una página web realiza</a:t>
            </a:r>
            <a:r>
              <a:rPr lang="es-AR" baseline="0" dirty="0"/>
              <a:t> varias funciones:</a:t>
            </a:r>
          </a:p>
          <a:p>
            <a:endParaRPr lang="es-AR" baseline="0" dirty="0"/>
          </a:p>
          <a:p>
            <a:r>
              <a:rPr lang="es-AR" baseline="0" dirty="0"/>
              <a:t>Si el título no es significativo se pueden dar situaciones donde vemos como títulos Página 1 en el navegador.</a:t>
            </a:r>
          </a:p>
          <a:p>
            <a:endParaRPr lang="es-AR" baseline="0" dirty="0"/>
          </a:p>
        </p:txBody>
      </p:sp>
      <p:sp>
        <p:nvSpPr>
          <p:cNvPr id="4" name="Marcador de número de diapositiva 3"/>
          <p:cNvSpPr>
            <a:spLocks noGrp="1"/>
          </p:cNvSpPr>
          <p:nvPr>
            <p:ph type="sldNum" sz="quarter" idx="10"/>
          </p:nvPr>
        </p:nvSpPr>
        <p:spPr/>
        <p:txBody>
          <a:bodyPr/>
          <a:lstStyle/>
          <a:p>
            <a:fld id="{16056653-EB7C-4C2C-8160-84A14F109A05}" type="slidenum">
              <a:rPr lang="es-AR" smtClean="0"/>
              <a:t>122</a:t>
            </a:fld>
            <a:endParaRPr lang="es-AR"/>
          </a:p>
        </p:txBody>
      </p:sp>
    </p:spTree>
    <p:extLst>
      <p:ext uri="{BB962C8B-B14F-4D97-AF65-F5344CB8AC3E}">
        <p14:creationId xmlns:p14="http://schemas.microsoft.com/office/powerpoint/2010/main" val="120098091"/>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AR" dirty="0"/>
              <a:t>Si la página</a:t>
            </a:r>
            <a:r>
              <a:rPr lang="es-AR" baseline="0" dirty="0"/>
              <a:t> no tiene título, el lector de pantalla anunciaría “Página 1”, lo cual no dice mucho.</a:t>
            </a:r>
          </a:p>
          <a:p>
            <a:r>
              <a:rPr lang="es-AR" baseline="0" dirty="0"/>
              <a:t>Tanto en JAWS como NVDA (2 lectores de pantalla) el atajo de teclado INSERT + T anuncia el título de la ventana que tiene el foco.</a:t>
            </a:r>
          </a:p>
          <a:p>
            <a:endParaRPr lang="es-AR" baseline="0" dirty="0"/>
          </a:p>
          <a:p>
            <a:endParaRPr lang="es-AR" dirty="0"/>
          </a:p>
        </p:txBody>
      </p:sp>
      <p:sp>
        <p:nvSpPr>
          <p:cNvPr id="4" name="Marcador de número de diapositiva 3"/>
          <p:cNvSpPr>
            <a:spLocks noGrp="1"/>
          </p:cNvSpPr>
          <p:nvPr>
            <p:ph type="sldNum" sz="quarter" idx="10"/>
          </p:nvPr>
        </p:nvSpPr>
        <p:spPr/>
        <p:txBody>
          <a:bodyPr/>
          <a:lstStyle/>
          <a:p>
            <a:fld id="{16056653-EB7C-4C2C-8160-84A14F109A05}" type="slidenum">
              <a:rPr lang="es-AR" smtClean="0"/>
              <a:t>123</a:t>
            </a:fld>
            <a:endParaRPr lang="es-AR"/>
          </a:p>
        </p:txBody>
      </p:sp>
    </p:spTree>
    <p:extLst>
      <p:ext uri="{BB962C8B-B14F-4D97-AF65-F5344CB8AC3E}">
        <p14:creationId xmlns:p14="http://schemas.microsoft.com/office/powerpoint/2010/main" val="2678221755"/>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AR" dirty="0"/>
              <a:t>Ayuda a diferenciar múltiples ventanas o pestañas que puedan estar abiertas en el navegador.</a:t>
            </a:r>
          </a:p>
          <a:p>
            <a:pPr marL="0" marR="0" lvl="0" indent="0" algn="l" defTabSz="914400" rtl="0" eaLnBrk="1" fontAlgn="auto" latinLnBrk="0" hangingPunct="1">
              <a:lnSpc>
                <a:spcPct val="100000"/>
              </a:lnSpc>
              <a:spcBef>
                <a:spcPts val="0"/>
              </a:spcBef>
              <a:spcAft>
                <a:spcPts val="0"/>
              </a:spcAft>
              <a:buClrTx/>
              <a:buSzTx/>
              <a:buFontTx/>
              <a:buNone/>
              <a:tabLst/>
              <a:defRPr/>
            </a:pPr>
            <a:r>
              <a:rPr lang="es-AR" dirty="0"/>
              <a:t>Y a los usuarios con discapacidad cognitiva</a:t>
            </a:r>
            <a:r>
              <a:rPr lang="es-AR" baseline="0" dirty="0"/>
              <a:t> como memoria limitada a corto plazo les ayuda </a:t>
            </a:r>
            <a:r>
              <a:rPr lang="es-AR" dirty="0"/>
              <a:t>a identificar el contenido de una página web.</a:t>
            </a:r>
          </a:p>
        </p:txBody>
      </p:sp>
      <p:sp>
        <p:nvSpPr>
          <p:cNvPr id="4" name="Marcador de número de diapositiva 3"/>
          <p:cNvSpPr>
            <a:spLocks noGrp="1"/>
          </p:cNvSpPr>
          <p:nvPr>
            <p:ph type="sldNum" sz="quarter" idx="10"/>
          </p:nvPr>
        </p:nvSpPr>
        <p:spPr/>
        <p:txBody>
          <a:bodyPr/>
          <a:lstStyle/>
          <a:p>
            <a:fld id="{16056653-EB7C-4C2C-8160-84A14F109A05}" type="slidenum">
              <a:rPr lang="es-AR" smtClean="0"/>
              <a:t>124</a:t>
            </a:fld>
            <a:endParaRPr lang="es-AR"/>
          </a:p>
        </p:txBody>
      </p:sp>
    </p:spTree>
    <p:extLst>
      <p:ext uri="{BB962C8B-B14F-4D97-AF65-F5344CB8AC3E}">
        <p14:creationId xmlns:p14="http://schemas.microsoft.com/office/powerpoint/2010/main" val="2292009787"/>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AR" dirty="0"/>
              <a:t>Debido a que los usuarios a menudo consultan</a:t>
            </a:r>
            <a:r>
              <a:rPr lang="es-AR" baseline="0" dirty="0"/>
              <a:t> documentos fuera de contexto, los autores deberían proporcionar títulos ricos en contexto.</a:t>
            </a:r>
          </a:p>
          <a:p>
            <a:endParaRPr lang="es-AR" dirty="0"/>
          </a:p>
          <a:p>
            <a:r>
              <a:rPr lang="es-AR" dirty="0"/>
              <a:t>Así,</a:t>
            </a:r>
            <a:r>
              <a:rPr lang="es-AR" baseline="0" dirty="0"/>
              <a:t> en vez de usar un título como “Introducción”, que no proporciona mucha información acerca del contexto,</a:t>
            </a:r>
          </a:p>
          <a:p>
            <a:r>
              <a:rPr lang="es-AR" baseline="0" dirty="0"/>
              <a:t>los autores deberían poner en su lugar un título del estilo “Introducción a la apicultura medieval”.</a:t>
            </a:r>
          </a:p>
          <a:p>
            <a:endParaRPr lang="es-AR" baseline="0" dirty="0"/>
          </a:p>
          <a:p>
            <a:r>
              <a:rPr lang="es-AR" baseline="0" dirty="0"/>
              <a:t>Que beneficios aporta el proporcionar un buen título a una página web?</a:t>
            </a:r>
          </a:p>
          <a:p>
            <a:r>
              <a:rPr lang="es-AR" baseline="0" dirty="0"/>
              <a:t>En un buscador como Google, el título de la página se emplea para identificar los resultados.</a:t>
            </a:r>
          </a:p>
          <a:p>
            <a:r>
              <a:rPr lang="es-AR" baseline="0" dirty="0"/>
              <a:t>Un buen título puede ayudar a mejorar el posicionamiento (El SEO de una página web)</a:t>
            </a:r>
          </a:p>
          <a:p>
            <a:r>
              <a:rPr lang="es-AR" baseline="0" dirty="0"/>
              <a:t>En un navegador tenemos abiertas varias pestañas, el título de la página ayuda a identificar que página web se esta mostrando en cada pestaña.</a:t>
            </a:r>
          </a:p>
          <a:p>
            <a:r>
              <a:rPr lang="es-AR" baseline="0" dirty="0"/>
              <a:t>El título de la página web también se emplea para definir el nombre por defecto de un marcador o favorito en el navegador web, un título significativo ayuda a localizar fácilmente una página web en la lista de marcadores o favoritos en el navegador.</a:t>
            </a:r>
            <a:endParaRPr lang="es-AR" dirty="0"/>
          </a:p>
        </p:txBody>
      </p:sp>
      <p:sp>
        <p:nvSpPr>
          <p:cNvPr id="4" name="Marcador de número de diapositiva 3"/>
          <p:cNvSpPr>
            <a:spLocks noGrp="1"/>
          </p:cNvSpPr>
          <p:nvPr>
            <p:ph type="sldNum" sz="quarter" idx="10"/>
          </p:nvPr>
        </p:nvSpPr>
        <p:spPr/>
        <p:txBody>
          <a:bodyPr/>
          <a:lstStyle/>
          <a:p>
            <a:fld id="{16056653-EB7C-4C2C-8160-84A14F109A05}" type="slidenum">
              <a:rPr lang="es-AR" smtClean="0"/>
              <a:t>125</a:t>
            </a:fld>
            <a:endParaRPr lang="es-AR"/>
          </a:p>
        </p:txBody>
      </p:sp>
    </p:spTree>
    <p:extLst>
      <p:ext uri="{BB962C8B-B14F-4D97-AF65-F5344CB8AC3E}">
        <p14:creationId xmlns:p14="http://schemas.microsoft.com/office/powerpoint/2010/main" val="3299494317"/>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AR" dirty="0"/>
              <a:t>Un enlace</a:t>
            </a:r>
            <a:r>
              <a:rPr lang="es-AR" baseline="0" dirty="0"/>
              <a:t> se incluye con la etiqueta a.</a:t>
            </a:r>
          </a:p>
          <a:p>
            <a:r>
              <a:rPr lang="es-AR" baseline="0" dirty="0"/>
              <a:t>El destino del vinculo, es decir, la localización del recurso al que enlaza, se indica con el atributo </a:t>
            </a:r>
            <a:r>
              <a:rPr lang="es-AR" baseline="0" dirty="0" err="1"/>
              <a:t>href</a:t>
            </a:r>
            <a:r>
              <a:rPr lang="es-AR" baseline="0" dirty="0"/>
              <a:t>.</a:t>
            </a:r>
          </a:p>
          <a:p>
            <a:r>
              <a:rPr lang="es-AR" baseline="0" dirty="0"/>
              <a:t>Puede ser a otra página diferente del sitio o podría ser a otra parte de la página.</a:t>
            </a:r>
          </a:p>
          <a:p>
            <a:r>
              <a:rPr lang="es-AR" baseline="0" dirty="0"/>
              <a:t>En la mayoría de los navegadores el destino del enlace se muestra en la barra de estado del navegador.</a:t>
            </a:r>
          </a:p>
          <a:p>
            <a:r>
              <a:rPr lang="es-AR" baseline="0" dirty="0"/>
              <a:t>El texto del enlace incluido entre las etiquetas de apertura y cierre será el que se muestre en la página.</a:t>
            </a:r>
          </a:p>
          <a:p>
            <a:r>
              <a:rPr lang="es-AR" baseline="0" dirty="0"/>
              <a:t>Por defecto un enlace se abre en la misma ventana, con el atributo target=“_</a:t>
            </a:r>
            <a:r>
              <a:rPr lang="es-AR" baseline="0" dirty="0" err="1"/>
              <a:t>blank</a:t>
            </a:r>
            <a:r>
              <a:rPr lang="es-AR" baseline="0" dirty="0"/>
              <a:t>” permite abrirlo en ventana nueva.</a:t>
            </a:r>
          </a:p>
          <a:p>
            <a:r>
              <a:rPr lang="es-AR" baseline="0" dirty="0"/>
              <a:t>El atributo </a:t>
            </a:r>
            <a:r>
              <a:rPr lang="es-AR" baseline="0" dirty="0" err="1"/>
              <a:t>title</a:t>
            </a:r>
            <a:r>
              <a:rPr lang="es-AR" baseline="0" dirty="0"/>
              <a:t> permite incluir información adicional sobre el enlace, en la mayoría de los navegadores se usa como </a:t>
            </a:r>
            <a:r>
              <a:rPr lang="es-AR" baseline="0" dirty="0" err="1"/>
              <a:t>tooltip</a:t>
            </a:r>
            <a:r>
              <a:rPr lang="es-AR" baseline="0" dirty="0"/>
              <a:t>.</a:t>
            </a:r>
          </a:p>
          <a:p>
            <a:endParaRPr lang="es-AR" baseline="0" dirty="0"/>
          </a:p>
          <a:p>
            <a:r>
              <a:rPr lang="es-AR" baseline="0" dirty="0"/>
              <a:t>El lector de pantalla anunciará que es un enlace: “Enlace: Glosario de términos de accesibilidad”.</a:t>
            </a:r>
          </a:p>
          <a:p>
            <a:r>
              <a:rPr lang="es-AR" baseline="0" dirty="0"/>
              <a:t>Tanto en JAWS como en NVDA el listado de enlaces se muestra a través de las teclas INSERT + F7.</a:t>
            </a:r>
          </a:p>
          <a:p>
            <a:endParaRPr lang="es-AR" dirty="0"/>
          </a:p>
        </p:txBody>
      </p:sp>
      <p:sp>
        <p:nvSpPr>
          <p:cNvPr id="4" name="Marcador de número de diapositiva 3"/>
          <p:cNvSpPr>
            <a:spLocks noGrp="1"/>
          </p:cNvSpPr>
          <p:nvPr>
            <p:ph type="sldNum" sz="quarter" idx="10"/>
          </p:nvPr>
        </p:nvSpPr>
        <p:spPr/>
        <p:txBody>
          <a:bodyPr/>
          <a:lstStyle/>
          <a:p>
            <a:fld id="{16056653-EB7C-4C2C-8160-84A14F109A05}" type="slidenum">
              <a:rPr lang="es-AR" smtClean="0"/>
              <a:t>126</a:t>
            </a:fld>
            <a:endParaRPr lang="es-AR"/>
          </a:p>
        </p:txBody>
      </p:sp>
    </p:spTree>
    <p:extLst>
      <p:ext uri="{BB962C8B-B14F-4D97-AF65-F5344CB8AC3E}">
        <p14:creationId xmlns:p14="http://schemas.microsoft.com/office/powerpoint/2010/main" val="7654528"/>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AR" dirty="0"/>
              <a:t>Diferenciar visualmente los enlaces visitados – no visitados, para facilitar</a:t>
            </a:r>
            <a:r>
              <a:rPr lang="es-AR" baseline="0" dirty="0"/>
              <a:t> la navegación.</a:t>
            </a:r>
            <a:endParaRPr lang="es-AR" dirty="0"/>
          </a:p>
        </p:txBody>
      </p:sp>
      <p:sp>
        <p:nvSpPr>
          <p:cNvPr id="4" name="Marcador de número de diapositiva 3"/>
          <p:cNvSpPr>
            <a:spLocks noGrp="1"/>
          </p:cNvSpPr>
          <p:nvPr>
            <p:ph type="sldNum" sz="quarter" idx="10"/>
          </p:nvPr>
        </p:nvSpPr>
        <p:spPr/>
        <p:txBody>
          <a:bodyPr/>
          <a:lstStyle/>
          <a:p>
            <a:fld id="{16056653-EB7C-4C2C-8160-84A14F109A05}" type="slidenum">
              <a:rPr lang="es-AR" smtClean="0"/>
              <a:t>127</a:t>
            </a:fld>
            <a:endParaRPr lang="es-AR"/>
          </a:p>
        </p:txBody>
      </p:sp>
    </p:spTree>
    <p:extLst>
      <p:ext uri="{BB962C8B-B14F-4D97-AF65-F5344CB8AC3E}">
        <p14:creationId xmlns:p14="http://schemas.microsoft.com/office/powerpoint/2010/main" val="2952958380"/>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10"/>
          </p:nvPr>
        </p:nvSpPr>
        <p:spPr/>
        <p:txBody>
          <a:bodyPr/>
          <a:lstStyle/>
          <a:p>
            <a:fld id="{16056653-EB7C-4C2C-8160-84A14F109A05}" type="slidenum">
              <a:rPr lang="es-AR" smtClean="0"/>
              <a:t>128</a:t>
            </a:fld>
            <a:endParaRPr lang="es-AR"/>
          </a:p>
        </p:txBody>
      </p:sp>
    </p:spTree>
    <p:extLst>
      <p:ext uri="{BB962C8B-B14F-4D97-AF65-F5344CB8AC3E}">
        <p14:creationId xmlns:p14="http://schemas.microsoft.com/office/powerpoint/2010/main" val="4061086342"/>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AR" dirty="0"/>
              <a:t>Los enlaces incluidos con el elemento nativo a, pueden recibir el foco por teclado, es decir,</a:t>
            </a:r>
            <a:r>
              <a:rPr lang="es-AR" baseline="0" dirty="0"/>
              <a:t> pueden llegar a ellos tabulando con el teclado sin necesidad de usar el mouse.</a:t>
            </a:r>
          </a:p>
          <a:p>
            <a:r>
              <a:rPr lang="es-AR" baseline="0" dirty="0"/>
              <a:t>Los lectores de pantalla lo reconocerán como enlace, permitiendo a sus usuarios interactuar con ellos.</a:t>
            </a:r>
          </a:p>
          <a:p>
            <a:r>
              <a:rPr lang="es-AR" baseline="0" dirty="0"/>
              <a:t>Los enlaces no dependan de </a:t>
            </a:r>
            <a:r>
              <a:rPr lang="es-AR" baseline="0" dirty="0" err="1"/>
              <a:t>javascript</a:t>
            </a:r>
            <a:r>
              <a:rPr lang="es-AR" baseline="0" dirty="0"/>
              <a:t>, en el primer ejemplo dependen en el segundo ejemplo no.</a:t>
            </a:r>
            <a:endParaRPr lang="es-AR" dirty="0"/>
          </a:p>
        </p:txBody>
      </p:sp>
      <p:sp>
        <p:nvSpPr>
          <p:cNvPr id="4" name="Marcador de número de diapositiva 3"/>
          <p:cNvSpPr>
            <a:spLocks noGrp="1"/>
          </p:cNvSpPr>
          <p:nvPr>
            <p:ph type="sldNum" sz="quarter" idx="10"/>
          </p:nvPr>
        </p:nvSpPr>
        <p:spPr/>
        <p:txBody>
          <a:bodyPr/>
          <a:lstStyle/>
          <a:p>
            <a:fld id="{16056653-EB7C-4C2C-8160-84A14F109A05}" type="slidenum">
              <a:rPr lang="es-AR" smtClean="0"/>
              <a:t>129</a:t>
            </a:fld>
            <a:endParaRPr lang="es-AR"/>
          </a:p>
        </p:txBody>
      </p:sp>
    </p:spTree>
    <p:extLst>
      <p:ext uri="{BB962C8B-B14F-4D97-AF65-F5344CB8AC3E}">
        <p14:creationId xmlns:p14="http://schemas.microsoft.com/office/powerpoint/2010/main" val="3276789905"/>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AR" dirty="0"/>
              <a:t>Vamos</a:t>
            </a:r>
            <a:r>
              <a:rPr lang="es-AR" baseline="0" dirty="0"/>
              <a:t> a ver los requisitos necesarios para que los enlaces sean descriptivos, y de esta manera comprensibles y navegables por todos los usuarios.</a:t>
            </a:r>
          </a:p>
          <a:p>
            <a:r>
              <a:rPr lang="es-AR" baseline="0" dirty="0"/>
              <a:t>Para que el usuario decida si va a pulsar el enlace o no, el propósito del enlace debe quedar claro sin depender del contexto en el cual se inserta.</a:t>
            </a:r>
          </a:p>
          <a:p>
            <a:endParaRPr lang="es-AR" baseline="0" dirty="0"/>
          </a:p>
          <a:p>
            <a:endParaRPr lang="es-AR" dirty="0"/>
          </a:p>
        </p:txBody>
      </p:sp>
      <p:sp>
        <p:nvSpPr>
          <p:cNvPr id="4" name="Marcador de número de diapositiva 3"/>
          <p:cNvSpPr>
            <a:spLocks noGrp="1"/>
          </p:cNvSpPr>
          <p:nvPr>
            <p:ph type="sldNum" sz="quarter" idx="10"/>
          </p:nvPr>
        </p:nvSpPr>
        <p:spPr/>
        <p:txBody>
          <a:bodyPr/>
          <a:lstStyle/>
          <a:p>
            <a:fld id="{16056653-EB7C-4C2C-8160-84A14F109A05}" type="slidenum">
              <a:rPr lang="es-AR" smtClean="0"/>
              <a:t>130</a:t>
            </a:fld>
            <a:endParaRPr lang="es-AR"/>
          </a:p>
        </p:txBody>
      </p:sp>
    </p:spTree>
    <p:extLst>
      <p:ext uri="{BB962C8B-B14F-4D97-AF65-F5344CB8AC3E}">
        <p14:creationId xmlns:p14="http://schemas.microsoft.com/office/powerpoint/2010/main" val="17500394"/>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AR" dirty="0"/>
              <a:t>Texto de enlaces</a:t>
            </a:r>
            <a:r>
              <a:rPr lang="es-AR" baseline="0" dirty="0"/>
              <a:t> no descriptivos:</a:t>
            </a:r>
          </a:p>
          <a:p>
            <a:r>
              <a:rPr lang="es-AR" baseline="0" dirty="0"/>
              <a:t>Mas información, </a:t>
            </a:r>
          </a:p>
          <a:p>
            <a:r>
              <a:rPr lang="es-AR" baseline="0" dirty="0"/>
              <a:t>Pinche aquí,</a:t>
            </a:r>
          </a:p>
          <a:p>
            <a:r>
              <a:rPr lang="es-AR" baseline="0" dirty="0"/>
              <a:t>Leer más,</a:t>
            </a:r>
          </a:p>
          <a:p>
            <a:r>
              <a:rPr lang="es-AR" baseline="0" dirty="0"/>
              <a:t>Ver otros,</a:t>
            </a:r>
          </a:p>
          <a:p>
            <a:r>
              <a:rPr lang="es-AR" baseline="0" dirty="0"/>
              <a:t>….</a:t>
            </a:r>
          </a:p>
          <a:p>
            <a:r>
              <a:rPr lang="es-AR" baseline="0" dirty="0"/>
              <a:t>No permiten conocer el propósito del enlace fuera de contexto.</a:t>
            </a:r>
          </a:p>
          <a:p>
            <a:endParaRPr lang="es-AR" dirty="0"/>
          </a:p>
        </p:txBody>
      </p:sp>
      <p:sp>
        <p:nvSpPr>
          <p:cNvPr id="4" name="Marcador de número de diapositiva 3"/>
          <p:cNvSpPr>
            <a:spLocks noGrp="1"/>
          </p:cNvSpPr>
          <p:nvPr>
            <p:ph type="sldNum" sz="quarter" idx="10"/>
          </p:nvPr>
        </p:nvSpPr>
        <p:spPr/>
        <p:txBody>
          <a:bodyPr/>
          <a:lstStyle/>
          <a:p>
            <a:fld id="{16056653-EB7C-4C2C-8160-84A14F109A05}" type="slidenum">
              <a:rPr lang="es-AR" smtClean="0"/>
              <a:t>131</a:t>
            </a:fld>
            <a:endParaRPr lang="es-AR"/>
          </a:p>
        </p:txBody>
      </p:sp>
    </p:spTree>
    <p:extLst>
      <p:ext uri="{BB962C8B-B14F-4D97-AF65-F5344CB8AC3E}">
        <p14:creationId xmlns:p14="http://schemas.microsoft.com/office/powerpoint/2010/main" val="3267077925"/>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10"/>
          </p:nvPr>
        </p:nvSpPr>
        <p:spPr/>
        <p:txBody>
          <a:bodyPr/>
          <a:lstStyle/>
          <a:p>
            <a:fld id="{16056653-EB7C-4C2C-8160-84A14F109A05}" type="slidenum">
              <a:rPr lang="es-AR" smtClean="0"/>
              <a:t>132</a:t>
            </a:fld>
            <a:endParaRPr lang="es-AR"/>
          </a:p>
        </p:txBody>
      </p:sp>
    </p:spTree>
    <p:extLst>
      <p:ext uri="{BB962C8B-B14F-4D97-AF65-F5344CB8AC3E}">
        <p14:creationId xmlns:p14="http://schemas.microsoft.com/office/powerpoint/2010/main" val="2530025368"/>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AR" dirty="0"/>
              <a:t>Primer</a:t>
            </a:r>
            <a:r>
              <a:rPr lang="es-AR" baseline="0" dirty="0"/>
              <a:t> caso, nos informa que navegaremos a un articulo de un blog, nos indica el nombre del articulo y el autor.</a:t>
            </a:r>
          </a:p>
          <a:p>
            <a:r>
              <a:rPr lang="es-AR" baseline="0" dirty="0"/>
              <a:t>Segundo caso, el texto del enlace nos indica que navegaremos a Glosario de términos y nos especifica que es un archivo PDF y su tamaño.</a:t>
            </a:r>
          </a:p>
          <a:p>
            <a:r>
              <a:rPr lang="es-AR" baseline="0" dirty="0"/>
              <a:t>Tercer caso, nos previene que se abrirá en una ventana nueva.</a:t>
            </a:r>
          </a:p>
        </p:txBody>
      </p:sp>
      <p:sp>
        <p:nvSpPr>
          <p:cNvPr id="4" name="Marcador de número de diapositiva 3"/>
          <p:cNvSpPr>
            <a:spLocks noGrp="1"/>
          </p:cNvSpPr>
          <p:nvPr>
            <p:ph type="sldNum" sz="quarter" idx="10"/>
          </p:nvPr>
        </p:nvSpPr>
        <p:spPr/>
        <p:txBody>
          <a:bodyPr/>
          <a:lstStyle/>
          <a:p>
            <a:fld id="{16056653-EB7C-4C2C-8160-84A14F109A05}" type="slidenum">
              <a:rPr lang="es-AR" smtClean="0"/>
              <a:t>133</a:t>
            </a:fld>
            <a:endParaRPr lang="es-AR"/>
          </a:p>
        </p:txBody>
      </p:sp>
    </p:spTree>
    <p:extLst>
      <p:ext uri="{BB962C8B-B14F-4D97-AF65-F5344CB8AC3E}">
        <p14:creationId xmlns:p14="http://schemas.microsoft.com/office/powerpoint/2010/main" val="3602771914"/>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AR" dirty="0"/>
              <a:t>Resumiendo,</a:t>
            </a:r>
            <a:r>
              <a:rPr lang="es-AR" baseline="0" dirty="0"/>
              <a:t> un texto de enlace descriptivo fuera de contexto, debe identificar….</a:t>
            </a:r>
            <a:endParaRPr lang="es-AR" dirty="0"/>
          </a:p>
          <a:p>
            <a:endParaRPr lang="es-AR" dirty="0"/>
          </a:p>
        </p:txBody>
      </p:sp>
      <p:sp>
        <p:nvSpPr>
          <p:cNvPr id="4" name="Marcador de número de diapositiva 3"/>
          <p:cNvSpPr>
            <a:spLocks noGrp="1"/>
          </p:cNvSpPr>
          <p:nvPr>
            <p:ph type="sldNum" sz="quarter" idx="10"/>
          </p:nvPr>
        </p:nvSpPr>
        <p:spPr/>
        <p:txBody>
          <a:bodyPr/>
          <a:lstStyle/>
          <a:p>
            <a:fld id="{16056653-EB7C-4C2C-8160-84A14F109A05}" type="slidenum">
              <a:rPr lang="es-AR" smtClean="0"/>
              <a:t>134</a:t>
            </a:fld>
            <a:endParaRPr lang="es-AR"/>
          </a:p>
        </p:txBody>
      </p:sp>
    </p:spTree>
    <p:extLst>
      <p:ext uri="{BB962C8B-B14F-4D97-AF65-F5344CB8AC3E}">
        <p14:creationId xmlns:p14="http://schemas.microsoft.com/office/powerpoint/2010/main" val="1851235029"/>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10"/>
          </p:nvPr>
        </p:nvSpPr>
        <p:spPr/>
        <p:txBody>
          <a:bodyPr/>
          <a:lstStyle/>
          <a:p>
            <a:fld id="{16056653-EB7C-4C2C-8160-84A14F109A05}" type="slidenum">
              <a:rPr lang="es-AR" smtClean="0"/>
              <a:t>135</a:t>
            </a:fld>
            <a:endParaRPr lang="es-AR"/>
          </a:p>
        </p:txBody>
      </p:sp>
    </p:spTree>
    <p:extLst>
      <p:ext uri="{BB962C8B-B14F-4D97-AF65-F5344CB8AC3E}">
        <p14:creationId xmlns:p14="http://schemas.microsoft.com/office/powerpoint/2010/main" val="2842304267"/>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AR" dirty="0"/>
              <a:t>Vamos a explicar que significa</a:t>
            </a:r>
            <a:r>
              <a:rPr lang="es-AR" baseline="0" dirty="0"/>
              <a:t> esto y que técnicas se pueden aplicar para lograrlo.</a:t>
            </a:r>
          </a:p>
          <a:p>
            <a:endParaRPr lang="es-AR" dirty="0"/>
          </a:p>
        </p:txBody>
      </p:sp>
      <p:sp>
        <p:nvSpPr>
          <p:cNvPr id="4" name="Marcador de número de diapositiva 3"/>
          <p:cNvSpPr>
            <a:spLocks noGrp="1"/>
          </p:cNvSpPr>
          <p:nvPr>
            <p:ph type="sldNum" sz="quarter" idx="10"/>
          </p:nvPr>
        </p:nvSpPr>
        <p:spPr/>
        <p:txBody>
          <a:bodyPr/>
          <a:lstStyle/>
          <a:p>
            <a:fld id="{16056653-EB7C-4C2C-8160-84A14F109A05}" type="slidenum">
              <a:rPr lang="es-AR" smtClean="0"/>
              <a:t>136</a:t>
            </a:fld>
            <a:endParaRPr lang="es-AR"/>
          </a:p>
        </p:txBody>
      </p:sp>
    </p:spTree>
    <p:extLst>
      <p:ext uri="{BB962C8B-B14F-4D97-AF65-F5344CB8AC3E}">
        <p14:creationId xmlns:p14="http://schemas.microsoft.com/office/powerpoint/2010/main" val="3067235098"/>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10"/>
          </p:nvPr>
        </p:nvSpPr>
        <p:spPr/>
        <p:txBody>
          <a:bodyPr/>
          <a:lstStyle/>
          <a:p>
            <a:fld id="{16056653-EB7C-4C2C-8160-84A14F109A05}" type="slidenum">
              <a:rPr lang="es-AR" smtClean="0"/>
              <a:t>137</a:t>
            </a:fld>
            <a:endParaRPr lang="es-AR"/>
          </a:p>
        </p:txBody>
      </p:sp>
    </p:spTree>
    <p:extLst>
      <p:ext uri="{BB962C8B-B14F-4D97-AF65-F5344CB8AC3E}">
        <p14:creationId xmlns:p14="http://schemas.microsoft.com/office/powerpoint/2010/main" val="1099323107"/>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AR" dirty="0"/>
              <a:t>Técnica</a:t>
            </a:r>
            <a:r>
              <a:rPr lang="es-AR" baseline="0" dirty="0"/>
              <a:t> G53: Identificar el propósito de un enlace usando un texto en el  enlace combinado con el texto de la oración que lo engloba.</a:t>
            </a:r>
          </a:p>
          <a:p>
            <a:r>
              <a:rPr lang="es-AR" baseline="0" dirty="0"/>
              <a:t>Técnica H78: Identificar el propósito de un enlace usando el texto de enlaces combinado con su párrafo encierra.</a:t>
            </a:r>
          </a:p>
          <a:p>
            <a:r>
              <a:rPr lang="es-AR" baseline="0" dirty="0"/>
              <a:t>Técnica H77: Identificar el propósito de un enlace usando el texto de enlaces combinado con su elemento de la lista de encerramiento.</a:t>
            </a:r>
          </a:p>
          <a:p>
            <a:r>
              <a:rPr lang="es-AR" baseline="0" dirty="0"/>
              <a:t>Técnica H81: Identificar el propósito de un enlace usando su texto combinado con elemento de lista padre de la lista que lo contiene.</a:t>
            </a:r>
          </a:p>
          <a:p>
            <a:r>
              <a:rPr lang="es-AR" baseline="0" dirty="0"/>
              <a:t>Técnica H79: Identificar el propósito de un enlace usando su texto combinado con la celda que lo contiene y los encabezados de tabla asociados.</a:t>
            </a:r>
          </a:p>
          <a:p>
            <a:endParaRPr lang="es-AR" dirty="0"/>
          </a:p>
        </p:txBody>
      </p:sp>
      <p:sp>
        <p:nvSpPr>
          <p:cNvPr id="4" name="Marcador de número de diapositiva 3"/>
          <p:cNvSpPr>
            <a:spLocks noGrp="1"/>
          </p:cNvSpPr>
          <p:nvPr>
            <p:ph type="sldNum" sz="quarter" idx="10"/>
          </p:nvPr>
        </p:nvSpPr>
        <p:spPr/>
        <p:txBody>
          <a:bodyPr/>
          <a:lstStyle/>
          <a:p>
            <a:fld id="{16056653-EB7C-4C2C-8160-84A14F109A05}" type="slidenum">
              <a:rPr lang="es-AR" smtClean="0"/>
              <a:t>138</a:t>
            </a:fld>
            <a:endParaRPr lang="es-AR"/>
          </a:p>
        </p:txBody>
      </p:sp>
    </p:spTree>
    <p:extLst>
      <p:ext uri="{BB962C8B-B14F-4D97-AF65-F5344CB8AC3E}">
        <p14:creationId xmlns:p14="http://schemas.microsoft.com/office/powerpoint/2010/main" val="399814611"/>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AR" dirty="0"/>
              <a:t>Si su texto no es descriptivo, por</a:t>
            </a:r>
            <a:r>
              <a:rPr lang="es-AR" baseline="0" dirty="0"/>
              <a:t> ejemplo, “mas información”, puede tener la información de contexto que le aclare su propósito.</a:t>
            </a:r>
          </a:p>
          <a:p>
            <a:r>
              <a:rPr lang="es-AR" baseline="0" dirty="0"/>
              <a:t>La información de contexto que aclara el propósito del enlace debe e</a:t>
            </a:r>
            <a:r>
              <a:rPr lang="es-AR" dirty="0"/>
              <a:t>star situada antes</a:t>
            </a:r>
            <a:r>
              <a:rPr lang="es-AR" baseline="0" dirty="0"/>
              <a:t> del mismo, de lo contrario resultaría confuso para los usuarios de lector de pantalla que leen el contenido linealmente.</a:t>
            </a:r>
          </a:p>
          <a:p>
            <a:endParaRPr lang="es-AR" dirty="0"/>
          </a:p>
        </p:txBody>
      </p:sp>
      <p:sp>
        <p:nvSpPr>
          <p:cNvPr id="4" name="Marcador de número de diapositiva 3"/>
          <p:cNvSpPr>
            <a:spLocks noGrp="1"/>
          </p:cNvSpPr>
          <p:nvPr>
            <p:ph type="sldNum" sz="quarter" idx="10"/>
          </p:nvPr>
        </p:nvSpPr>
        <p:spPr/>
        <p:txBody>
          <a:bodyPr/>
          <a:lstStyle/>
          <a:p>
            <a:fld id="{16056653-EB7C-4C2C-8160-84A14F109A05}" type="slidenum">
              <a:rPr lang="es-AR" smtClean="0"/>
              <a:t>139</a:t>
            </a:fld>
            <a:endParaRPr lang="es-AR"/>
          </a:p>
        </p:txBody>
      </p:sp>
    </p:spTree>
    <p:extLst>
      <p:ext uri="{BB962C8B-B14F-4D97-AF65-F5344CB8AC3E}">
        <p14:creationId xmlns:p14="http://schemas.microsoft.com/office/powerpoint/2010/main" val="1287486941"/>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AR" dirty="0"/>
              <a:t>Lo correcto es</a:t>
            </a:r>
            <a:r>
              <a:rPr lang="es-AR" baseline="0" dirty="0"/>
              <a:t> que se situé en el mismo párrafo.</a:t>
            </a:r>
            <a:endParaRPr lang="es-AR" dirty="0"/>
          </a:p>
        </p:txBody>
      </p:sp>
      <p:sp>
        <p:nvSpPr>
          <p:cNvPr id="4" name="Marcador de número de diapositiva 3"/>
          <p:cNvSpPr>
            <a:spLocks noGrp="1"/>
          </p:cNvSpPr>
          <p:nvPr>
            <p:ph type="sldNum" sz="quarter" idx="10"/>
          </p:nvPr>
        </p:nvSpPr>
        <p:spPr/>
        <p:txBody>
          <a:bodyPr/>
          <a:lstStyle/>
          <a:p>
            <a:fld id="{16056653-EB7C-4C2C-8160-84A14F109A05}" type="slidenum">
              <a:rPr lang="es-AR" smtClean="0"/>
              <a:t>140</a:t>
            </a:fld>
            <a:endParaRPr lang="es-AR"/>
          </a:p>
        </p:txBody>
      </p:sp>
    </p:spTree>
    <p:extLst>
      <p:ext uri="{BB962C8B-B14F-4D97-AF65-F5344CB8AC3E}">
        <p14:creationId xmlns:p14="http://schemas.microsoft.com/office/powerpoint/2010/main" val="1140236773"/>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AR" dirty="0"/>
              <a:t>En esta lista anidada tenemos 2 enlaces</a:t>
            </a:r>
            <a:r>
              <a:rPr lang="es-AR" baseline="0" dirty="0"/>
              <a:t> no descriptivos: HTML, PDF</a:t>
            </a:r>
          </a:p>
          <a:p>
            <a:r>
              <a:rPr lang="es-AR" baseline="0" dirty="0"/>
              <a:t>La información adicional nos la ofrece el elemento LI de la lista padre que contiene la lista de enlaces no descriptivos.</a:t>
            </a:r>
            <a:endParaRPr lang="es-AR" dirty="0"/>
          </a:p>
        </p:txBody>
      </p:sp>
      <p:sp>
        <p:nvSpPr>
          <p:cNvPr id="4" name="Marcador de número de diapositiva 3"/>
          <p:cNvSpPr>
            <a:spLocks noGrp="1"/>
          </p:cNvSpPr>
          <p:nvPr>
            <p:ph type="sldNum" sz="quarter" idx="10"/>
          </p:nvPr>
        </p:nvSpPr>
        <p:spPr/>
        <p:txBody>
          <a:bodyPr/>
          <a:lstStyle/>
          <a:p>
            <a:fld id="{16056653-EB7C-4C2C-8160-84A14F109A05}" type="slidenum">
              <a:rPr lang="es-AR" smtClean="0"/>
              <a:t>141</a:t>
            </a:fld>
            <a:endParaRPr lang="es-AR"/>
          </a:p>
        </p:txBody>
      </p:sp>
    </p:spTree>
    <p:extLst>
      <p:ext uri="{BB962C8B-B14F-4D97-AF65-F5344CB8AC3E}">
        <p14:creationId xmlns:p14="http://schemas.microsoft.com/office/powerpoint/2010/main" val="475245856"/>
      </p:ext>
    </p:extLst>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AR" dirty="0"/>
              <a:t>Técnica H33: Complementar el texto de un enlace con el atributo </a:t>
            </a:r>
            <a:r>
              <a:rPr lang="es-AR" dirty="0" err="1"/>
              <a:t>title</a:t>
            </a:r>
            <a:r>
              <a:rPr lang="es-AR" dirty="0"/>
              <a:t>.</a:t>
            </a:r>
          </a:p>
        </p:txBody>
      </p:sp>
      <p:sp>
        <p:nvSpPr>
          <p:cNvPr id="4" name="Marcador de número de diapositiva 3"/>
          <p:cNvSpPr>
            <a:spLocks noGrp="1"/>
          </p:cNvSpPr>
          <p:nvPr>
            <p:ph type="sldNum" sz="quarter" idx="10"/>
          </p:nvPr>
        </p:nvSpPr>
        <p:spPr/>
        <p:txBody>
          <a:bodyPr/>
          <a:lstStyle/>
          <a:p>
            <a:fld id="{16056653-EB7C-4C2C-8160-84A14F109A05}" type="slidenum">
              <a:rPr lang="es-AR" smtClean="0"/>
              <a:t>142</a:t>
            </a:fld>
            <a:endParaRPr lang="es-AR"/>
          </a:p>
        </p:txBody>
      </p:sp>
    </p:spTree>
    <p:extLst>
      <p:ext uri="{BB962C8B-B14F-4D97-AF65-F5344CB8AC3E}">
        <p14:creationId xmlns:p14="http://schemas.microsoft.com/office/powerpoint/2010/main" val="2700316208"/>
      </p:ext>
    </p:extLst>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AR" dirty="0"/>
              <a:t>Cuando navegamos</a:t>
            </a:r>
            <a:r>
              <a:rPr lang="es-AR" baseline="0" dirty="0"/>
              <a:t> en un sitio web y vamos saltando de una página a otra es normal que encontremos unas partes comunes como la cabecera y el menú principal que se repiten de una página a otra.</a:t>
            </a:r>
          </a:p>
          <a:p>
            <a:r>
              <a:rPr lang="es-AR" baseline="0" dirty="0"/>
              <a:t>Cuando se navega de forma visual en una pagina web, es posible fijar la mirada directamente en la parte del contenido principal que cambia de una página a otra sin fijarnos en aquello que se repite de una página a otra.</a:t>
            </a:r>
          </a:p>
          <a:p>
            <a:r>
              <a:rPr lang="es-AR" baseline="0" dirty="0"/>
              <a:t>Sin embargo para un lector de pantalla la consulta de una página web es lineal de arriba hacia abajo y supone pasar por todo el contenido de la página web hasta llegar al contenido principal. Es un problema.</a:t>
            </a:r>
          </a:p>
          <a:p>
            <a:r>
              <a:rPr lang="es-AR" baseline="0" dirty="0"/>
              <a:t>Como se puede evitar este problema?</a:t>
            </a:r>
          </a:p>
          <a:p>
            <a:r>
              <a:rPr lang="es-AR" baseline="0" dirty="0"/>
              <a:t>Como se puede mejorar la navegación?</a:t>
            </a:r>
          </a:p>
          <a:p>
            <a:endParaRPr lang="es-AR" baseline="0" dirty="0"/>
          </a:p>
          <a:p>
            <a:r>
              <a:rPr lang="es-AR" baseline="0" dirty="0"/>
              <a:t>La solución en el criterio 2.4.1</a:t>
            </a:r>
            <a:endParaRPr lang="es-AR" dirty="0"/>
          </a:p>
        </p:txBody>
      </p:sp>
      <p:sp>
        <p:nvSpPr>
          <p:cNvPr id="4" name="Marcador de número de diapositiva 3"/>
          <p:cNvSpPr>
            <a:spLocks noGrp="1"/>
          </p:cNvSpPr>
          <p:nvPr>
            <p:ph type="sldNum" sz="quarter" idx="10"/>
          </p:nvPr>
        </p:nvSpPr>
        <p:spPr/>
        <p:txBody>
          <a:bodyPr/>
          <a:lstStyle/>
          <a:p>
            <a:fld id="{16056653-EB7C-4C2C-8160-84A14F109A05}" type="slidenum">
              <a:rPr lang="es-AR" smtClean="0"/>
              <a:t>143</a:t>
            </a:fld>
            <a:endParaRPr lang="es-AR"/>
          </a:p>
        </p:txBody>
      </p:sp>
    </p:spTree>
    <p:extLst>
      <p:ext uri="{BB962C8B-B14F-4D97-AF65-F5344CB8AC3E}">
        <p14:creationId xmlns:p14="http://schemas.microsoft.com/office/powerpoint/2010/main" val="3092351315"/>
      </p:ext>
    </p:extLst>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AR" dirty="0"/>
              <a:t>La página</a:t>
            </a:r>
            <a:r>
              <a:rPr lang="es-AR" baseline="0" dirty="0"/>
              <a:t> presenta un enlace “</a:t>
            </a:r>
            <a:r>
              <a:rPr lang="es-AR" baseline="0" dirty="0" err="1"/>
              <a:t>Skip</a:t>
            </a:r>
            <a:r>
              <a:rPr lang="es-AR" baseline="0" dirty="0"/>
              <a:t> to </a:t>
            </a:r>
            <a:r>
              <a:rPr lang="es-AR" baseline="0" dirty="0" err="1"/>
              <a:t>content</a:t>
            </a:r>
            <a:r>
              <a:rPr lang="es-AR" baseline="0" dirty="0"/>
              <a:t>” (saltar al contenido) al principio de la página.</a:t>
            </a:r>
          </a:p>
          <a:p>
            <a:r>
              <a:rPr lang="es-AR" baseline="0" dirty="0"/>
              <a:t>Si revisamos el código fuente, vemos que el enlace conduce a un destino en la propia página etiqueta con “#</a:t>
            </a:r>
            <a:r>
              <a:rPr lang="es-AR" baseline="0" dirty="0" err="1"/>
              <a:t>skip</a:t>
            </a:r>
            <a:r>
              <a:rPr lang="es-AR" baseline="0" dirty="0"/>
              <a:t>” en el atributo </a:t>
            </a:r>
            <a:r>
              <a:rPr lang="es-AR" baseline="0" dirty="0" err="1"/>
              <a:t>href</a:t>
            </a:r>
            <a:r>
              <a:rPr lang="es-AR" baseline="0" dirty="0"/>
              <a:t>.</a:t>
            </a:r>
          </a:p>
          <a:p>
            <a:r>
              <a:rPr lang="es-AR" baseline="0" dirty="0"/>
              <a:t>Esa porción de código esta situado mas abajo y comienza con “&lt;h1&gt; Web </a:t>
            </a:r>
            <a:r>
              <a:rPr lang="es-AR" baseline="0" dirty="0" err="1"/>
              <a:t>Accessibility</a:t>
            </a:r>
            <a:r>
              <a:rPr lang="es-AR" baseline="0" dirty="0"/>
              <a:t>  </a:t>
            </a:r>
            <a:r>
              <a:rPr lang="es-AR" baseline="0" dirty="0" err="1"/>
              <a:t>Initiative</a:t>
            </a:r>
            <a:r>
              <a:rPr lang="es-AR" baseline="0" dirty="0"/>
              <a:t> (WAI) …  Es decir, este punto de la página.</a:t>
            </a:r>
            <a:endParaRPr lang="es-AR" dirty="0"/>
          </a:p>
        </p:txBody>
      </p:sp>
      <p:sp>
        <p:nvSpPr>
          <p:cNvPr id="4" name="Marcador de número de diapositiva 3"/>
          <p:cNvSpPr>
            <a:spLocks noGrp="1"/>
          </p:cNvSpPr>
          <p:nvPr>
            <p:ph type="sldNum" sz="quarter" idx="10"/>
          </p:nvPr>
        </p:nvSpPr>
        <p:spPr/>
        <p:txBody>
          <a:bodyPr/>
          <a:lstStyle/>
          <a:p>
            <a:fld id="{16056653-EB7C-4C2C-8160-84A14F109A05}" type="slidenum">
              <a:rPr lang="es-AR" smtClean="0"/>
              <a:t>144</a:t>
            </a:fld>
            <a:endParaRPr lang="es-AR"/>
          </a:p>
        </p:txBody>
      </p:sp>
    </p:spTree>
    <p:extLst>
      <p:ext uri="{BB962C8B-B14F-4D97-AF65-F5344CB8AC3E}">
        <p14:creationId xmlns:p14="http://schemas.microsoft.com/office/powerpoint/2010/main" val="347343816"/>
      </p:ext>
    </p:extLst>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AR" dirty="0"/>
              <a:t>Al principio de la página,</a:t>
            </a:r>
            <a:r>
              <a:rPr lang="es-AR" baseline="0" dirty="0"/>
              <a:t> debe ser lo primero que se encuentre un usuario.</a:t>
            </a:r>
          </a:p>
          <a:p>
            <a:pPr marL="0" marR="0" lvl="0" indent="0" algn="l" defTabSz="914400" rtl="0" eaLnBrk="1" fontAlgn="auto" latinLnBrk="0" hangingPunct="1">
              <a:lnSpc>
                <a:spcPct val="100000"/>
              </a:lnSpc>
              <a:spcBef>
                <a:spcPts val="0"/>
              </a:spcBef>
              <a:spcAft>
                <a:spcPts val="0"/>
              </a:spcAft>
              <a:buClrTx/>
              <a:buSzTx/>
              <a:buFontTx/>
              <a:buNone/>
              <a:tabLst/>
              <a:defRPr/>
            </a:pPr>
            <a:r>
              <a:rPr lang="es-AR" baseline="0" dirty="0"/>
              <a:t>No ser creativos con el texto de los enlaces, utiliza </a:t>
            </a:r>
            <a:r>
              <a:rPr lang="es-AR" dirty="0"/>
              <a:t>Saltar navegación</a:t>
            </a:r>
            <a:r>
              <a:rPr lang="es-AR" baseline="0" dirty="0"/>
              <a:t> o </a:t>
            </a:r>
            <a:r>
              <a:rPr lang="es-AR" dirty="0"/>
              <a:t>Saltar a contenido principal.</a:t>
            </a:r>
          </a:p>
          <a:p>
            <a:pPr marL="0" marR="0" lvl="0" indent="0" algn="l" defTabSz="914400" rtl="0" eaLnBrk="1" fontAlgn="auto" latinLnBrk="0" hangingPunct="1">
              <a:lnSpc>
                <a:spcPct val="100000"/>
              </a:lnSpc>
              <a:spcBef>
                <a:spcPts val="0"/>
              </a:spcBef>
              <a:spcAft>
                <a:spcPts val="0"/>
              </a:spcAft>
              <a:buClrTx/>
              <a:buSzTx/>
              <a:buFontTx/>
              <a:buNone/>
              <a:tabLst/>
              <a:defRPr/>
            </a:pPr>
            <a:endParaRPr lang="es-AR"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s-AR" dirty="0"/>
          </a:p>
          <a:p>
            <a:endParaRPr lang="es-AR" dirty="0"/>
          </a:p>
        </p:txBody>
      </p:sp>
      <p:sp>
        <p:nvSpPr>
          <p:cNvPr id="4" name="Marcador de número de diapositiva 3"/>
          <p:cNvSpPr>
            <a:spLocks noGrp="1"/>
          </p:cNvSpPr>
          <p:nvPr>
            <p:ph type="sldNum" sz="quarter" idx="10"/>
          </p:nvPr>
        </p:nvSpPr>
        <p:spPr/>
        <p:txBody>
          <a:bodyPr/>
          <a:lstStyle/>
          <a:p>
            <a:fld id="{16056653-EB7C-4C2C-8160-84A14F109A05}" type="slidenum">
              <a:rPr lang="es-AR" smtClean="0"/>
              <a:t>145</a:t>
            </a:fld>
            <a:endParaRPr lang="es-AR"/>
          </a:p>
        </p:txBody>
      </p:sp>
    </p:spTree>
    <p:extLst>
      <p:ext uri="{BB962C8B-B14F-4D97-AF65-F5344CB8AC3E}">
        <p14:creationId xmlns:p14="http://schemas.microsoft.com/office/powerpoint/2010/main" val="288679492"/>
      </p:ext>
    </p:extLst>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AR" dirty="0"/>
              <a:t>Problemas</a:t>
            </a:r>
            <a:r>
              <a:rPr lang="es-AR" baseline="0" dirty="0"/>
              <a:t> habituales que impiden la navegación por las páginas web mediante el teclado y que están relacionados con el foco.</a:t>
            </a:r>
          </a:p>
          <a:p>
            <a:r>
              <a:rPr lang="es-AR" baseline="0" dirty="0"/>
              <a:t>Uno de los requisitos mas relevantes para asegurar la navegación accesible en un sitio web es que pueda ser navegable por teclado, puesto que para muchas personas es el único o principal medio de interacción con las páginas.</a:t>
            </a:r>
          </a:p>
          <a:p>
            <a:endParaRPr lang="es-AR" baseline="0" dirty="0"/>
          </a:p>
          <a:p>
            <a:endParaRPr lang="es-AR" dirty="0"/>
          </a:p>
        </p:txBody>
      </p:sp>
      <p:sp>
        <p:nvSpPr>
          <p:cNvPr id="4" name="Marcador de número de diapositiva 3"/>
          <p:cNvSpPr>
            <a:spLocks noGrp="1"/>
          </p:cNvSpPr>
          <p:nvPr>
            <p:ph type="sldNum" sz="quarter" idx="10"/>
          </p:nvPr>
        </p:nvSpPr>
        <p:spPr/>
        <p:txBody>
          <a:bodyPr/>
          <a:lstStyle/>
          <a:p>
            <a:fld id="{16056653-EB7C-4C2C-8160-84A14F109A05}" type="slidenum">
              <a:rPr lang="es-AR" smtClean="0"/>
              <a:t>146</a:t>
            </a:fld>
            <a:endParaRPr lang="es-AR"/>
          </a:p>
        </p:txBody>
      </p:sp>
    </p:spTree>
    <p:extLst>
      <p:ext uri="{BB962C8B-B14F-4D97-AF65-F5344CB8AC3E}">
        <p14:creationId xmlns:p14="http://schemas.microsoft.com/office/powerpoint/2010/main" val="3269967329"/>
      </p:ext>
    </p:extLst>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10"/>
          </p:nvPr>
        </p:nvSpPr>
        <p:spPr/>
        <p:txBody>
          <a:bodyPr/>
          <a:lstStyle/>
          <a:p>
            <a:fld id="{16056653-EB7C-4C2C-8160-84A14F109A05}" type="slidenum">
              <a:rPr lang="es-AR" smtClean="0"/>
              <a:t>147</a:t>
            </a:fld>
            <a:endParaRPr lang="es-AR"/>
          </a:p>
        </p:txBody>
      </p:sp>
    </p:spTree>
    <p:extLst>
      <p:ext uri="{BB962C8B-B14F-4D97-AF65-F5344CB8AC3E}">
        <p14:creationId xmlns:p14="http://schemas.microsoft.com/office/powerpoint/2010/main" val="4214065543"/>
      </p:ext>
    </p:extLst>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10"/>
          </p:nvPr>
        </p:nvSpPr>
        <p:spPr/>
        <p:txBody>
          <a:bodyPr/>
          <a:lstStyle/>
          <a:p>
            <a:fld id="{16056653-EB7C-4C2C-8160-84A14F109A05}" type="slidenum">
              <a:rPr lang="es-AR" smtClean="0"/>
              <a:t>148</a:t>
            </a:fld>
            <a:endParaRPr lang="es-AR"/>
          </a:p>
        </p:txBody>
      </p:sp>
    </p:spTree>
    <p:extLst>
      <p:ext uri="{BB962C8B-B14F-4D97-AF65-F5344CB8AC3E}">
        <p14:creationId xmlns:p14="http://schemas.microsoft.com/office/powerpoint/2010/main" val="3181000327"/>
      </p:ext>
    </p:extLst>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AR" dirty="0"/>
              <a:t>Criterio 2.4.3:</a:t>
            </a:r>
            <a:r>
              <a:rPr lang="es-AR" baseline="0" dirty="0"/>
              <a:t> </a:t>
            </a:r>
            <a:r>
              <a:rPr lang="es-AR" sz="1200" kern="1200" dirty="0">
                <a:solidFill>
                  <a:schemeClr val="tx1"/>
                </a:solidFill>
                <a:effectLst/>
                <a:latin typeface="+mn-lt"/>
                <a:ea typeface="+mn-ea"/>
                <a:cs typeface="+mn-cs"/>
              </a:rPr>
              <a:t>Si una página web puede navegarse secuencialmente y el orden de navegación afecta su significado u operatividad, los componentes que pueden recibir el foco lo hacen de forma coherente y ordenada para que la información conserve su significado.</a:t>
            </a:r>
          </a:p>
          <a:p>
            <a:r>
              <a:rPr lang="es-AR" dirty="0"/>
              <a:t>Por ejemplo: si un enlace abre un menú desplegable, el siguiente elemento que debería ganar el foco tendría</a:t>
            </a:r>
            <a:r>
              <a:rPr lang="es-AR" baseline="0" dirty="0"/>
              <a:t> que ser el primer elemento de dicho menú.</a:t>
            </a:r>
          </a:p>
          <a:p>
            <a:r>
              <a:rPr lang="es-AR" baseline="0" dirty="0"/>
              <a:t>Organizar el contenido en el código HTML de forma que el orden por defecto sea el correcto y si por alguna circunstancia tenemos que cambiar el orden del foco por defecto por ejemplo con </a:t>
            </a:r>
            <a:r>
              <a:rPr lang="es-AR" baseline="0" dirty="0" err="1"/>
              <a:t>tabindex</a:t>
            </a:r>
            <a:r>
              <a:rPr lang="es-AR" baseline="0" dirty="0"/>
              <a:t>, hacerlo de forma que tenga sentido.</a:t>
            </a:r>
            <a:endParaRPr lang="es-AR" dirty="0"/>
          </a:p>
        </p:txBody>
      </p:sp>
      <p:sp>
        <p:nvSpPr>
          <p:cNvPr id="4" name="Marcador de número de diapositiva 3"/>
          <p:cNvSpPr>
            <a:spLocks noGrp="1"/>
          </p:cNvSpPr>
          <p:nvPr>
            <p:ph type="sldNum" sz="quarter" idx="10"/>
          </p:nvPr>
        </p:nvSpPr>
        <p:spPr/>
        <p:txBody>
          <a:bodyPr/>
          <a:lstStyle/>
          <a:p>
            <a:fld id="{16056653-EB7C-4C2C-8160-84A14F109A05}" type="slidenum">
              <a:rPr lang="es-AR" smtClean="0"/>
              <a:t>149</a:t>
            </a:fld>
            <a:endParaRPr lang="es-AR"/>
          </a:p>
        </p:txBody>
      </p:sp>
    </p:spTree>
    <p:extLst>
      <p:ext uri="{BB962C8B-B14F-4D97-AF65-F5344CB8AC3E}">
        <p14:creationId xmlns:p14="http://schemas.microsoft.com/office/powerpoint/2010/main" val="2318617072"/>
      </p:ext>
    </p:extLst>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AR" dirty="0"/>
              <a:t>Por ejemplo, si una vez que</a:t>
            </a:r>
            <a:r>
              <a:rPr lang="es-AR" baseline="0" dirty="0"/>
              <a:t> abrimos el menú y accedemos a su contenido con el tabulador ya no podemos salir con el teclado lo consideraríamos una trampa para el foco.</a:t>
            </a:r>
            <a:endParaRPr lang="es-AR" dirty="0"/>
          </a:p>
        </p:txBody>
      </p:sp>
      <p:sp>
        <p:nvSpPr>
          <p:cNvPr id="4" name="Marcador de número de diapositiva 3"/>
          <p:cNvSpPr>
            <a:spLocks noGrp="1"/>
          </p:cNvSpPr>
          <p:nvPr>
            <p:ph type="sldNum" sz="quarter" idx="10"/>
          </p:nvPr>
        </p:nvSpPr>
        <p:spPr/>
        <p:txBody>
          <a:bodyPr/>
          <a:lstStyle/>
          <a:p>
            <a:fld id="{16056653-EB7C-4C2C-8160-84A14F109A05}" type="slidenum">
              <a:rPr lang="es-AR" smtClean="0"/>
              <a:t>150</a:t>
            </a:fld>
            <a:endParaRPr lang="es-AR"/>
          </a:p>
        </p:txBody>
      </p:sp>
    </p:spTree>
    <p:extLst>
      <p:ext uri="{BB962C8B-B14F-4D97-AF65-F5344CB8AC3E}">
        <p14:creationId xmlns:p14="http://schemas.microsoft.com/office/powerpoint/2010/main" val="3997515032"/>
      </p:ext>
    </p:extLst>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10"/>
          </p:nvPr>
        </p:nvSpPr>
        <p:spPr/>
        <p:txBody>
          <a:bodyPr/>
          <a:lstStyle/>
          <a:p>
            <a:fld id="{16056653-EB7C-4C2C-8160-84A14F109A05}" type="slidenum">
              <a:rPr lang="es-AR" smtClean="0"/>
              <a:t>151</a:t>
            </a:fld>
            <a:endParaRPr lang="es-AR"/>
          </a:p>
        </p:txBody>
      </p:sp>
    </p:spTree>
    <p:extLst>
      <p:ext uri="{BB962C8B-B14F-4D97-AF65-F5344CB8AC3E}">
        <p14:creationId xmlns:p14="http://schemas.microsoft.com/office/powerpoint/2010/main" val="439129933"/>
      </p:ext>
    </p:extLst>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AR" dirty="0"/>
              <a:t>Todos estos casos</a:t>
            </a:r>
            <a:r>
              <a:rPr lang="es-AR" baseline="0" dirty="0"/>
              <a:t> son cambios de contexto y no pueden producirse automáticamente sin avisar al usuario. Los cambios de contexto solo deberían producirse sólo cuando el usuario los solicite.</a:t>
            </a:r>
            <a:endParaRPr lang="es-AR" dirty="0"/>
          </a:p>
        </p:txBody>
      </p:sp>
      <p:sp>
        <p:nvSpPr>
          <p:cNvPr id="4" name="Marcador de número de diapositiva 3"/>
          <p:cNvSpPr>
            <a:spLocks noGrp="1"/>
          </p:cNvSpPr>
          <p:nvPr>
            <p:ph type="sldNum" sz="quarter" idx="10"/>
          </p:nvPr>
        </p:nvSpPr>
        <p:spPr/>
        <p:txBody>
          <a:bodyPr/>
          <a:lstStyle/>
          <a:p>
            <a:fld id="{16056653-EB7C-4C2C-8160-84A14F109A05}" type="slidenum">
              <a:rPr lang="es-AR" smtClean="0"/>
              <a:t>152</a:t>
            </a:fld>
            <a:endParaRPr lang="es-AR"/>
          </a:p>
        </p:txBody>
      </p:sp>
    </p:spTree>
    <p:extLst>
      <p:ext uri="{BB962C8B-B14F-4D97-AF65-F5344CB8AC3E}">
        <p14:creationId xmlns:p14="http://schemas.microsoft.com/office/powerpoint/2010/main" val="360186931"/>
      </p:ext>
    </p:extLst>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AR" dirty="0"/>
              <a:t>Cómo</a:t>
            </a:r>
            <a:r>
              <a:rPr lang="es-AR" baseline="0" dirty="0"/>
              <a:t> lograr que la presentación de una página web sea accesible.</a:t>
            </a:r>
            <a:endParaRPr lang="es-AR" dirty="0"/>
          </a:p>
        </p:txBody>
      </p:sp>
      <p:sp>
        <p:nvSpPr>
          <p:cNvPr id="4" name="Marcador de número de diapositiva 3"/>
          <p:cNvSpPr>
            <a:spLocks noGrp="1"/>
          </p:cNvSpPr>
          <p:nvPr>
            <p:ph type="sldNum" sz="quarter" idx="10"/>
          </p:nvPr>
        </p:nvSpPr>
        <p:spPr/>
        <p:txBody>
          <a:bodyPr/>
          <a:lstStyle/>
          <a:p>
            <a:fld id="{16056653-EB7C-4C2C-8160-84A14F109A05}" type="slidenum">
              <a:rPr lang="es-AR" smtClean="0"/>
              <a:t>153</a:t>
            </a:fld>
            <a:endParaRPr lang="es-AR"/>
          </a:p>
        </p:txBody>
      </p:sp>
    </p:spTree>
    <p:extLst>
      <p:ext uri="{BB962C8B-B14F-4D97-AF65-F5344CB8AC3E}">
        <p14:creationId xmlns:p14="http://schemas.microsoft.com/office/powerpoint/2010/main" val="3705129152"/>
      </p:ext>
    </p:extLst>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AR" dirty="0"/>
              <a:t>La Pautas de Accesibilidad para el Contenido Web (WCAG) se centran principalmente en el contenido, la navegación y la interacción. Respecto el diseño accesible, lo más importante aparece en la </a:t>
            </a:r>
            <a:r>
              <a:rPr lang="es-AR" b="1" dirty="0"/>
              <a:t>Pauta 1.4 Distinguible</a:t>
            </a:r>
            <a:endParaRPr lang="es-AR" dirty="0"/>
          </a:p>
        </p:txBody>
      </p:sp>
      <p:sp>
        <p:nvSpPr>
          <p:cNvPr id="4" name="Marcador de número de diapositiva 3"/>
          <p:cNvSpPr>
            <a:spLocks noGrp="1"/>
          </p:cNvSpPr>
          <p:nvPr>
            <p:ph type="sldNum" sz="quarter" idx="10"/>
          </p:nvPr>
        </p:nvSpPr>
        <p:spPr/>
        <p:txBody>
          <a:bodyPr/>
          <a:lstStyle/>
          <a:p>
            <a:fld id="{16056653-EB7C-4C2C-8160-84A14F109A05}" type="slidenum">
              <a:rPr lang="es-AR" smtClean="0"/>
              <a:t>154</a:t>
            </a:fld>
            <a:endParaRPr lang="es-AR"/>
          </a:p>
        </p:txBody>
      </p:sp>
    </p:spTree>
    <p:extLst>
      <p:ext uri="{BB962C8B-B14F-4D97-AF65-F5344CB8AC3E}">
        <p14:creationId xmlns:p14="http://schemas.microsoft.com/office/powerpoint/2010/main" val="2355888788"/>
      </p:ext>
    </p:extLst>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10"/>
          </p:nvPr>
        </p:nvSpPr>
        <p:spPr/>
        <p:txBody>
          <a:bodyPr/>
          <a:lstStyle/>
          <a:p>
            <a:fld id="{16056653-EB7C-4C2C-8160-84A14F109A05}" type="slidenum">
              <a:rPr lang="es-AR" smtClean="0"/>
              <a:t>155</a:t>
            </a:fld>
            <a:endParaRPr lang="es-AR"/>
          </a:p>
        </p:txBody>
      </p:sp>
    </p:spTree>
    <p:extLst>
      <p:ext uri="{BB962C8B-B14F-4D97-AF65-F5344CB8AC3E}">
        <p14:creationId xmlns:p14="http://schemas.microsoft.com/office/powerpoint/2010/main" val="230438283"/>
      </p:ext>
    </p:extLst>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AR" dirty="0"/>
              <a:t>En todas estas situaciones una buena combinación</a:t>
            </a:r>
            <a:r>
              <a:rPr lang="es-AR" baseline="0" dirty="0"/>
              <a:t> de colores alto contraste ayuda a que una página web se visualice correctamente.</a:t>
            </a:r>
          </a:p>
          <a:p>
            <a:endParaRPr lang="es-AR" dirty="0"/>
          </a:p>
        </p:txBody>
      </p:sp>
      <p:sp>
        <p:nvSpPr>
          <p:cNvPr id="4" name="Marcador de número de diapositiva 3"/>
          <p:cNvSpPr>
            <a:spLocks noGrp="1"/>
          </p:cNvSpPr>
          <p:nvPr>
            <p:ph type="sldNum" sz="quarter" idx="10"/>
          </p:nvPr>
        </p:nvSpPr>
        <p:spPr/>
        <p:txBody>
          <a:bodyPr/>
          <a:lstStyle/>
          <a:p>
            <a:fld id="{16056653-EB7C-4C2C-8160-84A14F109A05}" type="slidenum">
              <a:rPr lang="es-AR" smtClean="0"/>
              <a:t>156</a:t>
            </a:fld>
            <a:endParaRPr lang="es-AR"/>
          </a:p>
        </p:txBody>
      </p:sp>
    </p:spTree>
    <p:extLst>
      <p:ext uri="{BB962C8B-B14F-4D97-AF65-F5344CB8AC3E}">
        <p14:creationId xmlns:p14="http://schemas.microsoft.com/office/powerpoint/2010/main" val="4181499592"/>
      </p:ext>
    </p:extLst>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10"/>
          </p:nvPr>
        </p:nvSpPr>
        <p:spPr/>
        <p:txBody>
          <a:bodyPr/>
          <a:lstStyle/>
          <a:p>
            <a:fld id="{16056653-EB7C-4C2C-8160-84A14F109A05}" type="slidenum">
              <a:rPr lang="es-AR" smtClean="0"/>
              <a:t>157</a:t>
            </a:fld>
            <a:endParaRPr lang="es-AR"/>
          </a:p>
        </p:txBody>
      </p:sp>
    </p:spTree>
    <p:extLst>
      <p:ext uri="{BB962C8B-B14F-4D97-AF65-F5344CB8AC3E}">
        <p14:creationId xmlns:p14="http://schemas.microsoft.com/office/powerpoint/2010/main" val="53894692"/>
      </p:ext>
    </p:extLst>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AR" dirty="0"/>
              <a:t>Criterio</a:t>
            </a:r>
            <a:r>
              <a:rPr lang="es-AR" baseline="0" dirty="0"/>
              <a:t> 1.4.3 Mínimo se define:</a:t>
            </a:r>
          </a:p>
          <a:p>
            <a:r>
              <a:rPr lang="es-AR" baseline="0" dirty="0"/>
              <a:t>Tamaño normal del texto: 4,5</a:t>
            </a:r>
          </a:p>
          <a:p>
            <a:r>
              <a:rPr lang="es-AR" baseline="0" dirty="0"/>
              <a:t>Tamaño grande del texto: 3</a:t>
            </a:r>
          </a:p>
          <a:p>
            <a:endParaRPr lang="es-AR" baseline="0" dirty="0"/>
          </a:p>
          <a:p>
            <a:r>
              <a:rPr lang="es-AR" dirty="0"/>
              <a:t>Criterio</a:t>
            </a:r>
            <a:r>
              <a:rPr lang="es-AR" baseline="0" dirty="0"/>
              <a:t> 1.4.6 Mejorado (mas estricto) se define:</a:t>
            </a:r>
          </a:p>
          <a:p>
            <a:r>
              <a:rPr lang="es-AR" baseline="0" dirty="0"/>
              <a:t>Tamaño normal del texto: 7</a:t>
            </a:r>
          </a:p>
          <a:p>
            <a:r>
              <a:rPr lang="es-AR" baseline="0" dirty="0"/>
              <a:t>Tamaño grande del texto: 4,5</a:t>
            </a:r>
          </a:p>
          <a:p>
            <a:endParaRPr lang="es-AR" baseline="0" dirty="0"/>
          </a:p>
        </p:txBody>
      </p:sp>
      <p:sp>
        <p:nvSpPr>
          <p:cNvPr id="4" name="Marcador de número de diapositiva 3"/>
          <p:cNvSpPr>
            <a:spLocks noGrp="1"/>
          </p:cNvSpPr>
          <p:nvPr>
            <p:ph type="sldNum" sz="quarter" idx="10"/>
          </p:nvPr>
        </p:nvSpPr>
        <p:spPr/>
        <p:txBody>
          <a:bodyPr/>
          <a:lstStyle/>
          <a:p>
            <a:fld id="{16056653-EB7C-4C2C-8160-84A14F109A05}" type="slidenum">
              <a:rPr lang="es-AR" smtClean="0"/>
              <a:t>158</a:t>
            </a:fld>
            <a:endParaRPr lang="es-AR"/>
          </a:p>
        </p:txBody>
      </p:sp>
    </p:spTree>
    <p:extLst>
      <p:ext uri="{BB962C8B-B14F-4D97-AF65-F5344CB8AC3E}">
        <p14:creationId xmlns:p14="http://schemas.microsoft.com/office/powerpoint/2010/main" val="1653013881"/>
      </p:ext>
    </p:extLst>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AR" dirty="0"/>
              <a:t>En las WCAG 2.0 se define</a:t>
            </a:r>
            <a:r>
              <a:rPr lang="es-AR" baseline="0" dirty="0"/>
              <a:t> la formula que se debe aplicar para calcular la relación de contraste entre dos colores.</a:t>
            </a:r>
          </a:p>
          <a:p>
            <a:r>
              <a:rPr lang="es-AR" baseline="0" dirty="0"/>
              <a:t>Esta fórmula hace uso de la luminosidad relativa del color, que es un poco compleja de calcular.</a:t>
            </a:r>
          </a:p>
          <a:p>
            <a:r>
              <a:rPr lang="es-AR" baseline="0" dirty="0"/>
              <a:t>Afortunadamente existen numerosas herramientas, una de ellas es </a:t>
            </a:r>
            <a:r>
              <a:rPr lang="es-AR" dirty="0">
                <a:sym typeface="Wingdings" pitchFamily="2" charset="2"/>
              </a:rPr>
              <a:t>Color </a:t>
            </a:r>
            <a:r>
              <a:rPr lang="es-AR" dirty="0" err="1">
                <a:sym typeface="Wingdings" pitchFamily="2" charset="2"/>
              </a:rPr>
              <a:t>Contrast</a:t>
            </a:r>
            <a:r>
              <a:rPr lang="es-AR" dirty="0">
                <a:sym typeface="Wingdings" pitchFamily="2" charset="2"/>
              </a:rPr>
              <a:t> </a:t>
            </a:r>
            <a:r>
              <a:rPr lang="es-AR" dirty="0" err="1">
                <a:sym typeface="Wingdings" pitchFamily="2" charset="2"/>
              </a:rPr>
              <a:t>Checker</a:t>
            </a:r>
            <a:r>
              <a:rPr lang="es-AR" dirty="0">
                <a:sym typeface="Wingdings" pitchFamily="2" charset="2"/>
              </a:rPr>
              <a:t> de </a:t>
            </a:r>
            <a:r>
              <a:rPr lang="es-AR" dirty="0" err="1">
                <a:sym typeface="Wingdings" pitchFamily="2" charset="2"/>
              </a:rPr>
              <a:t>WebAIM</a:t>
            </a:r>
            <a:r>
              <a:rPr lang="es-AR" dirty="0">
                <a:sym typeface="Wingdings" pitchFamily="2" charset="2"/>
              </a:rPr>
              <a:t>.</a:t>
            </a:r>
            <a:endParaRPr lang="es-AR" baseline="0" dirty="0"/>
          </a:p>
          <a:p>
            <a:endParaRPr lang="es-AR" dirty="0"/>
          </a:p>
        </p:txBody>
      </p:sp>
      <p:sp>
        <p:nvSpPr>
          <p:cNvPr id="4" name="Marcador de número de diapositiva 3"/>
          <p:cNvSpPr>
            <a:spLocks noGrp="1"/>
          </p:cNvSpPr>
          <p:nvPr>
            <p:ph type="sldNum" sz="quarter" idx="10"/>
          </p:nvPr>
        </p:nvSpPr>
        <p:spPr/>
        <p:txBody>
          <a:bodyPr/>
          <a:lstStyle/>
          <a:p>
            <a:fld id="{16056653-EB7C-4C2C-8160-84A14F109A05}" type="slidenum">
              <a:rPr lang="es-AR" smtClean="0"/>
              <a:t>159</a:t>
            </a:fld>
            <a:endParaRPr lang="es-AR"/>
          </a:p>
        </p:txBody>
      </p:sp>
    </p:spTree>
    <p:extLst>
      <p:ext uri="{BB962C8B-B14F-4D97-AF65-F5344CB8AC3E}">
        <p14:creationId xmlns:p14="http://schemas.microsoft.com/office/powerpoint/2010/main" val="3432564633"/>
      </p:ext>
    </p:extLst>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AR" dirty="0"/>
              <a:t>Introducir los dos colores</a:t>
            </a:r>
            <a:r>
              <a:rPr lang="es-AR" baseline="0" dirty="0"/>
              <a:t> y nos dice que nivel de contraste existe.</a:t>
            </a:r>
          </a:p>
          <a:p>
            <a:r>
              <a:rPr lang="es-AR" baseline="0" dirty="0"/>
              <a:t>Pulsando los botones </a:t>
            </a:r>
            <a:r>
              <a:rPr lang="es-AR" baseline="0" dirty="0" err="1"/>
              <a:t>lighten</a:t>
            </a:r>
            <a:r>
              <a:rPr lang="es-AR" baseline="0" dirty="0"/>
              <a:t> y </a:t>
            </a:r>
            <a:r>
              <a:rPr lang="es-AR" baseline="0" dirty="0" err="1"/>
              <a:t>darken</a:t>
            </a:r>
            <a:r>
              <a:rPr lang="es-AR" baseline="0" dirty="0"/>
              <a:t> se pueden lograr aclarecer u oscurecer hasta lograr una combinación de colores que muestre un contraste adecuado y cumpla las pautas de accesibilidad WCAG 2.0.</a:t>
            </a:r>
          </a:p>
          <a:p>
            <a:r>
              <a:rPr lang="es-AR" baseline="0" dirty="0"/>
              <a:t>Utilizar combinaciones de colores de alto contraste.</a:t>
            </a:r>
            <a:endParaRPr lang="es-AR" dirty="0"/>
          </a:p>
        </p:txBody>
      </p:sp>
      <p:sp>
        <p:nvSpPr>
          <p:cNvPr id="4" name="Marcador de número de diapositiva 3"/>
          <p:cNvSpPr>
            <a:spLocks noGrp="1"/>
          </p:cNvSpPr>
          <p:nvPr>
            <p:ph type="sldNum" sz="quarter" idx="10"/>
          </p:nvPr>
        </p:nvSpPr>
        <p:spPr/>
        <p:txBody>
          <a:bodyPr/>
          <a:lstStyle/>
          <a:p>
            <a:fld id="{16056653-EB7C-4C2C-8160-84A14F109A05}" type="slidenum">
              <a:rPr lang="es-AR" smtClean="0"/>
              <a:t>160</a:t>
            </a:fld>
            <a:endParaRPr lang="es-AR"/>
          </a:p>
        </p:txBody>
      </p:sp>
    </p:spTree>
    <p:extLst>
      <p:ext uri="{BB962C8B-B14F-4D97-AF65-F5344CB8AC3E}">
        <p14:creationId xmlns:p14="http://schemas.microsoft.com/office/powerpoint/2010/main" val="339037868"/>
      </p:ext>
    </p:extLst>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AR" dirty="0"/>
              <a:t>Técnicas suficientes:</a:t>
            </a:r>
          </a:p>
          <a:p>
            <a:r>
              <a:rPr lang="es-AR" dirty="0"/>
              <a:t>G14: Asegurar que la información transmitida por las diferencias de color también está disponible en texto.</a:t>
            </a:r>
          </a:p>
          <a:p>
            <a:r>
              <a:rPr lang="es-AR" dirty="0"/>
              <a:t>G205: Si se comunica información mediante el color en palabras, fondos u otros contenidos: Incluye una señal de texto para etiquetas de controles de formulario coloreadas.</a:t>
            </a:r>
          </a:p>
          <a:p>
            <a:r>
              <a:rPr lang="es-AR" dirty="0"/>
              <a:t>G182: Asegurarse de que las señales visuales adicionales están disponibles cuando se utilizan las diferencias de color de texto para transmitir información</a:t>
            </a:r>
          </a:p>
          <a:p>
            <a:r>
              <a:rPr lang="es-AR" dirty="0"/>
              <a:t>G183: El uso de una relación de contraste de 3: 1 y la zona de texto y proporcionar señales visuales adicionales en el foco de enlaces o controles, donde se utiliza solo color para identificarla.</a:t>
            </a:r>
          </a:p>
          <a:p>
            <a:r>
              <a:rPr lang="es-AR" dirty="0"/>
              <a:t>G111: Uso del color y el patrón (Información que es transmitida usando color es también transmitida usando patrones que no se basan en el color).</a:t>
            </a:r>
          </a:p>
        </p:txBody>
      </p:sp>
      <p:sp>
        <p:nvSpPr>
          <p:cNvPr id="4" name="Marcador de número de diapositiva 3"/>
          <p:cNvSpPr>
            <a:spLocks noGrp="1"/>
          </p:cNvSpPr>
          <p:nvPr>
            <p:ph type="sldNum" sz="quarter" idx="10"/>
          </p:nvPr>
        </p:nvSpPr>
        <p:spPr/>
        <p:txBody>
          <a:bodyPr/>
          <a:lstStyle/>
          <a:p>
            <a:fld id="{16056653-EB7C-4C2C-8160-84A14F109A05}" type="slidenum">
              <a:rPr lang="es-AR" smtClean="0"/>
              <a:t>161</a:t>
            </a:fld>
            <a:endParaRPr lang="es-AR"/>
          </a:p>
        </p:txBody>
      </p:sp>
    </p:spTree>
    <p:extLst>
      <p:ext uri="{BB962C8B-B14F-4D97-AF65-F5344CB8AC3E}">
        <p14:creationId xmlns:p14="http://schemas.microsoft.com/office/powerpoint/2010/main" val="3637383934"/>
      </p:ext>
    </p:extLst>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10"/>
          </p:nvPr>
        </p:nvSpPr>
        <p:spPr/>
        <p:txBody>
          <a:bodyPr/>
          <a:lstStyle/>
          <a:p>
            <a:fld id="{16056653-EB7C-4C2C-8160-84A14F109A05}" type="slidenum">
              <a:rPr lang="es-AR" smtClean="0"/>
              <a:t>162</a:t>
            </a:fld>
            <a:endParaRPr lang="es-AR"/>
          </a:p>
        </p:txBody>
      </p:sp>
    </p:spTree>
    <p:extLst>
      <p:ext uri="{BB962C8B-B14F-4D97-AF65-F5344CB8AC3E}">
        <p14:creationId xmlns:p14="http://schemas.microsoft.com/office/powerpoint/2010/main" val="259773761"/>
      </p:ext>
    </p:extLst>
  </p:cSld>
  <p:clrMapOvr>
    <a:masterClrMapping/>
  </p:clrMapOvr>
</p:notes>
</file>

<file path=ppt/notesSlides/notesSlide1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AR" dirty="0"/>
              <a:t>Técnica</a:t>
            </a:r>
            <a:r>
              <a:rPr lang="es-AR" baseline="0" dirty="0"/>
              <a:t> C15: Usar CSS para cambiar la presentación de un componente de interfaz de usuario cuando recibe el foco</a:t>
            </a:r>
          </a:p>
          <a:p>
            <a:r>
              <a:rPr lang="es-AR" dirty="0"/>
              <a:t>Verificar que el fondo o borde cambia de color cuando una componente gana o pierde el foco.</a:t>
            </a:r>
          </a:p>
        </p:txBody>
      </p:sp>
      <p:sp>
        <p:nvSpPr>
          <p:cNvPr id="4" name="Marcador de número de diapositiva 3"/>
          <p:cNvSpPr>
            <a:spLocks noGrp="1"/>
          </p:cNvSpPr>
          <p:nvPr>
            <p:ph type="sldNum" sz="quarter" idx="10"/>
          </p:nvPr>
        </p:nvSpPr>
        <p:spPr/>
        <p:txBody>
          <a:bodyPr/>
          <a:lstStyle/>
          <a:p>
            <a:fld id="{16056653-EB7C-4C2C-8160-84A14F109A05}" type="slidenum">
              <a:rPr lang="es-AR" smtClean="0"/>
              <a:t>163</a:t>
            </a:fld>
            <a:endParaRPr lang="es-AR"/>
          </a:p>
        </p:txBody>
      </p:sp>
    </p:spTree>
    <p:extLst>
      <p:ext uri="{BB962C8B-B14F-4D97-AF65-F5344CB8AC3E}">
        <p14:creationId xmlns:p14="http://schemas.microsoft.com/office/powerpoint/2010/main" val="1686901083"/>
      </p:ext>
    </p:extLst>
  </p:cSld>
  <p:clrMapOvr>
    <a:masterClrMapping/>
  </p:clrMapOvr>
</p:notes>
</file>

<file path=ppt/notesSlides/notesSlide1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10"/>
          </p:nvPr>
        </p:nvSpPr>
        <p:spPr/>
        <p:txBody>
          <a:bodyPr/>
          <a:lstStyle/>
          <a:p>
            <a:fld id="{16056653-EB7C-4C2C-8160-84A14F109A05}" type="slidenum">
              <a:rPr lang="es-AR" smtClean="0"/>
              <a:t>164</a:t>
            </a:fld>
            <a:endParaRPr lang="es-AR"/>
          </a:p>
        </p:txBody>
      </p:sp>
    </p:spTree>
    <p:extLst>
      <p:ext uri="{BB962C8B-B14F-4D97-AF65-F5344CB8AC3E}">
        <p14:creationId xmlns:p14="http://schemas.microsoft.com/office/powerpoint/2010/main" val="2369419542"/>
      </p:ext>
    </p:extLst>
  </p:cSld>
  <p:clrMapOvr>
    <a:masterClrMapping/>
  </p:clrMapOvr>
</p:notes>
</file>

<file path=ppt/notesSlides/notesSlide1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AR" dirty="0"/>
              <a:t>Cómo realizar un análisis de accesibilidad de un sitio</a:t>
            </a:r>
            <a:r>
              <a:rPr lang="es-AR" baseline="0" dirty="0"/>
              <a:t> web, herramientas de análisis de la accesibilidad web.</a:t>
            </a:r>
            <a:endParaRPr lang="es-AR" dirty="0"/>
          </a:p>
        </p:txBody>
      </p:sp>
      <p:sp>
        <p:nvSpPr>
          <p:cNvPr id="4" name="Marcador de número de diapositiva 3"/>
          <p:cNvSpPr>
            <a:spLocks noGrp="1"/>
          </p:cNvSpPr>
          <p:nvPr>
            <p:ph type="sldNum" sz="quarter" idx="10"/>
          </p:nvPr>
        </p:nvSpPr>
        <p:spPr/>
        <p:txBody>
          <a:bodyPr/>
          <a:lstStyle/>
          <a:p>
            <a:fld id="{16056653-EB7C-4C2C-8160-84A14F109A05}" type="slidenum">
              <a:rPr lang="es-AR" smtClean="0"/>
              <a:t>165</a:t>
            </a:fld>
            <a:endParaRPr lang="es-AR"/>
          </a:p>
        </p:txBody>
      </p:sp>
    </p:spTree>
    <p:extLst>
      <p:ext uri="{BB962C8B-B14F-4D97-AF65-F5344CB8AC3E}">
        <p14:creationId xmlns:p14="http://schemas.microsoft.com/office/powerpoint/2010/main" val="1994706884"/>
      </p:ext>
    </p:extLst>
  </p:cSld>
  <p:clrMapOvr>
    <a:masterClrMapping/>
  </p:clrMapOvr>
</p:notes>
</file>

<file path=ppt/notesSlides/notesSlide1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AR" dirty="0"/>
              <a:t>Describe el procedimiento para guiar a los evaluadores y promover buenas prácticas,</a:t>
            </a:r>
            <a:r>
              <a:rPr lang="es-AR" baseline="0" dirty="0"/>
              <a:t> </a:t>
            </a:r>
            <a:r>
              <a:rPr lang="es-AR" dirty="0"/>
              <a:t>evitar errores comunes y lograr resultados más comparables. Pero no añade, sustituye o reemplaza ningún requisito de las WCAG 2.0.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s-AR" dirty="0"/>
          </a:p>
          <a:p>
            <a:r>
              <a:rPr lang="es-AR" dirty="0"/>
              <a:t>Aunque está diseñada para evaluar sitios web ya existentes, es flexible y aplicable en diferentes situaciones o contextos, por ejemplo puede ser también útil durante las fases de diseño y desarrollo de los sitios. </a:t>
            </a:r>
          </a:p>
          <a:p>
            <a:endParaRPr lang="es-AR" dirty="0"/>
          </a:p>
          <a:p>
            <a:r>
              <a:rPr lang="es-AR" dirty="0"/>
              <a:t>Es independiente del tamaño del sitio web o de la tecnología con la que se construye el mismo. Es además independiente de herramientas de evaluación de accesibilidad, navegadores web o productos de apoyo concretos. </a:t>
            </a:r>
          </a:p>
          <a:p>
            <a:endParaRPr lang="es-AR" dirty="0"/>
          </a:p>
          <a:p>
            <a:r>
              <a:rPr lang="es-AR" dirty="0"/>
              <a:t>Se especifica también </a:t>
            </a:r>
            <a:r>
              <a:rPr lang="es-AR" b="1" dirty="0"/>
              <a:t>el conocimiento que debería tener el evaluador</a:t>
            </a:r>
            <a:r>
              <a:rPr lang="es-AR" dirty="0"/>
              <a:t> y que se puede resumir en un profundo conocimiento de las WCAG 2.0, del diseño web accesible, de los distintos productos de apoyo y de cómo las personas con diferentes discapacidades usan la Web. Esto implica comprender las tecnologías web, las barreras de accesibilidad o las técnicas, herramientas y métodos de evaluación para identificar dichas barreras. </a:t>
            </a:r>
          </a:p>
          <a:p>
            <a:r>
              <a:rPr lang="es-AR" dirty="0"/>
              <a:t>La metodología puede ser llevada a cabo por tanto por un evaluador de forma individual o por un equipo de revisión. Se indica además, como ya he comentado, que la participación de personas con discapacidad y de personas mayores, aunque no es obligatoria, ayuda a identificar barreras de accesibilidad adicionales.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s-AR" dirty="0"/>
          </a:p>
          <a:p>
            <a:endParaRPr lang="es-AR" dirty="0"/>
          </a:p>
        </p:txBody>
      </p:sp>
      <p:sp>
        <p:nvSpPr>
          <p:cNvPr id="4" name="Marcador de número de diapositiva 3"/>
          <p:cNvSpPr>
            <a:spLocks noGrp="1"/>
          </p:cNvSpPr>
          <p:nvPr>
            <p:ph type="sldNum" sz="quarter" idx="10"/>
          </p:nvPr>
        </p:nvSpPr>
        <p:spPr/>
        <p:txBody>
          <a:bodyPr/>
          <a:lstStyle/>
          <a:p>
            <a:fld id="{16056653-EB7C-4C2C-8160-84A14F109A05}" type="slidenum">
              <a:rPr lang="es-AR" smtClean="0"/>
              <a:t>166</a:t>
            </a:fld>
            <a:endParaRPr lang="es-AR"/>
          </a:p>
        </p:txBody>
      </p:sp>
    </p:spTree>
    <p:extLst>
      <p:ext uri="{BB962C8B-B14F-4D97-AF65-F5344CB8AC3E}">
        <p14:creationId xmlns:p14="http://schemas.microsoft.com/office/powerpoint/2010/main" val="3951673199"/>
      </p:ext>
    </p:extLst>
  </p:cSld>
  <p:clrMapOvr>
    <a:masterClrMapping/>
  </p:clrMapOvr>
</p:notes>
</file>

<file path=ppt/notesSlides/notesSlide1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10"/>
          </p:nvPr>
        </p:nvSpPr>
        <p:spPr/>
        <p:txBody>
          <a:bodyPr/>
          <a:lstStyle/>
          <a:p>
            <a:fld id="{16056653-EB7C-4C2C-8160-84A14F109A05}" type="slidenum">
              <a:rPr lang="es-AR" smtClean="0"/>
              <a:t>167</a:t>
            </a:fld>
            <a:endParaRPr lang="es-AR"/>
          </a:p>
        </p:txBody>
      </p:sp>
    </p:spTree>
    <p:extLst>
      <p:ext uri="{BB962C8B-B14F-4D97-AF65-F5344CB8AC3E}">
        <p14:creationId xmlns:p14="http://schemas.microsoft.com/office/powerpoint/2010/main" val="2466860884"/>
      </p:ext>
    </p:extLst>
  </p:cSld>
  <p:clrMapOvr>
    <a:masterClrMapping/>
  </p:clrMapOvr>
</p:notes>
</file>

<file path=ppt/notesSlides/notesSlide1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AR" dirty="0"/>
              <a:t>El alcance se debería acordar de forma conjunta con quienes han encargado la evaluación, y de este modo asegurar unas expectativas comunes. Se divide en los siguientes subpasos..</a:t>
            </a:r>
          </a:p>
        </p:txBody>
      </p:sp>
      <p:sp>
        <p:nvSpPr>
          <p:cNvPr id="4" name="Marcador de número de diapositiva 3"/>
          <p:cNvSpPr>
            <a:spLocks noGrp="1"/>
          </p:cNvSpPr>
          <p:nvPr>
            <p:ph type="sldNum" sz="quarter" idx="10"/>
          </p:nvPr>
        </p:nvSpPr>
        <p:spPr/>
        <p:txBody>
          <a:bodyPr/>
          <a:lstStyle/>
          <a:p>
            <a:fld id="{16056653-EB7C-4C2C-8160-84A14F109A05}" type="slidenum">
              <a:rPr lang="es-AR" smtClean="0"/>
              <a:t>168</a:t>
            </a:fld>
            <a:endParaRPr lang="es-AR"/>
          </a:p>
        </p:txBody>
      </p:sp>
    </p:spTree>
    <p:extLst>
      <p:ext uri="{BB962C8B-B14F-4D97-AF65-F5344CB8AC3E}">
        <p14:creationId xmlns:p14="http://schemas.microsoft.com/office/powerpoint/2010/main" val="3951847130"/>
      </p:ext>
    </p:extLst>
  </p:cSld>
  <p:clrMapOvr>
    <a:masterClrMapping/>
  </p:clrMapOvr>
</p:notes>
</file>

<file path=ppt/notesSlides/notesSlide1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AR" b="1" dirty="0"/>
              <a:t>Paso 1a: definir el alcance del sitio</a:t>
            </a:r>
            <a:r>
              <a:rPr lang="es-AR" dirty="0"/>
              <a:t>, las páginas (y los estados de las mismas) a las que se va a aplicar la evaluación, sin contradecir las limitaciones que se han indicado en el ámbito de aplicación de la metodología. Es necesario documentar aspectos particulares como servicios desarrollados externamente, diferentes versiones de la misma (móvil, versiones por idioma), partes del portal que forman parte del mismo aunque no estén integradas en él (por ejemplo la zona de ecommerce), etc. Esto puede requerir conocer las propiedades o el proceso de desarrollo de algunas partes del sitio, y tener que llevarse a cabo a la vez que el paso 2 (navegar por el sitio web). </a:t>
            </a:r>
          </a:p>
          <a:p>
            <a:r>
              <a:rPr lang="es-AR" dirty="0"/>
              <a:t>El resultado debe ser una definición no ambigua que determine para cada página si está o no dentro del alcance de la evaluación. Se recomienda utilizar formalizaciones como expresiones regulares o listados de </a:t>
            </a:r>
            <a:r>
              <a:rPr lang="es-AR" dirty="0" err="1"/>
              <a:t>URIs</a:t>
            </a:r>
            <a:r>
              <a:rPr lang="es-AR" dirty="0"/>
              <a:t> para definir las páginas que están en el alcance. </a:t>
            </a:r>
          </a:p>
          <a:p>
            <a:r>
              <a:rPr lang="es-AR" b="1" dirty="0"/>
              <a:t>Paso 1b: definir cuál el nivel de adecuación (A, AA, AAA) que se va a evaluar</a:t>
            </a:r>
            <a:r>
              <a:rPr lang="es-AR" dirty="0"/>
              <a:t>. Habitualmente será el nivel AA, pero a menudo es útil ampliar el alcance para tener una imagen más completa de la accesibilidad del sitio.</a:t>
            </a:r>
          </a:p>
          <a:p>
            <a:r>
              <a:rPr lang="es-AR" b="1" dirty="0"/>
              <a:t>Paso 1c: definir el soporte de la accesibilidad</a:t>
            </a:r>
            <a:r>
              <a:rPr lang="es-AR" dirty="0"/>
              <a:t>, es decir, un listado de los navegadores web, los productos de apoyo u otros agentes de usuario con los que las características de accesibilidad deben ser compatibles. Salvo en el caso de las Intranets, lo ideal es que sea lo más amplia posible. Ponen el siguiente ejemplo: la posibilidad de enseñar subtítulos en un reproductor de vídeo no estará soportado por todas las combinaciones posibles de navegadores y productos de apoyo, y en este sentido las WCAG 2.0 no definen para qué combinación concreta debe ser soportada, pues depende del contexto particular del sitio.</a:t>
            </a:r>
          </a:p>
          <a:p>
            <a:r>
              <a:rPr lang="es-AR" b="1" dirty="0"/>
              <a:t>Paso 1d (opcional): definir los requisitos de evaluación adicionales</a:t>
            </a:r>
            <a:r>
              <a:rPr lang="es-AR" dirty="0"/>
              <a:t> acordados entre el evaluador y quien ha encargado la evaluación (páginas adicionales solicitadas, casos de uso especiales, si desean un informe muy detallado indicando la solución para cada problema detectado, la participación de personas con discapacidad, etc.)</a:t>
            </a:r>
          </a:p>
        </p:txBody>
      </p:sp>
      <p:sp>
        <p:nvSpPr>
          <p:cNvPr id="4" name="Marcador de número de diapositiva 3"/>
          <p:cNvSpPr>
            <a:spLocks noGrp="1"/>
          </p:cNvSpPr>
          <p:nvPr>
            <p:ph type="sldNum" sz="quarter" idx="10"/>
          </p:nvPr>
        </p:nvSpPr>
        <p:spPr/>
        <p:txBody>
          <a:bodyPr/>
          <a:lstStyle/>
          <a:p>
            <a:fld id="{16056653-EB7C-4C2C-8160-84A14F109A05}" type="slidenum">
              <a:rPr lang="es-AR" smtClean="0"/>
              <a:t>169</a:t>
            </a:fld>
            <a:endParaRPr lang="es-AR"/>
          </a:p>
        </p:txBody>
      </p:sp>
    </p:spTree>
    <p:extLst>
      <p:ext uri="{BB962C8B-B14F-4D97-AF65-F5344CB8AC3E}">
        <p14:creationId xmlns:p14="http://schemas.microsoft.com/office/powerpoint/2010/main" val="4137182164"/>
      </p:ext>
    </p:extLst>
  </p:cSld>
  <p:clrMapOvr>
    <a:masterClrMapping/>
  </p:clrMapOvr>
</p:notes>
</file>

<file path=ppt/notesSlides/notesSlide1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AR" dirty="0"/>
              <a:t>El evaluador debe poder acceder a todas las páginas. Este paso permite comprender mejor el uso, propósito y funcionalidad del sitio; y además ayuda a identificar las páginas relevantes o con problemas que son candidatas a incluirse en la muestra a analizar. </a:t>
            </a:r>
          </a:p>
          <a:p>
            <a:r>
              <a:rPr lang="es-AR" dirty="0"/>
              <a:t>Suele ser más eficaz si se hace participes a los desarrolladores y/o a los propietarios del sitio. La exploración inicial suele ser refinada en los pasos posteriores. </a:t>
            </a:r>
          </a:p>
          <a:p>
            <a:r>
              <a:rPr lang="es-AR" dirty="0"/>
              <a:t>Se divide en los siguiente subpasos…</a:t>
            </a:r>
          </a:p>
          <a:p>
            <a:endParaRPr lang="es-AR" dirty="0"/>
          </a:p>
        </p:txBody>
      </p:sp>
      <p:sp>
        <p:nvSpPr>
          <p:cNvPr id="4" name="Marcador de número de diapositiva 3"/>
          <p:cNvSpPr>
            <a:spLocks noGrp="1"/>
          </p:cNvSpPr>
          <p:nvPr>
            <p:ph type="sldNum" sz="quarter" idx="10"/>
          </p:nvPr>
        </p:nvSpPr>
        <p:spPr/>
        <p:txBody>
          <a:bodyPr/>
          <a:lstStyle/>
          <a:p>
            <a:fld id="{16056653-EB7C-4C2C-8160-84A14F109A05}" type="slidenum">
              <a:rPr lang="es-AR" smtClean="0"/>
              <a:t>170</a:t>
            </a:fld>
            <a:endParaRPr lang="es-AR"/>
          </a:p>
        </p:txBody>
      </p:sp>
    </p:spTree>
    <p:extLst>
      <p:ext uri="{BB962C8B-B14F-4D97-AF65-F5344CB8AC3E}">
        <p14:creationId xmlns:p14="http://schemas.microsoft.com/office/powerpoint/2010/main" val="4285628876"/>
      </p:ext>
    </p:extLst>
  </p:cSld>
  <p:clrMapOvr>
    <a:masterClrMapping/>
  </p:clrMapOvr>
</p:notes>
</file>

<file path=ppt/notesSlides/notesSlide1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AR" b="1" dirty="0"/>
              <a:t>2a: identificar las páginas (o estados de las páginas) relevantes</a:t>
            </a:r>
            <a:r>
              <a:rPr lang="es-AR" dirty="0"/>
              <a:t> Incluye la home, la página de </a:t>
            </a:r>
            <a:r>
              <a:rPr lang="es-AR" dirty="0" err="1"/>
              <a:t>login</a:t>
            </a:r>
            <a:r>
              <a:rPr lang="es-AR" dirty="0"/>
              <a:t> y otras páginas de entrada, el mapa del sitio, la página de contacto, de ayuda, de información legal y otras similares que normalmente están enlazadas desde todas las páginas (por lo general en la cabecera, el pie o el menú de navegación)</a:t>
            </a:r>
          </a:p>
          <a:p>
            <a:r>
              <a:rPr lang="es-AR" b="1" dirty="0"/>
              <a:t>2b: identificar las funcionalidades clave del sitio</a:t>
            </a:r>
            <a:r>
              <a:rPr lang="es-AR" dirty="0"/>
              <a:t>, el propósito de este paso no es identificar de forma exhaustiva todas las funcionalidades de un sitio web, sino determinar aquellas que son esenciales para el propósito y el objetivo del sitio. El resultado de este paso es una lista de funcionalidades que los usuarios pueden realizar en el sitio como "selección y compra de un producto", "registrar una cuenta en el sitio", "rellenar y enviar un formulario", etc.</a:t>
            </a:r>
          </a:p>
          <a:p>
            <a:r>
              <a:rPr lang="es-AR" b="1" dirty="0"/>
              <a:t>2c: identificar los diferentes tipos de páginas y estados de página</a:t>
            </a:r>
            <a:r>
              <a:rPr lang="es-AR" dirty="0"/>
              <a:t> con diferentes estilos, </a:t>
            </a:r>
            <a:r>
              <a:rPr lang="es-AR" i="1" dirty="0" err="1"/>
              <a:t>layout</a:t>
            </a:r>
            <a:r>
              <a:rPr lang="es-AR" dirty="0"/>
              <a:t>, estructuras y funciones, que a menudo son generadas por diferentes plantillas y escritas por diferentes personas. También pueden ser páginas con diferentes estados, páginas que se ven o comportan diferente dependiendo del usuario y el contexto. El contenido que se debe buscar para identificar diferentes tipos de páginas o diferentes estados de una página son: </a:t>
            </a:r>
          </a:p>
          <a:p>
            <a:pPr lvl="1"/>
            <a:r>
              <a:rPr lang="es-AR" dirty="0"/>
              <a:t>Contenido web con diferentes estilos, </a:t>
            </a:r>
            <a:r>
              <a:rPr lang="es-AR" dirty="0" err="1"/>
              <a:t>layout</a:t>
            </a:r>
            <a:r>
              <a:rPr lang="es-AR" dirty="0"/>
              <a:t>, estructura, navegación, interacción y diseño visual;</a:t>
            </a:r>
          </a:p>
          <a:p>
            <a:pPr lvl="1"/>
            <a:r>
              <a:rPr lang="es-AR" dirty="0"/>
              <a:t>Diferentes tipos de contenido, como formularios, tablas, listas, encabezados, multimedia y scripts;</a:t>
            </a:r>
          </a:p>
          <a:p>
            <a:pPr lvl="1"/>
            <a:r>
              <a:rPr lang="es-AR" dirty="0"/>
              <a:t>Contenido con diferentes componentes funcionales, tales como selector de fechas, </a:t>
            </a:r>
            <a:r>
              <a:rPr lang="es-AR" i="1" dirty="0" err="1"/>
              <a:t>lightbox</a:t>
            </a:r>
            <a:r>
              <a:rPr lang="es-AR" dirty="0"/>
              <a:t>, </a:t>
            </a:r>
            <a:r>
              <a:rPr lang="es-AR" i="1" dirty="0"/>
              <a:t>slider</a:t>
            </a:r>
            <a:r>
              <a:rPr lang="es-AR" dirty="0"/>
              <a:t>, y otros;</a:t>
            </a:r>
          </a:p>
          <a:p>
            <a:pPr lvl="1"/>
            <a:r>
              <a:rPr lang="es-AR" dirty="0"/>
              <a:t>Contenido que utilizan diversas tecnologías, tales como HTML, CSS, JavaScript, WAI-ARIA, PDF, etc.;</a:t>
            </a:r>
          </a:p>
          <a:p>
            <a:pPr lvl="1"/>
            <a:r>
              <a:rPr lang="es-AR" dirty="0"/>
              <a:t>Contenido de diferentes áreas del sitio (home, departamentos, ecommerce, etc.);</a:t>
            </a:r>
          </a:p>
          <a:p>
            <a:pPr lvl="1"/>
            <a:r>
              <a:rPr lang="es-AR" dirty="0"/>
              <a:t>Contenido que ha sido creado usando diferentes plantillas;</a:t>
            </a:r>
          </a:p>
          <a:p>
            <a:pPr lvl="1"/>
            <a:r>
              <a:rPr lang="es-AR" dirty="0"/>
              <a:t>Contenido cuya autoría es de diferentes personas, departamentos o entidades;</a:t>
            </a:r>
          </a:p>
          <a:p>
            <a:pPr lvl="1"/>
            <a:r>
              <a:rPr lang="es-AR" dirty="0"/>
              <a:t>Contenido en el que cambia la apariencia y comportamiento en función del usuario, el dispositivo, el navegador, el contexto o la configuración;</a:t>
            </a:r>
          </a:p>
          <a:p>
            <a:pPr lvl="1"/>
            <a:r>
              <a:rPr lang="es-AR" dirty="0"/>
              <a:t>Contenido dinámico: mensajes de error, cuadros de diálogo, pop-ups u otro tipo de interacción;</a:t>
            </a:r>
          </a:p>
          <a:p>
            <a:r>
              <a:rPr lang="es-AR" b="1" dirty="0"/>
              <a:t>2d: identificar las tecnologías de las que se depende</a:t>
            </a:r>
            <a:r>
              <a:rPr lang="es-AR" dirty="0"/>
              <a:t> (pueden ser HTML, CSS, JavaScript, WAI-ARIA, SMIL, SVG, PDF, etc. Si es posible, a menudo es útil identificar también las bibliotecas y los componentes utilizados como </a:t>
            </a:r>
            <a:r>
              <a:rPr lang="es-AR" dirty="0" err="1"/>
              <a:t>Dojo</a:t>
            </a:r>
            <a:r>
              <a:rPr lang="es-AR" dirty="0"/>
              <a:t> o </a:t>
            </a:r>
            <a:r>
              <a:rPr lang="es-AR" dirty="0" err="1"/>
              <a:t>jQuery</a:t>
            </a:r>
            <a:r>
              <a:rPr lang="es-AR" dirty="0"/>
              <a:t>.</a:t>
            </a:r>
          </a:p>
          <a:p>
            <a:r>
              <a:rPr lang="es-AR" b="1" dirty="0"/>
              <a:t>2e: identificar otras páginas (o estados de páginas) relevantes</a:t>
            </a:r>
            <a:r>
              <a:rPr lang="es-AR" dirty="0"/>
              <a:t> para las personas con discapacidad o para la accesibilidad del sitio: páginas que explican características de accesibilidad; con información y ayuda sobre el uso del sitio; páginas donde se explica la configuración, preferencias, opciones o accesos directos o páginas con información de contacto, direcciones o instrucciones de soporte. </a:t>
            </a:r>
          </a:p>
          <a:p>
            <a:endParaRPr lang="es-AR" dirty="0"/>
          </a:p>
        </p:txBody>
      </p:sp>
      <p:sp>
        <p:nvSpPr>
          <p:cNvPr id="4" name="Marcador de número de diapositiva 3"/>
          <p:cNvSpPr>
            <a:spLocks noGrp="1"/>
          </p:cNvSpPr>
          <p:nvPr>
            <p:ph type="sldNum" sz="quarter" idx="10"/>
          </p:nvPr>
        </p:nvSpPr>
        <p:spPr/>
        <p:txBody>
          <a:bodyPr/>
          <a:lstStyle/>
          <a:p>
            <a:fld id="{16056653-EB7C-4C2C-8160-84A14F109A05}" type="slidenum">
              <a:rPr lang="es-AR" smtClean="0"/>
              <a:t>171</a:t>
            </a:fld>
            <a:endParaRPr lang="es-AR"/>
          </a:p>
        </p:txBody>
      </p:sp>
    </p:spTree>
    <p:extLst>
      <p:ext uri="{BB962C8B-B14F-4D97-AF65-F5344CB8AC3E}">
        <p14:creationId xmlns:p14="http://schemas.microsoft.com/office/powerpoint/2010/main" val="1523757638"/>
      </p:ext>
    </p:extLst>
  </p:cSld>
  <p:clrMapOvr>
    <a:masterClrMapping/>
  </p:clrMapOvr>
</p:notes>
</file>

<file path=ppt/notesSlides/notesSlide1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AR" dirty="0"/>
              <a:t>Lo ideal es que se evalúe el sitio completo, pero esto no suele ser posible, y se debe seleccionar una muestra de páginas que represente a todo el sitio, de manera que asegure que los resultados de la evaluación reflejan la accesibilidad de todo el sitio con suficiente fiabilidad. </a:t>
            </a:r>
          </a:p>
          <a:p>
            <a:r>
              <a:rPr lang="es-AR" dirty="0"/>
              <a:t>El tamaño de la muestra dependerá del tamaño, complejidad o consistencia del sitio y de otros factores que se enumeran. </a:t>
            </a:r>
          </a:p>
          <a:p>
            <a:r>
              <a:rPr lang="es-AR" dirty="0"/>
              <a:t>Los subpasos de los que se compone…</a:t>
            </a:r>
          </a:p>
          <a:p>
            <a:endParaRPr lang="es-AR" dirty="0"/>
          </a:p>
        </p:txBody>
      </p:sp>
      <p:sp>
        <p:nvSpPr>
          <p:cNvPr id="4" name="Marcador de número de diapositiva 3"/>
          <p:cNvSpPr>
            <a:spLocks noGrp="1"/>
          </p:cNvSpPr>
          <p:nvPr>
            <p:ph type="sldNum" sz="quarter" idx="10"/>
          </p:nvPr>
        </p:nvSpPr>
        <p:spPr/>
        <p:txBody>
          <a:bodyPr/>
          <a:lstStyle/>
          <a:p>
            <a:fld id="{16056653-EB7C-4C2C-8160-84A14F109A05}" type="slidenum">
              <a:rPr lang="es-AR" smtClean="0"/>
              <a:t>172</a:t>
            </a:fld>
            <a:endParaRPr lang="es-AR"/>
          </a:p>
        </p:txBody>
      </p:sp>
    </p:spTree>
    <p:extLst>
      <p:ext uri="{BB962C8B-B14F-4D97-AF65-F5344CB8AC3E}">
        <p14:creationId xmlns:p14="http://schemas.microsoft.com/office/powerpoint/2010/main" val="1319286375"/>
      </p:ext>
    </p:extLst>
  </p:cSld>
  <p:clrMapOvr>
    <a:masterClrMapping/>
  </p:clrMapOvr>
</p:notes>
</file>

<file path=ppt/notesSlides/notesSlide1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AR" b="1" dirty="0"/>
              <a:t>3a: incluir una muestra estructurada</a:t>
            </a:r>
            <a:r>
              <a:rPr lang="es-AR" dirty="0"/>
              <a:t>, en concreto las páginas (y estados de páginas) que se identificaron en el paso 2. Las identificadas como relevantes (2a, 2e), las que además tienen funcionalidades esenciales (2b), diferentes tipos de páginas (2c) o que dependan de diferentes tecnologías (2d). La cuidadosa selección de las páginas puede reducir significativamente el tamaño de la muestra requerida manteniendo una representación adecuada de todo el sitio web.</a:t>
            </a:r>
          </a:p>
          <a:p>
            <a:r>
              <a:rPr lang="es-AR" b="1" dirty="0"/>
              <a:t>3b: incluir una muestra al azar,</a:t>
            </a:r>
            <a:r>
              <a:rPr lang="es-AR" dirty="0"/>
              <a:t> de páginas y estados de páginas que no forman ya parte de la muestra y que actúa como indicador de verificación de los resultados y aumenta la confianza en los mismos. Debe ser un 10%, debe seleccionarse dentro de todo el ámbito del sitio y sin seguir un patrón predecible. Han de documentarse cuáles son porque en el paso 4c se compararán con el resto de la muestra.</a:t>
            </a:r>
          </a:p>
          <a:p>
            <a:r>
              <a:rPr lang="es-AR" b="1" dirty="0"/>
              <a:t>3c: incluir en la muestra procesos completos</a:t>
            </a:r>
            <a:r>
              <a:rPr lang="es-AR" dirty="0"/>
              <a:t>. Es decir, todas las páginas de un proceso, no se puede seleccionar solo una página del proceso. Se describe con detalle cómo identificarlas y seleccionarlas.</a:t>
            </a:r>
          </a:p>
          <a:p>
            <a:endParaRPr lang="es-AR" dirty="0"/>
          </a:p>
        </p:txBody>
      </p:sp>
      <p:sp>
        <p:nvSpPr>
          <p:cNvPr id="4" name="Marcador de número de diapositiva 3"/>
          <p:cNvSpPr>
            <a:spLocks noGrp="1"/>
          </p:cNvSpPr>
          <p:nvPr>
            <p:ph type="sldNum" sz="quarter" idx="10"/>
          </p:nvPr>
        </p:nvSpPr>
        <p:spPr/>
        <p:txBody>
          <a:bodyPr/>
          <a:lstStyle/>
          <a:p>
            <a:fld id="{16056653-EB7C-4C2C-8160-84A14F109A05}" type="slidenum">
              <a:rPr lang="es-AR" smtClean="0"/>
              <a:t>173</a:t>
            </a:fld>
            <a:endParaRPr lang="es-AR"/>
          </a:p>
        </p:txBody>
      </p:sp>
    </p:spTree>
    <p:extLst>
      <p:ext uri="{BB962C8B-B14F-4D97-AF65-F5344CB8AC3E}">
        <p14:creationId xmlns:p14="http://schemas.microsoft.com/office/powerpoint/2010/main" val="3630793309"/>
      </p:ext>
    </p:extLst>
  </p:cSld>
  <p:clrMapOvr>
    <a:masterClrMapping/>
  </p:clrMapOvr>
</p:notes>
</file>

<file path=ppt/notesSlides/notesSlide1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AR" dirty="0"/>
              <a:t>Se debe verificar por cada página de la muestra (comparando la muestra estructurada y la muestra seleccionada al azar) si cumple con los cinco requisitos de conformidad de las WCAG 2.0, y si cumple con los criterios de conformidad del nivel de adecuación que se evalúa. </a:t>
            </a:r>
          </a:p>
        </p:txBody>
      </p:sp>
      <p:sp>
        <p:nvSpPr>
          <p:cNvPr id="4" name="Marcador de número de diapositiva 3"/>
          <p:cNvSpPr>
            <a:spLocks noGrp="1"/>
          </p:cNvSpPr>
          <p:nvPr>
            <p:ph type="sldNum" sz="quarter" idx="10"/>
          </p:nvPr>
        </p:nvSpPr>
        <p:spPr/>
        <p:txBody>
          <a:bodyPr/>
          <a:lstStyle/>
          <a:p>
            <a:fld id="{16056653-EB7C-4C2C-8160-84A14F109A05}" type="slidenum">
              <a:rPr lang="es-AR" smtClean="0"/>
              <a:t>174</a:t>
            </a:fld>
            <a:endParaRPr lang="es-AR"/>
          </a:p>
        </p:txBody>
      </p:sp>
    </p:spTree>
    <p:extLst>
      <p:ext uri="{BB962C8B-B14F-4D97-AF65-F5344CB8AC3E}">
        <p14:creationId xmlns:p14="http://schemas.microsoft.com/office/powerpoint/2010/main" val="66172951"/>
      </p:ext>
    </p:extLst>
  </p:cSld>
  <p:clrMapOvr>
    <a:masterClrMapping/>
  </p:clrMapOvr>
</p:notes>
</file>

<file path=ppt/notesSlides/notesSlide1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AR" b="1" dirty="0"/>
              <a:t>4a: revisa todas las páginas iniciales</a:t>
            </a:r>
            <a:r>
              <a:rPr lang="es-AR" dirty="0"/>
              <a:t>. Comprueba que todas las páginas (o estados de página) de la muestra que no estén dentro o al final de un proceso se ajustan a los cinco requisitos de conformidad de las WCAG 2.0 de acuerdo al nivel de conformidad definido. Esto incluye todos los componentes sin activar ninguna función, introduciendo datos o de cualquier otra manera en la que se pueda interactuar con el contenido. Los componentes comunes como la cabecera o el pie no necesitan ser re-evaluados en cada página. Ten en cuenta las técnicas y errores comunes documentados en las WCAG 2.0 pero recuerda que no son normativos y puede haber más. </a:t>
            </a:r>
          </a:p>
          <a:p>
            <a:r>
              <a:rPr lang="es-AR" dirty="0"/>
              <a:t>Si no hay contenido relacionado con los criterios de éxito (por ejemplo, no hay vídeo), entonces los criterios son satisfechos. Opcionalmente se puede indicar específicamente los criterios de conformidad para los que no hay contenido relevante, por ejemplo, indicando "no presente". </a:t>
            </a:r>
          </a:p>
          <a:p>
            <a:r>
              <a:rPr lang="es-AR" dirty="0"/>
              <a:t>El contenido de las páginas o estados de páginas pueden tener versiones alternativas, en ese caso se evalúan juntas (la página y la versión alternativa) como una unidad. </a:t>
            </a:r>
          </a:p>
          <a:p>
            <a:r>
              <a:rPr lang="es-AR" dirty="0"/>
              <a:t>Comprueba que todas las características son soportadas por los navegadores y productos de apoyo definidos en el paso 1c. </a:t>
            </a:r>
          </a:p>
          <a:p>
            <a:r>
              <a:rPr lang="es-AR" b="1" dirty="0"/>
              <a:t>4b: evalúa todos los procesos completos</a:t>
            </a:r>
            <a:r>
              <a:rPr lang="es-AR" dirty="0"/>
              <a:t> seleccionados en el paso 3c, comprobando la funcionalidad, introducción de datos, notificaciones y otro tipo de interacciones. No es necesario evaluar todo el contenido, solo el que cambia a lo largo del proceso. En particular incluye: </a:t>
            </a:r>
          </a:p>
          <a:p>
            <a:pPr lvl="1"/>
            <a:r>
              <a:rPr lang="es-AR" dirty="0"/>
              <a:t>la interacción con formularios, cuadros de diálogo y otros componentes de la página.</a:t>
            </a:r>
          </a:p>
          <a:p>
            <a:pPr lvl="1"/>
            <a:r>
              <a:rPr lang="es-AR" dirty="0"/>
              <a:t>la confirmación de entrada de datos, los mensajes de error y otros </a:t>
            </a:r>
            <a:r>
              <a:rPr lang="es-AR" dirty="0" err="1"/>
              <a:t>feedback</a:t>
            </a:r>
            <a:r>
              <a:rPr lang="es-AR" dirty="0"/>
              <a:t> resultantes de la interacción con el usuario.</a:t>
            </a:r>
          </a:p>
          <a:p>
            <a:pPr lvl="1"/>
            <a:r>
              <a:rPr lang="es-AR" dirty="0"/>
              <a:t>comportamiento con diferentes ajustes, preferencias, dispositivos y parámetros de interacción.</a:t>
            </a:r>
          </a:p>
          <a:p>
            <a:r>
              <a:rPr lang="es-AR" b="1" dirty="0"/>
              <a:t>4c: compara las páginas de la muestra que seleccionaste de forma estructurada con las páginas de la muestra que seleccionaste aleatoriamente</a:t>
            </a:r>
            <a:r>
              <a:rPr lang="es-AR" dirty="0"/>
              <a:t>. Comprueba que en la muestra al azar no hay contenidos o resultados no representados en la muestra estructurada, en caso contrario es que la muestra estructurada no era suficientemente representativa y debes volver a los pasos anteriores.</a:t>
            </a:r>
          </a:p>
          <a:p>
            <a:endParaRPr lang="es-AR" dirty="0"/>
          </a:p>
        </p:txBody>
      </p:sp>
      <p:sp>
        <p:nvSpPr>
          <p:cNvPr id="4" name="Marcador de número de diapositiva 3"/>
          <p:cNvSpPr>
            <a:spLocks noGrp="1"/>
          </p:cNvSpPr>
          <p:nvPr>
            <p:ph type="sldNum" sz="quarter" idx="10"/>
          </p:nvPr>
        </p:nvSpPr>
        <p:spPr/>
        <p:txBody>
          <a:bodyPr/>
          <a:lstStyle/>
          <a:p>
            <a:fld id="{16056653-EB7C-4C2C-8160-84A14F109A05}" type="slidenum">
              <a:rPr lang="es-AR" smtClean="0"/>
              <a:t>175</a:t>
            </a:fld>
            <a:endParaRPr lang="es-AR"/>
          </a:p>
        </p:txBody>
      </p:sp>
    </p:spTree>
    <p:extLst>
      <p:ext uri="{BB962C8B-B14F-4D97-AF65-F5344CB8AC3E}">
        <p14:creationId xmlns:p14="http://schemas.microsoft.com/office/powerpoint/2010/main" val="92339996"/>
      </p:ext>
    </p:extLst>
  </p:cSld>
  <p:clrMapOvr>
    <a:masterClrMapping/>
  </p:clrMapOvr>
</p:notes>
</file>

<file path=ppt/notesSlides/notesSlide1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AR" dirty="0"/>
              <a:t>Los resultados se presentan al final del proceso, pero se registran durante la evaluación. No todos los datos registrados se tienen o pueden incluir obligatoriamente después en el informe, por ejemplo por motivos de confidencialidad. </a:t>
            </a:r>
          </a:p>
          <a:p>
            <a:r>
              <a:rPr lang="es-AR" dirty="0"/>
              <a:t>Los subpasos propuestos son…</a:t>
            </a:r>
          </a:p>
        </p:txBody>
      </p:sp>
      <p:sp>
        <p:nvSpPr>
          <p:cNvPr id="4" name="Marcador de número de diapositiva 3"/>
          <p:cNvSpPr>
            <a:spLocks noGrp="1"/>
          </p:cNvSpPr>
          <p:nvPr>
            <p:ph type="sldNum" sz="quarter" idx="10"/>
          </p:nvPr>
        </p:nvSpPr>
        <p:spPr/>
        <p:txBody>
          <a:bodyPr/>
          <a:lstStyle/>
          <a:p>
            <a:fld id="{16056653-EB7C-4C2C-8160-84A14F109A05}" type="slidenum">
              <a:rPr lang="es-AR" smtClean="0"/>
              <a:t>176</a:t>
            </a:fld>
            <a:endParaRPr lang="es-AR"/>
          </a:p>
        </p:txBody>
      </p:sp>
    </p:spTree>
    <p:extLst>
      <p:ext uri="{BB962C8B-B14F-4D97-AF65-F5344CB8AC3E}">
        <p14:creationId xmlns:p14="http://schemas.microsoft.com/office/powerpoint/2010/main" val="1950401132"/>
      </p:ext>
    </p:extLst>
  </p:cSld>
  <p:clrMapOvr>
    <a:masterClrMapping/>
  </p:clrMapOvr>
</p:notes>
</file>

<file path=ppt/notesSlides/notesSlide1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AR" b="1" dirty="0"/>
              <a:t>5a: proporcionar documentación para cada paso.</a:t>
            </a:r>
            <a:r>
              <a:rPr lang="es-AR" dirty="0"/>
              <a:t> Documentar los resultados de los pasos 1, 2, 3 y 4 para justificar los resultados y garantizar su transparencia y su </a:t>
            </a:r>
            <a:r>
              <a:rPr lang="es-AR" dirty="0" err="1"/>
              <a:t>replicabilidad</a:t>
            </a:r>
            <a:r>
              <a:rPr lang="es-AR" dirty="0"/>
              <a:t>. Esta documentación no es necesario que sea pública, dependerá del nivel de confidencialidad acordado. Se debe documentar al menos: </a:t>
            </a:r>
          </a:p>
          <a:p>
            <a:pPr lvl="1"/>
            <a:r>
              <a:rPr lang="es-AR" b="1" dirty="0"/>
              <a:t>Acerca de la evaluación:</a:t>
            </a:r>
            <a:r>
              <a:rPr lang="es-AR" dirty="0"/>
              <a:t> nombre del evaluador, nombre de la persona/empresa/organización que ha solicitado la evaluación y la fecha en la que se ha llevado a cabo la misma (fecha concreta o periodo de tiempo)</a:t>
            </a:r>
          </a:p>
          <a:p>
            <a:pPr lvl="1"/>
            <a:r>
              <a:rPr lang="es-AR" b="1" dirty="0"/>
              <a:t>Alcance de la evaluación:</a:t>
            </a:r>
            <a:r>
              <a:rPr lang="es-AR" dirty="0"/>
              <a:t> alcance definido en el paso 1a, el nivel de adecuación a evaluar definido en el paso 1b, el soporte de accesibilidad definida en el paso 1c y los requisitos adicionales definidos en el paso 1d.</a:t>
            </a:r>
          </a:p>
          <a:p>
            <a:pPr lvl="1"/>
            <a:r>
              <a:rPr lang="es-AR" b="1" dirty="0"/>
              <a:t>Exploración del sitio:</a:t>
            </a:r>
            <a:r>
              <a:rPr lang="es-AR" dirty="0"/>
              <a:t> tecnologías de las que se depende definidas en el paso 2d. Opcionalmente las páginas y funcionalidades identificadas en los pasos 2a, 2b, 2c, 2e.</a:t>
            </a:r>
          </a:p>
          <a:p>
            <a:pPr lvl="1"/>
            <a:r>
              <a:rPr lang="es-AR" b="1" dirty="0"/>
              <a:t>Muestra representativa:</a:t>
            </a:r>
            <a:r>
              <a:rPr lang="es-AR" dirty="0"/>
              <a:t> las páginas seleccionadas de acuerdo a los distintos subpasos del paso 3.</a:t>
            </a:r>
          </a:p>
          <a:p>
            <a:pPr lvl="1"/>
            <a:r>
              <a:rPr lang="es-AR" b="1" dirty="0"/>
              <a:t>Auditoría de la muestra:</a:t>
            </a:r>
            <a:r>
              <a:rPr lang="es-AR" dirty="0"/>
              <a:t> evaluación de los resultados según los subpasos del paso 4.</a:t>
            </a:r>
          </a:p>
          <a:p>
            <a:r>
              <a:rPr lang="es-AR" dirty="0"/>
              <a:t>Según la </a:t>
            </a:r>
            <a:r>
              <a:rPr lang="es-AR" dirty="0" err="1"/>
              <a:t>granulidad</a:t>
            </a:r>
            <a:r>
              <a:rPr lang="es-AR" dirty="0"/>
              <a:t> del informe, los resultados del paso 4 se pueden dar por cada página o por toda la muestra en su conjunto, indicando si se cumple o no en toda la muestra y poniendo al menos un ejemplo por cada requisito de conformidad que no se cumple. Pero en los requisitos adicionales se pudo acordar un informe más detallado con todos los fallos de cada página y recomendaciones para solucionarlos. </a:t>
            </a:r>
          </a:p>
          <a:p>
            <a:r>
              <a:rPr lang="es-AR" b="1" dirty="0"/>
              <a:t>5b (opcional): registrar los detalles específicos de la evaluación</a:t>
            </a:r>
            <a:r>
              <a:rPr lang="es-AR" dirty="0"/>
              <a:t>, guardar las páginas y estados auditados, una captura de pantalla y las rutas; describir los ajustes, datos introducidos o acciones para llegar a las páginas o a un estado de las mismas; credenciales de acceso para poder replicar los datos y flujo de trabajo; registrar las herramientas, navegadores, tecnologías de apoyo u otro software (nombre y versión); métodos, procedimientos y técnicas utilizados para la auditoría. Suele ser un registro interno pero es una buena práctica por ejemplo en caso de conflicto.</a:t>
            </a:r>
          </a:p>
          <a:p>
            <a:r>
              <a:rPr lang="es-AR" b="1" dirty="0"/>
              <a:t>5c (opcional): proporcionar una declaración</a:t>
            </a:r>
            <a:r>
              <a:rPr lang="es-AR" dirty="0"/>
              <a:t> que describa el nivel de conformidad de los resultados. Como se ha indicado, en la mayoría de las situaciones esta metodología no permite una declaración de conformidad de acuerdo a las WCAG 2.0 de todo el sitio completo. Se puede hacer una declaración pública de los resultados si se cumple la metodología y el propietario del sitio web se compromete a velar por la exactitud y validez de la declaración de conformidad de la evaluación. La declaración de conformidad según esta metodología debe incluir: la fecha de la declaración; el título, versión y URI de las pautas utilizadas; el nivel de conformidad satisfecho; una descripción de las páginas para las que se efectúa la declaración (según paso 1a); una lista de tecnologías web de las que se depende (identificadas en el paso 2d); y el soporte de la accesibilidad como se define en el paso 1c. </a:t>
            </a:r>
          </a:p>
          <a:p>
            <a:r>
              <a:rPr lang="es-AR" dirty="0"/>
              <a:t>La declaración puede ser parcial, en cuyo caso deben indicarse las áreas que no son conformes y la razón (contenido de terceros o falta de soporte para la accesibilidad) </a:t>
            </a:r>
          </a:p>
          <a:p>
            <a:r>
              <a:rPr lang="es-AR" b="1" dirty="0"/>
              <a:t>5d (opcional): proporcionar una puntuación</a:t>
            </a:r>
            <a:r>
              <a:rPr lang="es-AR" dirty="0"/>
              <a:t>, que puede ser útil para controlar el progreso a través del tiempo. Señala que actualmente no hay un indicador ampliamente reconocido, fiable, preciso y práctico. De hecho pueden ser engañosos porque no proporcionan suficiente contexto e información para comprender el estado de la accesibilidad real sitio. El documento del W3C </a:t>
            </a:r>
            <a:r>
              <a:rPr lang="es-AR" dirty="0" err="1">
                <a:hlinkClick r:id="rId3"/>
              </a:rPr>
              <a:t>Research</a:t>
            </a:r>
            <a:r>
              <a:rPr lang="es-AR" dirty="0">
                <a:hlinkClick r:id="rId3"/>
              </a:rPr>
              <a:t> </a:t>
            </a:r>
            <a:r>
              <a:rPr lang="es-AR" dirty="0" err="1">
                <a:hlinkClick r:id="rId3"/>
              </a:rPr>
              <a:t>Report</a:t>
            </a:r>
            <a:r>
              <a:rPr lang="es-AR" dirty="0">
                <a:hlinkClick r:id="rId3"/>
              </a:rPr>
              <a:t> </a:t>
            </a:r>
            <a:r>
              <a:rPr lang="es-AR" dirty="0" err="1">
                <a:hlinkClick r:id="rId3"/>
              </a:rPr>
              <a:t>on</a:t>
            </a:r>
            <a:r>
              <a:rPr lang="es-AR" dirty="0">
                <a:hlinkClick r:id="rId3"/>
              </a:rPr>
              <a:t> Web </a:t>
            </a:r>
            <a:r>
              <a:rPr lang="es-AR" dirty="0" err="1">
                <a:hlinkClick r:id="rId3"/>
              </a:rPr>
              <a:t>Accessibility</a:t>
            </a:r>
            <a:r>
              <a:rPr lang="es-AR" dirty="0">
                <a:hlinkClick r:id="rId3"/>
              </a:rPr>
              <a:t> </a:t>
            </a:r>
            <a:r>
              <a:rPr lang="es-AR" dirty="0" err="1">
                <a:hlinkClick r:id="rId3"/>
              </a:rPr>
              <a:t>Metrics</a:t>
            </a:r>
            <a:r>
              <a:rPr lang="es-AR" dirty="0"/>
              <a:t> proporciona diferentes enfoques y sus limitaciones. En cualquier caso, si se incluye una puntuación, el método de puntuación debe indicarse siempre claramente junto a la puntuación y debería documentarse para facilitar la transparencia y fiabilidad. </a:t>
            </a:r>
          </a:p>
          <a:p>
            <a:endParaRPr lang="es-AR" dirty="0"/>
          </a:p>
        </p:txBody>
      </p:sp>
      <p:sp>
        <p:nvSpPr>
          <p:cNvPr id="4" name="Marcador de número de diapositiva 3"/>
          <p:cNvSpPr>
            <a:spLocks noGrp="1"/>
          </p:cNvSpPr>
          <p:nvPr>
            <p:ph type="sldNum" sz="quarter" idx="10"/>
          </p:nvPr>
        </p:nvSpPr>
        <p:spPr/>
        <p:txBody>
          <a:bodyPr/>
          <a:lstStyle/>
          <a:p>
            <a:fld id="{16056653-EB7C-4C2C-8160-84A14F109A05}" type="slidenum">
              <a:rPr lang="es-AR" smtClean="0"/>
              <a:t>177</a:t>
            </a:fld>
            <a:endParaRPr lang="es-AR"/>
          </a:p>
        </p:txBody>
      </p:sp>
    </p:spTree>
    <p:extLst>
      <p:ext uri="{BB962C8B-B14F-4D97-AF65-F5344CB8AC3E}">
        <p14:creationId xmlns:p14="http://schemas.microsoft.com/office/powerpoint/2010/main" val="2592434664"/>
      </p:ext>
    </p:extLst>
  </p:cSld>
  <p:clrMapOvr>
    <a:masterClrMapping/>
  </p:clrMapOvr>
</p:notes>
</file>

<file path=ppt/notesSlides/notesSlide1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10"/>
          </p:nvPr>
        </p:nvSpPr>
        <p:spPr/>
        <p:txBody>
          <a:bodyPr/>
          <a:lstStyle/>
          <a:p>
            <a:fld id="{16056653-EB7C-4C2C-8160-84A14F109A05}" type="slidenum">
              <a:rPr lang="es-AR" smtClean="0"/>
              <a:t>178</a:t>
            </a:fld>
            <a:endParaRPr lang="es-AR"/>
          </a:p>
        </p:txBody>
      </p:sp>
    </p:spTree>
    <p:extLst>
      <p:ext uri="{BB962C8B-B14F-4D97-AF65-F5344CB8AC3E}">
        <p14:creationId xmlns:p14="http://schemas.microsoft.com/office/powerpoint/2010/main" val="2011175028"/>
      </p:ext>
    </p:extLst>
  </p:cSld>
  <p:clrMapOvr>
    <a:masterClrMapping/>
  </p:clrMapOvr>
</p:notes>
</file>

<file path=ppt/notesSlides/notesSlide1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10"/>
          </p:nvPr>
        </p:nvSpPr>
        <p:spPr/>
        <p:txBody>
          <a:bodyPr/>
          <a:lstStyle/>
          <a:p>
            <a:fld id="{16056653-EB7C-4C2C-8160-84A14F109A05}" type="slidenum">
              <a:rPr lang="es-AR" smtClean="0"/>
              <a:t>179</a:t>
            </a:fld>
            <a:endParaRPr lang="es-AR"/>
          </a:p>
        </p:txBody>
      </p:sp>
    </p:spTree>
    <p:extLst>
      <p:ext uri="{BB962C8B-B14F-4D97-AF65-F5344CB8AC3E}">
        <p14:creationId xmlns:p14="http://schemas.microsoft.com/office/powerpoint/2010/main" val="1380413901"/>
      </p:ext>
    </p:extLst>
  </p:cSld>
  <p:clrMapOvr>
    <a:masterClrMapping/>
  </p:clrMapOvr>
</p:notes>
</file>

<file path=ppt/notesSlides/notesSlide1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10"/>
          </p:nvPr>
        </p:nvSpPr>
        <p:spPr/>
        <p:txBody>
          <a:bodyPr/>
          <a:lstStyle/>
          <a:p>
            <a:fld id="{16056653-EB7C-4C2C-8160-84A14F109A05}" type="slidenum">
              <a:rPr lang="es-AR" smtClean="0"/>
              <a:t>180</a:t>
            </a:fld>
            <a:endParaRPr lang="es-AR"/>
          </a:p>
        </p:txBody>
      </p:sp>
    </p:spTree>
    <p:extLst>
      <p:ext uri="{BB962C8B-B14F-4D97-AF65-F5344CB8AC3E}">
        <p14:creationId xmlns:p14="http://schemas.microsoft.com/office/powerpoint/2010/main" val="3835499224"/>
      </p:ext>
    </p:extLst>
  </p:cSld>
  <p:clrMapOvr>
    <a:masterClrMapping/>
  </p:clrMapOvr>
</p:notes>
</file>

<file path=ppt/notesSlides/notesSlide1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10"/>
          </p:nvPr>
        </p:nvSpPr>
        <p:spPr/>
        <p:txBody>
          <a:bodyPr/>
          <a:lstStyle/>
          <a:p>
            <a:fld id="{16056653-EB7C-4C2C-8160-84A14F109A05}" type="slidenum">
              <a:rPr lang="es-AR" smtClean="0"/>
              <a:t>181</a:t>
            </a:fld>
            <a:endParaRPr lang="es-AR"/>
          </a:p>
        </p:txBody>
      </p:sp>
    </p:spTree>
    <p:extLst>
      <p:ext uri="{BB962C8B-B14F-4D97-AF65-F5344CB8AC3E}">
        <p14:creationId xmlns:p14="http://schemas.microsoft.com/office/powerpoint/2010/main" val="2356707695"/>
      </p:ext>
    </p:extLst>
  </p:cSld>
  <p:clrMapOvr>
    <a:masterClrMapping/>
  </p:clrMapOvr>
</p:notes>
</file>

<file path=ppt/notesSlides/notesSlide1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10"/>
          </p:nvPr>
        </p:nvSpPr>
        <p:spPr/>
        <p:txBody>
          <a:bodyPr/>
          <a:lstStyle/>
          <a:p>
            <a:fld id="{16056653-EB7C-4C2C-8160-84A14F109A05}" type="slidenum">
              <a:rPr lang="es-AR" smtClean="0"/>
              <a:t>182</a:t>
            </a:fld>
            <a:endParaRPr lang="es-AR"/>
          </a:p>
        </p:txBody>
      </p:sp>
    </p:spTree>
    <p:extLst>
      <p:ext uri="{BB962C8B-B14F-4D97-AF65-F5344CB8AC3E}">
        <p14:creationId xmlns:p14="http://schemas.microsoft.com/office/powerpoint/2010/main" val="1758388045"/>
      </p:ext>
    </p:extLst>
  </p:cSld>
  <p:clrMapOvr>
    <a:masterClrMapping/>
  </p:clrMapOvr>
</p:notes>
</file>

<file path=ppt/notesSlides/notesSlide1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10"/>
          </p:nvPr>
        </p:nvSpPr>
        <p:spPr/>
        <p:txBody>
          <a:bodyPr/>
          <a:lstStyle/>
          <a:p>
            <a:fld id="{16056653-EB7C-4C2C-8160-84A14F109A05}" type="slidenum">
              <a:rPr lang="es-AR" smtClean="0"/>
              <a:t>183</a:t>
            </a:fld>
            <a:endParaRPr lang="es-AR"/>
          </a:p>
        </p:txBody>
      </p:sp>
    </p:spTree>
    <p:extLst>
      <p:ext uri="{BB962C8B-B14F-4D97-AF65-F5344CB8AC3E}">
        <p14:creationId xmlns:p14="http://schemas.microsoft.com/office/powerpoint/2010/main" val="1288875798"/>
      </p:ext>
    </p:extLst>
  </p:cSld>
  <p:clrMapOvr>
    <a:masterClrMapping/>
  </p:clrMapOvr>
</p:notes>
</file>

<file path=ppt/notesSlides/notesSlide1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10"/>
          </p:nvPr>
        </p:nvSpPr>
        <p:spPr/>
        <p:txBody>
          <a:bodyPr/>
          <a:lstStyle/>
          <a:p>
            <a:fld id="{16056653-EB7C-4C2C-8160-84A14F109A05}" type="slidenum">
              <a:rPr lang="es-AR" smtClean="0"/>
              <a:t>184</a:t>
            </a:fld>
            <a:endParaRPr lang="es-AR"/>
          </a:p>
        </p:txBody>
      </p:sp>
    </p:spTree>
    <p:extLst>
      <p:ext uri="{BB962C8B-B14F-4D97-AF65-F5344CB8AC3E}">
        <p14:creationId xmlns:p14="http://schemas.microsoft.com/office/powerpoint/2010/main" val="587048538"/>
      </p:ext>
    </p:extLst>
  </p:cSld>
  <p:clrMapOvr>
    <a:masterClrMapping/>
  </p:clrMapOvr>
</p:notes>
</file>

<file path=ppt/notesSlides/notesSlide1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10"/>
          </p:nvPr>
        </p:nvSpPr>
        <p:spPr/>
        <p:txBody>
          <a:bodyPr/>
          <a:lstStyle/>
          <a:p>
            <a:fld id="{16056653-EB7C-4C2C-8160-84A14F109A05}" type="slidenum">
              <a:rPr lang="es-AR" smtClean="0"/>
              <a:t>185</a:t>
            </a:fld>
            <a:endParaRPr lang="es-AR"/>
          </a:p>
        </p:txBody>
      </p:sp>
    </p:spTree>
    <p:extLst>
      <p:ext uri="{BB962C8B-B14F-4D97-AF65-F5344CB8AC3E}">
        <p14:creationId xmlns:p14="http://schemas.microsoft.com/office/powerpoint/2010/main" val="4166314919"/>
      </p:ext>
    </p:extLst>
  </p:cSld>
  <p:clrMapOvr>
    <a:masterClrMapping/>
  </p:clrMapOvr>
</p:notes>
</file>

<file path=ppt/notesSlides/notesSlide1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10"/>
          </p:nvPr>
        </p:nvSpPr>
        <p:spPr/>
        <p:txBody>
          <a:bodyPr/>
          <a:lstStyle/>
          <a:p>
            <a:fld id="{16056653-EB7C-4C2C-8160-84A14F109A05}" type="slidenum">
              <a:rPr lang="es-AR" smtClean="0"/>
              <a:t>186</a:t>
            </a:fld>
            <a:endParaRPr lang="es-AR"/>
          </a:p>
        </p:txBody>
      </p:sp>
    </p:spTree>
    <p:extLst>
      <p:ext uri="{BB962C8B-B14F-4D97-AF65-F5344CB8AC3E}">
        <p14:creationId xmlns:p14="http://schemas.microsoft.com/office/powerpoint/2010/main" val="1111269537"/>
      </p:ext>
    </p:extLst>
  </p:cSld>
  <p:clrMapOvr>
    <a:masterClrMapping/>
  </p:clrMapOvr>
</p:notes>
</file>

<file path=ppt/notesSlides/notesSlide1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10"/>
          </p:nvPr>
        </p:nvSpPr>
        <p:spPr/>
        <p:txBody>
          <a:bodyPr/>
          <a:lstStyle/>
          <a:p>
            <a:fld id="{16056653-EB7C-4C2C-8160-84A14F109A05}" type="slidenum">
              <a:rPr lang="es-AR" smtClean="0"/>
              <a:t>187</a:t>
            </a:fld>
            <a:endParaRPr lang="es-AR"/>
          </a:p>
        </p:txBody>
      </p:sp>
    </p:spTree>
    <p:extLst>
      <p:ext uri="{BB962C8B-B14F-4D97-AF65-F5344CB8AC3E}">
        <p14:creationId xmlns:p14="http://schemas.microsoft.com/office/powerpoint/2010/main" val="248021480"/>
      </p:ext>
    </p:extLst>
  </p:cSld>
  <p:clrMapOvr>
    <a:masterClrMapping/>
  </p:clrMapOvr>
</p:notes>
</file>

<file path=ppt/notesSlides/notesSlide1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10"/>
          </p:nvPr>
        </p:nvSpPr>
        <p:spPr/>
        <p:txBody>
          <a:bodyPr/>
          <a:lstStyle/>
          <a:p>
            <a:fld id="{16056653-EB7C-4C2C-8160-84A14F109A05}" type="slidenum">
              <a:rPr lang="es-AR" smtClean="0"/>
              <a:t>188</a:t>
            </a:fld>
            <a:endParaRPr lang="es-AR"/>
          </a:p>
        </p:txBody>
      </p:sp>
    </p:spTree>
    <p:extLst>
      <p:ext uri="{BB962C8B-B14F-4D97-AF65-F5344CB8AC3E}">
        <p14:creationId xmlns:p14="http://schemas.microsoft.com/office/powerpoint/2010/main" val="3750077807"/>
      </p:ext>
    </p:extLst>
  </p:cSld>
  <p:clrMapOvr>
    <a:masterClrMapping/>
  </p:clrMapOvr>
</p:notes>
</file>

<file path=ppt/notesSlides/notesSlide1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10"/>
          </p:nvPr>
        </p:nvSpPr>
        <p:spPr/>
        <p:txBody>
          <a:bodyPr/>
          <a:lstStyle/>
          <a:p>
            <a:fld id="{16056653-EB7C-4C2C-8160-84A14F109A05}" type="slidenum">
              <a:rPr lang="es-AR" smtClean="0"/>
              <a:t>189</a:t>
            </a:fld>
            <a:endParaRPr lang="es-AR"/>
          </a:p>
        </p:txBody>
      </p:sp>
    </p:spTree>
    <p:extLst>
      <p:ext uri="{BB962C8B-B14F-4D97-AF65-F5344CB8AC3E}">
        <p14:creationId xmlns:p14="http://schemas.microsoft.com/office/powerpoint/2010/main" val="602005103"/>
      </p:ext>
    </p:extLst>
  </p:cSld>
  <p:clrMapOvr>
    <a:masterClrMapping/>
  </p:clrMapOvr>
</p:notes>
</file>

<file path=ppt/notesSlides/notesSlide1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10"/>
          </p:nvPr>
        </p:nvSpPr>
        <p:spPr/>
        <p:txBody>
          <a:bodyPr/>
          <a:lstStyle/>
          <a:p>
            <a:fld id="{16056653-EB7C-4C2C-8160-84A14F109A05}" type="slidenum">
              <a:rPr lang="es-AR" smtClean="0"/>
              <a:t>190</a:t>
            </a:fld>
            <a:endParaRPr lang="es-AR"/>
          </a:p>
        </p:txBody>
      </p:sp>
    </p:spTree>
    <p:extLst>
      <p:ext uri="{BB962C8B-B14F-4D97-AF65-F5344CB8AC3E}">
        <p14:creationId xmlns:p14="http://schemas.microsoft.com/office/powerpoint/2010/main" val="1857932185"/>
      </p:ext>
    </p:extLst>
  </p:cSld>
  <p:clrMapOvr>
    <a:masterClrMapping/>
  </p:clrMapOvr>
</p:notes>
</file>

<file path=ppt/notesSlides/notesSlide1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10"/>
          </p:nvPr>
        </p:nvSpPr>
        <p:spPr/>
        <p:txBody>
          <a:bodyPr/>
          <a:lstStyle/>
          <a:p>
            <a:fld id="{16056653-EB7C-4C2C-8160-84A14F109A05}" type="slidenum">
              <a:rPr lang="es-AR" smtClean="0"/>
              <a:t>191</a:t>
            </a:fld>
            <a:endParaRPr lang="es-AR"/>
          </a:p>
        </p:txBody>
      </p:sp>
    </p:spTree>
    <p:extLst>
      <p:ext uri="{BB962C8B-B14F-4D97-AF65-F5344CB8AC3E}">
        <p14:creationId xmlns:p14="http://schemas.microsoft.com/office/powerpoint/2010/main" val="4199734562"/>
      </p:ext>
    </p:extLst>
  </p:cSld>
  <p:clrMapOvr>
    <a:masterClrMapping/>
  </p:clrMapOvr>
</p:notes>
</file>

<file path=ppt/notesSlides/notesSlide1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10"/>
          </p:nvPr>
        </p:nvSpPr>
        <p:spPr/>
        <p:txBody>
          <a:bodyPr/>
          <a:lstStyle/>
          <a:p>
            <a:fld id="{16056653-EB7C-4C2C-8160-84A14F109A05}" type="slidenum">
              <a:rPr lang="es-AR" smtClean="0"/>
              <a:t>192</a:t>
            </a:fld>
            <a:endParaRPr lang="es-AR"/>
          </a:p>
        </p:txBody>
      </p:sp>
    </p:spTree>
    <p:extLst>
      <p:ext uri="{BB962C8B-B14F-4D97-AF65-F5344CB8AC3E}">
        <p14:creationId xmlns:p14="http://schemas.microsoft.com/office/powerpoint/2010/main" val="588966360"/>
      </p:ext>
    </p:extLst>
  </p:cSld>
  <p:clrMapOvr>
    <a:masterClrMapping/>
  </p:clrMapOvr>
</p:notes>
</file>

<file path=ppt/notesSlides/notesSlide1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10"/>
          </p:nvPr>
        </p:nvSpPr>
        <p:spPr/>
        <p:txBody>
          <a:bodyPr/>
          <a:lstStyle/>
          <a:p>
            <a:fld id="{16056653-EB7C-4C2C-8160-84A14F109A05}" type="slidenum">
              <a:rPr lang="es-AR" smtClean="0"/>
              <a:t>193</a:t>
            </a:fld>
            <a:endParaRPr lang="es-AR"/>
          </a:p>
        </p:txBody>
      </p:sp>
    </p:spTree>
    <p:extLst>
      <p:ext uri="{BB962C8B-B14F-4D97-AF65-F5344CB8AC3E}">
        <p14:creationId xmlns:p14="http://schemas.microsoft.com/office/powerpoint/2010/main" val="1456891255"/>
      </p:ext>
    </p:extLst>
  </p:cSld>
  <p:clrMapOvr>
    <a:masterClrMapping/>
  </p:clrMapOvr>
</p:notes>
</file>

<file path=ppt/notesSlides/notesSlide1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10"/>
          </p:nvPr>
        </p:nvSpPr>
        <p:spPr/>
        <p:txBody>
          <a:bodyPr/>
          <a:lstStyle/>
          <a:p>
            <a:fld id="{16056653-EB7C-4C2C-8160-84A14F109A05}" type="slidenum">
              <a:rPr lang="es-AR" smtClean="0"/>
              <a:t>194</a:t>
            </a:fld>
            <a:endParaRPr lang="es-AR"/>
          </a:p>
        </p:txBody>
      </p:sp>
    </p:spTree>
    <p:extLst>
      <p:ext uri="{BB962C8B-B14F-4D97-AF65-F5344CB8AC3E}">
        <p14:creationId xmlns:p14="http://schemas.microsoft.com/office/powerpoint/2010/main" val="4063682597"/>
      </p:ext>
    </p:extLst>
  </p:cSld>
  <p:clrMapOvr>
    <a:masterClrMapping/>
  </p:clrMapOvr>
</p:notes>
</file>

<file path=ppt/notesSlides/notesSlide1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10"/>
          </p:nvPr>
        </p:nvSpPr>
        <p:spPr/>
        <p:txBody>
          <a:bodyPr/>
          <a:lstStyle/>
          <a:p>
            <a:fld id="{16056653-EB7C-4C2C-8160-84A14F109A05}" type="slidenum">
              <a:rPr lang="es-AR" smtClean="0"/>
              <a:t>195</a:t>
            </a:fld>
            <a:endParaRPr lang="es-AR"/>
          </a:p>
        </p:txBody>
      </p:sp>
    </p:spTree>
    <p:extLst>
      <p:ext uri="{BB962C8B-B14F-4D97-AF65-F5344CB8AC3E}">
        <p14:creationId xmlns:p14="http://schemas.microsoft.com/office/powerpoint/2010/main" val="873699518"/>
      </p:ext>
    </p:extLst>
  </p:cSld>
  <p:clrMapOvr>
    <a:masterClrMapping/>
  </p:clrMapOvr>
</p:notes>
</file>

<file path=ppt/notesSlides/notesSlide1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AR" dirty="0"/>
              <a:t>En estas diapositivas</a:t>
            </a:r>
            <a:r>
              <a:rPr lang="es-AR" baseline="0" dirty="0"/>
              <a:t> vamos a ver como manejar la herramienta online TAW para que puedan realizar el análisis de accesibilidad a las páginas web.</a:t>
            </a:r>
            <a:endParaRPr lang="es-AR" dirty="0"/>
          </a:p>
        </p:txBody>
      </p:sp>
      <p:sp>
        <p:nvSpPr>
          <p:cNvPr id="4" name="Marcador de número de diapositiva 3"/>
          <p:cNvSpPr>
            <a:spLocks noGrp="1"/>
          </p:cNvSpPr>
          <p:nvPr>
            <p:ph type="sldNum" sz="quarter" idx="10"/>
          </p:nvPr>
        </p:nvSpPr>
        <p:spPr/>
        <p:txBody>
          <a:bodyPr/>
          <a:lstStyle/>
          <a:p>
            <a:fld id="{16056653-EB7C-4C2C-8160-84A14F109A05}" type="slidenum">
              <a:rPr lang="es-AR" smtClean="0"/>
              <a:t>196</a:t>
            </a:fld>
            <a:endParaRPr lang="es-AR"/>
          </a:p>
        </p:txBody>
      </p:sp>
    </p:spTree>
    <p:extLst>
      <p:ext uri="{BB962C8B-B14F-4D97-AF65-F5344CB8AC3E}">
        <p14:creationId xmlns:p14="http://schemas.microsoft.com/office/powerpoint/2010/main" val="1365587579"/>
      </p:ext>
    </p:extLst>
  </p:cSld>
  <p:clrMapOvr>
    <a:masterClrMapping/>
  </p:clrMapOvr>
</p:notes>
</file>

<file path=ppt/notesSlides/notesSlide1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AR" dirty="0"/>
              <a:t>Vamos</a:t>
            </a:r>
            <a:r>
              <a:rPr lang="es-AR" baseline="0" dirty="0"/>
              <a:t> a tomar como ejemplo la URL del Sitio Web del Ministerio de Economía.</a:t>
            </a:r>
            <a:endParaRPr lang="es-AR" dirty="0"/>
          </a:p>
        </p:txBody>
      </p:sp>
      <p:sp>
        <p:nvSpPr>
          <p:cNvPr id="4" name="Marcador de número de diapositiva 3"/>
          <p:cNvSpPr>
            <a:spLocks noGrp="1"/>
          </p:cNvSpPr>
          <p:nvPr>
            <p:ph type="sldNum" sz="quarter" idx="10"/>
          </p:nvPr>
        </p:nvSpPr>
        <p:spPr/>
        <p:txBody>
          <a:bodyPr/>
          <a:lstStyle/>
          <a:p>
            <a:fld id="{16056653-EB7C-4C2C-8160-84A14F109A05}" type="slidenum">
              <a:rPr lang="es-AR" smtClean="0"/>
              <a:t>197</a:t>
            </a:fld>
            <a:endParaRPr lang="es-AR"/>
          </a:p>
        </p:txBody>
      </p:sp>
    </p:spTree>
    <p:extLst>
      <p:ext uri="{BB962C8B-B14F-4D97-AF65-F5344CB8AC3E}">
        <p14:creationId xmlns:p14="http://schemas.microsoft.com/office/powerpoint/2010/main" val="4096101163"/>
      </p:ext>
    </p:extLst>
  </p:cSld>
  <p:clrMapOvr>
    <a:masterClrMapping/>
  </p:clrMapOvr>
</p:notes>
</file>

<file path=ppt/notesSlides/notesSlide1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10"/>
          </p:nvPr>
        </p:nvSpPr>
        <p:spPr/>
        <p:txBody>
          <a:bodyPr/>
          <a:lstStyle/>
          <a:p>
            <a:fld id="{16056653-EB7C-4C2C-8160-84A14F109A05}" type="slidenum">
              <a:rPr lang="es-AR" smtClean="0"/>
              <a:t>198</a:t>
            </a:fld>
            <a:endParaRPr lang="es-AR"/>
          </a:p>
        </p:txBody>
      </p:sp>
    </p:spTree>
    <p:extLst>
      <p:ext uri="{BB962C8B-B14F-4D97-AF65-F5344CB8AC3E}">
        <p14:creationId xmlns:p14="http://schemas.microsoft.com/office/powerpoint/2010/main" val="3379809060"/>
      </p:ext>
    </p:extLst>
  </p:cSld>
  <p:clrMapOvr>
    <a:masterClrMapping/>
  </p:clrMapOvr>
</p:notes>
</file>

<file path=ppt/notesSlides/notesSlide1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AR" dirty="0"/>
              <a:t>Cuando el sitio web posee muchos errores,</a:t>
            </a:r>
            <a:r>
              <a:rPr lang="es-AR" baseline="0" dirty="0"/>
              <a:t> a través de las opciones de filtrado, podemos filtrar los problemas y las advertencias incluso por principios.</a:t>
            </a:r>
          </a:p>
        </p:txBody>
      </p:sp>
      <p:sp>
        <p:nvSpPr>
          <p:cNvPr id="4" name="Marcador de número de diapositiva 3"/>
          <p:cNvSpPr>
            <a:spLocks noGrp="1"/>
          </p:cNvSpPr>
          <p:nvPr>
            <p:ph type="sldNum" sz="quarter" idx="10"/>
          </p:nvPr>
        </p:nvSpPr>
        <p:spPr/>
        <p:txBody>
          <a:bodyPr/>
          <a:lstStyle/>
          <a:p>
            <a:fld id="{16056653-EB7C-4C2C-8160-84A14F109A05}" type="slidenum">
              <a:rPr lang="es-AR" smtClean="0"/>
              <a:t>199</a:t>
            </a:fld>
            <a:endParaRPr lang="es-AR"/>
          </a:p>
        </p:txBody>
      </p:sp>
    </p:spTree>
    <p:extLst>
      <p:ext uri="{BB962C8B-B14F-4D97-AF65-F5344CB8AC3E}">
        <p14:creationId xmlns:p14="http://schemas.microsoft.com/office/powerpoint/2010/main" val="1162332228"/>
      </p:ext>
    </p:extLst>
  </p:cSld>
  <p:clrMapOvr>
    <a:masterClrMapping/>
  </p:clrMapOvr>
</p:notes>
</file>

<file path=ppt/notesSlides/notesSlide1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AR" dirty="0"/>
              <a:t>Además nos</a:t>
            </a:r>
            <a:r>
              <a:rPr lang="es-AR" baseline="0" dirty="0"/>
              <a:t> muestra el código fuente de la página indicándonos donde ocurre el error o la advertencia y los posibles errores que se encuentran en todas las hojas de estilo utilizadas en la página.</a:t>
            </a:r>
          </a:p>
          <a:p>
            <a:r>
              <a:rPr lang="es-AR" baseline="0" dirty="0"/>
              <a:t>Tipología del elemento, es decir, si se trata de una imagen, un formulario, etc.</a:t>
            </a:r>
          </a:p>
          <a:p>
            <a:r>
              <a:rPr lang="es-AR" baseline="0" dirty="0"/>
              <a:t>Si hay un problema el resultado lo marca con una X.</a:t>
            </a:r>
          </a:p>
          <a:p>
            <a:r>
              <a:rPr lang="es-AR" baseline="0" dirty="0"/>
              <a:t>Si hay una advertencia con un signo de admiración. (!)</a:t>
            </a:r>
          </a:p>
          <a:p>
            <a:r>
              <a:rPr lang="es-AR" baseline="0" dirty="0"/>
              <a:t>Si hay una técnica que no se ha podido comprobar de forma automática lo marca con un signo de interrogación (?)</a:t>
            </a:r>
          </a:p>
          <a:p>
            <a:endParaRPr lang="es-AR" baseline="0" dirty="0"/>
          </a:p>
          <a:p>
            <a:r>
              <a:rPr lang="es-AR" baseline="0" dirty="0"/>
              <a:t>Para cada una de las técnica nos dice las veces que ha ocurrido ese error y los número de líneas en el código fuente donde ocurren.</a:t>
            </a:r>
          </a:p>
          <a:p>
            <a:r>
              <a:rPr lang="es-AR" baseline="0" dirty="0"/>
              <a:t>Tenemos por lo tanto que realizar el análisis de todos y cada uno de los resultados detallados, no solo de los problemas, sino también de las advertencias y de aquellas técnicas que no se han podido verificar.</a:t>
            </a:r>
          </a:p>
          <a:p>
            <a:endParaRPr lang="es-AR" baseline="0" dirty="0"/>
          </a:p>
          <a:p>
            <a:endParaRPr lang="es-AR" baseline="0" dirty="0"/>
          </a:p>
          <a:p>
            <a:endParaRPr lang="es-AR" baseline="0" dirty="0"/>
          </a:p>
          <a:p>
            <a:endParaRPr lang="es-AR" baseline="0" dirty="0"/>
          </a:p>
        </p:txBody>
      </p:sp>
      <p:sp>
        <p:nvSpPr>
          <p:cNvPr id="4" name="Marcador de número de diapositiva 3"/>
          <p:cNvSpPr>
            <a:spLocks noGrp="1"/>
          </p:cNvSpPr>
          <p:nvPr>
            <p:ph type="sldNum" sz="quarter" idx="10"/>
          </p:nvPr>
        </p:nvSpPr>
        <p:spPr/>
        <p:txBody>
          <a:bodyPr/>
          <a:lstStyle/>
          <a:p>
            <a:fld id="{16056653-EB7C-4C2C-8160-84A14F109A05}" type="slidenum">
              <a:rPr lang="es-AR" smtClean="0"/>
              <a:t>200</a:t>
            </a:fld>
            <a:endParaRPr lang="es-AR"/>
          </a:p>
        </p:txBody>
      </p:sp>
    </p:spTree>
    <p:extLst>
      <p:ext uri="{BB962C8B-B14F-4D97-AF65-F5344CB8AC3E}">
        <p14:creationId xmlns:p14="http://schemas.microsoft.com/office/powerpoint/2010/main" val="2367647624"/>
      </p:ext>
    </p:extLst>
  </p:cSld>
  <p:clrMapOvr>
    <a:masterClrMapping/>
  </p:clrMapOvr>
</p:notes>
</file>

<file path=ppt/notesSlides/notesSlide1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AR" dirty="0"/>
              <a:t>Recuerden que</a:t>
            </a:r>
            <a:r>
              <a:rPr lang="es-AR" baseline="0" dirty="0"/>
              <a:t> lo mejor es realizar la evaluación de accesibilidad en cada una de las fases desarrollo del sitio web, es decir, diseñar y programar en base a las pautas de accesibilidad al contenido web. </a:t>
            </a:r>
            <a:endParaRPr lang="es-AR" dirty="0"/>
          </a:p>
        </p:txBody>
      </p:sp>
      <p:sp>
        <p:nvSpPr>
          <p:cNvPr id="4" name="Marcador de número de diapositiva 3"/>
          <p:cNvSpPr>
            <a:spLocks noGrp="1"/>
          </p:cNvSpPr>
          <p:nvPr>
            <p:ph type="sldNum" sz="quarter" idx="10"/>
          </p:nvPr>
        </p:nvSpPr>
        <p:spPr/>
        <p:txBody>
          <a:bodyPr/>
          <a:lstStyle/>
          <a:p>
            <a:fld id="{16056653-EB7C-4C2C-8160-84A14F109A05}" type="slidenum">
              <a:rPr lang="es-AR" smtClean="0"/>
              <a:t>201</a:t>
            </a:fld>
            <a:endParaRPr lang="es-AR"/>
          </a:p>
        </p:txBody>
      </p:sp>
    </p:spTree>
    <p:extLst>
      <p:ext uri="{BB962C8B-B14F-4D97-AF65-F5344CB8AC3E}">
        <p14:creationId xmlns:p14="http://schemas.microsoft.com/office/powerpoint/2010/main" val="755355029"/>
      </p:ext>
    </p:extLst>
  </p:cSld>
  <p:clrMapOvr>
    <a:masterClrMapping/>
  </p:clrMapOvr>
</p:notes>
</file>

<file path=ppt/notesSlides/notesSlide1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AR" dirty="0"/>
              <a:t>Nace</a:t>
            </a:r>
            <a:r>
              <a:rPr lang="es-AR" baseline="0" dirty="0"/>
              <a:t> como trabajo final de la Maestría TIC</a:t>
            </a:r>
          </a:p>
          <a:p>
            <a:pPr marL="0" marR="0" lvl="0" indent="0" algn="l" defTabSz="914400" rtl="0" eaLnBrk="1" fontAlgn="auto" latinLnBrk="0" hangingPunct="1">
              <a:lnSpc>
                <a:spcPct val="100000"/>
              </a:lnSpc>
              <a:spcBef>
                <a:spcPts val="0"/>
              </a:spcBef>
              <a:spcAft>
                <a:spcPts val="0"/>
              </a:spcAft>
              <a:buClrTx/>
              <a:buSzTx/>
              <a:buFontTx/>
              <a:buNone/>
              <a:tabLst/>
              <a:defRPr/>
            </a:pPr>
            <a:r>
              <a:rPr lang="es-AR" baseline="0" dirty="0"/>
              <a:t>Objetivo del TF: </a:t>
            </a:r>
          </a:p>
          <a:p>
            <a:pPr marL="0" marR="0" lvl="0" indent="0" algn="l" defTabSz="914400" rtl="0" eaLnBrk="1" fontAlgn="auto" latinLnBrk="0" hangingPunct="1">
              <a:lnSpc>
                <a:spcPct val="100000"/>
              </a:lnSpc>
              <a:spcBef>
                <a:spcPts val="0"/>
              </a:spcBef>
              <a:spcAft>
                <a:spcPts val="0"/>
              </a:spcAft>
              <a:buClrTx/>
              <a:buSzTx/>
              <a:buFontTx/>
              <a:buNone/>
              <a:tabLst/>
              <a:defRPr/>
            </a:pPr>
            <a:r>
              <a:rPr lang="es-AR" sz="1200" kern="1200" dirty="0">
                <a:solidFill>
                  <a:schemeClr val="tx1"/>
                </a:solidFill>
                <a:effectLst/>
                <a:latin typeface="+mn-lt"/>
                <a:ea typeface="+mn-ea"/>
                <a:cs typeface="+mn-cs"/>
              </a:rPr>
              <a:t>Desarrollar una Herramienta que permita identificar problemas de Accesibilidad Web en forma automática de acuerdo a la norma vigente en Argentina a partir de agosto de 2014.</a:t>
            </a:r>
          </a:p>
          <a:p>
            <a:pPr marL="0" marR="0" lvl="0" indent="0" algn="l" defTabSz="914400" rtl="0" eaLnBrk="1" fontAlgn="auto" latinLnBrk="0" hangingPunct="1">
              <a:lnSpc>
                <a:spcPct val="100000"/>
              </a:lnSpc>
              <a:spcBef>
                <a:spcPts val="0"/>
              </a:spcBef>
              <a:spcAft>
                <a:spcPts val="0"/>
              </a:spcAft>
              <a:buClrTx/>
              <a:buSzTx/>
              <a:buFontTx/>
              <a:buNone/>
              <a:tabLst/>
              <a:defRPr/>
            </a:pPr>
            <a:endParaRPr lang="es-AR" sz="1200" kern="1200" dirty="0">
              <a:solidFill>
                <a:schemeClr val="tx1"/>
              </a:solidFill>
              <a:effectLst/>
              <a:latin typeface="+mn-lt"/>
              <a:ea typeface="+mn-ea"/>
              <a:cs typeface="+mn-cs"/>
            </a:endParaRPr>
          </a:p>
          <a:p>
            <a:r>
              <a:rPr lang="es-AR" sz="1200" kern="1200" dirty="0">
                <a:solidFill>
                  <a:schemeClr val="tx1"/>
                </a:solidFill>
                <a:effectLst/>
                <a:latin typeface="+mn-lt"/>
                <a:ea typeface="+mn-ea"/>
                <a:cs typeface="+mn-cs"/>
              </a:rPr>
              <a:t>Considerar como norma vigente en Argentina en materia de accesibilidad web la Disposición Nº 2/2014 de la ONTI (Oficina Nacional de Tecnología de la Información). Esta norma establece los requisitos de accesibilidad para contenidos web basándose en las Pautas de Accesibilidad para el Contenido Web (WCAG, Web Content </a:t>
            </a:r>
            <a:r>
              <a:rPr lang="es-AR" sz="1200" kern="1200" dirty="0" err="1">
                <a:solidFill>
                  <a:schemeClr val="tx1"/>
                </a:solidFill>
                <a:effectLst/>
                <a:latin typeface="+mn-lt"/>
                <a:ea typeface="+mn-ea"/>
                <a:cs typeface="+mn-cs"/>
              </a:rPr>
              <a:t>Accesibility</a:t>
            </a:r>
            <a:r>
              <a:rPr lang="es-AR" sz="1200" kern="1200" dirty="0">
                <a:solidFill>
                  <a:schemeClr val="tx1"/>
                </a:solidFill>
                <a:effectLst/>
                <a:latin typeface="+mn-lt"/>
                <a:ea typeface="+mn-ea"/>
                <a:cs typeface="+mn-cs"/>
              </a:rPr>
              <a:t> </a:t>
            </a:r>
            <a:r>
              <a:rPr lang="es-AR" sz="1200" kern="1200" dirty="0" err="1">
                <a:solidFill>
                  <a:schemeClr val="tx1"/>
                </a:solidFill>
                <a:effectLst/>
                <a:latin typeface="+mn-lt"/>
                <a:ea typeface="+mn-ea"/>
                <a:cs typeface="+mn-cs"/>
              </a:rPr>
              <a:t>Guidelines</a:t>
            </a:r>
            <a:r>
              <a:rPr lang="es-AR" sz="1200" kern="1200" dirty="0">
                <a:solidFill>
                  <a:schemeClr val="tx1"/>
                </a:solidFill>
                <a:effectLst/>
                <a:latin typeface="+mn-lt"/>
                <a:ea typeface="+mn-ea"/>
                <a:cs typeface="+mn-cs"/>
              </a:rPr>
              <a:t>) en su versión 2.0.</a:t>
            </a:r>
          </a:p>
          <a:p>
            <a:r>
              <a:rPr lang="es-AR" sz="1200" kern="1200" dirty="0">
                <a:solidFill>
                  <a:schemeClr val="tx1"/>
                </a:solidFill>
                <a:effectLst/>
                <a:latin typeface="+mn-lt"/>
                <a:ea typeface="+mn-ea"/>
                <a:cs typeface="+mn-cs"/>
              </a:rPr>
              <a:t> </a:t>
            </a:r>
          </a:p>
          <a:p>
            <a:r>
              <a:rPr lang="es-AR" sz="1200" kern="1200" dirty="0">
                <a:solidFill>
                  <a:schemeClr val="tx1"/>
                </a:solidFill>
                <a:effectLst/>
                <a:latin typeface="+mn-lt"/>
                <a:ea typeface="+mn-ea"/>
                <a:cs typeface="+mn-cs"/>
              </a:rPr>
              <a:t>Verificar las técnicas suficientes y recomendables tanto Generales (G) como HTML (H) y CSS (C) para los Criterios de Conformidad de Nivel A.</a:t>
            </a:r>
            <a:endParaRPr lang="es-AR" dirty="0"/>
          </a:p>
        </p:txBody>
      </p:sp>
      <p:sp>
        <p:nvSpPr>
          <p:cNvPr id="4" name="Marcador de número de diapositiva 3"/>
          <p:cNvSpPr>
            <a:spLocks noGrp="1"/>
          </p:cNvSpPr>
          <p:nvPr>
            <p:ph type="sldNum" sz="quarter" idx="10"/>
          </p:nvPr>
        </p:nvSpPr>
        <p:spPr/>
        <p:txBody>
          <a:bodyPr/>
          <a:lstStyle/>
          <a:p>
            <a:fld id="{16056653-EB7C-4C2C-8160-84A14F109A05}" type="slidenum">
              <a:rPr lang="es-AR" smtClean="0"/>
              <a:t>202</a:t>
            </a:fld>
            <a:endParaRPr lang="es-AR"/>
          </a:p>
        </p:txBody>
      </p:sp>
    </p:spTree>
    <p:extLst>
      <p:ext uri="{BB962C8B-B14F-4D97-AF65-F5344CB8AC3E}">
        <p14:creationId xmlns:p14="http://schemas.microsoft.com/office/powerpoint/2010/main" val="2372830388"/>
      </p:ext>
    </p:extLst>
  </p:cSld>
  <p:clrMapOvr>
    <a:masterClrMapping/>
  </p:clrMapOvr>
</p:notes>
</file>

<file path=ppt/notesSlides/notesSlide1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10"/>
          </p:nvPr>
        </p:nvSpPr>
        <p:spPr/>
        <p:txBody>
          <a:bodyPr/>
          <a:lstStyle/>
          <a:p>
            <a:fld id="{16056653-EB7C-4C2C-8160-84A14F109A05}" type="slidenum">
              <a:rPr lang="es-AR" smtClean="0"/>
              <a:t>203</a:t>
            </a:fld>
            <a:endParaRPr lang="es-AR"/>
          </a:p>
        </p:txBody>
      </p:sp>
    </p:spTree>
    <p:extLst>
      <p:ext uri="{BB962C8B-B14F-4D97-AF65-F5344CB8AC3E}">
        <p14:creationId xmlns:p14="http://schemas.microsoft.com/office/powerpoint/2010/main" val="4116114799"/>
      </p:ext>
    </p:extLst>
  </p:cSld>
  <p:clrMapOvr>
    <a:masterClrMapping/>
  </p:clrMapOvr>
</p:notes>
</file>

<file path=ppt/notesSlides/notesSlide1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10"/>
          </p:nvPr>
        </p:nvSpPr>
        <p:spPr/>
        <p:txBody>
          <a:bodyPr/>
          <a:lstStyle/>
          <a:p>
            <a:fld id="{16056653-EB7C-4C2C-8160-84A14F109A05}" type="slidenum">
              <a:rPr lang="es-AR" smtClean="0"/>
              <a:t>204</a:t>
            </a:fld>
            <a:endParaRPr lang="es-AR"/>
          </a:p>
        </p:txBody>
      </p:sp>
    </p:spTree>
    <p:extLst>
      <p:ext uri="{BB962C8B-B14F-4D97-AF65-F5344CB8AC3E}">
        <p14:creationId xmlns:p14="http://schemas.microsoft.com/office/powerpoint/2010/main" val="2934116053"/>
      </p:ext>
    </p:extLst>
  </p:cSld>
  <p:clrMapOvr>
    <a:masterClrMapping/>
  </p:clrMapOvr>
</p:notes>
</file>

<file path=ppt/notesSlides/notesSlide1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10"/>
          </p:nvPr>
        </p:nvSpPr>
        <p:spPr/>
        <p:txBody>
          <a:bodyPr/>
          <a:lstStyle/>
          <a:p>
            <a:fld id="{16056653-EB7C-4C2C-8160-84A14F109A05}" type="slidenum">
              <a:rPr lang="es-AR" smtClean="0"/>
              <a:t>205</a:t>
            </a:fld>
            <a:endParaRPr lang="es-AR"/>
          </a:p>
        </p:txBody>
      </p:sp>
    </p:spTree>
    <p:extLst>
      <p:ext uri="{BB962C8B-B14F-4D97-AF65-F5344CB8AC3E}">
        <p14:creationId xmlns:p14="http://schemas.microsoft.com/office/powerpoint/2010/main" val="2203890836"/>
      </p:ext>
    </p:extLst>
  </p:cSld>
  <p:clrMapOvr>
    <a:masterClrMapping/>
  </p:clrMapOvr>
</p:notes>
</file>

<file path=ppt/notesSlides/notesSlide1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10"/>
          </p:nvPr>
        </p:nvSpPr>
        <p:spPr/>
        <p:txBody>
          <a:bodyPr/>
          <a:lstStyle/>
          <a:p>
            <a:fld id="{16056653-EB7C-4C2C-8160-84A14F109A05}" type="slidenum">
              <a:rPr lang="es-AR" smtClean="0"/>
              <a:t>206</a:t>
            </a:fld>
            <a:endParaRPr lang="es-AR"/>
          </a:p>
        </p:txBody>
      </p:sp>
    </p:spTree>
    <p:extLst>
      <p:ext uri="{BB962C8B-B14F-4D97-AF65-F5344CB8AC3E}">
        <p14:creationId xmlns:p14="http://schemas.microsoft.com/office/powerpoint/2010/main" val="2169804065"/>
      </p:ext>
    </p:extLst>
  </p:cSld>
  <p:clrMapOvr>
    <a:masterClrMapping/>
  </p:clrMapOvr>
</p:notes>
</file>

<file path=ppt/notesSlides/notesSlide1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10"/>
          </p:nvPr>
        </p:nvSpPr>
        <p:spPr/>
        <p:txBody>
          <a:bodyPr/>
          <a:lstStyle/>
          <a:p>
            <a:fld id="{16056653-EB7C-4C2C-8160-84A14F109A05}" type="slidenum">
              <a:rPr lang="es-AR" smtClean="0"/>
              <a:t>207</a:t>
            </a:fld>
            <a:endParaRPr lang="es-AR"/>
          </a:p>
        </p:txBody>
      </p:sp>
    </p:spTree>
    <p:extLst>
      <p:ext uri="{BB962C8B-B14F-4D97-AF65-F5344CB8AC3E}">
        <p14:creationId xmlns:p14="http://schemas.microsoft.com/office/powerpoint/2010/main" val="3559407634"/>
      </p:ext>
    </p:extLst>
  </p:cSld>
  <p:clrMapOvr>
    <a:masterClrMapping/>
  </p:clrMapOvr>
</p:notes>
</file>

<file path=ppt/notesSlides/notesSlide1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10"/>
          </p:nvPr>
        </p:nvSpPr>
        <p:spPr/>
        <p:txBody>
          <a:bodyPr/>
          <a:lstStyle/>
          <a:p>
            <a:fld id="{16056653-EB7C-4C2C-8160-84A14F109A05}" type="slidenum">
              <a:rPr lang="es-AR" smtClean="0"/>
              <a:t>208</a:t>
            </a:fld>
            <a:endParaRPr lang="es-AR"/>
          </a:p>
        </p:txBody>
      </p:sp>
    </p:spTree>
    <p:extLst>
      <p:ext uri="{BB962C8B-B14F-4D97-AF65-F5344CB8AC3E}">
        <p14:creationId xmlns:p14="http://schemas.microsoft.com/office/powerpoint/2010/main" val="1641735132"/>
      </p:ext>
    </p:extLst>
  </p:cSld>
  <p:clrMapOvr>
    <a:masterClrMapping/>
  </p:clrMapOvr>
</p:notes>
</file>

<file path=ppt/notesSlides/notesSlide1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10"/>
          </p:nvPr>
        </p:nvSpPr>
        <p:spPr/>
        <p:txBody>
          <a:bodyPr/>
          <a:lstStyle/>
          <a:p>
            <a:fld id="{16056653-EB7C-4C2C-8160-84A14F109A05}" type="slidenum">
              <a:rPr lang="es-AR" smtClean="0"/>
              <a:t>209</a:t>
            </a:fld>
            <a:endParaRPr lang="es-AR"/>
          </a:p>
        </p:txBody>
      </p:sp>
    </p:spTree>
    <p:extLst>
      <p:ext uri="{BB962C8B-B14F-4D97-AF65-F5344CB8AC3E}">
        <p14:creationId xmlns:p14="http://schemas.microsoft.com/office/powerpoint/2010/main" val="2008349669"/>
      </p:ext>
    </p:extLst>
  </p:cSld>
  <p:clrMapOvr>
    <a:masterClrMapping/>
  </p:clrMapOvr>
</p:notes>
</file>

<file path=ppt/notesSlides/notesSlide1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AR" dirty="0"/>
              <a:t>Se exporta a archivo XLS detalle del análisis de accesibilidad web con puntajes y fórmulas para que el usuario </a:t>
            </a:r>
            <a:r>
              <a:rPr lang="es-AR" dirty="0" err="1"/>
              <a:t>interactue</a:t>
            </a:r>
            <a:r>
              <a:rPr lang="es-AR" dirty="0"/>
              <a:t> con el análisis y la planilla ajusta automáticamente puntajes:</a:t>
            </a:r>
          </a:p>
          <a:p>
            <a:endParaRPr lang="es-AR" dirty="0"/>
          </a:p>
          <a:p>
            <a:r>
              <a:rPr lang="es-AR" dirty="0"/>
              <a:t>Puntajes de Test: 0 si falló / 1 si (OK, Advertencia, No Verificado).</a:t>
            </a:r>
            <a:br>
              <a:rPr lang="es-AR" dirty="0"/>
            </a:br>
            <a:r>
              <a:rPr lang="es-AR" dirty="0"/>
              <a:t>Puntajes de Técnica: 0 si algún test falló / 1 si todos los test OK.</a:t>
            </a:r>
            <a:br>
              <a:rPr lang="es-AR" dirty="0"/>
            </a:br>
            <a:r>
              <a:rPr lang="es-AR" dirty="0"/>
              <a:t>Puntajes de Criterio: 0 si alguna técnica falló / 4 si todas las técnicas OK.</a:t>
            </a:r>
            <a:br>
              <a:rPr lang="es-AR" dirty="0"/>
            </a:br>
            <a:r>
              <a:rPr lang="es-AR" dirty="0"/>
              <a:t>Puntajes de Pauta: Suma de todos los puntajes de Criterio.</a:t>
            </a:r>
            <a:br>
              <a:rPr lang="es-AR" dirty="0"/>
            </a:br>
            <a:r>
              <a:rPr lang="es-AR" dirty="0"/>
              <a:t>Puntajes de Principio: Suma de todos los puntajes de Pauta.</a:t>
            </a:r>
            <a:br>
              <a:rPr lang="es-AR" dirty="0"/>
            </a:br>
            <a:r>
              <a:rPr lang="es-AR" dirty="0"/>
              <a:t>Puntaje Total: Suma de todos los puntajes de Principio. Es el Puntaje de Accesibilidad.</a:t>
            </a:r>
          </a:p>
          <a:p>
            <a:endParaRPr lang="es-AR" baseline="0" dirty="0"/>
          </a:p>
          <a:p>
            <a:endParaRPr lang="es-AR" baseline="0" dirty="0"/>
          </a:p>
          <a:p>
            <a:endParaRPr lang="es-AR" baseline="0" dirty="0"/>
          </a:p>
          <a:p>
            <a:endParaRPr lang="es-AR" dirty="0"/>
          </a:p>
        </p:txBody>
      </p:sp>
      <p:sp>
        <p:nvSpPr>
          <p:cNvPr id="4" name="Marcador de número de diapositiva 3"/>
          <p:cNvSpPr>
            <a:spLocks noGrp="1"/>
          </p:cNvSpPr>
          <p:nvPr>
            <p:ph type="sldNum" sz="quarter" idx="10"/>
          </p:nvPr>
        </p:nvSpPr>
        <p:spPr/>
        <p:txBody>
          <a:bodyPr/>
          <a:lstStyle/>
          <a:p>
            <a:fld id="{16056653-EB7C-4C2C-8160-84A14F109A05}" type="slidenum">
              <a:rPr lang="es-AR" smtClean="0"/>
              <a:t>210</a:t>
            </a:fld>
            <a:endParaRPr lang="es-AR"/>
          </a:p>
        </p:txBody>
      </p:sp>
    </p:spTree>
    <p:extLst>
      <p:ext uri="{BB962C8B-B14F-4D97-AF65-F5344CB8AC3E}">
        <p14:creationId xmlns:p14="http://schemas.microsoft.com/office/powerpoint/2010/main" val="388298357"/>
      </p:ext>
    </p:extLst>
  </p:cSld>
  <p:clrMapOvr>
    <a:masterClrMapping/>
  </p:clrMapOvr>
</p:notes>
</file>

<file path=ppt/notesSlides/notesSlide1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AR" dirty="0"/>
              <a:t>Resumen del seminario.</a:t>
            </a:r>
          </a:p>
        </p:txBody>
      </p:sp>
      <p:sp>
        <p:nvSpPr>
          <p:cNvPr id="4" name="Marcador de número de diapositiva 3"/>
          <p:cNvSpPr>
            <a:spLocks noGrp="1"/>
          </p:cNvSpPr>
          <p:nvPr>
            <p:ph type="sldNum" sz="quarter" idx="10"/>
          </p:nvPr>
        </p:nvSpPr>
        <p:spPr/>
        <p:txBody>
          <a:bodyPr/>
          <a:lstStyle/>
          <a:p>
            <a:fld id="{16056653-EB7C-4C2C-8160-84A14F109A05}" type="slidenum">
              <a:rPr lang="es-AR" smtClean="0"/>
              <a:t>211</a:t>
            </a:fld>
            <a:endParaRPr lang="es-AR"/>
          </a:p>
        </p:txBody>
      </p:sp>
    </p:spTree>
    <p:extLst>
      <p:ext uri="{BB962C8B-B14F-4D97-AF65-F5344CB8AC3E}">
        <p14:creationId xmlns:p14="http://schemas.microsoft.com/office/powerpoint/2010/main" val="2836429280"/>
      </p:ext>
    </p:extLst>
  </p:cSld>
  <p:clrMapOvr>
    <a:masterClrMapping/>
  </p:clrMapOvr>
</p:notes>
</file>

<file path=ppt/notesSlides/notesSlide1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10"/>
          </p:nvPr>
        </p:nvSpPr>
        <p:spPr/>
        <p:txBody>
          <a:bodyPr/>
          <a:lstStyle/>
          <a:p>
            <a:fld id="{16056653-EB7C-4C2C-8160-84A14F109A05}" type="slidenum">
              <a:rPr lang="es-AR" smtClean="0"/>
              <a:t>212</a:t>
            </a:fld>
            <a:endParaRPr lang="es-AR"/>
          </a:p>
        </p:txBody>
      </p:sp>
    </p:spTree>
    <p:extLst>
      <p:ext uri="{BB962C8B-B14F-4D97-AF65-F5344CB8AC3E}">
        <p14:creationId xmlns:p14="http://schemas.microsoft.com/office/powerpoint/2010/main" val="398062032"/>
      </p:ext>
    </p:extLst>
  </p:cSld>
  <p:clrMapOvr>
    <a:masterClrMapping/>
  </p:clrMapOvr>
</p:notes>
</file>

<file path=ppt/notesSlides/notesSlide1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AR" dirty="0"/>
              <a:t>Páginas web que se puedan visualizar correctamente con diferentes dispositivos, diferentes colores, diferentes tamaños de letra.</a:t>
            </a:r>
          </a:p>
          <a:p>
            <a:pPr eaLnBrk="1" hangingPunct="1">
              <a:lnSpc>
                <a:spcPct val="80000"/>
              </a:lnSpc>
            </a:pPr>
            <a:r>
              <a:rPr lang="es-AR" altLang="es-AR" sz="900" b="1" dirty="0"/>
              <a:t>Proporciona un mecanismo que permita a los usuarios saltar los elementos repetitivos</a:t>
            </a:r>
            <a:r>
              <a:rPr lang="es-AR" altLang="es-AR" sz="900" dirty="0"/>
              <a:t> </a:t>
            </a:r>
          </a:p>
          <a:p>
            <a:pPr lvl="1" eaLnBrk="1" hangingPunct="1">
              <a:lnSpc>
                <a:spcPct val="80000"/>
              </a:lnSpc>
            </a:pPr>
            <a:r>
              <a:rPr lang="es-AR" altLang="es-AR" sz="800" dirty="0"/>
              <a:t>En las páginas de un sitio web suelen existir elementos que se repiten en cada página, como el encabezado de página (el logo y el título del sitio web), los mecanismos de navegación (el menú principal y secundario del sitio web) y los anuncios. Un mecanismo que permita a los usuarios saltar los elementos que se repiten en cada página facilita la lectura de la página a las personas que son ciegas o tienen graves problemas de visión y dependen de un lector de pantalla. El mecanismo consiste en un enlace con el texto “Saltar al contenido”, “Saltar al contenido principal” o “Saltar navegación” situado en la parte superior de la página que salta al contenido principal de la página. Este enlace puede estar visible para todos los usuarios o se puede ocultar para que sólo esté disponible para los usuarios de lectores de pantalla.</a:t>
            </a:r>
          </a:p>
          <a:p>
            <a:pPr eaLnBrk="1" hangingPunct="1">
              <a:lnSpc>
                <a:spcPct val="80000"/>
              </a:lnSpc>
            </a:pPr>
            <a:r>
              <a:rPr lang="es-AR" altLang="es-AR" sz="900" b="1" dirty="0"/>
              <a:t>Proporciona encabezados de página</a:t>
            </a:r>
            <a:r>
              <a:rPr lang="es-AR" altLang="es-AR" sz="900" dirty="0"/>
              <a:t> </a:t>
            </a:r>
          </a:p>
          <a:p>
            <a:pPr lvl="1" eaLnBrk="1" hangingPunct="1">
              <a:lnSpc>
                <a:spcPct val="80000"/>
              </a:lnSpc>
            </a:pPr>
            <a:r>
              <a:rPr lang="es-AR" altLang="es-AR" sz="800" dirty="0"/>
              <a:t>Los encabezados de página (&lt;h1&gt;, &lt;h2&gt;, etc.) permiten definir la estructura de una página web. Un lector de pantalla permite navegar a través de los encabezados de una página. De esta forma, un usuario que utiliza un lector de pantalla puede llegar fácil y rápidamente a distintas partes de una página sin tener que pasar por todo el contenido de la página. Los encabezados de página también pueden estar visibles para todos los usuarios o se pueden ocultar para que sólo estén disponibles para los usuarios de lectores de pantalla.</a:t>
            </a:r>
          </a:p>
          <a:p>
            <a:pPr eaLnBrk="1" hangingPunct="1">
              <a:lnSpc>
                <a:spcPct val="80000"/>
              </a:lnSpc>
            </a:pPr>
            <a:r>
              <a:rPr lang="es-AR" altLang="es-AR" sz="900" b="1" dirty="0"/>
              <a:t>Proporciona un texto alternativo</a:t>
            </a:r>
            <a:r>
              <a:rPr lang="es-AR" altLang="es-AR" sz="900" dirty="0"/>
              <a:t> </a:t>
            </a:r>
          </a:p>
          <a:p>
            <a:pPr lvl="1" eaLnBrk="1" hangingPunct="1">
              <a:lnSpc>
                <a:spcPct val="80000"/>
              </a:lnSpc>
            </a:pPr>
            <a:r>
              <a:rPr lang="es-AR" altLang="es-AR" sz="800" dirty="0"/>
              <a:t>El texto alternativo (atributo </a:t>
            </a:r>
            <a:r>
              <a:rPr lang="es-AR" altLang="es-AR" sz="800" dirty="0" err="1"/>
              <a:t>alt</a:t>
            </a:r>
            <a:r>
              <a:rPr lang="es-AR" altLang="es-AR" sz="800" dirty="0"/>
              <a:t> en la etiqueta &lt;</a:t>
            </a:r>
            <a:r>
              <a:rPr lang="es-AR" altLang="es-AR" sz="800" dirty="0" err="1"/>
              <a:t>img</a:t>
            </a:r>
            <a:r>
              <a:rPr lang="es-AR" altLang="es-AR" sz="800" dirty="0"/>
              <a:t>&gt;) proporciona una alternativa textual a los contenidos que no son texto en las páginas web, como por ejemplo las imágenes. El texto alternativo es especialmente útil para las personas que utilizan un lector de pantalla para acceder al contenido de un sitio web. El texto alternativo debe ser adecuado al contexto de uso del contenido no textual, debe transmitir la misma información o debe proporcionar la misma funcionalidad. Si un contenido no textual requiere una descripción muy larga se debe emplear el atributo </a:t>
            </a:r>
            <a:r>
              <a:rPr lang="es-AR" altLang="es-AR" sz="800" dirty="0" err="1"/>
              <a:t>longdesc</a:t>
            </a:r>
            <a:r>
              <a:rPr lang="es-AR" altLang="es-AR" sz="800" dirty="0"/>
              <a:t> para indicar una página web en la que se ofrece dicha descripción.</a:t>
            </a:r>
          </a:p>
          <a:p>
            <a:pPr eaLnBrk="1" hangingPunct="1">
              <a:lnSpc>
                <a:spcPct val="80000"/>
              </a:lnSpc>
            </a:pPr>
            <a:r>
              <a:rPr lang="es-AR" altLang="es-AR" sz="900" b="1" dirty="0"/>
              <a:t>Proporciona encabezados para las tablas de datos</a:t>
            </a:r>
            <a:r>
              <a:rPr lang="es-AR" altLang="es-AR" sz="900" dirty="0"/>
              <a:t> </a:t>
            </a:r>
          </a:p>
          <a:p>
            <a:pPr lvl="1" eaLnBrk="1" hangingPunct="1">
              <a:lnSpc>
                <a:spcPct val="80000"/>
              </a:lnSpc>
            </a:pPr>
            <a:r>
              <a:rPr lang="es-AR" altLang="es-AR" sz="800" dirty="0"/>
              <a:t>Las tablas se utilizan para mostrar y organizar los datos. Las tablas que se utilizan para organizar datos tabulados deben tener encabezados de fila y de columna adecuados (la etiqueta &lt;</a:t>
            </a:r>
            <a:r>
              <a:rPr lang="es-AR" altLang="es-AR" sz="800" dirty="0" err="1"/>
              <a:t>th</a:t>
            </a:r>
            <a:r>
              <a:rPr lang="es-AR" altLang="es-AR" sz="800" dirty="0"/>
              <a:t>&gt;). Los encabezados facilitan la navegación y el entendimiento de las tablas de datos a los usuarios que utilizan un lector de pantalla. Si la estructura de la tabla es compleja, las celdas de datos deben estar correctamente asociadas con sus cabeceras (atributos </a:t>
            </a:r>
            <a:r>
              <a:rPr lang="es-AR" altLang="es-AR" sz="800" dirty="0" err="1"/>
              <a:t>headers</a:t>
            </a:r>
            <a:r>
              <a:rPr lang="es-AR" altLang="es-AR" sz="800" dirty="0"/>
              <a:t> y </a:t>
            </a:r>
            <a:r>
              <a:rPr lang="es-AR" altLang="es-AR" sz="800" dirty="0" err="1"/>
              <a:t>scope</a:t>
            </a:r>
            <a:r>
              <a:rPr lang="es-AR" altLang="es-AR" sz="800" dirty="0"/>
              <a:t>).</a:t>
            </a:r>
          </a:p>
          <a:p>
            <a:pPr eaLnBrk="1" hangingPunct="1">
              <a:lnSpc>
                <a:spcPct val="80000"/>
              </a:lnSpc>
            </a:pPr>
            <a:r>
              <a:rPr lang="es-AR" altLang="es-AR" sz="900" b="1" dirty="0"/>
              <a:t>Proporciona una etiqueta para los controles de formulario</a:t>
            </a:r>
            <a:r>
              <a:rPr lang="es-AR" altLang="es-AR" sz="900" dirty="0"/>
              <a:t> </a:t>
            </a:r>
          </a:p>
          <a:p>
            <a:pPr lvl="1" eaLnBrk="1" hangingPunct="1">
              <a:lnSpc>
                <a:spcPct val="80000"/>
              </a:lnSpc>
            </a:pPr>
            <a:r>
              <a:rPr lang="es-AR" altLang="es-AR" sz="800" dirty="0"/>
              <a:t>Cada control de un formulario debe tener una etiqueta asociada (etiqueta &lt;</a:t>
            </a:r>
            <a:r>
              <a:rPr lang="es-AR" altLang="es-AR" sz="800" dirty="0" err="1"/>
              <a:t>label</a:t>
            </a:r>
            <a:r>
              <a:rPr lang="es-AR" altLang="es-AR" sz="800" dirty="0"/>
              <a:t>&gt;). La etiqueta debe ser descriptiva y adecuada a la función que realiza el control.</a:t>
            </a:r>
          </a:p>
          <a:p>
            <a:pPr eaLnBrk="1" hangingPunct="1">
              <a:lnSpc>
                <a:spcPct val="80000"/>
              </a:lnSpc>
            </a:pPr>
            <a:r>
              <a:rPr lang="es-AR" altLang="es-AR" sz="900" b="1" dirty="0"/>
              <a:t>Garantiza que los enlaces tengan sentido fuera de contexto</a:t>
            </a:r>
            <a:r>
              <a:rPr lang="es-AR" altLang="es-AR" sz="900" dirty="0"/>
              <a:t> </a:t>
            </a:r>
          </a:p>
          <a:p>
            <a:pPr lvl="1" eaLnBrk="1" hangingPunct="1">
              <a:lnSpc>
                <a:spcPct val="80000"/>
              </a:lnSpc>
            </a:pPr>
            <a:r>
              <a:rPr lang="es-AR" altLang="es-AR" sz="800" dirty="0"/>
              <a:t>Cada enlace debe tener sentido si el texto del enlace es leído de forma aislada, ya que los usuarios de lectores de pantalla tienen una opción que les permite navegar por la lista de enlaces de una página web. Por tanto, los enlaces cuyo texto es “más”, “más información”, “pulsa aquí” o “descargar” deben ser evitados.</a:t>
            </a:r>
          </a:p>
          <a:p>
            <a:pPr eaLnBrk="1" hangingPunct="1">
              <a:lnSpc>
                <a:spcPct val="80000"/>
              </a:lnSpc>
            </a:pPr>
            <a:r>
              <a:rPr lang="es-AR" altLang="es-AR" sz="900" b="1" dirty="0"/>
              <a:t>No transmitas información únicamente a través del color</a:t>
            </a:r>
            <a:r>
              <a:rPr lang="es-AR" altLang="es-AR" sz="900" dirty="0"/>
              <a:t> </a:t>
            </a:r>
          </a:p>
          <a:p>
            <a:pPr lvl="1" eaLnBrk="1" hangingPunct="1">
              <a:lnSpc>
                <a:spcPct val="80000"/>
              </a:lnSpc>
            </a:pPr>
            <a:r>
              <a:rPr lang="es-AR" altLang="es-AR" sz="800" dirty="0"/>
              <a:t>El uso del color puede mejorar la comprensión de una página web, pero no se debe utilizar sólo el color para transmitir información. La información que se transmite únicamente a través del color puede no estar disponible para una persona que es daltónica y no estará disponible para usuarios de lectores de pantalla.</a:t>
            </a:r>
          </a:p>
          <a:p>
            <a:endParaRPr lang="es-AR" dirty="0"/>
          </a:p>
        </p:txBody>
      </p:sp>
      <p:sp>
        <p:nvSpPr>
          <p:cNvPr id="4" name="Marcador de número de diapositiva 3"/>
          <p:cNvSpPr>
            <a:spLocks noGrp="1"/>
          </p:cNvSpPr>
          <p:nvPr>
            <p:ph type="sldNum" sz="quarter" idx="10"/>
          </p:nvPr>
        </p:nvSpPr>
        <p:spPr/>
        <p:txBody>
          <a:bodyPr/>
          <a:lstStyle/>
          <a:p>
            <a:fld id="{16056653-EB7C-4C2C-8160-84A14F109A05}" type="slidenum">
              <a:rPr lang="es-AR" smtClean="0"/>
              <a:t>213</a:t>
            </a:fld>
            <a:endParaRPr lang="es-AR"/>
          </a:p>
        </p:txBody>
      </p:sp>
    </p:spTree>
    <p:extLst>
      <p:ext uri="{BB962C8B-B14F-4D97-AF65-F5344CB8AC3E}">
        <p14:creationId xmlns:p14="http://schemas.microsoft.com/office/powerpoint/2010/main" val="2443461000"/>
      </p:ext>
    </p:extLst>
  </p:cSld>
  <p:clrMapOvr>
    <a:masterClrMapping/>
  </p:clrMapOvr>
</p:notes>
</file>

<file path=ppt/notesSlides/notesSlide1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10"/>
          </p:nvPr>
        </p:nvSpPr>
        <p:spPr/>
        <p:txBody>
          <a:bodyPr/>
          <a:lstStyle/>
          <a:p>
            <a:fld id="{16056653-EB7C-4C2C-8160-84A14F109A05}" type="slidenum">
              <a:rPr lang="es-AR" smtClean="0"/>
              <a:t>214</a:t>
            </a:fld>
            <a:endParaRPr lang="es-AR"/>
          </a:p>
        </p:txBody>
      </p:sp>
    </p:spTree>
    <p:extLst>
      <p:ext uri="{BB962C8B-B14F-4D97-AF65-F5344CB8AC3E}">
        <p14:creationId xmlns:p14="http://schemas.microsoft.com/office/powerpoint/2010/main" val="27305947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1 Título"/>
          <p:cNvSpPr>
            <a:spLocks noGrp="1"/>
          </p:cNvSpPr>
          <p:nvPr>
            <p:ph type="ctrTitle"/>
          </p:nvPr>
        </p:nvSpPr>
        <p:spPr>
          <a:xfrm>
            <a:off x="685800" y="2130425"/>
            <a:ext cx="7772400" cy="1470025"/>
          </a:xfrm>
        </p:spPr>
        <p:txBody>
          <a:bodyPr/>
          <a:lstStyle/>
          <a:p>
            <a:r>
              <a:rPr lang="es-ES"/>
              <a:t>Haga clic para modificar el estilo de título del patrón</a:t>
            </a:r>
            <a:endParaRPr lang="es-AR"/>
          </a:p>
        </p:txBody>
      </p:sp>
      <p:sp>
        <p:nvSpPr>
          <p:cNvPr id="3" name="2 Subtítulo"/>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s-ES"/>
              <a:t>Haga clic para modificar el estilo de subtítulo del patrón</a:t>
            </a:r>
            <a:endParaRPr lang="es-AR"/>
          </a:p>
        </p:txBody>
      </p:sp>
      <p:sp>
        <p:nvSpPr>
          <p:cNvPr id="4" name="Rectangle 4"/>
          <p:cNvSpPr>
            <a:spLocks noGrp="1" noChangeArrowheads="1"/>
          </p:cNvSpPr>
          <p:nvPr>
            <p:ph type="dt" sz="half" idx="10"/>
          </p:nvPr>
        </p:nvSpPr>
        <p:spPr>
          <a:ln/>
        </p:spPr>
        <p:txBody>
          <a:bodyPr/>
          <a:lstStyle>
            <a:lvl1pPr>
              <a:defRPr/>
            </a:lvl1pPr>
          </a:lstStyle>
          <a:p>
            <a:pPr>
              <a:defRPr/>
            </a:pPr>
            <a:endParaRPr lang="es-ES"/>
          </a:p>
        </p:txBody>
      </p:sp>
      <p:sp>
        <p:nvSpPr>
          <p:cNvPr id="5" name="Rectangle 5"/>
          <p:cNvSpPr>
            <a:spLocks noGrp="1" noChangeArrowheads="1"/>
          </p:cNvSpPr>
          <p:nvPr>
            <p:ph type="ftr" sz="quarter" idx="11"/>
          </p:nvPr>
        </p:nvSpPr>
        <p:spPr>
          <a:ln/>
        </p:spPr>
        <p:txBody>
          <a:bodyPr/>
          <a:lstStyle>
            <a:lvl1pPr>
              <a:defRPr/>
            </a:lvl1pPr>
          </a:lstStyle>
          <a:p>
            <a:pPr>
              <a:defRPr/>
            </a:pPr>
            <a:endParaRPr lang="es-ES"/>
          </a:p>
        </p:txBody>
      </p:sp>
      <p:sp>
        <p:nvSpPr>
          <p:cNvPr id="6" name="Rectangle 6"/>
          <p:cNvSpPr>
            <a:spLocks noGrp="1" noChangeArrowheads="1"/>
          </p:cNvSpPr>
          <p:nvPr>
            <p:ph type="sldNum" sz="quarter" idx="12"/>
          </p:nvPr>
        </p:nvSpPr>
        <p:spPr>
          <a:ln/>
        </p:spPr>
        <p:txBody>
          <a:bodyPr/>
          <a:lstStyle>
            <a:lvl1pPr>
              <a:defRPr/>
            </a:lvl1pPr>
          </a:lstStyle>
          <a:p>
            <a:pPr>
              <a:defRPr/>
            </a:pPr>
            <a:fld id="{07540478-50BE-49C6-B241-19303790821C}" type="slidenum">
              <a:rPr lang="es-ES" altLang="es-AR"/>
              <a:pPr>
                <a:defRPr/>
              </a:pPr>
              <a:t>‹Nº›</a:t>
            </a:fld>
            <a:endParaRPr lang="es-ES" altLang="es-AR"/>
          </a:p>
        </p:txBody>
      </p:sp>
    </p:spTree>
    <p:extLst>
      <p:ext uri="{BB962C8B-B14F-4D97-AF65-F5344CB8AC3E}">
        <p14:creationId xmlns:p14="http://schemas.microsoft.com/office/powerpoint/2010/main" val="5366875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lvl1pPr algn="l">
              <a:defRPr sz="3600">
                <a:solidFill>
                  <a:schemeClr val="bg1"/>
                </a:solidFill>
              </a:defRPr>
            </a:lvl1pPr>
          </a:lstStyle>
          <a:p>
            <a:r>
              <a:rPr lang="es-ES" dirty="0"/>
              <a:t>Haga clic para modificar el estilo de título del patrón</a:t>
            </a:r>
            <a:endParaRPr lang="es-AR" dirty="0"/>
          </a:p>
        </p:txBody>
      </p:sp>
      <p:sp>
        <p:nvSpPr>
          <p:cNvPr id="3" name="2 Marcador de contenido"/>
          <p:cNvSpPr>
            <a:spLocks noGrp="1"/>
          </p:cNvSpPr>
          <p:nvPr>
            <p:ph idx="1"/>
          </p:nvPr>
        </p:nvSpPr>
        <p:spPr/>
        <p:txBody>
          <a:bodyPr/>
          <a:lstStyle>
            <a:lvl1pPr>
              <a:defRPr sz="2000"/>
            </a:lvl1pPr>
            <a:lvl2pPr>
              <a:defRPr sz="2000"/>
            </a:lvl2pPr>
            <a:lvl3pPr>
              <a:defRPr sz="2000"/>
            </a:lvl3pPr>
            <a:lvl4pPr>
              <a:defRPr sz="2000"/>
            </a:lvl4pPr>
            <a:lvl5pPr>
              <a:defRPr sz="2000"/>
            </a:lvl5pPr>
          </a:lstStyle>
          <a:p>
            <a:pPr lvl="0"/>
            <a:r>
              <a:rPr lang="es-ES" dirty="0"/>
              <a:t>Haga clic para modificar el estilo de texto del patrón</a:t>
            </a:r>
          </a:p>
          <a:p>
            <a:pPr lvl="1"/>
            <a:r>
              <a:rPr lang="es-ES" dirty="0"/>
              <a:t>Segundo nivel</a:t>
            </a:r>
          </a:p>
          <a:p>
            <a:pPr lvl="2"/>
            <a:r>
              <a:rPr lang="es-ES" dirty="0"/>
              <a:t>Tercer nivel</a:t>
            </a:r>
          </a:p>
          <a:p>
            <a:pPr lvl="3"/>
            <a:r>
              <a:rPr lang="es-ES" dirty="0"/>
              <a:t>Cuarto nivel</a:t>
            </a:r>
          </a:p>
          <a:p>
            <a:pPr lvl="4"/>
            <a:r>
              <a:rPr lang="es-ES" dirty="0"/>
              <a:t>Quinto nivel</a:t>
            </a:r>
            <a:endParaRPr lang="es-AR" dirty="0"/>
          </a:p>
        </p:txBody>
      </p:sp>
      <p:sp>
        <p:nvSpPr>
          <p:cNvPr id="4" name="Rectangle 4"/>
          <p:cNvSpPr>
            <a:spLocks noGrp="1" noChangeArrowheads="1"/>
          </p:cNvSpPr>
          <p:nvPr>
            <p:ph type="dt" sz="half" idx="10"/>
          </p:nvPr>
        </p:nvSpPr>
        <p:spPr>
          <a:ln/>
        </p:spPr>
        <p:txBody>
          <a:bodyPr/>
          <a:lstStyle>
            <a:lvl1pPr>
              <a:defRPr/>
            </a:lvl1pPr>
          </a:lstStyle>
          <a:p>
            <a:pPr>
              <a:defRPr/>
            </a:pPr>
            <a:endParaRPr lang="es-ES"/>
          </a:p>
        </p:txBody>
      </p:sp>
      <p:sp>
        <p:nvSpPr>
          <p:cNvPr id="5" name="Rectangle 5"/>
          <p:cNvSpPr>
            <a:spLocks noGrp="1" noChangeArrowheads="1"/>
          </p:cNvSpPr>
          <p:nvPr>
            <p:ph type="ftr" sz="quarter" idx="11"/>
          </p:nvPr>
        </p:nvSpPr>
        <p:spPr>
          <a:ln/>
        </p:spPr>
        <p:txBody>
          <a:bodyPr/>
          <a:lstStyle>
            <a:lvl1pPr>
              <a:defRPr/>
            </a:lvl1pPr>
          </a:lstStyle>
          <a:p>
            <a:pPr>
              <a:defRPr/>
            </a:pPr>
            <a:endParaRPr lang="es-ES"/>
          </a:p>
        </p:txBody>
      </p:sp>
      <p:sp>
        <p:nvSpPr>
          <p:cNvPr id="6" name="Rectangle 6"/>
          <p:cNvSpPr>
            <a:spLocks noGrp="1" noChangeArrowheads="1"/>
          </p:cNvSpPr>
          <p:nvPr>
            <p:ph type="sldNum" sz="quarter" idx="12"/>
          </p:nvPr>
        </p:nvSpPr>
        <p:spPr>
          <a:ln/>
        </p:spPr>
        <p:txBody>
          <a:bodyPr/>
          <a:lstStyle>
            <a:lvl1pPr>
              <a:defRPr/>
            </a:lvl1pPr>
          </a:lstStyle>
          <a:p>
            <a:pPr>
              <a:defRPr/>
            </a:pPr>
            <a:fld id="{4043C4F7-2767-4620-8EE5-22DF55586577}" type="slidenum">
              <a:rPr lang="es-ES" altLang="es-AR"/>
              <a:pPr>
                <a:defRPr/>
              </a:pPr>
              <a:t>‹Nº›</a:t>
            </a:fld>
            <a:endParaRPr lang="es-ES" altLang="es-AR"/>
          </a:p>
        </p:txBody>
      </p:sp>
    </p:spTree>
    <p:extLst>
      <p:ext uri="{BB962C8B-B14F-4D97-AF65-F5344CB8AC3E}">
        <p14:creationId xmlns:p14="http://schemas.microsoft.com/office/powerpoint/2010/main" val="26848409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1 Título"/>
          <p:cNvSpPr>
            <a:spLocks noGrp="1"/>
          </p:cNvSpPr>
          <p:nvPr>
            <p:ph type="title"/>
          </p:nvPr>
        </p:nvSpPr>
        <p:spPr>
          <a:xfrm>
            <a:off x="722313" y="4406900"/>
            <a:ext cx="7772400" cy="1362075"/>
          </a:xfrm>
        </p:spPr>
        <p:txBody>
          <a:bodyPr anchor="t"/>
          <a:lstStyle>
            <a:lvl1pPr algn="l">
              <a:defRPr sz="4000" b="1" cap="all"/>
            </a:lvl1pPr>
          </a:lstStyle>
          <a:p>
            <a:r>
              <a:rPr lang="es-ES"/>
              <a:t>Haga clic para modificar el estilo de título del patrón</a:t>
            </a:r>
            <a:endParaRPr lang="es-AR"/>
          </a:p>
        </p:txBody>
      </p:sp>
      <p:sp>
        <p:nvSpPr>
          <p:cNvPr id="3" name="2 Marcador de texto"/>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s-ES"/>
              <a:t>Haga clic para modificar el estilo de texto del patrón</a:t>
            </a:r>
          </a:p>
        </p:txBody>
      </p:sp>
      <p:sp>
        <p:nvSpPr>
          <p:cNvPr id="4" name="Rectangle 4"/>
          <p:cNvSpPr>
            <a:spLocks noGrp="1" noChangeArrowheads="1"/>
          </p:cNvSpPr>
          <p:nvPr>
            <p:ph type="dt" sz="half" idx="10"/>
          </p:nvPr>
        </p:nvSpPr>
        <p:spPr>
          <a:ln/>
        </p:spPr>
        <p:txBody>
          <a:bodyPr/>
          <a:lstStyle>
            <a:lvl1pPr>
              <a:defRPr/>
            </a:lvl1pPr>
          </a:lstStyle>
          <a:p>
            <a:pPr>
              <a:defRPr/>
            </a:pPr>
            <a:endParaRPr lang="es-ES"/>
          </a:p>
        </p:txBody>
      </p:sp>
      <p:sp>
        <p:nvSpPr>
          <p:cNvPr id="5" name="Rectangle 5"/>
          <p:cNvSpPr>
            <a:spLocks noGrp="1" noChangeArrowheads="1"/>
          </p:cNvSpPr>
          <p:nvPr>
            <p:ph type="ftr" sz="quarter" idx="11"/>
          </p:nvPr>
        </p:nvSpPr>
        <p:spPr>
          <a:ln/>
        </p:spPr>
        <p:txBody>
          <a:bodyPr/>
          <a:lstStyle>
            <a:lvl1pPr>
              <a:defRPr/>
            </a:lvl1pPr>
          </a:lstStyle>
          <a:p>
            <a:pPr>
              <a:defRPr/>
            </a:pPr>
            <a:endParaRPr lang="es-ES"/>
          </a:p>
        </p:txBody>
      </p:sp>
      <p:sp>
        <p:nvSpPr>
          <p:cNvPr id="6" name="Rectangle 6"/>
          <p:cNvSpPr>
            <a:spLocks noGrp="1" noChangeArrowheads="1"/>
          </p:cNvSpPr>
          <p:nvPr>
            <p:ph type="sldNum" sz="quarter" idx="12"/>
          </p:nvPr>
        </p:nvSpPr>
        <p:spPr>
          <a:ln/>
        </p:spPr>
        <p:txBody>
          <a:bodyPr/>
          <a:lstStyle>
            <a:lvl1pPr>
              <a:defRPr/>
            </a:lvl1pPr>
          </a:lstStyle>
          <a:p>
            <a:pPr>
              <a:defRPr/>
            </a:pPr>
            <a:fld id="{6E07602F-D693-40A3-90A5-048CEDE45BB4}" type="slidenum">
              <a:rPr lang="es-ES" altLang="es-AR"/>
              <a:pPr>
                <a:defRPr/>
              </a:pPr>
              <a:t>‹Nº›</a:t>
            </a:fld>
            <a:endParaRPr lang="es-ES" altLang="es-AR"/>
          </a:p>
        </p:txBody>
      </p:sp>
    </p:spTree>
    <p:extLst>
      <p:ext uri="{BB962C8B-B14F-4D97-AF65-F5344CB8AC3E}">
        <p14:creationId xmlns:p14="http://schemas.microsoft.com/office/powerpoint/2010/main" val="33698555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endParaRPr lang="es-AR"/>
          </a:p>
        </p:txBody>
      </p:sp>
      <p:sp>
        <p:nvSpPr>
          <p:cNvPr id="3" name="2 Marcador de contenido"/>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4" name="3 Marcador de contenido"/>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5" name="Rectangle 4"/>
          <p:cNvSpPr>
            <a:spLocks noGrp="1" noChangeArrowheads="1"/>
          </p:cNvSpPr>
          <p:nvPr>
            <p:ph type="dt" sz="half" idx="10"/>
          </p:nvPr>
        </p:nvSpPr>
        <p:spPr>
          <a:ln/>
        </p:spPr>
        <p:txBody>
          <a:bodyPr/>
          <a:lstStyle>
            <a:lvl1pPr>
              <a:defRPr/>
            </a:lvl1pPr>
          </a:lstStyle>
          <a:p>
            <a:pPr>
              <a:defRPr/>
            </a:pPr>
            <a:endParaRPr lang="es-ES"/>
          </a:p>
        </p:txBody>
      </p:sp>
      <p:sp>
        <p:nvSpPr>
          <p:cNvPr id="6" name="Rectangle 5"/>
          <p:cNvSpPr>
            <a:spLocks noGrp="1" noChangeArrowheads="1"/>
          </p:cNvSpPr>
          <p:nvPr>
            <p:ph type="ftr" sz="quarter" idx="11"/>
          </p:nvPr>
        </p:nvSpPr>
        <p:spPr>
          <a:ln/>
        </p:spPr>
        <p:txBody>
          <a:bodyPr/>
          <a:lstStyle>
            <a:lvl1pPr>
              <a:defRPr/>
            </a:lvl1pPr>
          </a:lstStyle>
          <a:p>
            <a:pPr>
              <a:defRPr/>
            </a:pPr>
            <a:endParaRPr lang="es-ES"/>
          </a:p>
        </p:txBody>
      </p:sp>
      <p:sp>
        <p:nvSpPr>
          <p:cNvPr id="7" name="Rectangle 6"/>
          <p:cNvSpPr>
            <a:spLocks noGrp="1" noChangeArrowheads="1"/>
          </p:cNvSpPr>
          <p:nvPr>
            <p:ph type="sldNum" sz="quarter" idx="12"/>
          </p:nvPr>
        </p:nvSpPr>
        <p:spPr>
          <a:ln/>
        </p:spPr>
        <p:txBody>
          <a:bodyPr/>
          <a:lstStyle>
            <a:lvl1pPr>
              <a:defRPr/>
            </a:lvl1pPr>
          </a:lstStyle>
          <a:p>
            <a:pPr>
              <a:defRPr/>
            </a:pPr>
            <a:fld id="{39EC2E63-9B90-49C5-8FB9-2A824CF9B73C}" type="slidenum">
              <a:rPr lang="es-ES" altLang="es-AR"/>
              <a:pPr>
                <a:defRPr/>
              </a:pPr>
              <a:t>‹Nº›</a:t>
            </a:fld>
            <a:endParaRPr lang="es-ES" altLang="es-AR"/>
          </a:p>
        </p:txBody>
      </p:sp>
    </p:spTree>
    <p:extLst>
      <p:ext uri="{BB962C8B-B14F-4D97-AF65-F5344CB8AC3E}">
        <p14:creationId xmlns:p14="http://schemas.microsoft.com/office/powerpoint/2010/main" val="12093986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lvl1pPr>
              <a:defRPr/>
            </a:lvl1pPr>
          </a:lstStyle>
          <a:p>
            <a:r>
              <a:rPr lang="es-ES"/>
              <a:t>Haga clic para modificar el estilo de título del patrón</a:t>
            </a:r>
            <a:endParaRPr lang="es-AR"/>
          </a:p>
        </p:txBody>
      </p:sp>
      <p:sp>
        <p:nvSpPr>
          <p:cNvPr id="3" name="2 Marcador de texto"/>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4" name="3 Marcador de contenido"/>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5" name="4 Marcador de texto"/>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6" name="5 Marcador de contenido"/>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7" name="Rectangle 4"/>
          <p:cNvSpPr>
            <a:spLocks noGrp="1" noChangeArrowheads="1"/>
          </p:cNvSpPr>
          <p:nvPr>
            <p:ph type="dt" sz="half" idx="10"/>
          </p:nvPr>
        </p:nvSpPr>
        <p:spPr>
          <a:ln/>
        </p:spPr>
        <p:txBody>
          <a:bodyPr/>
          <a:lstStyle>
            <a:lvl1pPr>
              <a:defRPr/>
            </a:lvl1pPr>
          </a:lstStyle>
          <a:p>
            <a:pPr>
              <a:defRPr/>
            </a:pPr>
            <a:endParaRPr lang="es-ES"/>
          </a:p>
        </p:txBody>
      </p:sp>
      <p:sp>
        <p:nvSpPr>
          <p:cNvPr id="8" name="Rectangle 5"/>
          <p:cNvSpPr>
            <a:spLocks noGrp="1" noChangeArrowheads="1"/>
          </p:cNvSpPr>
          <p:nvPr>
            <p:ph type="ftr" sz="quarter" idx="11"/>
          </p:nvPr>
        </p:nvSpPr>
        <p:spPr>
          <a:ln/>
        </p:spPr>
        <p:txBody>
          <a:bodyPr/>
          <a:lstStyle>
            <a:lvl1pPr>
              <a:defRPr/>
            </a:lvl1pPr>
          </a:lstStyle>
          <a:p>
            <a:pPr>
              <a:defRPr/>
            </a:pPr>
            <a:endParaRPr lang="es-ES"/>
          </a:p>
        </p:txBody>
      </p:sp>
      <p:sp>
        <p:nvSpPr>
          <p:cNvPr id="9" name="Rectangle 6"/>
          <p:cNvSpPr>
            <a:spLocks noGrp="1" noChangeArrowheads="1"/>
          </p:cNvSpPr>
          <p:nvPr>
            <p:ph type="sldNum" sz="quarter" idx="12"/>
          </p:nvPr>
        </p:nvSpPr>
        <p:spPr>
          <a:ln/>
        </p:spPr>
        <p:txBody>
          <a:bodyPr/>
          <a:lstStyle>
            <a:lvl1pPr>
              <a:defRPr/>
            </a:lvl1pPr>
          </a:lstStyle>
          <a:p>
            <a:pPr>
              <a:defRPr/>
            </a:pPr>
            <a:fld id="{F7644FC4-27FE-4896-A649-78C2A7A8A515}" type="slidenum">
              <a:rPr lang="es-ES" altLang="es-AR"/>
              <a:pPr>
                <a:defRPr/>
              </a:pPr>
              <a:t>‹Nº›</a:t>
            </a:fld>
            <a:endParaRPr lang="es-ES" altLang="es-AR"/>
          </a:p>
        </p:txBody>
      </p:sp>
    </p:spTree>
    <p:extLst>
      <p:ext uri="{BB962C8B-B14F-4D97-AF65-F5344CB8AC3E}">
        <p14:creationId xmlns:p14="http://schemas.microsoft.com/office/powerpoint/2010/main" val="20991354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endParaRPr lang="es-AR"/>
          </a:p>
        </p:txBody>
      </p:sp>
      <p:sp>
        <p:nvSpPr>
          <p:cNvPr id="3" name="Rectangle 4"/>
          <p:cNvSpPr>
            <a:spLocks noGrp="1" noChangeArrowheads="1"/>
          </p:cNvSpPr>
          <p:nvPr>
            <p:ph type="dt" sz="half" idx="10"/>
          </p:nvPr>
        </p:nvSpPr>
        <p:spPr>
          <a:ln/>
        </p:spPr>
        <p:txBody>
          <a:bodyPr/>
          <a:lstStyle>
            <a:lvl1pPr>
              <a:defRPr/>
            </a:lvl1pPr>
          </a:lstStyle>
          <a:p>
            <a:pPr>
              <a:defRPr/>
            </a:pPr>
            <a:endParaRPr lang="es-ES"/>
          </a:p>
        </p:txBody>
      </p:sp>
      <p:sp>
        <p:nvSpPr>
          <p:cNvPr id="4" name="Rectangle 5"/>
          <p:cNvSpPr>
            <a:spLocks noGrp="1" noChangeArrowheads="1"/>
          </p:cNvSpPr>
          <p:nvPr>
            <p:ph type="ftr" sz="quarter" idx="11"/>
          </p:nvPr>
        </p:nvSpPr>
        <p:spPr>
          <a:ln/>
        </p:spPr>
        <p:txBody>
          <a:bodyPr/>
          <a:lstStyle>
            <a:lvl1pPr>
              <a:defRPr/>
            </a:lvl1pPr>
          </a:lstStyle>
          <a:p>
            <a:pPr>
              <a:defRPr/>
            </a:pPr>
            <a:endParaRPr lang="es-ES"/>
          </a:p>
        </p:txBody>
      </p:sp>
      <p:sp>
        <p:nvSpPr>
          <p:cNvPr id="5" name="Rectangle 6"/>
          <p:cNvSpPr>
            <a:spLocks noGrp="1" noChangeArrowheads="1"/>
          </p:cNvSpPr>
          <p:nvPr>
            <p:ph type="sldNum" sz="quarter" idx="12"/>
          </p:nvPr>
        </p:nvSpPr>
        <p:spPr>
          <a:ln/>
        </p:spPr>
        <p:txBody>
          <a:bodyPr/>
          <a:lstStyle>
            <a:lvl1pPr>
              <a:defRPr/>
            </a:lvl1pPr>
          </a:lstStyle>
          <a:p>
            <a:pPr>
              <a:defRPr/>
            </a:pPr>
            <a:fld id="{90322AEF-5C0A-46AA-994B-C620A3BF8B32}" type="slidenum">
              <a:rPr lang="es-ES" altLang="es-AR"/>
              <a:pPr>
                <a:defRPr/>
              </a:pPr>
              <a:t>‹Nº›</a:t>
            </a:fld>
            <a:endParaRPr lang="es-ES" altLang="es-AR"/>
          </a:p>
        </p:txBody>
      </p:sp>
    </p:spTree>
    <p:extLst>
      <p:ext uri="{BB962C8B-B14F-4D97-AF65-F5344CB8AC3E}">
        <p14:creationId xmlns:p14="http://schemas.microsoft.com/office/powerpoint/2010/main" val="19925841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s-ES"/>
          </a:p>
        </p:txBody>
      </p:sp>
      <p:sp>
        <p:nvSpPr>
          <p:cNvPr id="3" name="Rectangle 5"/>
          <p:cNvSpPr>
            <a:spLocks noGrp="1" noChangeArrowheads="1"/>
          </p:cNvSpPr>
          <p:nvPr>
            <p:ph type="ftr" sz="quarter" idx="11"/>
          </p:nvPr>
        </p:nvSpPr>
        <p:spPr>
          <a:ln/>
        </p:spPr>
        <p:txBody>
          <a:bodyPr/>
          <a:lstStyle>
            <a:lvl1pPr>
              <a:defRPr/>
            </a:lvl1pPr>
          </a:lstStyle>
          <a:p>
            <a:pPr>
              <a:defRPr/>
            </a:pPr>
            <a:endParaRPr lang="es-ES"/>
          </a:p>
        </p:txBody>
      </p:sp>
      <p:sp>
        <p:nvSpPr>
          <p:cNvPr id="4" name="Rectangle 6"/>
          <p:cNvSpPr>
            <a:spLocks noGrp="1" noChangeArrowheads="1"/>
          </p:cNvSpPr>
          <p:nvPr>
            <p:ph type="sldNum" sz="quarter" idx="12"/>
          </p:nvPr>
        </p:nvSpPr>
        <p:spPr>
          <a:ln/>
        </p:spPr>
        <p:txBody>
          <a:bodyPr/>
          <a:lstStyle>
            <a:lvl1pPr>
              <a:defRPr/>
            </a:lvl1pPr>
          </a:lstStyle>
          <a:p>
            <a:pPr>
              <a:defRPr/>
            </a:pPr>
            <a:fld id="{06E533AD-2DFB-4A51-B89A-64F4E5E9906D}" type="slidenum">
              <a:rPr lang="es-ES" altLang="es-AR"/>
              <a:pPr>
                <a:defRPr/>
              </a:pPr>
              <a:t>‹Nº›</a:t>
            </a:fld>
            <a:endParaRPr lang="es-ES" altLang="es-AR"/>
          </a:p>
        </p:txBody>
      </p:sp>
    </p:spTree>
    <p:extLst>
      <p:ext uri="{BB962C8B-B14F-4D97-AF65-F5344CB8AC3E}">
        <p14:creationId xmlns:p14="http://schemas.microsoft.com/office/powerpoint/2010/main" val="2635390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3050"/>
            <a:ext cx="3008313" cy="1162050"/>
          </a:xfrm>
        </p:spPr>
        <p:txBody>
          <a:bodyPr anchor="b"/>
          <a:lstStyle>
            <a:lvl1pPr algn="l">
              <a:defRPr sz="2000" b="1"/>
            </a:lvl1pPr>
          </a:lstStyle>
          <a:p>
            <a:r>
              <a:rPr lang="es-ES"/>
              <a:t>Haga clic para modificar el estilo de título del patrón</a:t>
            </a:r>
            <a:endParaRPr lang="es-AR"/>
          </a:p>
        </p:txBody>
      </p:sp>
      <p:sp>
        <p:nvSpPr>
          <p:cNvPr id="3" name="2 Marcador de contenido"/>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4" name="3 Marcador de texto"/>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5" name="Rectangle 4"/>
          <p:cNvSpPr>
            <a:spLocks noGrp="1" noChangeArrowheads="1"/>
          </p:cNvSpPr>
          <p:nvPr>
            <p:ph type="dt" sz="half" idx="10"/>
          </p:nvPr>
        </p:nvSpPr>
        <p:spPr>
          <a:ln/>
        </p:spPr>
        <p:txBody>
          <a:bodyPr/>
          <a:lstStyle>
            <a:lvl1pPr>
              <a:defRPr/>
            </a:lvl1pPr>
          </a:lstStyle>
          <a:p>
            <a:pPr>
              <a:defRPr/>
            </a:pPr>
            <a:endParaRPr lang="es-ES"/>
          </a:p>
        </p:txBody>
      </p:sp>
      <p:sp>
        <p:nvSpPr>
          <p:cNvPr id="6" name="Rectangle 5"/>
          <p:cNvSpPr>
            <a:spLocks noGrp="1" noChangeArrowheads="1"/>
          </p:cNvSpPr>
          <p:nvPr>
            <p:ph type="ftr" sz="quarter" idx="11"/>
          </p:nvPr>
        </p:nvSpPr>
        <p:spPr>
          <a:ln/>
        </p:spPr>
        <p:txBody>
          <a:bodyPr/>
          <a:lstStyle>
            <a:lvl1pPr>
              <a:defRPr/>
            </a:lvl1pPr>
          </a:lstStyle>
          <a:p>
            <a:pPr>
              <a:defRPr/>
            </a:pPr>
            <a:endParaRPr lang="es-ES"/>
          </a:p>
        </p:txBody>
      </p:sp>
      <p:sp>
        <p:nvSpPr>
          <p:cNvPr id="7" name="Rectangle 6"/>
          <p:cNvSpPr>
            <a:spLocks noGrp="1" noChangeArrowheads="1"/>
          </p:cNvSpPr>
          <p:nvPr>
            <p:ph type="sldNum" sz="quarter" idx="12"/>
          </p:nvPr>
        </p:nvSpPr>
        <p:spPr>
          <a:ln/>
        </p:spPr>
        <p:txBody>
          <a:bodyPr/>
          <a:lstStyle>
            <a:lvl1pPr>
              <a:defRPr/>
            </a:lvl1pPr>
          </a:lstStyle>
          <a:p>
            <a:pPr>
              <a:defRPr/>
            </a:pPr>
            <a:fld id="{45491D27-0A66-4FAE-9E21-A490C1149CA2}" type="slidenum">
              <a:rPr lang="es-ES" altLang="es-AR"/>
              <a:pPr>
                <a:defRPr/>
              </a:pPr>
              <a:t>‹Nº›</a:t>
            </a:fld>
            <a:endParaRPr lang="es-ES" altLang="es-AR"/>
          </a:p>
        </p:txBody>
      </p:sp>
    </p:spTree>
    <p:extLst>
      <p:ext uri="{BB962C8B-B14F-4D97-AF65-F5344CB8AC3E}">
        <p14:creationId xmlns:p14="http://schemas.microsoft.com/office/powerpoint/2010/main" val="32427417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1792288" y="4800600"/>
            <a:ext cx="5486400" cy="566738"/>
          </a:xfrm>
        </p:spPr>
        <p:txBody>
          <a:bodyPr anchor="b"/>
          <a:lstStyle>
            <a:lvl1pPr algn="l">
              <a:defRPr sz="2000" b="1"/>
            </a:lvl1pPr>
          </a:lstStyle>
          <a:p>
            <a:r>
              <a:rPr lang="es-ES"/>
              <a:t>Haga clic para modificar el estilo de título del patrón</a:t>
            </a:r>
            <a:endParaRPr lang="es-AR"/>
          </a:p>
        </p:txBody>
      </p:sp>
      <p:sp>
        <p:nvSpPr>
          <p:cNvPr id="3" name="2 Marcador de posición de imagen"/>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s-AR" noProof="0"/>
          </a:p>
        </p:txBody>
      </p:sp>
      <p:sp>
        <p:nvSpPr>
          <p:cNvPr id="4" name="3 Marcador de texto"/>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5" name="Rectangle 4"/>
          <p:cNvSpPr>
            <a:spLocks noGrp="1" noChangeArrowheads="1"/>
          </p:cNvSpPr>
          <p:nvPr>
            <p:ph type="dt" sz="half" idx="10"/>
          </p:nvPr>
        </p:nvSpPr>
        <p:spPr>
          <a:ln/>
        </p:spPr>
        <p:txBody>
          <a:bodyPr/>
          <a:lstStyle>
            <a:lvl1pPr>
              <a:defRPr/>
            </a:lvl1pPr>
          </a:lstStyle>
          <a:p>
            <a:pPr>
              <a:defRPr/>
            </a:pPr>
            <a:endParaRPr lang="es-ES"/>
          </a:p>
        </p:txBody>
      </p:sp>
      <p:sp>
        <p:nvSpPr>
          <p:cNvPr id="6" name="Rectangle 5"/>
          <p:cNvSpPr>
            <a:spLocks noGrp="1" noChangeArrowheads="1"/>
          </p:cNvSpPr>
          <p:nvPr>
            <p:ph type="ftr" sz="quarter" idx="11"/>
          </p:nvPr>
        </p:nvSpPr>
        <p:spPr>
          <a:ln/>
        </p:spPr>
        <p:txBody>
          <a:bodyPr/>
          <a:lstStyle>
            <a:lvl1pPr>
              <a:defRPr/>
            </a:lvl1pPr>
          </a:lstStyle>
          <a:p>
            <a:pPr>
              <a:defRPr/>
            </a:pPr>
            <a:endParaRPr lang="es-ES"/>
          </a:p>
        </p:txBody>
      </p:sp>
      <p:sp>
        <p:nvSpPr>
          <p:cNvPr id="7" name="Rectangle 6"/>
          <p:cNvSpPr>
            <a:spLocks noGrp="1" noChangeArrowheads="1"/>
          </p:cNvSpPr>
          <p:nvPr>
            <p:ph type="sldNum" sz="quarter" idx="12"/>
          </p:nvPr>
        </p:nvSpPr>
        <p:spPr>
          <a:ln/>
        </p:spPr>
        <p:txBody>
          <a:bodyPr/>
          <a:lstStyle>
            <a:lvl1pPr>
              <a:defRPr/>
            </a:lvl1pPr>
          </a:lstStyle>
          <a:p>
            <a:pPr>
              <a:defRPr/>
            </a:pPr>
            <a:fld id="{EB86D6B2-EA1D-4F8A-BE36-81A24625E17C}" type="slidenum">
              <a:rPr lang="es-ES" altLang="es-AR"/>
              <a:pPr>
                <a:defRPr/>
              </a:pPr>
              <a:t>‹Nº›</a:t>
            </a:fld>
            <a:endParaRPr lang="es-ES" altLang="es-AR"/>
          </a:p>
        </p:txBody>
      </p:sp>
    </p:spTree>
    <p:extLst>
      <p:ext uri="{BB962C8B-B14F-4D97-AF65-F5344CB8AC3E}">
        <p14:creationId xmlns:p14="http://schemas.microsoft.com/office/powerpoint/2010/main" val="16242990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endParaRPr lang="es-AR"/>
          </a:p>
        </p:txBody>
      </p:sp>
      <p:sp>
        <p:nvSpPr>
          <p:cNvPr id="3" name="2 Marcador de texto vertical"/>
          <p:cNvSpPr>
            <a:spLocks noGrp="1"/>
          </p:cNvSpPr>
          <p:nvPr>
            <p:ph type="body" orient="vert" idx="1"/>
          </p:nvPr>
        </p:nvSpPr>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4" name="Rectangle 4"/>
          <p:cNvSpPr>
            <a:spLocks noGrp="1" noChangeArrowheads="1"/>
          </p:cNvSpPr>
          <p:nvPr>
            <p:ph type="dt" sz="half" idx="10"/>
          </p:nvPr>
        </p:nvSpPr>
        <p:spPr>
          <a:ln/>
        </p:spPr>
        <p:txBody>
          <a:bodyPr/>
          <a:lstStyle>
            <a:lvl1pPr>
              <a:defRPr/>
            </a:lvl1pPr>
          </a:lstStyle>
          <a:p>
            <a:pPr>
              <a:defRPr/>
            </a:pPr>
            <a:endParaRPr lang="es-ES"/>
          </a:p>
        </p:txBody>
      </p:sp>
      <p:sp>
        <p:nvSpPr>
          <p:cNvPr id="5" name="Rectangle 5"/>
          <p:cNvSpPr>
            <a:spLocks noGrp="1" noChangeArrowheads="1"/>
          </p:cNvSpPr>
          <p:nvPr>
            <p:ph type="ftr" sz="quarter" idx="11"/>
          </p:nvPr>
        </p:nvSpPr>
        <p:spPr>
          <a:ln/>
        </p:spPr>
        <p:txBody>
          <a:bodyPr/>
          <a:lstStyle>
            <a:lvl1pPr>
              <a:defRPr/>
            </a:lvl1pPr>
          </a:lstStyle>
          <a:p>
            <a:pPr>
              <a:defRPr/>
            </a:pPr>
            <a:endParaRPr lang="es-ES"/>
          </a:p>
        </p:txBody>
      </p:sp>
      <p:sp>
        <p:nvSpPr>
          <p:cNvPr id="6" name="Rectangle 6"/>
          <p:cNvSpPr>
            <a:spLocks noGrp="1" noChangeArrowheads="1"/>
          </p:cNvSpPr>
          <p:nvPr>
            <p:ph type="sldNum" sz="quarter" idx="12"/>
          </p:nvPr>
        </p:nvSpPr>
        <p:spPr>
          <a:ln/>
        </p:spPr>
        <p:txBody>
          <a:bodyPr/>
          <a:lstStyle>
            <a:lvl1pPr>
              <a:defRPr/>
            </a:lvl1pPr>
          </a:lstStyle>
          <a:p>
            <a:pPr>
              <a:defRPr/>
            </a:pPr>
            <a:fld id="{1FEE7822-9EF2-4E52-B8B0-52441EF33644}" type="slidenum">
              <a:rPr lang="es-ES" altLang="es-AR"/>
              <a:pPr>
                <a:defRPr/>
              </a:pPr>
              <a:t>‹Nº›</a:t>
            </a:fld>
            <a:endParaRPr lang="es-ES" altLang="es-AR"/>
          </a:p>
        </p:txBody>
      </p:sp>
    </p:spTree>
    <p:extLst>
      <p:ext uri="{BB962C8B-B14F-4D97-AF65-F5344CB8AC3E}">
        <p14:creationId xmlns:p14="http://schemas.microsoft.com/office/powerpoint/2010/main" val="24639564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1 Título vertical"/>
          <p:cNvSpPr>
            <a:spLocks noGrp="1"/>
          </p:cNvSpPr>
          <p:nvPr>
            <p:ph type="title" orient="vert"/>
          </p:nvPr>
        </p:nvSpPr>
        <p:spPr>
          <a:xfrm>
            <a:off x="6629400" y="274638"/>
            <a:ext cx="2057400" cy="5851525"/>
          </a:xfrm>
        </p:spPr>
        <p:txBody>
          <a:bodyPr vert="eaVert"/>
          <a:lstStyle/>
          <a:p>
            <a:r>
              <a:rPr lang="es-ES"/>
              <a:t>Haga clic para modificar el estilo de título del patrón</a:t>
            </a:r>
            <a:endParaRPr lang="es-AR"/>
          </a:p>
        </p:txBody>
      </p:sp>
      <p:sp>
        <p:nvSpPr>
          <p:cNvPr id="3" name="2 Marcador de texto vertical"/>
          <p:cNvSpPr>
            <a:spLocks noGrp="1"/>
          </p:cNvSpPr>
          <p:nvPr>
            <p:ph type="body" orient="vert" idx="1"/>
          </p:nvPr>
        </p:nvSpPr>
        <p:spPr>
          <a:xfrm>
            <a:off x="457200" y="274638"/>
            <a:ext cx="6019800" cy="5851525"/>
          </a:xfrm>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4" name="Rectangle 4"/>
          <p:cNvSpPr>
            <a:spLocks noGrp="1" noChangeArrowheads="1"/>
          </p:cNvSpPr>
          <p:nvPr>
            <p:ph type="dt" sz="half" idx="10"/>
          </p:nvPr>
        </p:nvSpPr>
        <p:spPr>
          <a:ln/>
        </p:spPr>
        <p:txBody>
          <a:bodyPr/>
          <a:lstStyle>
            <a:lvl1pPr>
              <a:defRPr/>
            </a:lvl1pPr>
          </a:lstStyle>
          <a:p>
            <a:pPr>
              <a:defRPr/>
            </a:pPr>
            <a:endParaRPr lang="es-ES"/>
          </a:p>
        </p:txBody>
      </p:sp>
      <p:sp>
        <p:nvSpPr>
          <p:cNvPr id="5" name="Rectangle 5"/>
          <p:cNvSpPr>
            <a:spLocks noGrp="1" noChangeArrowheads="1"/>
          </p:cNvSpPr>
          <p:nvPr>
            <p:ph type="ftr" sz="quarter" idx="11"/>
          </p:nvPr>
        </p:nvSpPr>
        <p:spPr>
          <a:ln/>
        </p:spPr>
        <p:txBody>
          <a:bodyPr/>
          <a:lstStyle>
            <a:lvl1pPr>
              <a:defRPr/>
            </a:lvl1pPr>
          </a:lstStyle>
          <a:p>
            <a:pPr>
              <a:defRPr/>
            </a:pPr>
            <a:endParaRPr lang="es-ES"/>
          </a:p>
        </p:txBody>
      </p:sp>
      <p:sp>
        <p:nvSpPr>
          <p:cNvPr id="6" name="Rectangle 6"/>
          <p:cNvSpPr>
            <a:spLocks noGrp="1" noChangeArrowheads="1"/>
          </p:cNvSpPr>
          <p:nvPr>
            <p:ph type="sldNum" sz="quarter" idx="12"/>
          </p:nvPr>
        </p:nvSpPr>
        <p:spPr>
          <a:ln/>
        </p:spPr>
        <p:txBody>
          <a:bodyPr/>
          <a:lstStyle>
            <a:lvl1pPr>
              <a:defRPr/>
            </a:lvl1pPr>
          </a:lstStyle>
          <a:p>
            <a:pPr>
              <a:defRPr/>
            </a:pPr>
            <a:fld id="{938E2EA6-D5C4-4125-A6E0-45FC2D06A74B}" type="slidenum">
              <a:rPr lang="es-ES" altLang="es-AR"/>
              <a:pPr>
                <a:defRPr/>
              </a:pPr>
              <a:t>‹Nº›</a:t>
            </a:fld>
            <a:endParaRPr lang="es-ES" altLang="es-AR"/>
          </a:p>
        </p:txBody>
      </p:sp>
    </p:spTree>
    <p:extLst>
      <p:ext uri="{BB962C8B-B14F-4D97-AF65-F5344CB8AC3E}">
        <p14:creationId xmlns:p14="http://schemas.microsoft.com/office/powerpoint/2010/main" val="8202957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3"/>
          <a:srcRect/>
          <a:stretch>
            <a:fillRect/>
          </a:stretch>
        </a:blip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s-ES" altLang="es-AR"/>
              <a:t>Haga clic para cambiar el estilo de título	</a:t>
            </a:r>
          </a:p>
        </p:txBody>
      </p:sp>
      <p:sp>
        <p:nvSpPr>
          <p:cNvPr id="1027" name="Rectangle 3"/>
          <p:cNvSpPr>
            <a:spLocks noGrp="1" noChangeArrowheads="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s-ES" altLang="es-AR"/>
              <a:t>Haga clic para modificar el estilo de texto del patrón</a:t>
            </a:r>
          </a:p>
          <a:p>
            <a:pPr lvl="1"/>
            <a:r>
              <a:rPr lang="es-ES" altLang="es-AR"/>
              <a:t>Segundo nivel</a:t>
            </a:r>
          </a:p>
          <a:p>
            <a:pPr lvl="2"/>
            <a:r>
              <a:rPr lang="es-ES" altLang="es-AR"/>
              <a:t>Tercer nivel</a:t>
            </a:r>
          </a:p>
          <a:p>
            <a:pPr lvl="3"/>
            <a:r>
              <a:rPr lang="es-ES" altLang="es-AR"/>
              <a:t>Cuarto nivel</a:t>
            </a:r>
          </a:p>
          <a:p>
            <a:pPr lvl="4"/>
            <a:r>
              <a:rPr lang="es-ES" altLang="es-AR"/>
              <a:t>Quinto nivel</a:t>
            </a:r>
          </a:p>
        </p:txBody>
      </p:sp>
      <p:sp>
        <p:nvSpPr>
          <p:cNvPr id="1028" name="Rectangle 4"/>
          <p:cNvSpPr>
            <a:spLocks noGrp="1" noChangeArrowheads="1"/>
          </p:cNvSpPr>
          <p:nvPr>
            <p:ph type="dt" sz="half" idx="2"/>
          </p:nvPr>
        </p:nvSpPr>
        <p:spPr bwMode="auto">
          <a:xfrm>
            <a:off x="457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400">
                <a:latin typeface="Arial" charset="0"/>
                <a:cs typeface="Arial" charset="0"/>
              </a:defRPr>
            </a:lvl1pPr>
          </a:lstStyle>
          <a:p>
            <a:pPr>
              <a:defRPr/>
            </a:pPr>
            <a:endParaRPr lang="es-ES"/>
          </a:p>
        </p:txBody>
      </p:sp>
      <p:sp>
        <p:nvSpPr>
          <p:cNvPr id="1029" name="Rectangle 5"/>
          <p:cNvSpPr>
            <a:spLocks noGrp="1" noChangeArrowheads="1"/>
          </p:cNvSpPr>
          <p:nvPr>
            <p:ph type="ftr" sz="quarter" idx="3"/>
          </p:nvPr>
        </p:nvSpPr>
        <p:spPr bwMode="auto">
          <a:xfrm>
            <a:off x="3124200" y="6245225"/>
            <a:ext cx="2895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1" hangingPunct="1">
              <a:defRPr sz="1400">
                <a:latin typeface="Arial" charset="0"/>
                <a:cs typeface="Arial" charset="0"/>
              </a:defRPr>
            </a:lvl1pPr>
          </a:lstStyle>
          <a:p>
            <a:pPr>
              <a:defRPr/>
            </a:pPr>
            <a:endParaRPr lang="es-ES"/>
          </a:p>
        </p:txBody>
      </p:sp>
      <p:sp>
        <p:nvSpPr>
          <p:cNvPr id="1030" name="Rectangle 6"/>
          <p:cNvSpPr>
            <a:spLocks noGrp="1" noChangeArrowheads="1"/>
          </p:cNvSpPr>
          <p:nvPr>
            <p:ph type="sldNum" sz="quarter" idx="4"/>
          </p:nvPr>
        </p:nvSpPr>
        <p:spPr bwMode="auto">
          <a:xfrm>
            <a:off x="6553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400"/>
            </a:lvl1pPr>
          </a:lstStyle>
          <a:p>
            <a:pPr>
              <a:defRPr/>
            </a:pPr>
            <a:fld id="{6657170F-4536-4191-AA5B-88D050E92C08}" type="slidenum">
              <a:rPr lang="es-ES" altLang="es-AR"/>
              <a:pPr>
                <a:defRPr/>
              </a:pPr>
              <a:t>‹Nº›</a:t>
            </a:fld>
            <a:endParaRPr lang="es-ES" altLang="es-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cs typeface="Arial" charset="0"/>
        </a:defRPr>
      </a:lvl2pPr>
      <a:lvl3pPr algn="ctr" rtl="0" eaLnBrk="0" fontAlgn="base" hangingPunct="0">
        <a:spcBef>
          <a:spcPct val="0"/>
        </a:spcBef>
        <a:spcAft>
          <a:spcPct val="0"/>
        </a:spcAft>
        <a:defRPr sz="4400">
          <a:solidFill>
            <a:schemeClr val="tx2"/>
          </a:solidFill>
          <a:latin typeface="Arial" charset="0"/>
          <a:cs typeface="Arial" charset="0"/>
        </a:defRPr>
      </a:lvl3pPr>
      <a:lvl4pPr algn="ctr" rtl="0" eaLnBrk="0" fontAlgn="base" hangingPunct="0">
        <a:spcBef>
          <a:spcPct val="0"/>
        </a:spcBef>
        <a:spcAft>
          <a:spcPct val="0"/>
        </a:spcAft>
        <a:defRPr sz="4400">
          <a:solidFill>
            <a:schemeClr val="tx2"/>
          </a:solidFill>
          <a:latin typeface="Arial" charset="0"/>
          <a:cs typeface="Arial" charset="0"/>
        </a:defRPr>
      </a:lvl4pPr>
      <a:lvl5pPr algn="ctr" rtl="0" eaLnBrk="0" fontAlgn="base" hangingPunct="0">
        <a:spcBef>
          <a:spcPct val="0"/>
        </a:spcBef>
        <a:spcAft>
          <a:spcPct val="0"/>
        </a:spcAft>
        <a:defRPr sz="4400">
          <a:solidFill>
            <a:schemeClr val="tx2"/>
          </a:solidFill>
          <a:latin typeface="Arial" charset="0"/>
          <a:cs typeface="Arial" charset="0"/>
        </a:defRPr>
      </a:lvl5pPr>
      <a:lvl6pPr marL="457200" algn="ctr" rtl="0" fontAlgn="base">
        <a:spcBef>
          <a:spcPct val="0"/>
        </a:spcBef>
        <a:spcAft>
          <a:spcPct val="0"/>
        </a:spcAft>
        <a:defRPr sz="4400">
          <a:solidFill>
            <a:schemeClr val="tx2"/>
          </a:solidFill>
          <a:latin typeface="Arial" charset="0"/>
          <a:cs typeface="Arial" charset="0"/>
        </a:defRPr>
      </a:lvl6pPr>
      <a:lvl7pPr marL="914400" algn="ctr" rtl="0" fontAlgn="base">
        <a:spcBef>
          <a:spcPct val="0"/>
        </a:spcBef>
        <a:spcAft>
          <a:spcPct val="0"/>
        </a:spcAft>
        <a:defRPr sz="4400">
          <a:solidFill>
            <a:schemeClr val="tx2"/>
          </a:solidFill>
          <a:latin typeface="Arial" charset="0"/>
          <a:cs typeface="Arial" charset="0"/>
        </a:defRPr>
      </a:lvl7pPr>
      <a:lvl8pPr marL="1371600" algn="ctr" rtl="0" fontAlgn="base">
        <a:spcBef>
          <a:spcPct val="0"/>
        </a:spcBef>
        <a:spcAft>
          <a:spcPct val="0"/>
        </a:spcAft>
        <a:defRPr sz="4400">
          <a:solidFill>
            <a:schemeClr val="tx2"/>
          </a:solidFill>
          <a:latin typeface="Arial" charset="0"/>
          <a:cs typeface="Arial" charset="0"/>
        </a:defRPr>
      </a:lvl8pPr>
      <a:lvl9pPr marL="1828800" algn="ctr" rtl="0" fontAlgn="base">
        <a:spcBef>
          <a:spcPct val="0"/>
        </a:spcBef>
        <a:spcAft>
          <a:spcPct val="0"/>
        </a:spcAft>
        <a:defRPr sz="4400">
          <a:solidFill>
            <a:schemeClr val="tx2"/>
          </a:solidFill>
          <a:latin typeface="Arial" charset="0"/>
          <a:cs typeface="Arial"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cs typeface="+mn-cs"/>
        </a:defRPr>
      </a:lvl2pPr>
      <a:lvl3pPr marL="1143000" indent="-228600" algn="l" rtl="0" eaLnBrk="0" fontAlgn="base" hangingPunct="0">
        <a:spcBef>
          <a:spcPct val="20000"/>
        </a:spcBef>
        <a:spcAft>
          <a:spcPct val="0"/>
        </a:spcAft>
        <a:buChar char="•"/>
        <a:defRPr sz="2400">
          <a:solidFill>
            <a:schemeClr val="tx1"/>
          </a:solidFill>
          <a:latin typeface="+mn-lt"/>
          <a:cs typeface="+mn-cs"/>
        </a:defRPr>
      </a:lvl3pPr>
      <a:lvl4pPr marL="1600200" indent="-228600" algn="l" rtl="0" eaLnBrk="0" fontAlgn="base" hangingPunct="0">
        <a:spcBef>
          <a:spcPct val="20000"/>
        </a:spcBef>
        <a:spcAft>
          <a:spcPct val="0"/>
        </a:spcAft>
        <a:buChar char="–"/>
        <a:defRPr sz="2000">
          <a:solidFill>
            <a:schemeClr val="tx1"/>
          </a:solidFill>
          <a:latin typeface="+mn-lt"/>
          <a:cs typeface="+mn-cs"/>
        </a:defRPr>
      </a:lvl4pPr>
      <a:lvl5pPr marL="2057400" indent="-228600" algn="l" rtl="0" eaLnBrk="0" fontAlgn="base" hangingPunct="0">
        <a:spcBef>
          <a:spcPct val="20000"/>
        </a:spcBef>
        <a:spcAft>
          <a:spcPct val="0"/>
        </a:spcAft>
        <a:buChar char="»"/>
        <a:defRPr sz="2000">
          <a:solidFill>
            <a:schemeClr val="tx1"/>
          </a:solidFill>
          <a:latin typeface="+mn-lt"/>
          <a:cs typeface="+mn-cs"/>
        </a:defRPr>
      </a:lvl5pPr>
      <a:lvl6pPr marL="2514600" indent="-228600" algn="l" rtl="0" fontAlgn="base">
        <a:spcBef>
          <a:spcPct val="20000"/>
        </a:spcBef>
        <a:spcAft>
          <a:spcPct val="0"/>
        </a:spcAft>
        <a:buChar char="»"/>
        <a:defRPr sz="2000">
          <a:solidFill>
            <a:schemeClr val="tx1"/>
          </a:solidFill>
          <a:latin typeface="+mn-lt"/>
          <a:cs typeface="+mn-cs"/>
        </a:defRPr>
      </a:lvl6pPr>
      <a:lvl7pPr marL="2971800" indent="-228600" algn="l" rtl="0" fontAlgn="base">
        <a:spcBef>
          <a:spcPct val="20000"/>
        </a:spcBef>
        <a:spcAft>
          <a:spcPct val="0"/>
        </a:spcAft>
        <a:buChar char="»"/>
        <a:defRPr sz="2000">
          <a:solidFill>
            <a:schemeClr val="tx1"/>
          </a:solidFill>
          <a:latin typeface="+mn-lt"/>
          <a:cs typeface="+mn-cs"/>
        </a:defRPr>
      </a:lvl7pPr>
      <a:lvl8pPr marL="3429000" indent="-228600" algn="l" rtl="0" fontAlgn="base">
        <a:spcBef>
          <a:spcPct val="20000"/>
        </a:spcBef>
        <a:spcAft>
          <a:spcPct val="0"/>
        </a:spcAft>
        <a:buChar char="»"/>
        <a:defRPr sz="2000">
          <a:solidFill>
            <a:schemeClr val="tx1"/>
          </a:solidFill>
          <a:latin typeface="+mn-lt"/>
          <a:cs typeface="+mn-cs"/>
        </a:defRPr>
      </a:lvl8pPr>
      <a:lvl9pPr marL="3886200" indent="-228600" algn="l" rtl="0" fontAlgn="base">
        <a:spcBef>
          <a:spcPct val="20000"/>
        </a:spcBef>
        <a:spcAft>
          <a:spcPct val="0"/>
        </a:spcAft>
        <a:buChar char="»"/>
        <a:defRPr sz="2000">
          <a:solidFill>
            <a:schemeClr val="tx1"/>
          </a:solidFill>
          <a:latin typeface="+mn-lt"/>
          <a:cs typeface="+mn-cs"/>
        </a:defRPr>
      </a:lvl9pPr>
    </p:bodyStyle>
    <p:otherStyle>
      <a:defPPr>
        <a:defRPr lang="es-A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audio" Target="file:///C:\Users\ppando\AppData\Local\Microsoft\Windows\Temporary%20Internet%20Files\Content.MSO\302793F7.WAV" TargetMode="External"/><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hyperlink" Target="http://accesibilidadweb.dlsi.ua.es/" TargetMode="External"/><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hyperlink" Target="https://www.oercommons.org/" TargetMode="Externa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29.xml"/><Relationship Id="rId1" Type="http://schemas.openxmlformats.org/officeDocument/2006/relationships/slideLayout" Target="../slideLayouts/slideLayout2.xml"/><Relationship Id="rId5" Type="http://schemas.openxmlformats.org/officeDocument/2006/relationships/image" Target="../media/image16.jpeg"/><Relationship Id="rId4" Type="http://schemas.openxmlformats.org/officeDocument/2006/relationships/image" Target="../media/image15.jpeg"/></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40.xml"/><Relationship Id="rId1" Type="http://schemas.openxmlformats.org/officeDocument/2006/relationships/slideLayout" Target="../slideLayouts/slideLayout2.xml"/><Relationship Id="rId5" Type="http://schemas.openxmlformats.org/officeDocument/2006/relationships/image" Target="../media/image20.png"/><Relationship Id="rId4" Type="http://schemas.openxmlformats.org/officeDocument/2006/relationships/image" Target="../media/image19.png"/></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hyperlink" Target="http://www.w3.org/International/articles/language-tags/" TargetMode="External"/><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85.xml"/><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10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86.xml"/><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91.xml"/><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92.xml"/><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94.xml"/><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2" Type="http://schemas.openxmlformats.org/officeDocument/2006/relationships/notesSlide" Target="../notesSlides/notesSlide97.xml"/><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2" Type="http://schemas.openxmlformats.org/officeDocument/2006/relationships/notesSlide" Target="../notesSlides/notesSlide98.xml"/><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2" Type="http://schemas.openxmlformats.org/officeDocument/2006/relationships/notesSlide" Target="../notesSlides/notesSlide99.xml"/><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2" Type="http://schemas.openxmlformats.org/officeDocument/2006/relationships/notesSlide" Target="../notesSlides/notesSlide100.xml"/><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2" Type="http://schemas.openxmlformats.org/officeDocument/2006/relationships/notesSlide" Target="../notesSlides/notesSlide101.xml"/><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2" Type="http://schemas.openxmlformats.org/officeDocument/2006/relationships/notesSlide" Target="../notesSlides/notesSlide102.xml"/><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2" Type="http://schemas.openxmlformats.org/officeDocument/2006/relationships/notesSlide" Target="../notesSlides/notesSlide103.xml"/><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2" Type="http://schemas.openxmlformats.org/officeDocument/2006/relationships/notesSlide" Target="../notesSlides/notesSlide104.xml"/><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05.xml"/><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2" Type="http://schemas.openxmlformats.org/officeDocument/2006/relationships/notesSlide" Target="../notesSlides/notesSlide106.xml"/><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2" Type="http://schemas.openxmlformats.org/officeDocument/2006/relationships/notesSlide" Target="../notesSlides/notesSlide107.xml"/><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2" Type="http://schemas.openxmlformats.org/officeDocument/2006/relationships/notesSlide" Target="../notesSlides/notesSlide108.xml"/><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2" Type="http://schemas.openxmlformats.org/officeDocument/2006/relationships/notesSlide" Target="../notesSlides/notesSlide109.xml"/><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2" Type="http://schemas.openxmlformats.org/officeDocument/2006/relationships/notesSlide" Target="../notesSlides/notesSlide110.xml"/><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2" Type="http://schemas.openxmlformats.org/officeDocument/2006/relationships/notesSlide" Target="../notesSlides/notesSlide111.xml"/><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2" Type="http://schemas.openxmlformats.org/officeDocument/2006/relationships/notesSlide" Target="../notesSlides/notesSlide112.xml"/><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notesSlide" Target="../notesSlides/notesSlide113.xml"/><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2" Type="http://schemas.openxmlformats.org/officeDocument/2006/relationships/notesSlide" Target="../notesSlides/notesSlide114.xml"/><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2" Type="http://schemas.openxmlformats.org/officeDocument/2006/relationships/notesSlide" Target="../notesSlides/notesSlide115.xml"/><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2" Type="http://schemas.openxmlformats.org/officeDocument/2006/relationships/notesSlide" Target="../notesSlides/notesSlide116.xml"/><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2" Type="http://schemas.openxmlformats.org/officeDocument/2006/relationships/notesSlide" Target="../notesSlides/notesSlide117.xml"/><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2" Type="http://schemas.openxmlformats.org/officeDocument/2006/relationships/notesSlide" Target="../notesSlides/notesSlide118.xml"/><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2" Type="http://schemas.openxmlformats.org/officeDocument/2006/relationships/notesSlide" Target="../notesSlides/notesSlide119.xml"/><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2" Type="http://schemas.openxmlformats.org/officeDocument/2006/relationships/notesSlide" Target="../notesSlides/notesSlide120.xml"/><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2" Type="http://schemas.openxmlformats.org/officeDocument/2006/relationships/notesSlide" Target="../notesSlides/notesSlide121.xml"/><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2" Type="http://schemas.openxmlformats.org/officeDocument/2006/relationships/notesSlide" Target="../notesSlides/notesSlide122.xml"/><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2" Type="http://schemas.openxmlformats.org/officeDocument/2006/relationships/notesSlide" Target="../notesSlides/notesSlide123.xml"/><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2" Type="http://schemas.openxmlformats.org/officeDocument/2006/relationships/notesSlide" Target="../notesSlides/notesSlide124.xml"/><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2" Type="http://schemas.openxmlformats.org/officeDocument/2006/relationships/notesSlide" Target="../notesSlides/notesSlide125.xml"/><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2" Type="http://schemas.openxmlformats.org/officeDocument/2006/relationships/notesSlide" Target="../notesSlides/notesSlide126.xml"/><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27.xml"/><Relationship Id="rId1" Type="http://schemas.openxmlformats.org/officeDocument/2006/relationships/slideLayout" Target="../slideLayouts/slideLayout2.xml"/><Relationship Id="rId5" Type="http://schemas.openxmlformats.org/officeDocument/2006/relationships/image" Target="../media/image38.png"/><Relationship Id="rId4" Type="http://schemas.openxmlformats.org/officeDocument/2006/relationships/image" Target="../media/image37.png"/></Relationships>
</file>

<file path=ppt/slides/_rels/slide145.xml.rels><?xml version="1.0" encoding="UTF-8" standalone="yes"?>
<Relationships xmlns="http://schemas.openxmlformats.org/package/2006/relationships"><Relationship Id="rId2" Type="http://schemas.openxmlformats.org/officeDocument/2006/relationships/notesSlide" Target="../notesSlides/notesSlide128.xml"/><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2" Type="http://schemas.openxmlformats.org/officeDocument/2006/relationships/notesSlide" Target="../notesSlides/notesSlide129.xml"/><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2" Type="http://schemas.openxmlformats.org/officeDocument/2006/relationships/notesSlide" Target="../notesSlides/notesSlide130.xml"/><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2" Type="http://schemas.openxmlformats.org/officeDocument/2006/relationships/notesSlide" Target="../notesSlides/notesSlide131.xml"/><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2" Type="http://schemas.openxmlformats.org/officeDocument/2006/relationships/notesSlide" Target="../notesSlides/notesSlide132.xml"/><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2" Type="http://schemas.openxmlformats.org/officeDocument/2006/relationships/notesSlide" Target="../notesSlides/notesSlide133.xml"/><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2" Type="http://schemas.openxmlformats.org/officeDocument/2006/relationships/notesSlide" Target="../notesSlides/notesSlide134.xml"/><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2" Type="http://schemas.openxmlformats.org/officeDocument/2006/relationships/notesSlide" Target="../notesSlides/notesSlide135.xml"/><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2" Type="http://schemas.openxmlformats.org/officeDocument/2006/relationships/notesSlide" Target="../notesSlides/notesSlide136.xml"/><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2" Type="http://schemas.openxmlformats.org/officeDocument/2006/relationships/notesSlide" Target="../notesSlides/notesSlide137.xml"/><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2" Type="http://schemas.openxmlformats.org/officeDocument/2006/relationships/notesSlide" Target="../notesSlides/notesSlide138.xml"/><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39.xml"/><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40.xml"/><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2" Type="http://schemas.openxmlformats.org/officeDocument/2006/relationships/notesSlide" Target="../notesSlides/notesSlide141.xml"/><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2" Type="http://schemas.openxmlformats.org/officeDocument/2006/relationships/notesSlide" Target="../notesSlides/notesSlide142.xml"/><Relationship Id="rId1" Type="http://schemas.openxmlformats.org/officeDocument/2006/relationships/slideLayout" Target="../slideLayouts/slideLayout2.xml"/></Relationships>
</file>

<file path=ppt/slides/_rels/slide160.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143.xml"/><Relationship Id="rId1" Type="http://schemas.openxmlformats.org/officeDocument/2006/relationships/slideLayout" Target="../slideLayouts/slideLayout2.xml"/></Relationships>
</file>

<file path=ppt/slides/_rels/slide161.xml.rels><?xml version="1.0" encoding="UTF-8" standalone="yes"?>
<Relationships xmlns="http://schemas.openxmlformats.org/package/2006/relationships"><Relationship Id="rId2" Type="http://schemas.openxmlformats.org/officeDocument/2006/relationships/notesSlide" Target="../notesSlides/notesSlide144.xml"/><Relationship Id="rId1" Type="http://schemas.openxmlformats.org/officeDocument/2006/relationships/slideLayout" Target="../slideLayouts/slideLayout2.xml"/></Relationships>
</file>

<file path=ppt/slides/_rels/slide162.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145.xml"/><Relationship Id="rId1" Type="http://schemas.openxmlformats.org/officeDocument/2006/relationships/slideLayout" Target="../slideLayouts/slideLayout2.xml"/><Relationship Id="rId4" Type="http://schemas.openxmlformats.org/officeDocument/2006/relationships/image" Target="../media/image43.png"/></Relationships>
</file>

<file path=ppt/slides/_rels/slide163.xml.rels><?xml version="1.0" encoding="UTF-8" standalone="yes"?>
<Relationships xmlns="http://schemas.openxmlformats.org/package/2006/relationships"><Relationship Id="rId2" Type="http://schemas.openxmlformats.org/officeDocument/2006/relationships/notesSlide" Target="../notesSlides/notesSlide146.xml"/><Relationship Id="rId1" Type="http://schemas.openxmlformats.org/officeDocument/2006/relationships/slideLayout" Target="../slideLayouts/slideLayout2.xml"/></Relationships>
</file>

<file path=ppt/slides/_rels/slide164.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147.xml"/><Relationship Id="rId1" Type="http://schemas.openxmlformats.org/officeDocument/2006/relationships/slideLayout" Target="../slideLayouts/slideLayout2.xml"/></Relationships>
</file>

<file path=ppt/slides/_rels/slide165.xml.rels><?xml version="1.0" encoding="UTF-8" standalone="yes"?>
<Relationships xmlns="http://schemas.openxmlformats.org/package/2006/relationships"><Relationship Id="rId2" Type="http://schemas.openxmlformats.org/officeDocument/2006/relationships/notesSlide" Target="../notesSlides/notesSlide148.xml"/><Relationship Id="rId1" Type="http://schemas.openxmlformats.org/officeDocument/2006/relationships/slideLayout" Target="../slideLayouts/slideLayout2.xml"/></Relationships>
</file>

<file path=ppt/slides/_rels/slide166.xml.rels><?xml version="1.0" encoding="UTF-8" standalone="yes"?>
<Relationships xmlns="http://schemas.openxmlformats.org/package/2006/relationships"><Relationship Id="rId2" Type="http://schemas.openxmlformats.org/officeDocument/2006/relationships/notesSlide" Target="../notesSlides/notesSlide149.xml"/><Relationship Id="rId1" Type="http://schemas.openxmlformats.org/officeDocument/2006/relationships/slideLayout" Target="../slideLayouts/slideLayout2.xml"/></Relationships>
</file>

<file path=ppt/slides/_rels/slide167.xml.rels><?xml version="1.0" encoding="UTF-8" standalone="yes"?>
<Relationships xmlns="http://schemas.openxmlformats.org/package/2006/relationships"><Relationship Id="rId2" Type="http://schemas.openxmlformats.org/officeDocument/2006/relationships/notesSlide" Target="../notesSlides/notesSlide150.xml"/><Relationship Id="rId1" Type="http://schemas.openxmlformats.org/officeDocument/2006/relationships/slideLayout" Target="../slideLayouts/slideLayout2.xml"/></Relationships>
</file>

<file path=ppt/slides/_rels/slide168.xml.rels><?xml version="1.0" encoding="UTF-8" standalone="yes"?>
<Relationships xmlns="http://schemas.openxmlformats.org/package/2006/relationships"><Relationship Id="rId2" Type="http://schemas.openxmlformats.org/officeDocument/2006/relationships/notesSlide" Target="../notesSlides/notesSlide151.xml"/><Relationship Id="rId1" Type="http://schemas.openxmlformats.org/officeDocument/2006/relationships/slideLayout" Target="../slideLayouts/slideLayout2.xml"/></Relationships>
</file>

<file path=ppt/slides/_rels/slide169.xml.rels><?xml version="1.0" encoding="UTF-8" standalone="yes"?>
<Relationships xmlns="http://schemas.openxmlformats.org/package/2006/relationships"><Relationship Id="rId2" Type="http://schemas.openxmlformats.org/officeDocument/2006/relationships/notesSlide" Target="../notesSlides/notesSlide152.xml"/><Relationship Id="rId1" Type="http://schemas.openxmlformats.org/officeDocument/2006/relationships/slideLayout" Target="../slideLayouts/slideLayout2.xml"/></Relationships>
</file>

<file path=ppt/slides/_rels/slide170.xml.rels><?xml version="1.0" encoding="UTF-8" standalone="yes"?>
<Relationships xmlns="http://schemas.openxmlformats.org/package/2006/relationships"><Relationship Id="rId2" Type="http://schemas.openxmlformats.org/officeDocument/2006/relationships/notesSlide" Target="../notesSlides/notesSlide153.xml"/><Relationship Id="rId1" Type="http://schemas.openxmlformats.org/officeDocument/2006/relationships/slideLayout" Target="../slideLayouts/slideLayout2.xml"/></Relationships>
</file>

<file path=ppt/slides/_rels/slide171.xml.rels><?xml version="1.0" encoding="UTF-8" standalone="yes"?>
<Relationships xmlns="http://schemas.openxmlformats.org/package/2006/relationships"><Relationship Id="rId2" Type="http://schemas.openxmlformats.org/officeDocument/2006/relationships/notesSlide" Target="../notesSlides/notesSlide154.xml"/><Relationship Id="rId1" Type="http://schemas.openxmlformats.org/officeDocument/2006/relationships/slideLayout" Target="../slideLayouts/slideLayout2.xml"/></Relationships>
</file>

<file path=ppt/slides/_rels/slide172.xml.rels><?xml version="1.0" encoding="UTF-8" standalone="yes"?>
<Relationships xmlns="http://schemas.openxmlformats.org/package/2006/relationships"><Relationship Id="rId2" Type="http://schemas.openxmlformats.org/officeDocument/2006/relationships/notesSlide" Target="../notesSlides/notesSlide155.xml"/><Relationship Id="rId1" Type="http://schemas.openxmlformats.org/officeDocument/2006/relationships/slideLayout" Target="../slideLayouts/slideLayout2.xml"/></Relationships>
</file>

<file path=ppt/slides/_rels/slide173.xml.rels><?xml version="1.0" encoding="UTF-8" standalone="yes"?>
<Relationships xmlns="http://schemas.openxmlformats.org/package/2006/relationships"><Relationship Id="rId2" Type="http://schemas.openxmlformats.org/officeDocument/2006/relationships/notesSlide" Target="../notesSlides/notesSlide156.xml"/><Relationship Id="rId1" Type="http://schemas.openxmlformats.org/officeDocument/2006/relationships/slideLayout" Target="../slideLayouts/slideLayout2.xml"/></Relationships>
</file>

<file path=ppt/slides/_rels/slide174.xml.rels><?xml version="1.0" encoding="UTF-8" standalone="yes"?>
<Relationships xmlns="http://schemas.openxmlformats.org/package/2006/relationships"><Relationship Id="rId2" Type="http://schemas.openxmlformats.org/officeDocument/2006/relationships/notesSlide" Target="../notesSlides/notesSlide157.xml"/><Relationship Id="rId1" Type="http://schemas.openxmlformats.org/officeDocument/2006/relationships/slideLayout" Target="../slideLayouts/slideLayout2.xml"/></Relationships>
</file>

<file path=ppt/slides/_rels/slide175.xml.rels><?xml version="1.0" encoding="UTF-8" standalone="yes"?>
<Relationships xmlns="http://schemas.openxmlformats.org/package/2006/relationships"><Relationship Id="rId2" Type="http://schemas.openxmlformats.org/officeDocument/2006/relationships/notesSlide" Target="../notesSlides/notesSlide158.xml"/><Relationship Id="rId1" Type="http://schemas.openxmlformats.org/officeDocument/2006/relationships/slideLayout" Target="../slideLayouts/slideLayout2.xml"/></Relationships>
</file>

<file path=ppt/slides/_rels/slide176.xml.rels><?xml version="1.0" encoding="UTF-8" standalone="yes"?>
<Relationships xmlns="http://schemas.openxmlformats.org/package/2006/relationships"><Relationship Id="rId2" Type="http://schemas.openxmlformats.org/officeDocument/2006/relationships/notesSlide" Target="../notesSlides/notesSlide159.xml"/><Relationship Id="rId1" Type="http://schemas.openxmlformats.org/officeDocument/2006/relationships/slideLayout" Target="../slideLayouts/slideLayout2.xml"/></Relationships>
</file>

<file path=ppt/slides/_rels/slide177.xml.rels><?xml version="1.0" encoding="UTF-8" standalone="yes"?>
<Relationships xmlns="http://schemas.openxmlformats.org/package/2006/relationships"><Relationship Id="rId2" Type="http://schemas.openxmlformats.org/officeDocument/2006/relationships/notesSlide" Target="../notesSlides/notesSlide160.xml"/><Relationship Id="rId1" Type="http://schemas.openxmlformats.org/officeDocument/2006/relationships/slideLayout" Target="../slideLayouts/slideLayout2.xml"/></Relationships>
</file>

<file path=ppt/slides/_rels/slide178.xml.rels><?xml version="1.0" encoding="UTF-8" standalone="yes"?>
<Relationships xmlns="http://schemas.openxmlformats.org/package/2006/relationships"><Relationship Id="rId2" Type="http://schemas.openxmlformats.org/officeDocument/2006/relationships/notesSlide" Target="../notesSlides/notesSlide161.xml"/><Relationship Id="rId1" Type="http://schemas.openxmlformats.org/officeDocument/2006/relationships/slideLayout" Target="../slideLayouts/slideLayout2.xml"/></Relationships>
</file>

<file path=ppt/slides/_rels/slide179.xml.rels><?xml version="1.0" encoding="UTF-8" standalone="yes"?>
<Relationships xmlns="http://schemas.openxmlformats.org/package/2006/relationships"><Relationship Id="rId2" Type="http://schemas.openxmlformats.org/officeDocument/2006/relationships/notesSlide" Target="../notesSlides/notesSlide162.xml"/><Relationship Id="rId1" Type="http://schemas.openxmlformats.org/officeDocument/2006/relationships/slideLayout" Target="../slideLayouts/slideLayout2.xml"/></Relationships>
</file>

<file path=ppt/slides/_rels/slide180.xml.rels><?xml version="1.0" encoding="UTF-8" standalone="yes"?>
<Relationships xmlns="http://schemas.openxmlformats.org/package/2006/relationships"><Relationship Id="rId2" Type="http://schemas.openxmlformats.org/officeDocument/2006/relationships/notesSlide" Target="../notesSlides/notesSlide163.xml"/><Relationship Id="rId1" Type="http://schemas.openxmlformats.org/officeDocument/2006/relationships/slideLayout" Target="../slideLayouts/slideLayout2.xml"/></Relationships>
</file>

<file path=ppt/slides/_rels/slide181.xml.rels><?xml version="1.0" encoding="UTF-8" standalone="yes"?>
<Relationships xmlns="http://schemas.openxmlformats.org/package/2006/relationships"><Relationship Id="rId3" Type="http://schemas.openxmlformats.org/officeDocument/2006/relationships/hyperlink" Target="http://validator.w3.org/unicorn" TargetMode="External"/><Relationship Id="rId2" Type="http://schemas.openxmlformats.org/officeDocument/2006/relationships/notesSlide" Target="../notesSlides/notesSlide164.xml"/><Relationship Id="rId1" Type="http://schemas.openxmlformats.org/officeDocument/2006/relationships/slideLayout" Target="../slideLayouts/slideLayout2.xml"/></Relationships>
</file>

<file path=ppt/slides/_rels/slide182.xml.rels><?xml version="1.0" encoding="UTF-8" standalone="yes"?>
<Relationships xmlns="http://schemas.openxmlformats.org/package/2006/relationships"><Relationship Id="rId3" Type="http://schemas.openxmlformats.org/officeDocument/2006/relationships/hyperlink" Target="http://validator.w3.org/" TargetMode="External"/><Relationship Id="rId2" Type="http://schemas.openxmlformats.org/officeDocument/2006/relationships/notesSlide" Target="../notesSlides/notesSlide165.xml"/><Relationship Id="rId1" Type="http://schemas.openxmlformats.org/officeDocument/2006/relationships/slideLayout" Target="../slideLayouts/slideLayout2.xml"/></Relationships>
</file>

<file path=ppt/slides/_rels/slide183.xml.rels><?xml version="1.0" encoding="UTF-8" standalone="yes"?>
<Relationships xmlns="http://schemas.openxmlformats.org/package/2006/relationships"><Relationship Id="rId3" Type="http://schemas.openxmlformats.org/officeDocument/2006/relationships/hyperlink" Target="http://jigsaw.w3.org/css-validator/" TargetMode="External"/><Relationship Id="rId2" Type="http://schemas.openxmlformats.org/officeDocument/2006/relationships/notesSlide" Target="../notesSlides/notesSlide166.xml"/><Relationship Id="rId1" Type="http://schemas.openxmlformats.org/officeDocument/2006/relationships/slideLayout" Target="../slideLayouts/slideLayout2.xml"/></Relationships>
</file>

<file path=ppt/slides/_rels/slide184.xml.rels><?xml version="1.0" encoding="UTF-8" standalone="yes"?>
<Relationships xmlns="http://schemas.openxmlformats.org/package/2006/relationships"><Relationship Id="rId2" Type="http://schemas.openxmlformats.org/officeDocument/2006/relationships/notesSlide" Target="../notesSlides/notesSlide167.xml"/><Relationship Id="rId1" Type="http://schemas.openxmlformats.org/officeDocument/2006/relationships/slideLayout" Target="../slideLayouts/slideLayout2.xml"/></Relationships>
</file>

<file path=ppt/slides/_rels/slide185.xml.rels><?xml version="1.0" encoding="UTF-8" standalone="yes"?>
<Relationships xmlns="http://schemas.openxmlformats.org/package/2006/relationships"><Relationship Id="rId3" Type="http://schemas.openxmlformats.org/officeDocument/2006/relationships/hyperlink" Target="http://www.tawdis.net/" TargetMode="External"/><Relationship Id="rId2" Type="http://schemas.openxmlformats.org/officeDocument/2006/relationships/notesSlide" Target="../notesSlides/notesSlide168.xml"/><Relationship Id="rId1" Type="http://schemas.openxmlformats.org/officeDocument/2006/relationships/slideLayout" Target="../slideLayouts/slideLayout2.xml"/></Relationships>
</file>

<file path=ppt/slides/_rels/slide186.xml.rels><?xml version="1.0" encoding="UTF-8" standalone="yes"?>
<Relationships xmlns="http://schemas.openxmlformats.org/package/2006/relationships"><Relationship Id="rId3" Type="http://schemas.openxmlformats.org/officeDocument/2006/relationships/hyperlink" Target="http://www.sidar.org/recur/aplica/heraffx.php" TargetMode="External"/><Relationship Id="rId2" Type="http://schemas.openxmlformats.org/officeDocument/2006/relationships/notesSlide" Target="../notesSlides/notesSlide169.xml"/><Relationship Id="rId1" Type="http://schemas.openxmlformats.org/officeDocument/2006/relationships/slideLayout" Target="../slideLayouts/slideLayout2.xml"/></Relationships>
</file>

<file path=ppt/slides/_rels/slide187.xml.rels><?xml version="1.0" encoding="UTF-8" standalone="yes"?>
<Relationships xmlns="http://schemas.openxmlformats.org/package/2006/relationships"><Relationship Id="rId3" Type="http://schemas.openxmlformats.org/officeDocument/2006/relationships/hyperlink" Target="http://wave.webaim.org/" TargetMode="External"/><Relationship Id="rId2" Type="http://schemas.openxmlformats.org/officeDocument/2006/relationships/notesSlide" Target="../notesSlides/notesSlide170.xml"/><Relationship Id="rId1" Type="http://schemas.openxmlformats.org/officeDocument/2006/relationships/slideLayout" Target="../slideLayouts/slideLayout2.xml"/></Relationships>
</file>

<file path=ppt/slides/_rels/slide188.xml.rels><?xml version="1.0" encoding="UTF-8" standalone="yes"?>
<Relationships xmlns="http://schemas.openxmlformats.org/package/2006/relationships"><Relationship Id="rId3" Type="http://schemas.openxmlformats.org/officeDocument/2006/relationships/hyperlink" Target="http://examinator.ws/" TargetMode="External"/><Relationship Id="rId2" Type="http://schemas.openxmlformats.org/officeDocument/2006/relationships/notesSlide" Target="../notesSlides/notesSlide171.xml"/><Relationship Id="rId1" Type="http://schemas.openxmlformats.org/officeDocument/2006/relationships/slideLayout" Target="../slideLayouts/slideLayout2.xml"/></Relationships>
</file>

<file path=ppt/slides/_rels/slide189.xml.rels><?xml version="1.0" encoding="UTF-8" standalone="yes"?>
<Relationships xmlns="http://schemas.openxmlformats.org/package/2006/relationships"><Relationship Id="rId2" Type="http://schemas.openxmlformats.org/officeDocument/2006/relationships/notesSlide" Target="../notesSlides/notesSlide172.xml"/><Relationship Id="rId1" Type="http://schemas.openxmlformats.org/officeDocument/2006/relationships/slideLayout" Target="../slideLayouts/slideLayout2.xml"/></Relationships>
</file>

<file path=ppt/slides/_rels/slide190.xml.rels><?xml version="1.0" encoding="UTF-8" standalone="yes"?>
<Relationships xmlns="http://schemas.openxmlformats.org/package/2006/relationships"><Relationship Id="rId2" Type="http://schemas.openxmlformats.org/officeDocument/2006/relationships/notesSlide" Target="../notesSlides/notesSlide173.xml"/><Relationship Id="rId1" Type="http://schemas.openxmlformats.org/officeDocument/2006/relationships/slideLayout" Target="../slideLayouts/slideLayout2.xml"/></Relationships>
</file>

<file path=ppt/slides/_rels/slide191.xml.rels><?xml version="1.0" encoding="UTF-8" standalone="yes"?>
<Relationships xmlns="http://schemas.openxmlformats.org/package/2006/relationships"><Relationship Id="rId2" Type="http://schemas.openxmlformats.org/officeDocument/2006/relationships/notesSlide" Target="../notesSlides/notesSlide174.xml"/><Relationship Id="rId1" Type="http://schemas.openxmlformats.org/officeDocument/2006/relationships/slideLayout" Target="../slideLayouts/slideLayout2.xml"/></Relationships>
</file>

<file path=ppt/slides/_rels/slide192.xml.rels><?xml version="1.0" encoding="UTF-8" standalone="yes"?>
<Relationships xmlns="http://schemas.openxmlformats.org/package/2006/relationships"><Relationship Id="rId2" Type="http://schemas.openxmlformats.org/officeDocument/2006/relationships/notesSlide" Target="../notesSlides/notesSlide175.xml"/><Relationship Id="rId1" Type="http://schemas.openxmlformats.org/officeDocument/2006/relationships/slideLayout" Target="../slideLayouts/slideLayout2.xml"/></Relationships>
</file>

<file path=ppt/slides/_rels/slide193.xml.rels><?xml version="1.0" encoding="UTF-8" standalone="yes"?>
<Relationships xmlns="http://schemas.openxmlformats.org/package/2006/relationships"><Relationship Id="rId3" Type="http://schemas.openxmlformats.org/officeDocument/2006/relationships/hyperlink" Target="http://firefox.cita.uiuc.edu/" TargetMode="External"/><Relationship Id="rId2" Type="http://schemas.openxmlformats.org/officeDocument/2006/relationships/notesSlide" Target="../notesSlides/notesSlide176.xml"/><Relationship Id="rId1" Type="http://schemas.openxmlformats.org/officeDocument/2006/relationships/slideLayout" Target="../slideLayouts/slideLayout2.xml"/><Relationship Id="rId6" Type="http://schemas.openxmlformats.org/officeDocument/2006/relationships/hyperlink" Target="https://chrome.google.com/webstore/detail/accessibility-developer-t/fpkknkljclfencbdbgkenhalefipecmb" TargetMode="External"/><Relationship Id="rId5" Type="http://schemas.openxmlformats.org/officeDocument/2006/relationships/hyperlink" Target="http://chrispederick.com/work/web-developer/" TargetMode="External"/><Relationship Id="rId4" Type="http://schemas.openxmlformats.org/officeDocument/2006/relationships/hyperlink" Target="http://www.visionaustralia.org/digital-access-wat" TargetMode="External"/></Relationships>
</file>

<file path=ppt/slides/_rels/slide194.xml.rels><?xml version="1.0" encoding="UTF-8" standalone="yes"?>
<Relationships xmlns="http://schemas.openxmlformats.org/package/2006/relationships"><Relationship Id="rId2" Type="http://schemas.openxmlformats.org/officeDocument/2006/relationships/notesSlide" Target="../notesSlides/notesSlide177.xml"/><Relationship Id="rId1" Type="http://schemas.openxmlformats.org/officeDocument/2006/relationships/slideLayout" Target="../slideLayouts/slideLayout2.xml"/></Relationships>
</file>

<file path=ppt/slides/_rels/slide195.xml.rels><?xml version="1.0" encoding="UTF-8" standalone="yes"?>
<Relationships xmlns="http://schemas.openxmlformats.org/package/2006/relationships"><Relationship Id="rId3" Type="http://schemas.openxmlformats.org/officeDocument/2006/relationships/hyperlink" Target="http://www.paciellogroup.com/resources/contrastanalyser/" TargetMode="External"/><Relationship Id="rId2" Type="http://schemas.openxmlformats.org/officeDocument/2006/relationships/notesSlide" Target="../notesSlides/notesSlide178.xml"/><Relationship Id="rId1" Type="http://schemas.openxmlformats.org/officeDocument/2006/relationships/slideLayout" Target="../slideLayouts/slideLayout2.xml"/><Relationship Id="rId5" Type="http://schemas.openxmlformats.org/officeDocument/2006/relationships/hyperlink" Target="http://gmazzocato.altervista.org/colorwheel/wheel.php" TargetMode="External"/><Relationship Id="rId4" Type="http://schemas.openxmlformats.org/officeDocument/2006/relationships/hyperlink" Target="https://addons.mozilla.org/en-US/firefox/addon/wcag-contrast-checker/" TargetMode="External"/></Relationships>
</file>

<file path=ppt/slides/_rels/slide196.xml.rels><?xml version="1.0" encoding="UTF-8" standalone="yes"?>
<Relationships xmlns="http://schemas.openxmlformats.org/package/2006/relationships"><Relationship Id="rId3" Type="http://schemas.openxmlformats.org/officeDocument/2006/relationships/hyperlink" Target="http://www.tawdis.net/" TargetMode="External"/><Relationship Id="rId2" Type="http://schemas.openxmlformats.org/officeDocument/2006/relationships/notesSlide" Target="../notesSlides/notesSlide179.xml"/><Relationship Id="rId1" Type="http://schemas.openxmlformats.org/officeDocument/2006/relationships/slideLayout" Target="../slideLayouts/slideLayout2.xml"/><Relationship Id="rId4" Type="http://schemas.openxmlformats.org/officeDocument/2006/relationships/image" Target="../media/image45.png"/></Relationships>
</file>

<file path=ppt/slides/_rels/slide197.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180.xml"/><Relationship Id="rId1" Type="http://schemas.openxmlformats.org/officeDocument/2006/relationships/slideLayout" Target="../slideLayouts/slideLayout2.xml"/></Relationships>
</file>

<file path=ppt/slides/_rels/slide198.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181.xml"/><Relationship Id="rId1" Type="http://schemas.openxmlformats.org/officeDocument/2006/relationships/slideLayout" Target="../slideLayouts/slideLayout2.xml"/></Relationships>
</file>

<file path=ppt/slides/_rels/slide199.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182.xml"/><Relationship Id="rId1" Type="http://schemas.openxmlformats.org/officeDocument/2006/relationships/slideLayout" Target="../slideLayouts/slideLayout2.xml"/></Relationships>
</file>

<file path=ppt/slides/_rels/slide200.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183.xml"/><Relationship Id="rId1" Type="http://schemas.openxmlformats.org/officeDocument/2006/relationships/slideLayout" Target="../slideLayouts/slideLayout2.xml"/></Relationships>
</file>

<file path=ppt/slides/_rels/slide201.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184.xml"/><Relationship Id="rId1" Type="http://schemas.openxmlformats.org/officeDocument/2006/relationships/slideLayout" Target="../slideLayouts/slideLayout2.xml"/></Relationships>
</file>

<file path=ppt/slides/_rels/slide202.xml.rels><?xml version="1.0" encoding="UTF-8" standalone="yes"?>
<Relationships xmlns="http://schemas.openxmlformats.org/package/2006/relationships"><Relationship Id="rId3" Type="http://schemas.openxmlformats.org/officeDocument/2006/relationships/hyperlink" Target="https://sites.google.com/site/uadeticarweb/arweb-deploy" TargetMode="External"/><Relationship Id="rId2" Type="http://schemas.openxmlformats.org/officeDocument/2006/relationships/notesSlide" Target="../notesSlides/notesSlide185.xml"/><Relationship Id="rId1" Type="http://schemas.openxmlformats.org/officeDocument/2006/relationships/slideLayout" Target="../slideLayouts/slideLayout2.xml"/><Relationship Id="rId4" Type="http://schemas.openxmlformats.org/officeDocument/2006/relationships/image" Target="../media/image51.png"/></Relationships>
</file>

<file path=ppt/slides/_rels/slide203.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186.xml"/><Relationship Id="rId1" Type="http://schemas.openxmlformats.org/officeDocument/2006/relationships/slideLayout" Target="../slideLayouts/slideLayout2.xml"/></Relationships>
</file>

<file path=ppt/slides/_rels/slide204.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187.xml"/><Relationship Id="rId1" Type="http://schemas.openxmlformats.org/officeDocument/2006/relationships/slideLayout" Target="../slideLayouts/slideLayout2.xml"/></Relationships>
</file>

<file path=ppt/slides/_rels/slide205.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188.xml"/><Relationship Id="rId1" Type="http://schemas.openxmlformats.org/officeDocument/2006/relationships/slideLayout" Target="../slideLayouts/slideLayout2.xml"/></Relationships>
</file>

<file path=ppt/slides/_rels/slide206.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189.xml"/><Relationship Id="rId1" Type="http://schemas.openxmlformats.org/officeDocument/2006/relationships/slideLayout" Target="../slideLayouts/slideLayout2.xml"/></Relationships>
</file>

<file path=ppt/slides/_rels/slide207.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190.xml"/><Relationship Id="rId1" Type="http://schemas.openxmlformats.org/officeDocument/2006/relationships/slideLayout" Target="../slideLayouts/slideLayout2.xml"/></Relationships>
</file>

<file path=ppt/slides/_rels/slide208.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191.xml"/><Relationship Id="rId1" Type="http://schemas.openxmlformats.org/officeDocument/2006/relationships/slideLayout" Target="../slideLayouts/slideLayout2.xml"/></Relationships>
</file>

<file path=ppt/slides/_rels/slide209.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192.xml"/><Relationship Id="rId1" Type="http://schemas.openxmlformats.org/officeDocument/2006/relationships/slideLayout" Target="../slideLayouts/slideLayout2.xml"/></Relationships>
</file>

<file path=ppt/slides/_rels/slide210.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193.xml"/><Relationship Id="rId1" Type="http://schemas.openxmlformats.org/officeDocument/2006/relationships/slideLayout" Target="../slideLayouts/slideLayout2.xml"/></Relationships>
</file>

<file path=ppt/slides/_rels/slide211.xml.rels><?xml version="1.0" encoding="UTF-8" standalone="yes"?>
<Relationships xmlns="http://schemas.openxmlformats.org/package/2006/relationships"><Relationship Id="rId2" Type="http://schemas.openxmlformats.org/officeDocument/2006/relationships/notesSlide" Target="../notesSlides/notesSlide194.xml"/><Relationship Id="rId1" Type="http://schemas.openxmlformats.org/officeDocument/2006/relationships/slideLayout" Target="../slideLayouts/slideLayout2.xml"/></Relationships>
</file>

<file path=ppt/slides/_rels/slide212.xml.rels><?xml version="1.0" encoding="UTF-8" standalone="yes"?>
<Relationships xmlns="http://schemas.openxmlformats.org/package/2006/relationships"><Relationship Id="rId2" Type="http://schemas.openxmlformats.org/officeDocument/2006/relationships/notesSlide" Target="../notesSlides/notesSlide195.xml"/><Relationship Id="rId1" Type="http://schemas.openxmlformats.org/officeDocument/2006/relationships/slideLayout" Target="../slideLayouts/slideLayout2.xml"/></Relationships>
</file>

<file path=ppt/slides/_rels/slide213.xml.rels><?xml version="1.0" encoding="UTF-8" standalone="yes"?>
<Relationships xmlns="http://schemas.openxmlformats.org/package/2006/relationships"><Relationship Id="rId2" Type="http://schemas.openxmlformats.org/officeDocument/2006/relationships/notesSlide" Target="../notesSlides/notesSlide196.xml"/><Relationship Id="rId1" Type="http://schemas.openxmlformats.org/officeDocument/2006/relationships/slideLayout" Target="../slideLayouts/slideLayout2.xml"/></Relationships>
</file>

<file path=ppt/slides/_rels/slide214.xml.rels><?xml version="1.0" encoding="UTF-8" standalone="yes"?>
<Relationships xmlns="http://schemas.openxmlformats.org/package/2006/relationships"><Relationship Id="rId2" Type="http://schemas.openxmlformats.org/officeDocument/2006/relationships/notesSlide" Target="../notesSlides/notesSlide197.xml"/><Relationship Id="rId1" Type="http://schemas.openxmlformats.org/officeDocument/2006/relationships/slideLayout" Target="../slideLayouts/slideLayout2.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6.xml.rels><?xml version="1.0" encoding="UTF-8" standalone="yes"?>
<Relationships xmlns="http://schemas.openxmlformats.org/package/2006/relationships"><Relationship Id="rId3" Type="http://schemas.openxmlformats.org/officeDocument/2006/relationships/hyperlink" Target="http://www.infoleg.gob.ar/infolegInternet/anexos/175000-179999/175694/norma.htm" TargetMode="External"/><Relationship Id="rId2" Type="http://schemas.openxmlformats.org/officeDocument/2006/relationships/hyperlink" Target="http://examinator.ws/" TargetMode="External"/><Relationship Id="rId1" Type="http://schemas.openxmlformats.org/officeDocument/2006/relationships/slideLayout" Target="../slideLayouts/slideLayout2.xml"/><Relationship Id="rId4" Type="http://schemas.openxmlformats.org/officeDocument/2006/relationships/hyperlink" Target="http://servicios.infoleg.gob.ar/infolegInternet/anexos/230000-234999/233667/norma.htm" TargetMode="External"/></Relationships>
</file>

<file path=ppt/slides/_rels/slide217.xml.rels><?xml version="1.0" encoding="UTF-8" standalone="yes"?>
<Relationships xmlns="http://schemas.openxmlformats.org/package/2006/relationships"><Relationship Id="rId3" Type="http://schemas.openxmlformats.org/officeDocument/2006/relationships/hyperlink" Target="https://www.w3.org/" TargetMode="External"/><Relationship Id="rId2" Type="http://schemas.openxmlformats.org/officeDocument/2006/relationships/hyperlink" Target="http://www.tawdis.net/index.html?lang=es" TargetMode="External"/><Relationship Id="rId1" Type="http://schemas.openxmlformats.org/officeDocument/2006/relationships/slideLayout" Target="../slideLayouts/slideLayout2.xml"/><Relationship Id="rId6" Type="http://schemas.openxmlformats.org/officeDocument/2006/relationships/hyperlink" Target="https://www.w3.org/TR/WCAG-EM/" TargetMode="External"/><Relationship Id="rId5" Type="http://schemas.openxmlformats.org/officeDocument/2006/relationships/hyperlink" Target="https://www.w3.org/TR/WCAG20" TargetMode="External"/><Relationship Id="rId4" Type="http://schemas.openxmlformats.org/officeDocument/2006/relationships/hyperlink" Target="https://www.w3.org/WAI/" TargetMode="Externa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050" name="Rectangle 110"/>
          <p:cNvSpPr>
            <a:spLocks noGrp="1" noChangeArrowheads="1"/>
          </p:cNvSpPr>
          <p:nvPr>
            <p:ph type="ctrTitle"/>
          </p:nvPr>
        </p:nvSpPr>
        <p:spPr>
          <a:xfrm>
            <a:off x="395288" y="2714625"/>
            <a:ext cx="4427537" cy="898525"/>
          </a:xfrm>
          <a:noFill/>
        </p:spPr>
        <p:txBody>
          <a:bodyPr/>
          <a:lstStyle/>
          <a:p>
            <a:pPr algn="l" eaLnBrk="1" hangingPunct="1"/>
            <a:r>
              <a:rPr lang="es-UY" altLang="es-AR" sz="3600" b="1" dirty="0">
                <a:solidFill>
                  <a:schemeClr val="bg1"/>
                </a:solidFill>
              </a:rPr>
              <a:t>Seminario de Accesibilidad Web</a:t>
            </a:r>
            <a:endParaRPr lang="es-ES" altLang="es-AR" sz="3600" b="1" dirty="0">
              <a:solidFill>
                <a:schemeClr val="bg1"/>
              </a:solidFill>
            </a:endParaRPr>
          </a:p>
        </p:txBody>
      </p:sp>
      <p:sp>
        <p:nvSpPr>
          <p:cNvPr id="2051" name="Rectangle 122"/>
          <p:cNvSpPr>
            <a:spLocks noChangeArrowheads="1"/>
          </p:cNvSpPr>
          <p:nvPr/>
        </p:nvSpPr>
        <p:spPr bwMode="auto">
          <a:xfrm>
            <a:off x="395288" y="3716338"/>
            <a:ext cx="3960812" cy="503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es-UY" altLang="es-AR" sz="1800" b="1" dirty="0">
                <a:solidFill>
                  <a:schemeClr val="bg1"/>
                </a:solidFill>
              </a:rPr>
              <a:t>Prof. Ing. Pablo Pandolfo (2016)</a:t>
            </a:r>
            <a:endParaRPr lang="es-ES" altLang="es-AR" sz="1800" b="1" dirty="0">
              <a:solidFill>
                <a:schemeClr val="bg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395288" y="188913"/>
            <a:ext cx="8229600" cy="525462"/>
          </a:xfrm>
        </p:spPr>
        <p:txBody>
          <a:bodyPr/>
          <a:lstStyle/>
          <a:p>
            <a:pPr eaLnBrk="1" hangingPunct="1"/>
            <a:r>
              <a:rPr lang="es-AR" altLang="es-AR" b="1" dirty="0"/>
              <a:t>Pablo Miguel Angel Pandolfo</a:t>
            </a:r>
          </a:p>
        </p:txBody>
      </p:sp>
      <p:sp>
        <p:nvSpPr>
          <p:cNvPr id="3075" name="Rectangle 3"/>
          <p:cNvSpPr>
            <a:spLocks noGrp="1" noChangeArrowheads="1"/>
          </p:cNvSpPr>
          <p:nvPr>
            <p:ph type="body" idx="1"/>
          </p:nvPr>
        </p:nvSpPr>
        <p:spPr>
          <a:xfrm>
            <a:off x="457200" y="1571625"/>
            <a:ext cx="8229600" cy="3357563"/>
          </a:xfrm>
        </p:spPr>
        <p:txBody>
          <a:bodyPr/>
          <a:lstStyle/>
          <a:p>
            <a:r>
              <a:rPr lang="es-AR" altLang="es-AR" dirty="0"/>
              <a:t>Profesor e Ingeniero en Informática. </a:t>
            </a:r>
          </a:p>
          <a:p>
            <a:r>
              <a:rPr lang="es-AR" altLang="es-AR" dirty="0"/>
              <a:t>Maestrando de la Maestría Tecnología Informática y de Comunicaciones (UADE). </a:t>
            </a:r>
          </a:p>
          <a:p>
            <a:r>
              <a:rPr lang="es-AR" altLang="es-AR" dirty="0"/>
              <a:t>Profesor Adjunto de la Universidad Nacional del </a:t>
            </a:r>
            <a:r>
              <a:rPr lang="es-AR" altLang="es-AR"/>
              <a:t>Oeste, </a:t>
            </a:r>
            <a:r>
              <a:rPr lang="es-AR" altLang="es-AR" dirty="0"/>
              <a:t>Universidad de Belgrano (</a:t>
            </a:r>
            <a:r>
              <a:rPr lang="es-AR" altLang="es-AR"/>
              <a:t>Argentina) y en el INAP.</a:t>
            </a:r>
            <a:endParaRPr lang="es-AR" altLang="es-AR" dirty="0"/>
          </a:p>
          <a:p>
            <a:r>
              <a:rPr lang="es-AR" altLang="es-AR" dirty="0"/>
              <a:t>Especialista en Diseño y Desarrollo en Sistemas Informáticos de Administración Financiera del Sector Público Nacional.</a:t>
            </a:r>
          </a:p>
          <a:p>
            <a:pPr eaLnBrk="1" hangingPunct="1"/>
            <a:endParaRPr lang="es-AR" altLang="es-AR" dirty="0"/>
          </a:p>
        </p:txBody>
      </p:sp>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2</a:t>
            </a:fld>
            <a:endParaRPr lang="es-ES" altLang="es-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1 Título"/>
          <p:cNvSpPr>
            <a:spLocks noGrp="1"/>
          </p:cNvSpPr>
          <p:nvPr>
            <p:ph type="title"/>
          </p:nvPr>
        </p:nvSpPr>
        <p:spPr>
          <a:xfrm>
            <a:off x="457200" y="274638"/>
            <a:ext cx="8229600" cy="654050"/>
          </a:xfrm>
        </p:spPr>
        <p:txBody>
          <a:bodyPr/>
          <a:lstStyle/>
          <a:p>
            <a:r>
              <a:rPr lang="es-AR" altLang="es-AR" b="1" dirty="0"/>
              <a:t>Organización</a:t>
            </a:r>
          </a:p>
        </p:txBody>
      </p:sp>
      <p:sp>
        <p:nvSpPr>
          <p:cNvPr id="4099" name="2 Marcador de contenido"/>
          <p:cNvSpPr>
            <a:spLocks noGrp="1"/>
          </p:cNvSpPr>
          <p:nvPr>
            <p:ph idx="1"/>
          </p:nvPr>
        </p:nvSpPr>
        <p:spPr/>
        <p:txBody>
          <a:bodyPr/>
          <a:lstStyle/>
          <a:p>
            <a:r>
              <a:rPr lang="es-AR" altLang="es-AR" dirty="0"/>
              <a:t>Introducción.</a:t>
            </a:r>
          </a:p>
          <a:p>
            <a:r>
              <a:rPr lang="es-AR" altLang="es-AR" dirty="0"/>
              <a:t>¿Qué es la accesibilidad web?</a:t>
            </a:r>
          </a:p>
          <a:p>
            <a:r>
              <a:rPr lang="es-AR" altLang="es-AR" dirty="0"/>
              <a:t>Pautas y leyes.</a:t>
            </a:r>
          </a:p>
          <a:p>
            <a:r>
              <a:rPr lang="es-AR" altLang="es-AR" dirty="0"/>
              <a:t>Contenido accesible.</a:t>
            </a:r>
          </a:p>
          <a:p>
            <a:r>
              <a:rPr lang="es-AR" altLang="es-AR" dirty="0"/>
              <a:t>Navegación accesible.</a:t>
            </a:r>
          </a:p>
          <a:p>
            <a:r>
              <a:rPr lang="es-AR" altLang="es-AR" dirty="0"/>
              <a:t>Diseño accesible.</a:t>
            </a:r>
          </a:p>
          <a:p>
            <a:r>
              <a:rPr lang="es-AR" altLang="es-AR" dirty="0"/>
              <a:t>Análisis y evaluación de la accesibilidad web.</a:t>
            </a:r>
          </a:p>
          <a:p>
            <a:r>
              <a:rPr lang="es-AR" altLang="es-AR" dirty="0"/>
              <a:t>Conclusiones.</a:t>
            </a:r>
          </a:p>
        </p:txBody>
      </p:sp>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3</a:t>
            </a:fld>
            <a:endParaRPr lang="es-ES" altLang="es-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1 Título"/>
          <p:cNvSpPr>
            <a:spLocks noGrp="1"/>
          </p:cNvSpPr>
          <p:nvPr>
            <p:ph type="title"/>
          </p:nvPr>
        </p:nvSpPr>
        <p:spPr>
          <a:xfrm>
            <a:off x="457200" y="274638"/>
            <a:ext cx="8229600" cy="654050"/>
          </a:xfrm>
        </p:spPr>
        <p:txBody>
          <a:bodyPr/>
          <a:lstStyle/>
          <a:p>
            <a:r>
              <a:rPr lang="es-AR" altLang="es-AR" b="1" dirty="0"/>
              <a:t>Organización</a:t>
            </a:r>
          </a:p>
        </p:txBody>
      </p:sp>
      <p:sp>
        <p:nvSpPr>
          <p:cNvPr id="5123" name="2 Marcador de contenido"/>
          <p:cNvSpPr>
            <a:spLocks noGrp="1"/>
          </p:cNvSpPr>
          <p:nvPr>
            <p:ph idx="1"/>
          </p:nvPr>
        </p:nvSpPr>
        <p:spPr/>
        <p:txBody>
          <a:bodyPr/>
          <a:lstStyle/>
          <a:p>
            <a:r>
              <a:rPr lang="es-AR" altLang="es-AR" b="1" dirty="0">
                <a:solidFill>
                  <a:srgbClr val="0070C0"/>
                </a:solidFill>
              </a:rPr>
              <a:t>Introducción</a:t>
            </a:r>
            <a:r>
              <a:rPr lang="es-AR" altLang="es-AR" dirty="0">
                <a:solidFill>
                  <a:srgbClr val="0070C0"/>
                </a:solidFill>
              </a:rPr>
              <a:t>.</a:t>
            </a:r>
          </a:p>
          <a:p>
            <a:r>
              <a:rPr lang="es-AR" altLang="es-AR" dirty="0"/>
              <a:t>¿Qué es la accesibilidad web?</a:t>
            </a:r>
          </a:p>
          <a:p>
            <a:r>
              <a:rPr lang="es-AR" altLang="es-AR" dirty="0"/>
              <a:t>Pautas y leyes.</a:t>
            </a:r>
          </a:p>
          <a:p>
            <a:r>
              <a:rPr lang="es-AR" altLang="es-AR" dirty="0"/>
              <a:t>Contenido accesible.</a:t>
            </a:r>
          </a:p>
          <a:p>
            <a:r>
              <a:rPr lang="es-AR" altLang="es-AR" dirty="0"/>
              <a:t>Navegación accesible.</a:t>
            </a:r>
          </a:p>
          <a:p>
            <a:r>
              <a:rPr lang="es-AR" altLang="es-AR" dirty="0"/>
              <a:t>Diseño accesible.</a:t>
            </a:r>
          </a:p>
          <a:p>
            <a:r>
              <a:rPr lang="es-AR" altLang="es-AR" dirty="0"/>
              <a:t>Análisis y evaluación de la accesibilidad web.</a:t>
            </a:r>
          </a:p>
          <a:p>
            <a:r>
              <a:rPr lang="es-AR" altLang="es-AR" dirty="0"/>
              <a:t>Conclusiones.</a:t>
            </a:r>
          </a:p>
        </p:txBody>
      </p:sp>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4</a:t>
            </a:fld>
            <a:endParaRPr lang="es-ES" altLang="es-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1 Título"/>
          <p:cNvSpPr>
            <a:spLocks noGrp="1"/>
          </p:cNvSpPr>
          <p:nvPr>
            <p:ph type="title"/>
          </p:nvPr>
        </p:nvSpPr>
        <p:spPr>
          <a:xfrm>
            <a:off x="457200" y="274638"/>
            <a:ext cx="8229600" cy="654050"/>
          </a:xfrm>
        </p:spPr>
        <p:txBody>
          <a:bodyPr/>
          <a:lstStyle/>
          <a:p>
            <a:r>
              <a:rPr lang="es-AR" altLang="es-AR" b="1" dirty="0"/>
              <a:t>Introducción</a:t>
            </a:r>
          </a:p>
        </p:txBody>
      </p:sp>
      <p:sp>
        <p:nvSpPr>
          <p:cNvPr id="6147" name="2 Marcador de contenido"/>
          <p:cNvSpPr>
            <a:spLocks noGrp="1"/>
          </p:cNvSpPr>
          <p:nvPr>
            <p:ph idx="1"/>
          </p:nvPr>
        </p:nvSpPr>
        <p:spPr>
          <a:xfrm>
            <a:off x="457200" y="2046288"/>
            <a:ext cx="8229600" cy="4525962"/>
          </a:xfrm>
        </p:spPr>
        <p:txBody>
          <a:bodyPr/>
          <a:lstStyle/>
          <a:p>
            <a:pPr algn="just"/>
            <a:r>
              <a:rPr lang="es-AR" altLang="es-AR" dirty="0"/>
              <a:t>Todos nosotros difícilmente podemos concebir nuestras vidas sin la Web.</a:t>
            </a:r>
          </a:p>
          <a:p>
            <a:pPr algn="just"/>
            <a:r>
              <a:rPr lang="es-AR" altLang="es-AR" dirty="0"/>
              <a:t>La Web nos permite:</a:t>
            </a:r>
          </a:p>
          <a:p>
            <a:pPr lvl="1" algn="just"/>
            <a:r>
              <a:rPr lang="es-AR" altLang="es-AR" dirty="0"/>
              <a:t>Acceder a las noticias de cualquier parte del mundo.</a:t>
            </a:r>
          </a:p>
          <a:p>
            <a:pPr lvl="1" algn="just"/>
            <a:r>
              <a:rPr lang="es-AR" altLang="es-AR" dirty="0"/>
              <a:t>Comunicarnos con personas con personas de cualquier parte del mundo.</a:t>
            </a:r>
          </a:p>
          <a:p>
            <a:pPr lvl="1" algn="just"/>
            <a:r>
              <a:rPr lang="es-AR" altLang="es-AR" dirty="0"/>
              <a:t>Comprar casi cualquier producto y recibirlo a los pocos días en casa.</a:t>
            </a:r>
          </a:p>
          <a:p>
            <a:pPr lvl="1" algn="just"/>
            <a:r>
              <a:rPr lang="es-AR" altLang="es-AR" dirty="0"/>
              <a:t>Entretenernos.</a:t>
            </a:r>
          </a:p>
          <a:p>
            <a:pPr algn="just"/>
            <a:r>
              <a:rPr lang="es-AR" altLang="es-AR" dirty="0"/>
              <a:t>De forma instantánea, muchas veces de forma gratuita, a cualquier hora del día y desde cualquier sitio en el que exista una conexión a Internet.</a:t>
            </a:r>
          </a:p>
        </p:txBody>
      </p:sp>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5</a:t>
            </a:fld>
            <a:endParaRPr lang="es-ES" altLang="es-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1 Título"/>
          <p:cNvSpPr>
            <a:spLocks noGrp="1"/>
          </p:cNvSpPr>
          <p:nvPr>
            <p:ph type="title"/>
          </p:nvPr>
        </p:nvSpPr>
        <p:spPr>
          <a:xfrm>
            <a:off x="457200" y="274638"/>
            <a:ext cx="8229600" cy="654050"/>
          </a:xfrm>
        </p:spPr>
        <p:txBody>
          <a:bodyPr/>
          <a:lstStyle/>
          <a:p>
            <a:r>
              <a:rPr lang="es-AR" altLang="es-AR" b="1" dirty="0"/>
              <a:t>Introducción</a:t>
            </a:r>
          </a:p>
        </p:txBody>
      </p:sp>
      <p:sp>
        <p:nvSpPr>
          <p:cNvPr id="7171" name="2 Marcador de contenido"/>
          <p:cNvSpPr>
            <a:spLocks noGrp="1"/>
          </p:cNvSpPr>
          <p:nvPr>
            <p:ph idx="1"/>
          </p:nvPr>
        </p:nvSpPr>
        <p:spPr>
          <a:xfrm>
            <a:off x="457200" y="2046288"/>
            <a:ext cx="8229600" cy="4525962"/>
          </a:xfrm>
        </p:spPr>
        <p:txBody>
          <a:bodyPr/>
          <a:lstStyle/>
          <a:p>
            <a:pPr algn="just"/>
            <a:r>
              <a:rPr lang="es-AR" altLang="es-AR" dirty="0"/>
              <a:t>Para las personas, Internet y la Web han supuesto un gran avance.</a:t>
            </a:r>
          </a:p>
          <a:p>
            <a:pPr algn="just"/>
            <a:r>
              <a:rPr lang="es-AR" altLang="es-AR" dirty="0"/>
              <a:t>Sin embargo, este potencial está aún en gran medida desaprovechado:</a:t>
            </a:r>
          </a:p>
          <a:p>
            <a:pPr lvl="1" algn="just"/>
            <a:r>
              <a:rPr lang="es-AR" altLang="es-AR" dirty="0"/>
              <a:t>En algunos sitios sólo se puede navegar con el mouse.</a:t>
            </a:r>
          </a:p>
          <a:p>
            <a:pPr lvl="1" algn="just"/>
            <a:r>
              <a:rPr lang="es-AR" altLang="es-AR" dirty="0"/>
              <a:t>En otros sitios web el contenido multimedia como los video no han sido subtitulados.</a:t>
            </a:r>
          </a:p>
          <a:p>
            <a:pPr algn="just"/>
            <a:r>
              <a:rPr lang="es-AR" altLang="es-AR" dirty="0"/>
              <a:t>La accesibilidad web tiene como objetivo lograr que las páginas web sean utilizables por el máximo número de personas.</a:t>
            </a:r>
          </a:p>
        </p:txBody>
      </p:sp>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6</a:t>
            </a:fld>
            <a:endParaRPr lang="es-ES" altLang="es-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1 Título"/>
          <p:cNvSpPr>
            <a:spLocks noGrp="1"/>
          </p:cNvSpPr>
          <p:nvPr>
            <p:ph type="title"/>
          </p:nvPr>
        </p:nvSpPr>
        <p:spPr>
          <a:xfrm>
            <a:off x="457200" y="274638"/>
            <a:ext cx="8229600" cy="654050"/>
          </a:xfrm>
        </p:spPr>
        <p:txBody>
          <a:bodyPr/>
          <a:lstStyle/>
          <a:p>
            <a:r>
              <a:rPr lang="es-AR" altLang="es-AR" b="1" dirty="0"/>
              <a:t>Introducción</a:t>
            </a:r>
          </a:p>
        </p:txBody>
      </p:sp>
      <p:sp>
        <p:nvSpPr>
          <p:cNvPr id="8195" name="2 Marcador de contenido"/>
          <p:cNvSpPr>
            <a:spLocks noGrp="1"/>
          </p:cNvSpPr>
          <p:nvPr>
            <p:ph idx="1"/>
          </p:nvPr>
        </p:nvSpPr>
        <p:spPr>
          <a:xfrm>
            <a:off x="500063" y="1714500"/>
            <a:ext cx="8229600" cy="1025525"/>
          </a:xfrm>
        </p:spPr>
        <p:txBody>
          <a:bodyPr/>
          <a:lstStyle/>
          <a:p>
            <a:r>
              <a:rPr lang="es-AR" altLang="es-AR" dirty="0"/>
              <a:t>Ejemplo de problema de accesibilidad para personas con </a:t>
            </a:r>
            <a:r>
              <a:rPr lang="es-AR" altLang="es-AR" b="1" dirty="0"/>
              <a:t>discapacidad visual</a:t>
            </a:r>
            <a:r>
              <a:rPr lang="es-AR" altLang="es-AR" dirty="0"/>
              <a:t> (ciega, baja visión, daltonismo) y todos en un día de mucha luminosidad.</a:t>
            </a:r>
          </a:p>
        </p:txBody>
      </p:sp>
      <p:sp>
        <p:nvSpPr>
          <p:cNvPr id="4" name="CuadroTexto 3"/>
          <p:cNvSpPr txBox="1"/>
          <p:nvPr/>
        </p:nvSpPr>
        <p:spPr>
          <a:xfrm>
            <a:off x="1714500" y="3236913"/>
            <a:ext cx="2884488" cy="3478212"/>
          </a:xfrm>
          <a:prstGeom prst="rect">
            <a:avLst/>
          </a:prstGeom>
          <a:noFill/>
          <a:ln>
            <a:solidFill>
              <a:schemeClr val="accent1"/>
            </a:solidFill>
          </a:ln>
        </p:spPr>
        <p:txBody>
          <a:bodyPr>
            <a:spAutoFit/>
          </a:bodyPr>
          <a:lstStyle/>
          <a:p>
            <a:pPr algn="ctr" eaLnBrk="1" hangingPunct="1">
              <a:defRPr/>
            </a:pPr>
            <a:r>
              <a:rPr lang="es-AR" sz="2000" b="1" dirty="0">
                <a:latin typeface="Arial" charset="0"/>
                <a:cs typeface="Arial" charset="0"/>
              </a:rPr>
              <a:t>CURSO</a:t>
            </a:r>
          </a:p>
          <a:p>
            <a:pPr algn="ctr" eaLnBrk="1" hangingPunct="1">
              <a:defRPr/>
            </a:pPr>
            <a:endParaRPr lang="es-AR" sz="2000" dirty="0">
              <a:latin typeface="Arial" charset="0"/>
              <a:cs typeface="Arial" charset="0"/>
            </a:endParaRPr>
          </a:p>
          <a:p>
            <a:pPr marL="285750" indent="-285750" eaLnBrk="1" hangingPunct="1">
              <a:buFont typeface="Arial" panose="020B0604020202020204" pitchFamily="34" charset="0"/>
              <a:buChar char="•"/>
              <a:defRPr/>
            </a:pPr>
            <a:r>
              <a:rPr lang="es-AR" sz="2000" dirty="0">
                <a:latin typeface="Arial" charset="0"/>
                <a:cs typeface="Arial" charset="0"/>
              </a:rPr>
              <a:t>Si pulsa el círculo verde comenzará el curso.</a:t>
            </a:r>
          </a:p>
          <a:p>
            <a:pPr marL="285750" indent="-285750" eaLnBrk="1" hangingPunct="1">
              <a:buFont typeface="Arial" panose="020B0604020202020204" pitchFamily="34" charset="0"/>
              <a:buChar char="•"/>
              <a:defRPr/>
            </a:pPr>
            <a:r>
              <a:rPr lang="es-AR" sz="2000" dirty="0">
                <a:latin typeface="Arial" charset="0"/>
                <a:cs typeface="Arial" charset="0"/>
              </a:rPr>
              <a:t>Si pulsa el círculo rojo se eliminará el curso.</a:t>
            </a:r>
          </a:p>
          <a:p>
            <a:pPr eaLnBrk="1" hangingPunct="1">
              <a:defRPr/>
            </a:pPr>
            <a:endParaRPr lang="es-AR" sz="2000" dirty="0">
              <a:latin typeface="Arial" charset="0"/>
              <a:cs typeface="Arial" charset="0"/>
            </a:endParaRPr>
          </a:p>
          <a:p>
            <a:pPr eaLnBrk="1" hangingPunct="1">
              <a:defRPr/>
            </a:pPr>
            <a:endParaRPr lang="es-AR" sz="2000" dirty="0">
              <a:latin typeface="Arial" charset="0"/>
              <a:cs typeface="Arial" charset="0"/>
            </a:endParaRPr>
          </a:p>
          <a:p>
            <a:pPr eaLnBrk="1" hangingPunct="1">
              <a:defRPr/>
            </a:pPr>
            <a:endParaRPr lang="es-AR" sz="2000" dirty="0">
              <a:latin typeface="Arial" charset="0"/>
              <a:cs typeface="Arial" charset="0"/>
            </a:endParaRPr>
          </a:p>
        </p:txBody>
      </p:sp>
      <p:sp>
        <p:nvSpPr>
          <p:cNvPr id="5" name="Elipse 4"/>
          <p:cNvSpPr/>
          <p:nvPr/>
        </p:nvSpPr>
        <p:spPr>
          <a:xfrm>
            <a:off x="2246313" y="5822950"/>
            <a:ext cx="674687" cy="393700"/>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s-AR" dirty="0"/>
          </a:p>
        </p:txBody>
      </p:sp>
      <p:sp>
        <p:nvSpPr>
          <p:cNvPr id="6" name="Elipse 5"/>
          <p:cNvSpPr/>
          <p:nvPr/>
        </p:nvSpPr>
        <p:spPr>
          <a:xfrm>
            <a:off x="3452813" y="5822950"/>
            <a:ext cx="674687" cy="393700"/>
          </a:xfrm>
          <a:prstGeom prst="ellipse">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s-AR" dirty="0"/>
          </a:p>
        </p:txBody>
      </p:sp>
      <p:sp>
        <p:nvSpPr>
          <p:cNvPr id="8199" name="CuadroTexto 6"/>
          <p:cNvSpPr txBox="1">
            <a:spLocks noChangeArrowheads="1"/>
          </p:cNvSpPr>
          <p:nvPr/>
        </p:nvSpPr>
        <p:spPr bwMode="auto">
          <a:xfrm>
            <a:off x="1714500" y="2811463"/>
            <a:ext cx="28844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FontTx/>
              <a:buNone/>
            </a:pPr>
            <a:r>
              <a:rPr lang="es-AR" altLang="es-AR" sz="2000" b="1" dirty="0">
                <a:solidFill>
                  <a:srgbClr val="FF0000"/>
                </a:solidFill>
              </a:rPr>
              <a:t>NO accesible</a:t>
            </a:r>
          </a:p>
        </p:txBody>
      </p:sp>
      <p:sp>
        <p:nvSpPr>
          <p:cNvPr id="8" name="CuadroTexto 7"/>
          <p:cNvSpPr txBox="1"/>
          <p:nvPr/>
        </p:nvSpPr>
        <p:spPr>
          <a:xfrm>
            <a:off x="5116513" y="3221038"/>
            <a:ext cx="2884487" cy="3478212"/>
          </a:xfrm>
          <a:prstGeom prst="rect">
            <a:avLst/>
          </a:prstGeom>
          <a:noFill/>
          <a:ln>
            <a:solidFill>
              <a:schemeClr val="accent1"/>
            </a:solidFill>
          </a:ln>
        </p:spPr>
        <p:txBody>
          <a:bodyPr>
            <a:spAutoFit/>
          </a:bodyPr>
          <a:lstStyle/>
          <a:p>
            <a:pPr algn="ctr" eaLnBrk="1" hangingPunct="1">
              <a:defRPr/>
            </a:pPr>
            <a:r>
              <a:rPr lang="es-AR" sz="2000" b="1" dirty="0">
                <a:latin typeface="Arial" charset="0"/>
                <a:cs typeface="Arial" charset="0"/>
              </a:rPr>
              <a:t>CURSO</a:t>
            </a:r>
          </a:p>
          <a:p>
            <a:pPr algn="ctr" eaLnBrk="1" hangingPunct="1">
              <a:defRPr/>
            </a:pPr>
            <a:endParaRPr lang="es-AR" sz="2000" dirty="0">
              <a:latin typeface="Arial" charset="0"/>
              <a:cs typeface="Arial" charset="0"/>
            </a:endParaRPr>
          </a:p>
          <a:p>
            <a:pPr marL="285750" indent="-285750" eaLnBrk="1" hangingPunct="1">
              <a:buFont typeface="Arial" panose="020B0604020202020204" pitchFamily="34" charset="0"/>
              <a:buChar char="•"/>
              <a:defRPr/>
            </a:pPr>
            <a:r>
              <a:rPr lang="es-AR" sz="2000" dirty="0">
                <a:latin typeface="Arial" charset="0"/>
                <a:cs typeface="Arial" charset="0"/>
              </a:rPr>
              <a:t>Si pulsa el círculo verde comenzará el curso.</a:t>
            </a:r>
          </a:p>
          <a:p>
            <a:pPr marL="285750" indent="-285750" eaLnBrk="1" hangingPunct="1">
              <a:buFont typeface="Arial" panose="020B0604020202020204" pitchFamily="34" charset="0"/>
              <a:buChar char="•"/>
              <a:defRPr/>
            </a:pPr>
            <a:r>
              <a:rPr lang="es-AR" sz="2000" dirty="0">
                <a:latin typeface="Arial" charset="0"/>
                <a:cs typeface="Arial" charset="0"/>
              </a:rPr>
              <a:t>Si pulsa el círculo rojo se eliminará el curso.</a:t>
            </a:r>
          </a:p>
          <a:p>
            <a:pPr eaLnBrk="1" hangingPunct="1">
              <a:defRPr/>
            </a:pPr>
            <a:endParaRPr lang="es-AR" sz="2000" dirty="0">
              <a:latin typeface="Arial" charset="0"/>
              <a:cs typeface="Arial" charset="0"/>
            </a:endParaRPr>
          </a:p>
          <a:p>
            <a:pPr eaLnBrk="1" hangingPunct="1">
              <a:defRPr/>
            </a:pPr>
            <a:r>
              <a:rPr lang="es-AR" sz="2000" dirty="0">
                <a:latin typeface="Arial" charset="0"/>
                <a:cs typeface="Arial" charset="0"/>
              </a:rPr>
              <a:t>  </a:t>
            </a:r>
          </a:p>
          <a:p>
            <a:pPr eaLnBrk="1" hangingPunct="1">
              <a:defRPr/>
            </a:pPr>
            <a:r>
              <a:rPr lang="es-AR" sz="2000" dirty="0">
                <a:latin typeface="Arial" charset="0"/>
                <a:cs typeface="Arial" charset="0"/>
              </a:rPr>
              <a:t>    Eliminar    Comenzar</a:t>
            </a:r>
          </a:p>
        </p:txBody>
      </p:sp>
      <p:sp>
        <p:nvSpPr>
          <p:cNvPr id="9" name="Elipse 8"/>
          <p:cNvSpPr/>
          <p:nvPr/>
        </p:nvSpPr>
        <p:spPr>
          <a:xfrm>
            <a:off x="5527675" y="5822950"/>
            <a:ext cx="674688" cy="393700"/>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s-AR" dirty="0"/>
          </a:p>
        </p:txBody>
      </p:sp>
      <p:sp>
        <p:nvSpPr>
          <p:cNvPr id="10" name="Elipse 9"/>
          <p:cNvSpPr/>
          <p:nvPr/>
        </p:nvSpPr>
        <p:spPr>
          <a:xfrm>
            <a:off x="6808788" y="5822950"/>
            <a:ext cx="674687" cy="393700"/>
          </a:xfrm>
          <a:prstGeom prst="ellipse">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s-AR" dirty="0"/>
          </a:p>
        </p:txBody>
      </p:sp>
      <p:sp>
        <p:nvSpPr>
          <p:cNvPr id="8203" name="CuadroTexto 10"/>
          <p:cNvSpPr txBox="1">
            <a:spLocks noChangeArrowheads="1"/>
          </p:cNvSpPr>
          <p:nvPr/>
        </p:nvSpPr>
        <p:spPr bwMode="auto">
          <a:xfrm>
            <a:off x="5116513" y="2795588"/>
            <a:ext cx="288448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FontTx/>
              <a:buNone/>
            </a:pPr>
            <a:r>
              <a:rPr lang="es-AR" altLang="es-AR" sz="2000" b="1" dirty="0">
                <a:solidFill>
                  <a:srgbClr val="92D050"/>
                </a:solidFill>
              </a:rPr>
              <a:t>Accesible</a:t>
            </a:r>
          </a:p>
        </p:txBody>
      </p:sp>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7</a:t>
            </a:fld>
            <a:endParaRPr lang="es-ES" altLang="es-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1 Título"/>
          <p:cNvSpPr>
            <a:spLocks noGrp="1"/>
          </p:cNvSpPr>
          <p:nvPr>
            <p:ph type="title"/>
          </p:nvPr>
        </p:nvSpPr>
        <p:spPr>
          <a:xfrm>
            <a:off x="457200" y="274638"/>
            <a:ext cx="8229600" cy="654050"/>
          </a:xfrm>
        </p:spPr>
        <p:txBody>
          <a:bodyPr/>
          <a:lstStyle/>
          <a:p>
            <a:r>
              <a:rPr lang="es-AR" altLang="es-AR" b="1" dirty="0"/>
              <a:t>Introducción</a:t>
            </a:r>
          </a:p>
        </p:txBody>
      </p:sp>
      <p:sp>
        <p:nvSpPr>
          <p:cNvPr id="9219" name="2 Marcador de contenido"/>
          <p:cNvSpPr>
            <a:spLocks noGrp="1"/>
          </p:cNvSpPr>
          <p:nvPr>
            <p:ph idx="1"/>
          </p:nvPr>
        </p:nvSpPr>
        <p:spPr>
          <a:xfrm>
            <a:off x="500063" y="1617663"/>
            <a:ext cx="8229600" cy="1025525"/>
          </a:xfrm>
        </p:spPr>
        <p:txBody>
          <a:bodyPr/>
          <a:lstStyle/>
          <a:p>
            <a:r>
              <a:rPr lang="es-AR" altLang="es-AR" dirty="0"/>
              <a:t>Ejemplo de problema de accesibilidad para personas con </a:t>
            </a:r>
            <a:r>
              <a:rPr lang="es-AR" altLang="es-AR" b="1" dirty="0"/>
              <a:t>discapacidad motora </a:t>
            </a:r>
            <a:r>
              <a:rPr lang="es-AR" altLang="es-AR" dirty="0"/>
              <a:t>(paraplejia, Parkinson) y todos en el caso de una fractura en el brazo.</a:t>
            </a:r>
          </a:p>
        </p:txBody>
      </p:sp>
      <p:sp>
        <p:nvSpPr>
          <p:cNvPr id="12" name="CuadroTexto 3"/>
          <p:cNvSpPr txBox="1"/>
          <p:nvPr/>
        </p:nvSpPr>
        <p:spPr>
          <a:xfrm>
            <a:off x="1714500" y="3000375"/>
            <a:ext cx="2884488" cy="3786188"/>
          </a:xfrm>
          <a:prstGeom prst="rect">
            <a:avLst/>
          </a:prstGeom>
          <a:noFill/>
          <a:ln>
            <a:solidFill>
              <a:schemeClr val="accent1"/>
            </a:solidFill>
          </a:ln>
        </p:spPr>
        <p:txBody>
          <a:bodyPr>
            <a:spAutoFit/>
          </a:bodyPr>
          <a:lstStyle/>
          <a:p>
            <a:pPr algn="ctr" eaLnBrk="1" fontAlgn="auto" hangingPunct="1">
              <a:spcBef>
                <a:spcPts val="0"/>
              </a:spcBef>
              <a:spcAft>
                <a:spcPts val="0"/>
              </a:spcAft>
              <a:defRPr/>
            </a:pPr>
            <a:r>
              <a:rPr lang="es-AR" sz="2000" b="1" kern="0" dirty="0">
                <a:solidFill>
                  <a:sysClr val="windowText" lastClr="000000"/>
                </a:solidFill>
                <a:latin typeface="Arial" charset="0"/>
                <a:cs typeface="Arial" charset="0"/>
              </a:rPr>
              <a:t>CURSO</a:t>
            </a:r>
          </a:p>
          <a:p>
            <a:pPr algn="ctr" eaLnBrk="1" fontAlgn="auto" hangingPunct="1">
              <a:spcBef>
                <a:spcPts val="0"/>
              </a:spcBef>
              <a:spcAft>
                <a:spcPts val="0"/>
              </a:spcAft>
              <a:defRPr/>
            </a:pPr>
            <a:endParaRPr lang="es-AR" sz="2000" kern="0" dirty="0">
              <a:solidFill>
                <a:sysClr val="windowText" lastClr="000000"/>
              </a:solidFill>
              <a:latin typeface="Arial" charset="0"/>
              <a:cs typeface="Arial" charset="0"/>
            </a:endParaRPr>
          </a:p>
          <a:p>
            <a:pPr marL="285750" indent="-285750" eaLnBrk="1" fontAlgn="auto" hangingPunct="1">
              <a:spcBef>
                <a:spcPts val="0"/>
              </a:spcBef>
              <a:spcAft>
                <a:spcPts val="0"/>
              </a:spcAft>
              <a:buFont typeface="Arial" panose="020B0604020202020204" pitchFamily="34" charset="0"/>
              <a:buChar char="•"/>
              <a:defRPr/>
            </a:pPr>
            <a:r>
              <a:rPr lang="es-AR" sz="2000" kern="0" dirty="0">
                <a:solidFill>
                  <a:sysClr val="windowText" lastClr="000000"/>
                </a:solidFill>
                <a:latin typeface="Arial" charset="0"/>
                <a:cs typeface="Arial" charset="0"/>
              </a:rPr>
              <a:t>Si pulsa el círculo verde comenzará el curso.</a:t>
            </a:r>
          </a:p>
          <a:p>
            <a:pPr marL="285750" indent="-285750" eaLnBrk="1" fontAlgn="auto" hangingPunct="1">
              <a:spcBef>
                <a:spcPts val="0"/>
              </a:spcBef>
              <a:spcAft>
                <a:spcPts val="0"/>
              </a:spcAft>
              <a:buFont typeface="Arial" panose="020B0604020202020204" pitchFamily="34" charset="0"/>
              <a:buChar char="•"/>
              <a:defRPr/>
            </a:pPr>
            <a:r>
              <a:rPr lang="es-AR" sz="2000" kern="0" dirty="0">
                <a:solidFill>
                  <a:sysClr val="windowText" lastClr="000000"/>
                </a:solidFill>
                <a:latin typeface="Arial" charset="0"/>
                <a:cs typeface="Arial" charset="0"/>
              </a:rPr>
              <a:t>Si pulsa el círculo rojo se eliminará el curso.</a:t>
            </a:r>
          </a:p>
          <a:p>
            <a:pPr eaLnBrk="1" fontAlgn="auto" hangingPunct="1">
              <a:spcBef>
                <a:spcPts val="0"/>
              </a:spcBef>
              <a:spcAft>
                <a:spcPts val="0"/>
              </a:spcAft>
              <a:defRPr/>
            </a:pPr>
            <a:endParaRPr lang="es-AR" sz="2000" kern="0" dirty="0">
              <a:solidFill>
                <a:sysClr val="windowText" lastClr="000000"/>
              </a:solidFill>
              <a:latin typeface="Arial" charset="0"/>
              <a:cs typeface="Arial" charset="0"/>
            </a:endParaRPr>
          </a:p>
          <a:p>
            <a:pPr eaLnBrk="1" fontAlgn="auto" hangingPunct="1">
              <a:spcBef>
                <a:spcPts val="0"/>
              </a:spcBef>
              <a:spcAft>
                <a:spcPts val="0"/>
              </a:spcAft>
              <a:defRPr/>
            </a:pPr>
            <a:endParaRPr lang="es-AR" sz="2000" kern="0" dirty="0">
              <a:solidFill>
                <a:sysClr val="windowText" lastClr="000000"/>
              </a:solidFill>
              <a:latin typeface="Arial" charset="0"/>
              <a:cs typeface="Arial" charset="0"/>
            </a:endParaRPr>
          </a:p>
          <a:p>
            <a:pPr eaLnBrk="1" fontAlgn="auto" hangingPunct="1">
              <a:spcBef>
                <a:spcPts val="0"/>
              </a:spcBef>
              <a:spcAft>
                <a:spcPts val="0"/>
              </a:spcAft>
              <a:defRPr/>
            </a:pPr>
            <a:endParaRPr lang="es-AR" sz="2000" kern="0" dirty="0">
              <a:solidFill>
                <a:sysClr val="windowText" lastClr="000000"/>
              </a:solidFill>
              <a:latin typeface="Arial" charset="0"/>
              <a:cs typeface="Arial" charset="0"/>
            </a:endParaRPr>
          </a:p>
          <a:p>
            <a:pPr eaLnBrk="1" fontAlgn="auto" hangingPunct="1">
              <a:spcBef>
                <a:spcPts val="0"/>
              </a:spcBef>
              <a:spcAft>
                <a:spcPts val="0"/>
              </a:spcAft>
              <a:defRPr/>
            </a:pPr>
            <a:endParaRPr lang="es-AR" sz="2000" kern="0" dirty="0">
              <a:solidFill>
                <a:sysClr val="windowText" lastClr="000000"/>
              </a:solidFill>
              <a:latin typeface="Arial" charset="0"/>
              <a:cs typeface="Arial" charset="0"/>
            </a:endParaRPr>
          </a:p>
        </p:txBody>
      </p:sp>
      <p:sp>
        <p:nvSpPr>
          <p:cNvPr id="13" name="Elipse 4"/>
          <p:cNvSpPr/>
          <p:nvPr/>
        </p:nvSpPr>
        <p:spPr>
          <a:xfrm>
            <a:off x="2260600" y="5924550"/>
            <a:ext cx="674688" cy="393700"/>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s-AR" kern="0" dirty="0">
              <a:solidFill>
                <a:sysClr val="windowText" lastClr="000000"/>
              </a:solidFill>
            </a:endParaRPr>
          </a:p>
        </p:txBody>
      </p:sp>
      <p:sp>
        <p:nvSpPr>
          <p:cNvPr id="14" name="Elipse 5"/>
          <p:cNvSpPr/>
          <p:nvPr/>
        </p:nvSpPr>
        <p:spPr>
          <a:xfrm>
            <a:off x="3500438" y="5924550"/>
            <a:ext cx="676275" cy="393700"/>
          </a:xfrm>
          <a:prstGeom prst="ellipse">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s-AR" kern="0" dirty="0">
              <a:solidFill>
                <a:sysClr val="windowText" lastClr="000000"/>
              </a:solidFill>
            </a:endParaRPr>
          </a:p>
        </p:txBody>
      </p:sp>
      <p:sp>
        <p:nvSpPr>
          <p:cNvPr id="15" name="CuadroTexto 6"/>
          <p:cNvSpPr txBox="1"/>
          <p:nvPr/>
        </p:nvSpPr>
        <p:spPr>
          <a:xfrm>
            <a:off x="1714500" y="2574925"/>
            <a:ext cx="2884488" cy="400050"/>
          </a:xfrm>
          <a:prstGeom prst="rect">
            <a:avLst/>
          </a:prstGeom>
          <a:noFill/>
        </p:spPr>
        <p:txBody>
          <a:bodyPr>
            <a:spAutoFit/>
          </a:bodyPr>
          <a:lstStyle/>
          <a:p>
            <a:pPr algn="ctr" eaLnBrk="1" fontAlgn="auto" hangingPunct="1">
              <a:spcBef>
                <a:spcPts val="0"/>
              </a:spcBef>
              <a:spcAft>
                <a:spcPts val="0"/>
              </a:spcAft>
              <a:defRPr/>
            </a:pPr>
            <a:r>
              <a:rPr lang="es-AR" sz="2000" b="1" kern="0" dirty="0">
                <a:solidFill>
                  <a:srgbClr val="FF0000"/>
                </a:solidFill>
                <a:latin typeface="Arial" charset="0"/>
                <a:cs typeface="Arial" charset="0"/>
              </a:rPr>
              <a:t>NO accesible</a:t>
            </a:r>
          </a:p>
        </p:txBody>
      </p:sp>
      <p:sp>
        <p:nvSpPr>
          <p:cNvPr id="16" name="CuadroTexto 7"/>
          <p:cNvSpPr txBox="1"/>
          <p:nvPr/>
        </p:nvSpPr>
        <p:spPr>
          <a:xfrm>
            <a:off x="5116513" y="2984500"/>
            <a:ext cx="2884487" cy="3786188"/>
          </a:xfrm>
          <a:prstGeom prst="rect">
            <a:avLst/>
          </a:prstGeom>
          <a:noFill/>
          <a:ln>
            <a:solidFill>
              <a:schemeClr val="accent1"/>
            </a:solidFill>
          </a:ln>
        </p:spPr>
        <p:txBody>
          <a:bodyPr>
            <a:spAutoFit/>
          </a:bodyPr>
          <a:lstStyle/>
          <a:p>
            <a:pPr algn="ctr" eaLnBrk="1" fontAlgn="auto" hangingPunct="1">
              <a:spcBef>
                <a:spcPts val="0"/>
              </a:spcBef>
              <a:spcAft>
                <a:spcPts val="0"/>
              </a:spcAft>
              <a:defRPr/>
            </a:pPr>
            <a:r>
              <a:rPr lang="es-AR" sz="2000" b="1" kern="0" dirty="0">
                <a:solidFill>
                  <a:sysClr val="windowText" lastClr="000000"/>
                </a:solidFill>
                <a:latin typeface="Arial" charset="0"/>
                <a:cs typeface="Arial" charset="0"/>
              </a:rPr>
              <a:t>CURSO</a:t>
            </a:r>
          </a:p>
          <a:p>
            <a:pPr algn="ctr" eaLnBrk="1" fontAlgn="auto" hangingPunct="1">
              <a:spcBef>
                <a:spcPts val="0"/>
              </a:spcBef>
              <a:spcAft>
                <a:spcPts val="0"/>
              </a:spcAft>
              <a:defRPr/>
            </a:pPr>
            <a:endParaRPr lang="es-AR" sz="2000" kern="0" dirty="0">
              <a:solidFill>
                <a:sysClr val="windowText" lastClr="000000"/>
              </a:solidFill>
              <a:latin typeface="Arial" charset="0"/>
              <a:cs typeface="Arial" charset="0"/>
            </a:endParaRPr>
          </a:p>
          <a:p>
            <a:pPr marL="285750" indent="-285750" eaLnBrk="1" fontAlgn="auto" hangingPunct="1">
              <a:spcBef>
                <a:spcPts val="0"/>
              </a:spcBef>
              <a:spcAft>
                <a:spcPts val="0"/>
              </a:spcAft>
              <a:buFont typeface="Arial" panose="020B0604020202020204" pitchFamily="34" charset="0"/>
              <a:buChar char="•"/>
              <a:defRPr/>
            </a:pPr>
            <a:r>
              <a:rPr lang="es-AR" sz="2000" kern="0" dirty="0">
                <a:solidFill>
                  <a:sysClr val="windowText" lastClr="000000"/>
                </a:solidFill>
                <a:latin typeface="Arial" charset="0"/>
                <a:cs typeface="Arial" charset="0"/>
              </a:rPr>
              <a:t>Si pulsa </a:t>
            </a:r>
            <a:r>
              <a:rPr lang="es-AR" sz="2000" u="sng" kern="0" dirty="0">
                <a:solidFill>
                  <a:sysClr val="windowText" lastClr="000000"/>
                </a:solidFill>
                <a:latin typeface="Arial" charset="0"/>
                <a:cs typeface="Arial" charset="0"/>
              </a:rPr>
              <a:t>aquí</a:t>
            </a:r>
            <a:r>
              <a:rPr lang="es-AR" sz="2000" kern="0" dirty="0">
                <a:solidFill>
                  <a:sysClr val="windowText" lastClr="000000"/>
                </a:solidFill>
                <a:latin typeface="Arial" charset="0"/>
                <a:cs typeface="Arial" charset="0"/>
              </a:rPr>
              <a:t> o el círculo verde comenzará el curso.</a:t>
            </a:r>
          </a:p>
          <a:p>
            <a:pPr marL="285750" indent="-285750" eaLnBrk="1" fontAlgn="auto" hangingPunct="1">
              <a:spcBef>
                <a:spcPts val="0"/>
              </a:spcBef>
              <a:spcAft>
                <a:spcPts val="0"/>
              </a:spcAft>
              <a:buFont typeface="Arial" panose="020B0604020202020204" pitchFamily="34" charset="0"/>
              <a:buChar char="•"/>
              <a:defRPr/>
            </a:pPr>
            <a:r>
              <a:rPr lang="es-AR" sz="2000" kern="0" dirty="0">
                <a:solidFill>
                  <a:sysClr val="windowText" lastClr="000000"/>
                </a:solidFill>
                <a:latin typeface="Arial" charset="0"/>
                <a:cs typeface="Arial" charset="0"/>
              </a:rPr>
              <a:t>Si pulsa </a:t>
            </a:r>
            <a:r>
              <a:rPr lang="es-AR" sz="2000" u="sng" kern="0" dirty="0">
                <a:solidFill>
                  <a:sysClr val="windowText" lastClr="000000"/>
                </a:solidFill>
                <a:latin typeface="Arial" charset="0"/>
                <a:cs typeface="Arial" charset="0"/>
              </a:rPr>
              <a:t>aquí</a:t>
            </a:r>
            <a:r>
              <a:rPr lang="es-AR" sz="2000" kern="0" dirty="0">
                <a:solidFill>
                  <a:sysClr val="windowText" lastClr="000000"/>
                </a:solidFill>
                <a:latin typeface="Arial" charset="0"/>
                <a:cs typeface="Arial" charset="0"/>
              </a:rPr>
              <a:t> o el círculo rojo se eliminará el curso.</a:t>
            </a:r>
          </a:p>
          <a:p>
            <a:pPr marL="285750" indent="-285750" eaLnBrk="1" fontAlgn="auto" hangingPunct="1">
              <a:spcBef>
                <a:spcPts val="0"/>
              </a:spcBef>
              <a:spcAft>
                <a:spcPts val="0"/>
              </a:spcAft>
              <a:buFont typeface="Arial" panose="020B0604020202020204" pitchFamily="34" charset="0"/>
              <a:buChar char="•"/>
              <a:defRPr/>
            </a:pPr>
            <a:endParaRPr lang="es-AR" sz="2000" kern="0" dirty="0">
              <a:solidFill>
                <a:sysClr val="windowText" lastClr="000000"/>
              </a:solidFill>
              <a:latin typeface="Arial" charset="0"/>
              <a:cs typeface="Arial" charset="0"/>
            </a:endParaRPr>
          </a:p>
          <a:p>
            <a:pPr eaLnBrk="1" fontAlgn="auto" hangingPunct="1">
              <a:spcBef>
                <a:spcPts val="0"/>
              </a:spcBef>
              <a:spcAft>
                <a:spcPts val="0"/>
              </a:spcAft>
              <a:defRPr/>
            </a:pPr>
            <a:endParaRPr lang="es-AR" sz="2000" kern="0" dirty="0">
              <a:solidFill>
                <a:sysClr val="windowText" lastClr="000000"/>
              </a:solidFill>
              <a:latin typeface="Arial" charset="0"/>
              <a:cs typeface="Arial" charset="0"/>
            </a:endParaRPr>
          </a:p>
          <a:p>
            <a:pPr eaLnBrk="1" fontAlgn="auto" hangingPunct="1">
              <a:spcBef>
                <a:spcPts val="0"/>
              </a:spcBef>
              <a:spcAft>
                <a:spcPts val="0"/>
              </a:spcAft>
              <a:defRPr/>
            </a:pPr>
            <a:endParaRPr lang="es-AR" sz="2000" kern="0" dirty="0">
              <a:solidFill>
                <a:sysClr val="windowText" lastClr="000000"/>
              </a:solidFill>
              <a:latin typeface="Arial" charset="0"/>
              <a:cs typeface="Arial" charset="0"/>
            </a:endParaRPr>
          </a:p>
          <a:p>
            <a:pPr eaLnBrk="1" fontAlgn="auto" hangingPunct="1">
              <a:spcBef>
                <a:spcPts val="0"/>
              </a:spcBef>
              <a:spcAft>
                <a:spcPts val="0"/>
              </a:spcAft>
              <a:defRPr/>
            </a:pPr>
            <a:endParaRPr lang="es-AR" sz="2000" kern="0" dirty="0">
              <a:solidFill>
                <a:sysClr val="windowText" lastClr="000000"/>
              </a:solidFill>
              <a:latin typeface="Arial" charset="0"/>
              <a:cs typeface="Arial" charset="0"/>
            </a:endParaRPr>
          </a:p>
        </p:txBody>
      </p:sp>
      <p:sp>
        <p:nvSpPr>
          <p:cNvPr id="17" name="Elipse 8"/>
          <p:cNvSpPr/>
          <p:nvPr/>
        </p:nvSpPr>
        <p:spPr>
          <a:xfrm>
            <a:off x="5638800" y="5924550"/>
            <a:ext cx="674688" cy="393700"/>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s-AR" kern="0" dirty="0">
              <a:solidFill>
                <a:sysClr val="windowText" lastClr="000000"/>
              </a:solidFill>
            </a:endParaRPr>
          </a:p>
        </p:txBody>
      </p:sp>
      <p:sp>
        <p:nvSpPr>
          <p:cNvPr id="18" name="Elipse 9"/>
          <p:cNvSpPr/>
          <p:nvPr/>
        </p:nvSpPr>
        <p:spPr>
          <a:xfrm>
            <a:off x="6832600" y="5924550"/>
            <a:ext cx="674688" cy="393700"/>
          </a:xfrm>
          <a:prstGeom prst="ellipse">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s-AR" kern="0" dirty="0">
              <a:solidFill>
                <a:sysClr val="windowText" lastClr="000000"/>
              </a:solidFill>
            </a:endParaRPr>
          </a:p>
        </p:txBody>
      </p:sp>
      <p:sp>
        <p:nvSpPr>
          <p:cNvPr id="19" name="CuadroTexto 10"/>
          <p:cNvSpPr txBox="1"/>
          <p:nvPr/>
        </p:nvSpPr>
        <p:spPr>
          <a:xfrm>
            <a:off x="5116513" y="2559050"/>
            <a:ext cx="2884487" cy="400050"/>
          </a:xfrm>
          <a:prstGeom prst="rect">
            <a:avLst/>
          </a:prstGeom>
          <a:noFill/>
        </p:spPr>
        <p:txBody>
          <a:bodyPr>
            <a:spAutoFit/>
          </a:bodyPr>
          <a:lstStyle/>
          <a:p>
            <a:pPr algn="ctr" eaLnBrk="1" fontAlgn="auto" hangingPunct="1">
              <a:spcBef>
                <a:spcPts val="0"/>
              </a:spcBef>
              <a:spcAft>
                <a:spcPts val="0"/>
              </a:spcAft>
              <a:defRPr/>
            </a:pPr>
            <a:r>
              <a:rPr lang="es-AR" sz="2000" b="1" kern="0" dirty="0">
                <a:solidFill>
                  <a:srgbClr val="92D050"/>
                </a:solidFill>
                <a:latin typeface="Arial" charset="0"/>
                <a:cs typeface="Arial" charset="0"/>
              </a:rPr>
              <a:t>Accesible</a:t>
            </a:r>
          </a:p>
        </p:txBody>
      </p:sp>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8</a:t>
            </a:fld>
            <a:endParaRPr lang="es-ES" altLang="es-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path" presetSubtype="0" repeatCount="indefinite" fill="hold" grpId="0" nodeType="withEffect">
                                  <p:stCondLst>
                                    <p:cond delay="0"/>
                                  </p:stCondLst>
                                  <p:childTnLst>
                                    <p:animMotion origin="layout" path="M 2.70833E-6 2.22222E-6 C 0.01523 2.22222E-6 0.02786 0.0169 0.02786 0.03866 C 0.02786 0.05995 0.01523 0.07824 2.70833E-6 0.07824 C -0.01537 0.07824 -0.02748 0.05995 -0.02748 0.03866 C -0.02748 0.0169 -0.01537 2.22222E-6 2.70833E-6 2.22222E-6 Z " pathEditMode="relative" rAng="0" ptsTypes="AAAAA">
                                      <p:cBhvr>
                                        <p:cTn id="6" dur="2000" fill="hold"/>
                                        <p:tgtEl>
                                          <p:spTgt spid="13"/>
                                        </p:tgtEl>
                                        <p:attrNameLst>
                                          <p:attrName>ppt_x</p:attrName>
                                          <p:attrName>ppt_y</p:attrName>
                                        </p:attrNameLst>
                                      </p:cBhvr>
                                      <p:rCtr x="1300" y="391200"/>
                                    </p:animMotion>
                                  </p:childTnLst>
                                </p:cTn>
                              </p:par>
                              <p:par>
                                <p:cTn id="7" presetID="1" presetClass="path" presetSubtype="0" repeatCount="indefinite" fill="hold" grpId="0" nodeType="withEffect">
                                  <p:stCondLst>
                                    <p:cond delay="0"/>
                                  </p:stCondLst>
                                  <p:childTnLst>
                                    <p:animMotion origin="layout" path="M 1.04167E-6 -4.07407E-6 C 0.01523 -4.07407E-6 0.02786 0.0169 0.02786 0.03866 C 0.02786 0.05996 0.01523 0.07824 1.04167E-6 0.07824 C -0.01537 0.07824 -0.02747 0.05996 -0.02747 0.03866 C -0.02747 0.0169 -0.01537 -4.07407E-6 1.04167E-6 -4.07407E-6 Z " pathEditMode="relative" rAng="0" ptsTypes="AAAAA">
                                      <p:cBhvr>
                                        <p:cTn id="8" dur="2000" fill="hold"/>
                                        <p:tgtEl>
                                          <p:spTgt spid="14"/>
                                        </p:tgtEl>
                                        <p:attrNameLst>
                                          <p:attrName>ppt_x</p:attrName>
                                          <p:attrName>ppt_y</p:attrName>
                                        </p:attrNameLst>
                                      </p:cBhvr>
                                      <p:rCtr x="1300" y="391200"/>
                                    </p:animMotion>
                                  </p:childTnLst>
                                </p:cTn>
                              </p:par>
                              <p:par>
                                <p:cTn id="9" presetID="1" presetClass="path" presetSubtype="0" repeatCount="indefinite" fill="hold" grpId="0" nodeType="withEffect">
                                  <p:stCondLst>
                                    <p:cond delay="0"/>
                                  </p:stCondLst>
                                  <p:childTnLst>
                                    <p:animMotion origin="layout" path="M -3.75E-6 2.22222E-6 C 0.01524 2.22222E-6 0.02787 0.0169 0.02787 0.03866 C 0.02787 0.05995 0.01524 0.07824 -3.75E-6 0.07824 C -0.01536 0.07824 -0.02747 0.05995 -0.02747 0.03866 C -0.02747 0.0169 -0.01536 2.22222E-6 -3.75E-6 2.22222E-6 Z " pathEditMode="relative" rAng="0" ptsTypes="AAAAA">
                                      <p:cBhvr>
                                        <p:cTn id="10" dur="2000" fill="hold"/>
                                        <p:tgtEl>
                                          <p:spTgt spid="17"/>
                                        </p:tgtEl>
                                        <p:attrNameLst>
                                          <p:attrName>ppt_x</p:attrName>
                                          <p:attrName>ppt_y</p:attrName>
                                        </p:attrNameLst>
                                      </p:cBhvr>
                                      <p:rCtr x="1300" y="391200"/>
                                    </p:animMotion>
                                  </p:childTnLst>
                                </p:cTn>
                              </p:par>
                              <p:par>
                                <p:cTn id="11" presetID="1" presetClass="path" presetSubtype="0" repeatCount="indefinite" fill="hold" grpId="0" nodeType="withEffect">
                                  <p:stCondLst>
                                    <p:cond delay="0"/>
                                  </p:stCondLst>
                                  <p:childTnLst>
                                    <p:animMotion origin="layout" path="M 4.58333E-6 2.22222E-6 C 0.01523 2.22222E-6 0.02786 0.0169 0.02786 0.03866 C 0.02786 0.05995 0.01523 0.07824 4.58333E-6 0.07824 C -0.01537 0.07824 -0.02748 0.05995 -0.02748 0.03866 C -0.02748 0.0169 -0.01537 2.22222E-6 4.58333E-6 2.22222E-6 Z " pathEditMode="relative" rAng="0" ptsTypes="AAAAA">
                                      <p:cBhvr>
                                        <p:cTn id="12" dur="2000" fill="hold"/>
                                        <p:tgtEl>
                                          <p:spTgt spid="18"/>
                                        </p:tgtEl>
                                        <p:attrNameLst>
                                          <p:attrName>ppt_x</p:attrName>
                                          <p:attrName>ppt_y</p:attrName>
                                        </p:attrNameLst>
                                      </p:cBhvr>
                                      <p:rCtr x="1300" y="39120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7" grpId="0" animBg="1"/>
      <p:bldP spid="18"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1 Título"/>
          <p:cNvSpPr>
            <a:spLocks noGrp="1"/>
          </p:cNvSpPr>
          <p:nvPr>
            <p:ph type="title"/>
          </p:nvPr>
        </p:nvSpPr>
        <p:spPr>
          <a:xfrm>
            <a:off x="457200" y="274638"/>
            <a:ext cx="8229600" cy="654050"/>
          </a:xfrm>
        </p:spPr>
        <p:txBody>
          <a:bodyPr/>
          <a:lstStyle/>
          <a:p>
            <a:r>
              <a:rPr lang="es-AR" altLang="es-AR" b="1" dirty="0"/>
              <a:t>Introducción</a:t>
            </a:r>
          </a:p>
        </p:txBody>
      </p:sp>
      <p:sp>
        <p:nvSpPr>
          <p:cNvPr id="10243" name="2 Marcador de contenido"/>
          <p:cNvSpPr>
            <a:spLocks noGrp="1"/>
          </p:cNvSpPr>
          <p:nvPr>
            <p:ph idx="1"/>
          </p:nvPr>
        </p:nvSpPr>
        <p:spPr>
          <a:xfrm>
            <a:off x="500063" y="1617663"/>
            <a:ext cx="8229600" cy="1025525"/>
          </a:xfrm>
        </p:spPr>
        <p:txBody>
          <a:bodyPr/>
          <a:lstStyle/>
          <a:p>
            <a:r>
              <a:rPr lang="es-AR" altLang="es-AR" dirty="0"/>
              <a:t>Ejemplo de problema de accesibilidad para personas con </a:t>
            </a:r>
            <a:r>
              <a:rPr lang="es-AR" altLang="es-AR" b="1" dirty="0"/>
              <a:t>discapacidad auditiva </a:t>
            </a:r>
            <a:r>
              <a:rPr lang="es-AR" altLang="es-AR" dirty="0"/>
              <a:t>(sordos, baja audición) y todos en una biblioteca.</a:t>
            </a:r>
          </a:p>
        </p:txBody>
      </p:sp>
      <p:sp>
        <p:nvSpPr>
          <p:cNvPr id="20" name="CuadroTexto 3"/>
          <p:cNvSpPr txBox="1"/>
          <p:nvPr/>
        </p:nvSpPr>
        <p:spPr>
          <a:xfrm>
            <a:off x="1643063" y="3000375"/>
            <a:ext cx="2884487" cy="3785652"/>
          </a:xfrm>
          <a:prstGeom prst="rect">
            <a:avLst/>
          </a:prstGeom>
          <a:noFill/>
          <a:ln>
            <a:solidFill>
              <a:schemeClr val="accent1"/>
            </a:solidFill>
          </a:ln>
        </p:spPr>
        <p:txBody>
          <a:bodyPr>
            <a:spAutoFit/>
          </a:bodyPr>
          <a:lstStyle/>
          <a:p>
            <a:pPr algn="ctr" eaLnBrk="1" fontAlgn="auto" hangingPunct="1">
              <a:spcBef>
                <a:spcPts val="0"/>
              </a:spcBef>
              <a:spcAft>
                <a:spcPts val="0"/>
              </a:spcAft>
              <a:defRPr/>
            </a:pPr>
            <a:r>
              <a:rPr lang="es-AR" sz="2000" b="1" kern="0" dirty="0">
                <a:solidFill>
                  <a:sysClr val="windowText" lastClr="000000"/>
                </a:solidFill>
                <a:latin typeface="Arial" charset="0"/>
                <a:cs typeface="Arial" charset="0"/>
              </a:rPr>
              <a:t>CURSO</a:t>
            </a:r>
          </a:p>
          <a:p>
            <a:pPr eaLnBrk="1" fontAlgn="auto" hangingPunct="1">
              <a:spcBef>
                <a:spcPts val="0"/>
              </a:spcBef>
              <a:spcAft>
                <a:spcPts val="0"/>
              </a:spcAft>
              <a:defRPr/>
            </a:pPr>
            <a:endParaRPr lang="es-AR" sz="2000" kern="0" dirty="0">
              <a:solidFill>
                <a:sysClr val="windowText" lastClr="000000"/>
              </a:solidFill>
              <a:latin typeface="Arial" charset="0"/>
              <a:cs typeface="Arial" charset="0"/>
            </a:endParaRPr>
          </a:p>
          <a:p>
            <a:pPr marL="285750" indent="-285750" eaLnBrk="1" fontAlgn="auto" hangingPunct="1">
              <a:spcBef>
                <a:spcPts val="0"/>
              </a:spcBef>
              <a:spcAft>
                <a:spcPts val="0"/>
              </a:spcAft>
              <a:buFont typeface="Arial" panose="020B0604020202020204" pitchFamily="34" charset="0"/>
              <a:buChar char="•"/>
              <a:defRPr/>
            </a:pPr>
            <a:r>
              <a:rPr lang="es-AR" sz="2000" kern="0" dirty="0">
                <a:solidFill>
                  <a:sysClr val="windowText" lastClr="000000"/>
                </a:solidFill>
                <a:latin typeface="Arial" charset="0"/>
                <a:cs typeface="Arial" charset="0"/>
              </a:rPr>
              <a:t>Si pulsa el círculo con sonido de aplausos comenzará el curso.</a:t>
            </a:r>
          </a:p>
          <a:p>
            <a:pPr marL="285750" indent="-285750" eaLnBrk="1" fontAlgn="auto" hangingPunct="1">
              <a:spcBef>
                <a:spcPts val="0"/>
              </a:spcBef>
              <a:spcAft>
                <a:spcPts val="0"/>
              </a:spcAft>
              <a:buFont typeface="Arial" panose="020B0604020202020204" pitchFamily="34" charset="0"/>
              <a:buChar char="•"/>
              <a:defRPr/>
            </a:pPr>
            <a:r>
              <a:rPr lang="es-AR" sz="2000" kern="0" dirty="0">
                <a:solidFill>
                  <a:sysClr val="windowText" lastClr="000000"/>
                </a:solidFill>
                <a:latin typeface="Arial" charset="0"/>
                <a:cs typeface="Arial" charset="0"/>
              </a:rPr>
              <a:t>Si pulsa el círculo con sonido de explosión se eliminará el curso.</a:t>
            </a:r>
          </a:p>
          <a:p>
            <a:pPr eaLnBrk="1" fontAlgn="auto" hangingPunct="1">
              <a:spcBef>
                <a:spcPts val="0"/>
              </a:spcBef>
              <a:spcAft>
                <a:spcPts val="0"/>
              </a:spcAft>
              <a:defRPr/>
            </a:pPr>
            <a:endParaRPr lang="es-AR" sz="2000" kern="0" dirty="0">
              <a:solidFill>
                <a:sysClr val="windowText" lastClr="000000"/>
              </a:solidFill>
              <a:latin typeface="Arial" charset="0"/>
              <a:cs typeface="Arial" charset="0"/>
            </a:endParaRPr>
          </a:p>
          <a:p>
            <a:pPr eaLnBrk="1" fontAlgn="auto" hangingPunct="1">
              <a:spcBef>
                <a:spcPts val="0"/>
              </a:spcBef>
              <a:spcAft>
                <a:spcPts val="0"/>
              </a:spcAft>
              <a:defRPr/>
            </a:pPr>
            <a:endParaRPr lang="es-AR" sz="2000" kern="0" dirty="0">
              <a:solidFill>
                <a:sysClr val="windowText" lastClr="000000"/>
              </a:solidFill>
              <a:latin typeface="Arial" charset="0"/>
              <a:cs typeface="Arial" charset="0"/>
            </a:endParaRPr>
          </a:p>
        </p:txBody>
      </p:sp>
      <p:sp>
        <p:nvSpPr>
          <p:cNvPr id="21" name="Elipse 4"/>
          <p:cNvSpPr/>
          <p:nvPr/>
        </p:nvSpPr>
        <p:spPr>
          <a:xfrm>
            <a:off x="2209800" y="6229350"/>
            <a:ext cx="676275" cy="393700"/>
          </a:xfrm>
          <a:prstGeom prst="ellipse">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s-AR" sz="2000" kern="0" dirty="0">
              <a:solidFill>
                <a:sysClr val="windowText" lastClr="000000"/>
              </a:solidFill>
            </a:endParaRPr>
          </a:p>
        </p:txBody>
      </p:sp>
      <p:sp>
        <p:nvSpPr>
          <p:cNvPr id="22" name="Elipse 5"/>
          <p:cNvSpPr/>
          <p:nvPr/>
        </p:nvSpPr>
        <p:spPr>
          <a:xfrm>
            <a:off x="3398838" y="6229350"/>
            <a:ext cx="674687" cy="393700"/>
          </a:xfrm>
          <a:prstGeom prst="ellipse">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s-AR" sz="2000" kern="0" dirty="0">
              <a:solidFill>
                <a:sysClr val="windowText" lastClr="000000"/>
              </a:solidFill>
            </a:endParaRPr>
          </a:p>
        </p:txBody>
      </p:sp>
      <p:sp>
        <p:nvSpPr>
          <p:cNvPr id="23" name="CuadroTexto 6"/>
          <p:cNvSpPr txBox="1"/>
          <p:nvPr/>
        </p:nvSpPr>
        <p:spPr>
          <a:xfrm>
            <a:off x="1643063" y="2574925"/>
            <a:ext cx="2884487" cy="400050"/>
          </a:xfrm>
          <a:prstGeom prst="rect">
            <a:avLst/>
          </a:prstGeom>
          <a:noFill/>
        </p:spPr>
        <p:txBody>
          <a:bodyPr>
            <a:spAutoFit/>
          </a:bodyPr>
          <a:lstStyle/>
          <a:p>
            <a:pPr algn="ctr" eaLnBrk="1" fontAlgn="auto" hangingPunct="1">
              <a:spcBef>
                <a:spcPts val="0"/>
              </a:spcBef>
              <a:spcAft>
                <a:spcPts val="0"/>
              </a:spcAft>
              <a:defRPr/>
            </a:pPr>
            <a:r>
              <a:rPr lang="es-AR" sz="2000" b="1" kern="0" dirty="0">
                <a:solidFill>
                  <a:srgbClr val="FF0000"/>
                </a:solidFill>
                <a:latin typeface="Arial" charset="0"/>
                <a:cs typeface="Arial" charset="0"/>
              </a:rPr>
              <a:t>NO accesible</a:t>
            </a:r>
          </a:p>
        </p:txBody>
      </p:sp>
      <p:sp>
        <p:nvSpPr>
          <p:cNvPr id="24" name="CuadroTexto 7"/>
          <p:cNvSpPr txBox="1"/>
          <p:nvPr/>
        </p:nvSpPr>
        <p:spPr>
          <a:xfrm>
            <a:off x="5045075" y="2984500"/>
            <a:ext cx="2884488" cy="3785652"/>
          </a:xfrm>
          <a:prstGeom prst="rect">
            <a:avLst/>
          </a:prstGeom>
          <a:noFill/>
          <a:ln>
            <a:solidFill>
              <a:schemeClr val="accent1"/>
            </a:solidFill>
          </a:ln>
        </p:spPr>
        <p:txBody>
          <a:bodyPr>
            <a:spAutoFit/>
          </a:bodyPr>
          <a:lstStyle/>
          <a:p>
            <a:pPr algn="ctr" eaLnBrk="1" fontAlgn="auto" hangingPunct="1">
              <a:spcBef>
                <a:spcPts val="0"/>
              </a:spcBef>
              <a:spcAft>
                <a:spcPts val="0"/>
              </a:spcAft>
              <a:defRPr/>
            </a:pPr>
            <a:r>
              <a:rPr lang="es-AR" sz="2000" b="1" kern="0" dirty="0">
                <a:solidFill>
                  <a:sysClr val="windowText" lastClr="000000"/>
                </a:solidFill>
                <a:latin typeface="Arial" charset="0"/>
                <a:cs typeface="Arial" charset="0"/>
              </a:rPr>
              <a:t>CURSO</a:t>
            </a:r>
          </a:p>
          <a:p>
            <a:pPr algn="ctr" eaLnBrk="1" fontAlgn="auto" hangingPunct="1">
              <a:spcBef>
                <a:spcPts val="0"/>
              </a:spcBef>
              <a:spcAft>
                <a:spcPts val="0"/>
              </a:spcAft>
              <a:defRPr/>
            </a:pPr>
            <a:endParaRPr lang="es-AR" sz="2000" kern="0" dirty="0">
              <a:solidFill>
                <a:sysClr val="windowText" lastClr="000000"/>
              </a:solidFill>
              <a:latin typeface="Arial" charset="0"/>
              <a:cs typeface="Arial" charset="0"/>
            </a:endParaRPr>
          </a:p>
          <a:p>
            <a:pPr marL="285750" indent="-285750" eaLnBrk="1" hangingPunct="1">
              <a:buFont typeface="Arial" panose="020B0604020202020204" pitchFamily="34" charset="0"/>
              <a:buChar char="•"/>
              <a:defRPr/>
            </a:pPr>
            <a:r>
              <a:rPr lang="es-AR" sz="2000" kern="0" dirty="0">
                <a:solidFill>
                  <a:sysClr val="windowText" lastClr="000000"/>
                </a:solidFill>
                <a:latin typeface="Arial" charset="0"/>
                <a:cs typeface="Arial" charset="0"/>
              </a:rPr>
              <a:t>Si pulsa el círculo con sonido de aplausos comenzará el curso.</a:t>
            </a:r>
          </a:p>
          <a:p>
            <a:pPr marL="285750" indent="-285750" eaLnBrk="1" hangingPunct="1">
              <a:buFont typeface="Arial" panose="020B0604020202020204" pitchFamily="34" charset="0"/>
              <a:buChar char="•"/>
              <a:defRPr/>
            </a:pPr>
            <a:r>
              <a:rPr lang="es-AR" sz="2000" kern="0" dirty="0">
                <a:solidFill>
                  <a:sysClr val="windowText" lastClr="000000"/>
                </a:solidFill>
                <a:latin typeface="Arial" charset="0"/>
                <a:cs typeface="Arial" charset="0"/>
              </a:rPr>
              <a:t>Si pulsa el círculo con sonido de explosión se eliminará el curso.</a:t>
            </a:r>
          </a:p>
          <a:p>
            <a:pPr marL="285750" indent="-285750" eaLnBrk="1" hangingPunct="1">
              <a:buFont typeface="Arial" panose="020B0604020202020204" pitchFamily="34" charset="0"/>
              <a:buChar char="•"/>
              <a:defRPr/>
            </a:pPr>
            <a:endParaRPr lang="es-AR" sz="2000" kern="0" dirty="0">
              <a:solidFill>
                <a:sysClr val="windowText" lastClr="000000"/>
              </a:solidFill>
              <a:latin typeface="Arial" charset="0"/>
              <a:cs typeface="Arial" charset="0"/>
            </a:endParaRPr>
          </a:p>
          <a:p>
            <a:pPr eaLnBrk="1" fontAlgn="auto" hangingPunct="1">
              <a:spcBef>
                <a:spcPts val="0"/>
              </a:spcBef>
              <a:spcAft>
                <a:spcPts val="0"/>
              </a:spcAft>
              <a:defRPr/>
            </a:pPr>
            <a:endParaRPr lang="es-AR" sz="2000" kern="0" dirty="0">
              <a:solidFill>
                <a:sysClr val="windowText" lastClr="000000"/>
              </a:solidFill>
              <a:latin typeface="Arial" charset="0"/>
              <a:cs typeface="Arial" charset="0"/>
            </a:endParaRPr>
          </a:p>
        </p:txBody>
      </p:sp>
      <p:sp>
        <p:nvSpPr>
          <p:cNvPr id="25" name="Elipse 8"/>
          <p:cNvSpPr/>
          <p:nvPr/>
        </p:nvSpPr>
        <p:spPr>
          <a:xfrm>
            <a:off x="5527675" y="6229350"/>
            <a:ext cx="676275" cy="393700"/>
          </a:xfrm>
          <a:prstGeom prst="ellipse">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s-AR" sz="2000" kern="0" dirty="0">
              <a:solidFill>
                <a:sysClr val="windowText" lastClr="000000"/>
              </a:solidFill>
            </a:endParaRPr>
          </a:p>
        </p:txBody>
      </p:sp>
      <p:sp>
        <p:nvSpPr>
          <p:cNvPr id="26" name="Elipse 9"/>
          <p:cNvSpPr/>
          <p:nvPr/>
        </p:nvSpPr>
        <p:spPr>
          <a:xfrm>
            <a:off x="6727825" y="6229350"/>
            <a:ext cx="676275" cy="393700"/>
          </a:xfrm>
          <a:prstGeom prst="ellipse">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s-AR" sz="2000" kern="0" dirty="0">
              <a:solidFill>
                <a:sysClr val="windowText" lastClr="000000"/>
              </a:solidFill>
            </a:endParaRPr>
          </a:p>
        </p:txBody>
      </p:sp>
      <p:sp>
        <p:nvSpPr>
          <p:cNvPr id="27" name="CuadroTexto 10"/>
          <p:cNvSpPr txBox="1"/>
          <p:nvPr/>
        </p:nvSpPr>
        <p:spPr>
          <a:xfrm>
            <a:off x="5045075" y="2559050"/>
            <a:ext cx="2884488" cy="400050"/>
          </a:xfrm>
          <a:prstGeom prst="rect">
            <a:avLst/>
          </a:prstGeom>
          <a:noFill/>
        </p:spPr>
        <p:txBody>
          <a:bodyPr>
            <a:spAutoFit/>
          </a:bodyPr>
          <a:lstStyle/>
          <a:p>
            <a:pPr algn="ctr" eaLnBrk="1" fontAlgn="auto" hangingPunct="1">
              <a:spcBef>
                <a:spcPts val="0"/>
              </a:spcBef>
              <a:spcAft>
                <a:spcPts val="0"/>
              </a:spcAft>
              <a:defRPr/>
            </a:pPr>
            <a:r>
              <a:rPr lang="es-AR" sz="2000" b="1" kern="0" dirty="0">
                <a:solidFill>
                  <a:srgbClr val="92D050"/>
                </a:solidFill>
                <a:latin typeface="Arial" charset="0"/>
                <a:cs typeface="Arial" charset="0"/>
              </a:rPr>
              <a:t>Accesible</a:t>
            </a:r>
          </a:p>
        </p:txBody>
      </p:sp>
      <p:pic>
        <p:nvPicPr>
          <p:cNvPr id="28" name="302793F7.WAV">
            <a:hlinkClick r:id="" action="ppaction://media"/>
          </p:cNvPr>
          <p:cNvPicPr>
            <a:picLocks noChangeAspect="1"/>
          </p:cNvPicPr>
          <p:nvPr>
            <a:audioFile r:link="rId1"/>
          </p:nvPr>
        </p:nvPicPr>
        <p:blipFill>
          <a:blip r:embed="rId4">
            <a:extLst>
              <a:ext uri="{28A0092B-C50C-407E-A947-70E740481C1C}">
                <a14:useLocalDpi xmlns:a14="http://schemas.microsoft.com/office/drawing/2010/main" val="0"/>
              </a:ext>
            </a:extLst>
          </a:blip>
          <a:srcRect/>
          <a:stretch>
            <a:fillRect/>
          </a:stretch>
        </p:blipFill>
        <p:spPr bwMode="auto">
          <a:xfrm>
            <a:off x="2316163" y="6229350"/>
            <a:ext cx="506412" cy="490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9</a:t>
            </a:fld>
            <a:endParaRPr lang="es-ES" altLang="es-AR"/>
          </a:p>
        </p:txBody>
      </p:sp>
    </p:spTree>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28"/>
                    </p:tgtEl>
                  </p:cond>
                </p:stCondLst>
                <p:endSync evt="end" delay="0">
                  <p:rtn val="all"/>
                </p:endSync>
                <p:childTnLst>
                  <p:par>
                    <p:cTn id="3" fill="hold" nodeType="clickPar">
                      <p:stCondLst>
                        <p:cond delay="0"/>
                      </p:stCondLst>
                      <p:childTnLst>
                        <p:par>
                          <p:cTn id="4" fill="hold" nodeType="withGroup">
                            <p:stCondLst>
                              <p:cond delay="0"/>
                            </p:stCondLst>
                            <p:childTnLst>
                              <p:par>
                                <p:cTn id="5" presetID="1" presetClass="mediacall" presetSubtype="0" fill="hold" nodeType="clickEffect">
                                  <p:stCondLst>
                                    <p:cond delay="0"/>
                                  </p:stCondLst>
                                  <p:childTnLst>
                                    <p:cmd type="call" cmd="playFrom(0.0)">
                                      <p:cBhvr>
                                        <p:cTn id="6" dur="3501" fill="hold"/>
                                        <p:tgtEl>
                                          <p:spTgt spid="28"/>
                                        </p:tgtEl>
                                      </p:cBhvr>
                                    </p:cmd>
                                  </p:childTnLst>
                                </p:cTn>
                              </p:par>
                            </p:childTnLst>
                          </p:cTn>
                        </p:par>
                      </p:childTnLst>
                    </p:cTn>
                  </p:par>
                </p:childTnLst>
              </p:cTn>
              <p:nextCondLst>
                <p:cond evt="onClick" delay="0">
                  <p:tgtEl>
                    <p:spTgt spid="28"/>
                  </p:tgtEl>
                </p:cond>
              </p:nextCondLst>
            </p:seq>
            <p:audio>
              <p:cMediaNode vol="37879" showWhenStopped="0">
                <p:cTn id="7" fill="hold" display="0">
                  <p:stCondLst>
                    <p:cond delay="indefinite"/>
                  </p:stCondLst>
                  <p:endCondLst>
                    <p:cond evt="onStopAudio" delay="0">
                      <p:tgtEl>
                        <p:sldTgt/>
                      </p:tgtEl>
                    </p:cond>
                  </p:endCondLst>
                </p:cTn>
                <p:tgtEl>
                  <p:spTgt spid="28"/>
                </p:tgtEl>
              </p:cMediaNode>
            </p:audio>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1 Título"/>
          <p:cNvSpPr>
            <a:spLocks noGrp="1"/>
          </p:cNvSpPr>
          <p:nvPr>
            <p:ph type="title"/>
          </p:nvPr>
        </p:nvSpPr>
        <p:spPr>
          <a:xfrm>
            <a:off x="457200" y="274638"/>
            <a:ext cx="8229600" cy="654050"/>
          </a:xfrm>
        </p:spPr>
        <p:txBody>
          <a:bodyPr/>
          <a:lstStyle/>
          <a:p>
            <a:r>
              <a:rPr lang="es-AR" altLang="es-AR" b="1" dirty="0"/>
              <a:t>Introducción</a:t>
            </a:r>
          </a:p>
        </p:txBody>
      </p:sp>
      <p:sp>
        <p:nvSpPr>
          <p:cNvPr id="11267" name="2 Marcador de contenido"/>
          <p:cNvSpPr>
            <a:spLocks noGrp="1"/>
          </p:cNvSpPr>
          <p:nvPr>
            <p:ph idx="1"/>
          </p:nvPr>
        </p:nvSpPr>
        <p:spPr>
          <a:xfrm>
            <a:off x="457200" y="2046288"/>
            <a:ext cx="8229600" cy="4525962"/>
          </a:xfrm>
        </p:spPr>
        <p:txBody>
          <a:bodyPr/>
          <a:lstStyle/>
          <a:p>
            <a:r>
              <a:rPr lang="es-AR" altLang="es-AR" dirty="0"/>
              <a:t>Los ejemplos que hemos visto no solo afectan a las personas con discapacidad, pueden afectar a todo el mundo porque se pueden generar:</a:t>
            </a:r>
          </a:p>
          <a:p>
            <a:pPr lvl="1"/>
            <a:r>
              <a:rPr lang="es-AR" altLang="es-AR" dirty="0"/>
              <a:t>Barreras de accesibilidad producidas por el contexto de uso.</a:t>
            </a:r>
          </a:p>
          <a:p>
            <a:r>
              <a:rPr lang="es-AR" altLang="es-AR" dirty="0"/>
              <a:t>La accesibilidad web no solo beneficia a las personas con discapacidad, nos beneficia a </a:t>
            </a:r>
            <a:r>
              <a:rPr lang="es-AR" altLang="es-AR" b="1" dirty="0"/>
              <a:t>TODOS</a:t>
            </a:r>
            <a:r>
              <a:rPr lang="es-AR" altLang="es-AR" dirty="0"/>
              <a:t>.</a:t>
            </a:r>
          </a:p>
          <a:p>
            <a:r>
              <a:rPr lang="es-AR" altLang="es-AR" dirty="0"/>
              <a:t>La solución se basa en 2 principios:</a:t>
            </a:r>
          </a:p>
          <a:p>
            <a:pPr lvl="1"/>
            <a:r>
              <a:rPr lang="es-AR" altLang="es-AR" dirty="0"/>
              <a:t>Ofrecer alternativas.</a:t>
            </a:r>
          </a:p>
          <a:p>
            <a:pPr lvl="1"/>
            <a:r>
              <a:rPr lang="es-AR" altLang="es-AR" dirty="0"/>
              <a:t>Crear páginas que se transformen correctamente.</a:t>
            </a:r>
          </a:p>
        </p:txBody>
      </p:sp>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10</a:t>
            </a:fld>
            <a:endParaRPr lang="es-ES" altLang="es-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1 Título"/>
          <p:cNvSpPr>
            <a:spLocks noGrp="1"/>
          </p:cNvSpPr>
          <p:nvPr>
            <p:ph type="title"/>
          </p:nvPr>
        </p:nvSpPr>
        <p:spPr>
          <a:xfrm>
            <a:off x="457200" y="274638"/>
            <a:ext cx="8229600" cy="654050"/>
          </a:xfrm>
        </p:spPr>
        <p:txBody>
          <a:bodyPr/>
          <a:lstStyle/>
          <a:p>
            <a:r>
              <a:rPr lang="es-AR" altLang="es-AR" b="1" dirty="0"/>
              <a:t>Organización</a:t>
            </a:r>
          </a:p>
        </p:txBody>
      </p:sp>
      <p:sp>
        <p:nvSpPr>
          <p:cNvPr id="12291" name="2 Marcador de contenido"/>
          <p:cNvSpPr>
            <a:spLocks noGrp="1"/>
          </p:cNvSpPr>
          <p:nvPr>
            <p:ph idx="1"/>
          </p:nvPr>
        </p:nvSpPr>
        <p:spPr/>
        <p:txBody>
          <a:bodyPr/>
          <a:lstStyle/>
          <a:p>
            <a:r>
              <a:rPr lang="es-AR" altLang="es-AR" dirty="0"/>
              <a:t>Introducción.</a:t>
            </a:r>
          </a:p>
          <a:p>
            <a:r>
              <a:rPr lang="es-AR" altLang="es-AR" b="1" dirty="0">
                <a:solidFill>
                  <a:srgbClr val="0070C0"/>
                </a:solidFill>
              </a:rPr>
              <a:t>¿Qué es la accesibilidad web?</a:t>
            </a:r>
          </a:p>
          <a:p>
            <a:r>
              <a:rPr lang="es-AR" altLang="es-AR" dirty="0"/>
              <a:t>Pautas y leyes.</a:t>
            </a:r>
          </a:p>
          <a:p>
            <a:r>
              <a:rPr lang="es-AR" altLang="es-AR" dirty="0"/>
              <a:t>Contenido accesible.</a:t>
            </a:r>
          </a:p>
          <a:p>
            <a:r>
              <a:rPr lang="es-AR" altLang="es-AR" dirty="0"/>
              <a:t>Navegación accesible.</a:t>
            </a:r>
          </a:p>
          <a:p>
            <a:r>
              <a:rPr lang="es-AR" altLang="es-AR" dirty="0"/>
              <a:t>Diseño accesible.</a:t>
            </a:r>
          </a:p>
          <a:p>
            <a:r>
              <a:rPr lang="es-AR" altLang="es-AR" dirty="0"/>
              <a:t>Análisis y evaluación de la accesibilidad web.</a:t>
            </a:r>
          </a:p>
          <a:p>
            <a:r>
              <a:rPr lang="es-AR" altLang="es-AR" dirty="0"/>
              <a:t>Conclusiones.</a:t>
            </a:r>
          </a:p>
        </p:txBody>
      </p:sp>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11</a:t>
            </a:fld>
            <a:endParaRPr lang="es-ES" altLang="es-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1 Título"/>
          <p:cNvSpPr>
            <a:spLocks noGrp="1"/>
          </p:cNvSpPr>
          <p:nvPr>
            <p:ph type="title"/>
          </p:nvPr>
        </p:nvSpPr>
        <p:spPr>
          <a:xfrm>
            <a:off x="457200" y="274638"/>
            <a:ext cx="8229600" cy="654050"/>
          </a:xfrm>
        </p:spPr>
        <p:txBody>
          <a:bodyPr/>
          <a:lstStyle/>
          <a:p>
            <a:r>
              <a:rPr lang="es-AR" altLang="es-AR" b="1" dirty="0"/>
              <a:t>¿Qué es la accesibilidad web?</a:t>
            </a:r>
          </a:p>
        </p:txBody>
      </p:sp>
      <p:sp>
        <p:nvSpPr>
          <p:cNvPr id="13315" name="2 Marcador de contenido"/>
          <p:cNvSpPr>
            <a:spLocks noGrp="1"/>
          </p:cNvSpPr>
          <p:nvPr>
            <p:ph idx="1"/>
          </p:nvPr>
        </p:nvSpPr>
        <p:spPr>
          <a:xfrm>
            <a:off x="457200" y="2046288"/>
            <a:ext cx="8229600" cy="4525962"/>
          </a:xfrm>
        </p:spPr>
        <p:txBody>
          <a:bodyPr/>
          <a:lstStyle/>
          <a:p>
            <a:r>
              <a:rPr lang="es-AR" altLang="es-AR" sz="2200" dirty="0"/>
              <a:t>Hablar de Accesibilidad Web es hablar de un acceso universal a la Web, independientemente del tipo de:</a:t>
            </a:r>
          </a:p>
          <a:p>
            <a:pPr lvl="3"/>
            <a:r>
              <a:rPr lang="es-AR" altLang="es-AR" dirty="0"/>
              <a:t>hardware, </a:t>
            </a:r>
          </a:p>
          <a:p>
            <a:pPr lvl="3"/>
            <a:r>
              <a:rPr lang="es-AR" altLang="es-AR" dirty="0"/>
              <a:t>software, </a:t>
            </a:r>
          </a:p>
          <a:p>
            <a:pPr lvl="3"/>
            <a:r>
              <a:rPr lang="es-AR" altLang="es-AR" dirty="0"/>
              <a:t>infraestructura de red, </a:t>
            </a:r>
          </a:p>
          <a:p>
            <a:pPr lvl="3"/>
            <a:r>
              <a:rPr lang="es-AR" altLang="es-AR" dirty="0"/>
              <a:t>idioma, </a:t>
            </a:r>
          </a:p>
          <a:p>
            <a:pPr lvl="3"/>
            <a:r>
              <a:rPr lang="es-AR" altLang="es-AR" dirty="0"/>
              <a:t>cultura, </a:t>
            </a:r>
          </a:p>
          <a:p>
            <a:pPr lvl="3"/>
            <a:r>
              <a:rPr lang="es-AR" altLang="es-AR" dirty="0"/>
              <a:t>localización geográfica y </a:t>
            </a:r>
          </a:p>
          <a:p>
            <a:pPr lvl="3"/>
            <a:r>
              <a:rPr lang="es-AR" altLang="es-AR" dirty="0"/>
              <a:t>capacidades de los usuarios.</a:t>
            </a:r>
          </a:p>
        </p:txBody>
      </p:sp>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12</a:t>
            </a:fld>
            <a:endParaRPr lang="es-ES" altLang="es-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1 Título"/>
          <p:cNvSpPr>
            <a:spLocks noGrp="1"/>
          </p:cNvSpPr>
          <p:nvPr>
            <p:ph type="title"/>
          </p:nvPr>
        </p:nvSpPr>
        <p:spPr>
          <a:xfrm>
            <a:off x="457200" y="274638"/>
            <a:ext cx="8229600" cy="654050"/>
          </a:xfrm>
        </p:spPr>
        <p:txBody>
          <a:bodyPr/>
          <a:lstStyle/>
          <a:p>
            <a:r>
              <a:rPr lang="es-AR" altLang="es-AR" b="1" dirty="0"/>
              <a:t>¿Qué es la accesibilidad web?</a:t>
            </a:r>
          </a:p>
        </p:txBody>
      </p:sp>
      <p:sp>
        <p:nvSpPr>
          <p:cNvPr id="14339" name="2 Marcador de contenido"/>
          <p:cNvSpPr>
            <a:spLocks noGrp="1"/>
          </p:cNvSpPr>
          <p:nvPr>
            <p:ph idx="1"/>
          </p:nvPr>
        </p:nvSpPr>
        <p:spPr>
          <a:xfrm>
            <a:off x="457200" y="2046288"/>
            <a:ext cx="8229600" cy="1096962"/>
          </a:xfrm>
        </p:spPr>
        <p:txBody>
          <a:bodyPr/>
          <a:lstStyle/>
          <a:p>
            <a:r>
              <a:rPr lang="es-AR" altLang="es-AR" dirty="0"/>
              <a:t>¿Sabías que…</a:t>
            </a:r>
          </a:p>
          <a:p>
            <a:pPr lvl="1"/>
            <a:r>
              <a:rPr lang="es-AR" altLang="es-AR" dirty="0"/>
              <a:t>Ofrecer una “Versión sólo texto” en un sitio web no es ofrecer accesibilidad.</a:t>
            </a:r>
          </a:p>
        </p:txBody>
      </p:sp>
      <p:pic>
        <p:nvPicPr>
          <p:cNvPr id="14340" name="Picture 2"/>
          <p:cNvPicPr>
            <a:picLocks noChangeAspect="1" noChangeArrowheads="1"/>
          </p:cNvPicPr>
          <p:nvPr/>
        </p:nvPicPr>
        <p:blipFill>
          <a:blip r:embed="rId3">
            <a:extLst>
              <a:ext uri="{28A0092B-C50C-407E-A947-70E740481C1C}">
                <a14:useLocalDpi xmlns:a14="http://schemas.microsoft.com/office/drawing/2010/main" val="0"/>
              </a:ext>
            </a:extLst>
          </a:blip>
          <a:srcRect t="8910" r="4292" b="18214"/>
          <a:stretch>
            <a:fillRect/>
          </a:stretch>
        </p:blipFill>
        <p:spPr bwMode="auto">
          <a:xfrm>
            <a:off x="142875" y="3357563"/>
            <a:ext cx="4670425" cy="2000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341" name="Picture 3"/>
          <p:cNvPicPr>
            <a:picLocks noChangeAspect="1" noChangeArrowheads="1"/>
          </p:cNvPicPr>
          <p:nvPr/>
        </p:nvPicPr>
        <p:blipFill>
          <a:blip r:embed="rId4">
            <a:extLst>
              <a:ext uri="{28A0092B-C50C-407E-A947-70E740481C1C}">
                <a14:useLocalDpi xmlns:a14="http://schemas.microsoft.com/office/drawing/2010/main" val="0"/>
              </a:ext>
            </a:extLst>
          </a:blip>
          <a:srcRect l="16887" t="14032" r="30219" b="16502"/>
          <a:stretch>
            <a:fillRect/>
          </a:stretch>
        </p:blipFill>
        <p:spPr bwMode="auto">
          <a:xfrm>
            <a:off x="5143500" y="3286125"/>
            <a:ext cx="3571875" cy="2638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13</a:t>
            </a:fld>
            <a:endParaRPr lang="es-ES" altLang="es-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1 Título"/>
          <p:cNvSpPr>
            <a:spLocks noGrp="1"/>
          </p:cNvSpPr>
          <p:nvPr>
            <p:ph type="title"/>
          </p:nvPr>
        </p:nvSpPr>
        <p:spPr>
          <a:xfrm>
            <a:off x="457200" y="274638"/>
            <a:ext cx="8229600" cy="654050"/>
          </a:xfrm>
        </p:spPr>
        <p:txBody>
          <a:bodyPr/>
          <a:lstStyle/>
          <a:p>
            <a:r>
              <a:rPr lang="es-AR" altLang="es-AR" b="1" dirty="0"/>
              <a:t>¿Qué es la accesibilidad web?</a:t>
            </a:r>
          </a:p>
        </p:txBody>
      </p:sp>
      <p:sp>
        <p:nvSpPr>
          <p:cNvPr id="15363" name="2 Marcador de contenido"/>
          <p:cNvSpPr>
            <a:spLocks noGrp="1"/>
          </p:cNvSpPr>
          <p:nvPr>
            <p:ph idx="1"/>
          </p:nvPr>
        </p:nvSpPr>
        <p:spPr>
          <a:xfrm>
            <a:off x="457200" y="2046288"/>
            <a:ext cx="8229600" cy="1096962"/>
          </a:xfrm>
        </p:spPr>
        <p:txBody>
          <a:bodyPr/>
          <a:lstStyle/>
          <a:p>
            <a:r>
              <a:rPr lang="es-AR" altLang="es-AR" dirty="0"/>
              <a:t>¿Sabías que…</a:t>
            </a:r>
          </a:p>
          <a:p>
            <a:pPr lvl="1"/>
            <a:r>
              <a:rPr lang="es-AR" altLang="es-AR" dirty="0"/>
              <a:t>Un sitio web puede ser accesible y no por eso tiene que ser “feo y aburrido”.</a:t>
            </a:r>
          </a:p>
        </p:txBody>
      </p:sp>
      <p:pic>
        <p:nvPicPr>
          <p:cNvPr id="15364" name="Picture 2"/>
          <p:cNvPicPr>
            <a:picLocks noChangeAspect="1" noChangeArrowheads="1"/>
          </p:cNvPicPr>
          <p:nvPr/>
        </p:nvPicPr>
        <p:blipFill>
          <a:blip r:embed="rId3">
            <a:extLst>
              <a:ext uri="{28A0092B-C50C-407E-A947-70E740481C1C}">
                <a14:useLocalDpi xmlns:a14="http://schemas.microsoft.com/office/drawing/2010/main" val="0"/>
              </a:ext>
            </a:extLst>
          </a:blip>
          <a:srcRect l="24586" t="6416" r="25250" b="3662"/>
          <a:stretch>
            <a:fillRect/>
          </a:stretch>
        </p:blipFill>
        <p:spPr bwMode="auto">
          <a:xfrm>
            <a:off x="3286125" y="3000375"/>
            <a:ext cx="3429000" cy="3457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14</a:t>
            </a:fld>
            <a:endParaRPr lang="es-ES" altLang="es-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1 Título"/>
          <p:cNvSpPr>
            <a:spLocks noGrp="1"/>
          </p:cNvSpPr>
          <p:nvPr>
            <p:ph type="title"/>
          </p:nvPr>
        </p:nvSpPr>
        <p:spPr>
          <a:xfrm>
            <a:off x="457200" y="274638"/>
            <a:ext cx="8229600" cy="654050"/>
          </a:xfrm>
        </p:spPr>
        <p:txBody>
          <a:bodyPr/>
          <a:lstStyle/>
          <a:p>
            <a:r>
              <a:rPr lang="es-AR" altLang="es-AR" b="1" dirty="0"/>
              <a:t>¿Qué es la accesibilidad web?</a:t>
            </a:r>
          </a:p>
        </p:txBody>
      </p:sp>
      <p:sp>
        <p:nvSpPr>
          <p:cNvPr id="16387" name="2 Marcador de contenido"/>
          <p:cNvSpPr>
            <a:spLocks noGrp="1"/>
          </p:cNvSpPr>
          <p:nvPr>
            <p:ph idx="1"/>
          </p:nvPr>
        </p:nvSpPr>
        <p:spPr>
          <a:xfrm>
            <a:off x="457200" y="2046288"/>
            <a:ext cx="8229600" cy="2025650"/>
          </a:xfrm>
        </p:spPr>
        <p:txBody>
          <a:bodyPr/>
          <a:lstStyle/>
          <a:p>
            <a:r>
              <a:rPr lang="es-AR" altLang="es-AR" dirty="0"/>
              <a:t>¿Sabías que…</a:t>
            </a:r>
          </a:p>
          <a:p>
            <a:pPr lvl="1"/>
            <a:r>
              <a:rPr lang="es-AR" altLang="es-AR" dirty="0"/>
              <a:t>En Argentina, de acuerdo con la legislación vigente, todas las páginas web del Estado Nacional deben ser accesibles para las personas con discapacidad y por usuarios que posean diversas configuraciones en su equipamiento o en sus programas desde el 3 de noviembre de 2010.</a:t>
            </a:r>
          </a:p>
          <a:p>
            <a:pPr lvl="1">
              <a:buFontTx/>
              <a:buNone/>
            </a:pPr>
            <a:endParaRPr lang="es-AR" altLang="es-AR" dirty="0"/>
          </a:p>
          <a:p>
            <a:pPr lvl="1">
              <a:buFontTx/>
              <a:buNone/>
            </a:pPr>
            <a:r>
              <a:rPr lang="es-AR" altLang="es-AR" dirty="0"/>
              <a:t>					Ley 26653</a:t>
            </a:r>
          </a:p>
        </p:txBody>
      </p:sp>
      <p:pic>
        <p:nvPicPr>
          <p:cNvPr id="16388" name="5 Imagen" descr="unnamed.png"/>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071938" y="4786313"/>
            <a:ext cx="1500187" cy="1500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15</a:t>
            </a:fld>
            <a:endParaRPr lang="es-ES" altLang="es-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1 Título"/>
          <p:cNvSpPr>
            <a:spLocks noGrp="1"/>
          </p:cNvSpPr>
          <p:nvPr>
            <p:ph type="title"/>
          </p:nvPr>
        </p:nvSpPr>
        <p:spPr>
          <a:xfrm>
            <a:off x="457200" y="274638"/>
            <a:ext cx="8229600" cy="654050"/>
          </a:xfrm>
        </p:spPr>
        <p:txBody>
          <a:bodyPr/>
          <a:lstStyle/>
          <a:p>
            <a:r>
              <a:rPr lang="es-AR" altLang="es-AR" b="1" dirty="0"/>
              <a:t>¿Qué es la accesibilidad web?</a:t>
            </a:r>
          </a:p>
        </p:txBody>
      </p:sp>
      <p:sp>
        <p:nvSpPr>
          <p:cNvPr id="17411" name="2 Marcador de contenido"/>
          <p:cNvSpPr>
            <a:spLocks noGrp="1"/>
          </p:cNvSpPr>
          <p:nvPr>
            <p:ph idx="1"/>
          </p:nvPr>
        </p:nvSpPr>
        <p:spPr>
          <a:xfrm>
            <a:off x="457200" y="2046288"/>
            <a:ext cx="8229600" cy="1238250"/>
          </a:xfrm>
        </p:spPr>
        <p:txBody>
          <a:bodyPr/>
          <a:lstStyle/>
          <a:p>
            <a:r>
              <a:rPr lang="es-AR" altLang="es-AR" dirty="0"/>
              <a:t>¿Sabías que…</a:t>
            </a:r>
          </a:p>
          <a:p>
            <a:pPr lvl="1"/>
            <a:r>
              <a:rPr lang="es-AR" altLang="es-AR" dirty="0"/>
              <a:t>La accesibilidad web busca que una página web se visualice correctamente en cualquier dispositivo.</a:t>
            </a:r>
          </a:p>
          <a:p>
            <a:pPr lvl="1">
              <a:buFontTx/>
              <a:buNone/>
            </a:pPr>
            <a:endParaRPr lang="es-AR" altLang="es-AR" dirty="0"/>
          </a:p>
          <a:p>
            <a:pPr lvl="1">
              <a:buFontTx/>
              <a:buNone/>
            </a:pPr>
            <a:r>
              <a:rPr lang="es-AR" altLang="es-AR" dirty="0"/>
              <a:t>					</a:t>
            </a:r>
          </a:p>
        </p:txBody>
      </p:sp>
      <p:pic>
        <p:nvPicPr>
          <p:cNvPr id="17412" name="Picture 2" descr="Como usar el diseño responsable o adaptable en un sitio web"/>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35300" y="3295650"/>
            <a:ext cx="2867025" cy="2938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16</a:t>
            </a:fld>
            <a:endParaRPr lang="es-ES" altLang="es-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1 Título"/>
          <p:cNvSpPr>
            <a:spLocks noGrp="1"/>
          </p:cNvSpPr>
          <p:nvPr>
            <p:ph type="title"/>
          </p:nvPr>
        </p:nvSpPr>
        <p:spPr>
          <a:xfrm>
            <a:off x="457200" y="274638"/>
            <a:ext cx="8229600" cy="654050"/>
          </a:xfrm>
        </p:spPr>
        <p:txBody>
          <a:bodyPr/>
          <a:lstStyle/>
          <a:p>
            <a:r>
              <a:rPr lang="es-AR" altLang="es-AR" b="1" dirty="0"/>
              <a:t>¿Qué es la accesibilidad web?</a:t>
            </a:r>
          </a:p>
        </p:txBody>
      </p:sp>
      <p:sp>
        <p:nvSpPr>
          <p:cNvPr id="18435" name="2 Marcador de contenido"/>
          <p:cNvSpPr>
            <a:spLocks noGrp="1"/>
          </p:cNvSpPr>
          <p:nvPr>
            <p:ph idx="1"/>
          </p:nvPr>
        </p:nvSpPr>
        <p:spPr>
          <a:xfrm>
            <a:off x="457200" y="2046288"/>
            <a:ext cx="8229600" cy="1238250"/>
          </a:xfrm>
        </p:spPr>
        <p:txBody>
          <a:bodyPr/>
          <a:lstStyle/>
          <a:p>
            <a:r>
              <a:rPr lang="es-AR" altLang="es-AR" dirty="0"/>
              <a:t>¿Sabías que…</a:t>
            </a:r>
          </a:p>
          <a:p>
            <a:pPr lvl="1"/>
            <a:r>
              <a:rPr lang="es-AR" altLang="es-AR" dirty="0"/>
              <a:t>La accesibilidad web puede ayudar a mejorar el posicionamiento de un sitio web.</a:t>
            </a:r>
          </a:p>
          <a:p>
            <a:pPr lvl="1">
              <a:buFontTx/>
              <a:buNone/>
            </a:pPr>
            <a:endParaRPr lang="es-AR" altLang="es-AR" dirty="0"/>
          </a:p>
          <a:p>
            <a:pPr lvl="1">
              <a:buFontTx/>
              <a:buNone/>
            </a:pPr>
            <a:r>
              <a:rPr lang="es-AR" altLang="es-AR" dirty="0"/>
              <a:t>					</a:t>
            </a:r>
          </a:p>
        </p:txBody>
      </p:sp>
      <p:pic>
        <p:nvPicPr>
          <p:cNvPr id="18436" name="Picture 2"/>
          <p:cNvPicPr>
            <a:picLocks noChangeAspect="1" noChangeArrowheads="1"/>
          </p:cNvPicPr>
          <p:nvPr/>
        </p:nvPicPr>
        <p:blipFill>
          <a:blip r:embed="rId3">
            <a:extLst>
              <a:ext uri="{28A0092B-C50C-407E-A947-70E740481C1C}">
                <a14:useLocalDpi xmlns:a14="http://schemas.microsoft.com/office/drawing/2010/main" val="0"/>
              </a:ext>
            </a:extLst>
          </a:blip>
          <a:srcRect l="27834" t="20877" r="25060" b="43536"/>
          <a:stretch>
            <a:fillRect/>
          </a:stretch>
        </p:blipFill>
        <p:spPr bwMode="auto">
          <a:xfrm>
            <a:off x="901700" y="3284538"/>
            <a:ext cx="3670300" cy="1560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437" name="Picture 3"/>
          <p:cNvPicPr>
            <a:picLocks noChangeAspect="1" noChangeArrowheads="1"/>
          </p:cNvPicPr>
          <p:nvPr/>
        </p:nvPicPr>
        <p:blipFill>
          <a:blip r:embed="rId4">
            <a:extLst>
              <a:ext uri="{28A0092B-C50C-407E-A947-70E740481C1C}">
                <a14:useLocalDpi xmlns:a14="http://schemas.microsoft.com/office/drawing/2010/main" val="0"/>
              </a:ext>
            </a:extLst>
          </a:blip>
          <a:srcRect l="14467" t="23866" r="13831" b="21384"/>
          <a:stretch>
            <a:fillRect/>
          </a:stretch>
        </p:blipFill>
        <p:spPr bwMode="auto">
          <a:xfrm>
            <a:off x="5154613" y="3284538"/>
            <a:ext cx="3308350" cy="142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6 Flecha derecha"/>
          <p:cNvSpPr/>
          <p:nvPr/>
        </p:nvSpPr>
        <p:spPr>
          <a:xfrm rot="13468771">
            <a:off x="3790950" y="5051425"/>
            <a:ext cx="492125" cy="39052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s-AR" dirty="0"/>
          </a:p>
        </p:txBody>
      </p:sp>
      <p:sp>
        <p:nvSpPr>
          <p:cNvPr id="10" name="7 Flecha derecha"/>
          <p:cNvSpPr/>
          <p:nvPr/>
        </p:nvSpPr>
        <p:spPr>
          <a:xfrm rot="18399205">
            <a:off x="4909344" y="5034756"/>
            <a:ext cx="490538" cy="39052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s-AR" dirty="0"/>
          </a:p>
        </p:txBody>
      </p:sp>
      <p:sp>
        <p:nvSpPr>
          <p:cNvPr id="11" name="2 Marcador de contenido"/>
          <p:cNvSpPr txBox="1">
            <a:spLocks/>
          </p:cNvSpPr>
          <p:nvPr/>
        </p:nvSpPr>
        <p:spPr bwMode="auto">
          <a:xfrm>
            <a:off x="611188" y="5543550"/>
            <a:ext cx="8229600"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rtl="0" eaLnBrk="0" fontAlgn="base" hangingPunct="0">
              <a:spcBef>
                <a:spcPct val="20000"/>
              </a:spcBef>
              <a:spcAft>
                <a:spcPct val="0"/>
              </a:spcAft>
              <a:buChar char="•"/>
              <a:defRPr sz="20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000">
                <a:solidFill>
                  <a:schemeClr val="tx1"/>
                </a:solidFill>
                <a:latin typeface="+mn-lt"/>
                <a:cs typeface="+mn-cs"/>
              </a:defRPr>
            </a:lvl2pPr>
            <a:lvl3pPr marL="1143000" indent="-228600" algn="l" rtl="0" eaLnBrk="0" fontAlgn="base" hangingPunct="0">
              <a:spcBef>
                <a:spcPct val="20000"/>
              </a:spcBef>
              <a:spcAft>
                <a:spcPct val="0"/>
              </a:spcAft>
              <a:buChar char="•"/>
              <a:defRPr sz="2000">
                <a:solidFill>
                  <a:schemeClr val="tx1"/>
                </a:solidFill>
                <a:latin typeface="+mn-lt"/>
                <a:cs typeface="+mn-cs"/>
              </a:defRPr>
            </a:lvl3pPr>
            <a:lvl4pPr marL="1600200" indent="-228600" algn="l" rtl="0" eaLnBrk="0" fontAlgn="base" hangingPunct="0">
              <a:spcBef>
                <a:spcPct val="20000"/>
              </a:spcBef>
              <a:spcAft>
                <a:spcPct val="0"/>
              </a:spcAft>
              <a:buChar char="–"/>
              <a:defRPr sz="2000">
                <a:solidFill>
                  <a:schemeClr val="tx1"/>
                </a:solidFill>
                <a:latin typeface="+mn-lt"/>
                <a:cs typeface="+mn-cs"/>
              </a:defRPr>
            </a:lvl4pPr>
            <a:lvl5pPr marL="2057400" indent="-228600" algn="l" rtl="0" eaLnBrk="0" fontAlgn="base" hangingPunct="0">
              <a:spcBef>
                <a:spcPct val="20000"/>
              </a:spcBef>
              <a:spcAft>
                <a:spcPct val="0"/>
              </a:spcAft>
              <a:buChar char="»"/>
              <a:defRPr sz="2000">
                <a:solidFill>
                  <a:schemeClr val="tx1"/>
                </a:solidFill>
                <a:latin typeface="+mn-lt"/>
                <a:cs typeface="+mn-cs"/>
              </a:defRPr>
            </a:lvl5pPr>
            <a:lvl6pPr marL="2514600" indent="-228600" algn="l" rtl="0" fontAlgn="base">
              <a:spcBef>
                <a:spcPct val="20000"/>
              </a:spcBef>
              <a:spcAft>
                <a:spcPct val="0"/>
              </a:spcAft>
              <a:buChar char="»"/>
              <a:defRPr sz="2000">
                <a:solidFill>
                  <a:schemeClr val="tx1"/>
                </a:solidFill>
                <a:latin typeface="+mn-lt"/>
                <a:cs typeface="+mn-cs"/>
              </a:defRPr>
            </a:lvl6pPr>
            <a:lvl7pPr marL="2971800" indent="-228600" algn="l" rtl="0" fontAlgn="base">
              <a:spcBef>
                <a:spcPct val="20000"/>
              </a:spcBef>
              <a:spcAft>
                <a:spcPct val="0"/>
              </a:spcAft>
              <a:buChar char="»"/>
              <a:defRPr sz="2000">
                <a:solidFill>
                  <a:schemeClr val="tx1"/>
                </a:solidFill>
                <a:latin typeface="+mn-lt"/>
                <a:cs typeface="+mn-cs"/>
              </a:defRPr>
            </a:lvl7pPr>
            <a:lvl8pPr marL="3429000" indent="-228600" algn="l" rtl="0" fontAlgn="base">
              <a:spcBef>
                <a:spcPct val="20000"/>
              </a:spcBef>
              <a:spcAft>
                <a:spcPct val="0"/>
              </a:spcAft>
              <a:buChar char="»"/>
              <a:defRPr sz="2000">
                <a:solidFill>
                  <a:schemeClr val="tx1"/>
                </a:solidFill>
                <a:latin typeface="+mn-lt"/>
                <a:cs typeface="+mn-cs"/>
              </a:defRPr>
            </a:lvl8pPr>
            <a:lvl9pPr marL="3886200" indent="-228600" algn="l" rtl="0" fontAlgn="base">
              <a:spcBef>
                <a:spcPct val="20000"/>
              </a:spcBef>
              <a:spcAft>
                <a:spcPct val="0"/>
              </a:spcAft>
              <a:buChar char="»"/>
              <a:defRPr sz="2000">
                <a:solidFill>
                  <a:schemeClr val="tx1"/>
                </a:solidFill>
                <a:latin typeface="+mn-lt"/>
                <a:cs typeface="+mn-cs"/>
              </a:defRPr>
            </a:lvl9pPr>
          </a:lstStyle>
          <a:p>
            <a:pPr algn="ctr">
              <a:buFontTx/>
              <a:buNone/>
              <a:defRPr/>
            </a:pPr>
            <a:r>
              <a:rPr lang="es-AR" dirty="0"/>
              <a:t>Se comportan como un usuario ciego.</a:t>
            </a:r>
          </a:p>
          <a:p>
            <a:pPr algn="ctr">
              <a:buFontTx/>
              <a:buNone/>
              <a:defRPr/>
            </a:pPr>
            <a:endParaRPr lang="es-AR" altLang="es-AR" kern="0" dirty="0"/>
          </a:p>
          <a:p>
            <a:pPr lvl="1">
              <a:buFontTx/>
              <a:buNone/>
              <a:defRPr/>
            </a:pPr>
            <a:r>
              <a:rPr lang="es-AR" altLang="es-AR" kern="0" dirty="0"/>
              <a:t>					</a:t>
            </a:r>
          </a:p>
        </p:txBody>
      </p:sp>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17</a:t>
            </a:fld>
            <a:endParaRPr lang="es-ES" altLang="es-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1 Título"/>
          <p:cNvSpPr>
            <a:spLocks noGrp="1"/>
          </p:cNvSpPr>
          <p:nvPr>
            <p:ph type="title"/>
          </p:nvPr>
        </p:nvSpPr>
        <p:spPr>
          <a:xfrm>
            <a:off x="457200" y="274638"/>
            <a:ext cx="8229600" cy="654050"/>
          </a:xfrm>
        </p:spPr>
        <p:txBody>
          <a:bodyPr/>
          <a:lstStyle/>
          <a:p>
            <a:r>
              <a:rPr lang="es-AR" altLang="es-AR" b="1" dirty="0"/>
              <a:t>¿Qué es la accesibilidad web?</a:t>
            </a:r>
          </a:p>
        </p:txBody>
      </p:sp>
      <p:sp>
        <p:nvSpPr>
          <p:cNvPr id="18435" name="2 Marcador de contenido"/>
          <p:cNvSpPr>
            <a:spLocks noGrp="1"/>
          </p:cNvSpPr>
          <p:nvPr>
            <p:ph idx="1"/>
          </p:nvPr>
        </p:nvSpPr>
        <p:spPr>
          <a:xfrm>
            <a:off x="457200" y="2046288"/>
            <a:ext cx="8229600" cy="4262437"/>
          </a:xfrm>
        </p:spPr>
        <p:txBody>
          <a:bodyPr/>
          <a:lstStyle/>
          <a:p>
            <a:pPr>
              <a:defRPr/>
            </a:pPr>
            <a:r>
              <a:rPr lang="es-AR" dirty="0"/>
              <a:t>Mitos:</a:t>
            </a:r>
          </a:p>
          <a:p>
            <a:pPr marL="0" indent="0">
              <a:buFontTx/>
              <a:buNone/>
              <a:defRPr/>
            </a:pPr>
            <a:endParaRPr lang="es-AR" dirty="0"/>
          </a:p>
          <a:p>
            <a:pPr lvl="1">
              <a:defRPr/>
            </a:pPr>
            <a:r>
              <a:rPr lang="es-AR" dirty="0"/>
              <a:t>La accesibilidad de un sitio web se resuelve creando una versión alternativa de "sólo texto", sin imágenes ni colores.</a:t>
            </a:r>
          </a:p>
          <a:p>
            <a:pPr lvl="1">
              <a:defRPr/>
            </a:pPr>
            <a:r>
              <a:rPr lang="es-AR" dirty="0"/>
              <a:t>Las personas con discapacidad no utilizan la Web.</a:t>
            </a:r>
          </a:p>
          <a:p>
            <a:pPr lvl="1">
              <a:defRPr/>
            </a:pPr>
            <a:r>
              <a:rPr lang="es-AR" dirty="0"/>
              <a:t>Las páginas web con sólo texto son accesibles.</a:t>
            </a:r>
          </a:p>
          <a:p>
            <a:pPr lvl="1">
              <a:defRPr/>
            </a:pPr>
            <a:r>
              <a:rPr lang="es-AR" dirty="0"/>
              <a:t>La accesibilidad es cara y costosa.</a:t>
            </a:r>
          </a:p>
          <a:p>
            <a:pPr lvl="1">
              <a:defRPr/>
            </a:pPr>
            <a:r>
              <a:rPr lang="es-AR" dirty="0"/>
              <a:t>La accesibilidad es sólo para ciegos.</a:t>
            </a:r>
          </a:p>
          <a:p>
            <a:pPr lvl="1">
              <a:defRPr/>
            </a:pPr>
            <a:r>
              <a:rPr lang="es-AR" dirty="0"/>
              <a:t>La accesibilidad es sólo para las personas con discapacidad.</a:t>
            </a:r>
          </a:p>
          <a:p>
            <a:pPr lvl="1">
              <a:buFontTx/>
              <a:buNone/>
              <a:defRPr/>
            </a:pPr>
            <a:endParaRPr lang="es-AR" altLang="es-AR" dirty="0"/>
          </a:p>
          <a:p>
            <a:pPr lvl="1">
              <a:buFontTx/>
              <a:buNone/>
              <a:defRPr/>
            </a:pPr>
            <a:r>
              <a:rPr lang="es-AR" altLang="es-AR" dirty="0"/>
              <a:t>					</a:t>
            </a:r>
          </a:p>
        </p:txBody>
      </p:sp>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18</a:t>
            </a:fld>
            <a:endParaRPr lang="es-ES" altLang="es-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1 Título"/>
          <p:cNvSpPr>
            <a:spLocks noGrp="1"/>
          </p:cNvSpPr>
          <p:nvPr>
            <p:ph type="title"/>
          </p:nvPr>
        </p:nvSpPr>
        <p:spPr>
          <a:xfrm>
            <a:off x="457200" y="274638"/>
            <a:ext cx="8229600" cy="654050"/>
          </a:xfrm>
        </p:spPr>
        <p:txBody>
          <a:bodyPr/>
          <a:lstStyle/>
          <a:p>
            <a:r>
              <a:rPr lang="es-AR" altLang="es-AR" b="1" dirty="0"/>
              <a:t>¿Qué es la accesibilidad web?</a:t>
            </a:r>
          </a:p>
        </p:txBody>
      </p:sp>
      <p:sp>
        <p:nvSpPr>
          <p:cNvPr id="18435" name="2 Marcador de contenido"/>
          <p:cNvSpPr>
            <a:spLocks noGrp="1"/>
          </p:cNvSpPr>
          <p:nvPr>
            <p:ph idx="1"/>
          </p:nvPr>
        </p:nvSpPr>
        <p:spPr>
          <a:xfrm>
            <a:off x="457200" y="2046288"/>
            <a:ext cx="8229600" cy="4262437"/>
          </a:xfrm>
        </p:spPr>
        <p:txBody>
          <a:bodyPr/>
          <a:lstStyle/>
          <a:p>
            <a:pPr>
              <a:defRPr/>
            </a:pPr>
            <a:r>
              <a:rPr lang="es-AR" dirty="0"/>
              <a:t>Beneficios:</a:t>
            </a:r>
          </a:p>
          <a:p>
            <a:pPr marL="0" indent="0">
              <a:buFontTx/>
              <a:buNone/>
              <a:defRPr/>
            </a:pPr>
            <a:endParaRPr lang="es-AR" dirty="0"/>
          </a:p>
          <a:p>
            <a:pPr lvl="1">
              <a:defRPr/>
            </a:pPr>
            <a:r>
              <a:rPr lang="es-AR" dirty="0"/>
              <a:t>Factores sociales </a:t>
            </a:r>
            <a:r>
              <a:rPr lang="es-AR" dirty="0">
                <a:sym typeface="Wingdings" pitchFamily="2" charset="2"/>
              </a:rPr>
              <a:t> Igualdad de oportunidades.</a:t>
            </a:r>
          </a:p>
          <a:p>
            <a:pPr lvl="1">
              <a:defRPr/>
            </a:pPr>
            <a:r>
              <a:rPr lang="es-AR" dirty="0">
                <a:sym typeface="Wingdings" pitchFamily="2" charset="2"/>
              </a:rPr>
              <a:t>Factores técnicos  interoperabilidad, calidad, existencia del contenido en diferentes formatos, etc.</a:t>
            </a:r>
          </a:p>
          <a:p>
            <a:pPr lvl="1">
              <a:defRPr/>
            </a:pPr>
            <a:r>
              <a:rPr lang="es-AR" dirty="0">
                <a:sym typeface="Wingdings" pitchFamily="2" charset="2"/>
              </a:rPr>
              <a:t>Factores financieros.</a:t>
            </a:r>
          </a:p>
          <a:p>
            <a:pPr lvl="1">
              <a:defRPr/>
            </a:pPr>
            <a:r>
              <a:rPr lang="es-AR" dirty="0">
                <a:sym typeface="Wingdings" pitchFamily="2" charset="2"/>
              </a:rPr>
              <a:t>Factores legales y de políticas.</a:t>
            </a:r>
            <a:endParaRPr lang="es-AR" dirty="0"/>
          </a:p>
          <a:p>
            <a:pPr lvl="1">
              <a:buFontTx/>
              <a:buNone/>
              <a:defRPr/>
            </a:pPr>
            <a:endParaRPr lang="es-AR" altLang="es-AR" dirty="0"/>
          </a:p>
          <a:p>
            <a:pPr lvl="1">
              <a:buFontTx/>
              <a:buNone/>
              <a:defRPr/>
            </a:pPr>
            <a:r>
              <a:rPr lang="es-AR" altLang="es-AR" dirty="0"/>
              <a:t>					</a:t>
            </a:r>
          </a:p>
        </p:txBody>
      </p:sp>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19</a:t>
            </a:fld>
            <a:endParaRPr lang="es-ES" altLang="es-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1 Título"/>
          <p:cNvSpPr>
            <a:spLocks noGrp="1"/>
          </p:cNvSpPr>
          <p:nvPr>
            <p:ph type="title"/>
          </p:nvPr>
        </p:nvSpPr>
        <p:spPr>
          <a:xfrm>
            <a:off x="457200" y="274638"/>
            <a:ext cx="8229600" cy="654050"/>
          </a:xfrm>
        </p:spPr>
        <p:txBody>
          <a:bodyPr/>
          <a:lstStyle/>
          <a:p>
            <a:r>
              <a:rPr lang="es-AR" altLang="es-AR" b="1" dirty="0"/>
              <a:t>¿Qué es la accesibilidad web?</a:t>
            </a:r>
          </a:p>
        </p:txBody>
      </p:sp>
      <p:sp>
        <p:nvSpPr>
          <p:cNvPr id="18435" name="2 Marcador de contenido"/>
          <p:cNvSpPr>
            <a:spLocks noGrp="1"/>
          </p:cNvSpPr>
          <p:nvPr>
            <p:ph idx="1"/>
          </p:nvPr>
        </p:nvSpPr>
        <p:spPr>
          <a:xfrm>
            <a:off x="457200" y="2046288"/>
            <a:ext cx="8507413" cy="4262437"/>
          </a:xfrm>
        </p:spPr>
        <p:txBody>
          <a:bodyPr/>
          <a:lstStyle/>
          <a:p>
            <a:pPr>
              <a:defRPr/>
            </a:pPr>
            <a:r>
              <a:rPr lang="es-AR" dirty="0"/>
              <a:t>Ejemplos de sitios web accesibles:</a:t>
            </a:r>
          </a:p>
          <a:p>
            <a:pPr>
              <a:defRPr/>
            </a:pPr>
            <a:endParaRPr lang="es-AR" dirty="0"/>
          </a:p>
          <a:p>
            <a:pPr>
              <a:defRPr/>
            </a:pPr>
            <a:endParaRPr lang="es-AR" dirty="0"/>
          </a:p>
          <a:p>
            <a:pPr>
              <a:defRPr/>
            </a:pPr>
            <a:endParaRPr lang="es-AR" dirty="0"/>
          </a:p>
          <a:p>
            <a:pPr>
              <a:defRPr/>
            </a:pPr>
            <a:endParaRPr lang="es-AR" dirty="0"/>
          </a:p>
          <a:p>
            <a:pPr>
              <a:defRPr/>
            </a:pPr>
            <a:endParaRPr lang="es-AR" dirty="0"/>
          </a:p>
          <a:p>
            <a:pPr>
              <a:defRPr/>
            </a:pPr>
            <a:endParaRPr lang="es-AR" dirty="0"/>
          </a:p>
          <a:p>
            <a:pPr marL="457200" lvl="1" indent="0">
              <a:buFontTx/>
              <a:buNone/>
              <a:defRPr/>
            </a:pPr>
            <a:r>
              <a:rPr lang="es-AR" dirty="0">
                <a:hlinkClick r:id="rId3"/>
              </a:rPr>
              <a:t>http://accesibilidadweb.dlsi.ua.es/</a:t>
            </a:r>
            <a:r>
              <a:rPr lang="es-AR" dirty="0"/>
              <a:t>       </a:t>
            </a:r>
            <a:r>
              <a:rPr lang="es-AR" dirty="0">
                <a:hlinkClick r:id="rId4"/>
              </a:rPr>
              <a:t>https://www.oercommons.org/</a:t>
            </a:r>
            <a:endParaRPr lang="es-AR" dirty="0"/>
          </a:p>
          <a:p>
            <a:pPr lvl="1">
              <a:buFontTx/>
              <a:buNone/>
              <a:defRPr/>
            </a:pPr>
            <a:endParaRPr lang="es-AR" altLang="es-AR" dirty="0"/>
          </a:p>
          <a:p>
            <a:pPr lvl="1">
              <a:defRPr/>
            </a:pPr>
            <a:r>
              <a:rPr lang="es-AR" dirty="0"/>
              <a:t>Ofrecer alternativas.</a:t>
            </a:r>
          </a:p>
          <a:p>
            <a:pPr lvl="1">
              <a:defRPr/>
            </a:pPr>
            <a:r>
              <a:rPr lang="es-AR" dirty="0"/>
              <a:t>Crear páginas que se transformen correctamente. </a:t>
            </a:r>
          </a:p>
          <a:p>
            <a:pPr lvl="1">
              <a:defRPr/>
            </a:pPr>
            <a:endParaRPr lang="es-AR" altLang="es-AR" dirty="0"/>
          </a:p>
          <a:p>
            <a:pPr lvl="1">
              <a:buFontTx/>
              <a:buNone/>
              <a:defRPr/>
            </a:pPr>
            <a:r>
              <a:rPr lang="es-AR" altLang="es-AR" dirty="0"/>
              <a:t>					</a:t>
            </a:r>
          </a:p>
        </p:txBody>
      </p:sp>
      <p:pic>
        <p:nvPicPr>
          <p:cNvPr id="21508" name="Picture 3"/>
          <p:cNvPicPr>
            <a:picLocks noChangeAspect="1" noChangeArrowheads="1"/>
          </p:cNvPicPr>
          <p:nvPr/>
        </p:nvPicPr>
        <p:blipFill>
          <a:blip r:embed="rId5">
            <a:extLst>
              <a:ext uri="{28A0092B-C50C-407E-A947-70E740481C1C}">
                <a14:useLocalDpi xmlns:a14="http://schemas.microsoft.com/office/drawing/2010/main" val="0"/>
              </a:ext>
            </a:extLst>
          </a:blip>
          <a:srcRect l="3429" t="6602" r="4306" b="4021"/>
          <a:stretch>
            <a:fillRect/>
          </a:stretch>
        </p:blipFill>
        <p:spPr bwMode="auto">
          <a:xfrm>
            <a:off x="942975" y="2603500"/>
            <a:ext cx="3767138" cy="2052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509" name="Picture 4"/>
          <p:cNvPicPr>
            <a:picLocks noChangeAspect="1" noChangeArrowheads="1"/>
          </p:cNvPicPr>
          <p:nvPr/>
        </p:nvPicPr>
        <p:blipFill>
          <a:blip r:embed="rId6">
            <a:extLst>
              <a:ext uri="{28A0092B-C50C-407E-A947-70E740481C1C}">
                <a14:useLocalDpi xmlns:a14="http://schemas.microsoft.com/office/drawing/2010/main" val="0"/>
              </a:ext>
            </a:extLst>
          </a:blip>
          <a:srcRect t="6299" r="844" b="2594"/>
          <a:stretch>
            <a:fillRect/>
          </a:stretch>
        </p:blipFill>
        <p:spPr bwMode="auto">
          <a:xfrm>
            <a:off x="4859338" y="2611438"/>
            <a:ext cx="3957637" cy="2044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20</a:t>
            </a:fld>
            <a:endParaRPr lang="es-ES" altLang="es-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1 Título"/>
          <p:cNvSpPr>
            <a:spLocks noGrp="1"/>
          </p:cNvSpPr>
          <p:nvPr>
            <p:ph type="title"/>
          </p:nvPr>
        </p:nvSpPr>
        <p:spPr>
          <a:xfrm>
            <a:off x="457200" y="274638"/>
            <a:ext cx="8229600" cy="654050"/>
          </a:xfrm>
        </p:spPr>
        <p:txBody>
          <a:bodyPr/>
          <a:lstStyle/>
          <a:p>
            <a:r>
              <a:rPr lang="es-AR" altLang="es-AR" b="1" dirty="0"/>
              <a:t>Organización</a:t>
            </a:r>
          </a:p>
        </p:txBody>
      </p:sp>
      <p:sp>
        <p:nvSpPr>
          <p:cNvPr id="22531" name="2 Marcador de contenido"/>
          <p:cNvSpPr>
            <a:spLocks noGrp="1"/>
          </p:cNvSpPr>
          <p:nvPr>
            <p:ph idx="1"/>
          </p:nvPr>
        </p:nvSpPr>
        <p:spPr/>
        <p:txBody>
          <a:bodyPr/>
          <a:lstStyle/>
          <a:p>
            <a:r>
              <a:rPr lang="es-AR" altLang="es-AR" dirty="0"/>
              <a:t>Introducción.</a:t>
            </a:r>
          </a:p>
          <a:p>
            <a:r>
              <a:rPr lang="es-AR" altLang="es-AR" dirty="0"/>
              <a:t>¿Qué es la accesibilidad web?</a:t>
            </a:r>
          </a:p>
          <a:p>
            <a:r>
              <a:rPr lang="es-AR" altLang="es-AR" b="1" dirty="0">
                <a:solidFill>
                  <a:srgbClr val="0070C0"/>
                </a:solidFill>
              </a:rPr>
              <a:t>Pautas y leyes.</a:t>
            </a:r>
          </a:p>
          <a:p>
            <a:r>
              <a:rPr lang="es-AR" altLang="es-AR" dirty="0"/>
              <a:t>Contenido accesible.</a:t>
            </a:r>
          </a:p>
          <a:p>
            <a:r>
              <a:rPr lang="es-AR" altLang="es-AR" dirty="0"/>
              <a:t>Navegación accesible.</a:t>
            </a:r>
          </a:p>
          <a:p>
            <a:r>
              <a:rPr lang="es-AR" altLang="es-AR" dirty="0"/>
              <a:t>Diseño accesible.</a:t>
            </a:r>
          </a:p>
          <a:p>
            <a:r>
              <a:rPr lang="es-AR" altLang="es-AR" dirty="0"/>
              <a:t>Análisis y evaluación de la accesibilidad web.</a:t>
            </a:r>
          </a:p>
          <a:p>
            <a:r>
              <a:rPr lang="es-AR" altLang="es-AR" dirty="0"/>
              <a:t>Conclusiones.</a:t>
            </a:r>
          </a:p>
        </p:txBody>
      </p:sp>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21</a:t>
            </a:fld>
            <a:endParaRPr lang="es-ES" altLang="es-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1 Título"/>
          <p:cNvSpPr>
            <a:spLocks noGrp="1"/>
          </p:cNvSpPr>
          <p:nvPr>
            <p:ph type="title"/>
          </p:nvPr>
        </p:nvSpPr>
        <p:spPr>
          <a:xfrm>
            <a:off x="457200" y="274638"/>
            <a:ext cx="8229600" cy="654050"/>
          </a:xfrm>
        </p:spPr>
        <p:txBody>
          <a:bodyPr/>
          <a:lstStyle/>
          <a:p>
            <a:r>
              <a:rPr lang="es-AR" altLang="es-AR" b="1" dirty="0"/>
              <a:t>Pautas y leyes</a:t>
            </a:r>
          </a:p>
        </p:txBody>
      </p:sp>
      <p:sp>
        <p:nvSpPr>
          <p:cNvPr id="12291" name="2 Marcador de contenido"/>
          <p:cNvSpPr>
            <a:spLocks noGrp="1"/>
          </p:cNvSpPr>
          <p:nvPr>
            <p:ph idx="1"/>
          </p:nvPr>
        </p:nvSpPr>
        <p:spPr/>
        <p:txBody>
          <a:bodyPr/>
          <a:lstStyle/>
          <a:p>
            <a:pPr>
              <a:defRPr/>
            </a:pPr>
            <a:r>
              <a:rPr lang="es-AR" altLang="es-AR" dirty="0"/>
              <a:t>Introducción</a:t>
            </a:r>
          </a:p>
          <a:p>
            <a:pPr marL="0" indent="0">
              <a:buFontTx/>
              <a:buNone/>
              <a:defRPr/>
            </a:pPr>
            <a:endParaRPr lang="es-AR" altLang="es-AR" dirty="0"/>
          </a:p>
          <a:p>
            <a:pPr lvl="1">
              <a:lnSpc>
                <a:spcPct val="90000"/>
              </a:lnSpc>
              <a:defRPr/>
            </a:pPr>
            <a:r>
              <a:rPr lang="es-AR" dirty="0"/>
              <a:t>Desde hace años existen numerosas pautas (consejos) que ayudan a los desarrolladores web a crear sitios web accesibles. Las más famosas son las Pautas de Accesibilidad al Contenido Web (</a:t>
            </a:r>
            <a:r>
              <a:rPr lang="es-AR" i="1" dirty="0"/>
              <a:t>Web Content </a:t>
            </a:r>
            <a:r>
              <a:rPr lang="es-AR" i="1" dirty="0" err="1"/>
              <a:t>Accessibility</a:t>
            </a:r>
            <a:r>
              <a:rPr lang="es-AR" i="1" dirty="0"/>
              <a:t> </a:t>
            </a:r>
            <a:r>
              <a:rPr lang="es-AR" i="1" dirty="0" err="1"/>
              <a:t>Guidelines</a:t>
            </a:r>
            <a:r>
              <a:rPr lang="es-AR" dirty="0"/>
              <a:t>) desarrolladas por el grupo Web </a:t>
            </a:r>
            <a:r>
              <a:rPr lang="es-AR" dirty="0" err="1"/>
              <a:t>Accessibility</a:t>
            </a:r>
            <a:r>
              <a:rPr lang="es-AR" dirty="0"/>
              <a:t> </a:t>
            </a:r>
            <a:r>
              <a:rPr lang="es-AR" dirty="0" err="1"/>
              <a:t>Initiative</a:t>
            </a:r>
            <a:r>
              <a:rPr lang="es-AR" dirty="0"/>
              <a:t> del W3C.</a:t>
            </a:r>
          </a:p>
          <a:p>
            <a:pPr lvl="1">
              <a:lnSpc>
                <a:spcPct val="90000"/>
              </a:lnSpc>
              <a:defRPr/>
            </a:pPr>
            <a:endParaRPr lang="es-AR" dirty="0"/>
          </a:p>
          <a:p>
            <a:pPr lvl="1">
              <a:lnSpc>
                <a:spcPct val="90000"/>
              </a:lnSpc>
              <a:defRPr/>
            </a:pPr>
            <a:r>
              <a:rPr lang="es-AR" dirty="0"/>
              <a:t>Las pautas del W3C son consideradas como estándares internacionales de accesibilidad web. En muchos países, la legislación sobre accesibilidad web emplea las pautas del W3C como marco de referencia. Pero muy importante: las pautas ayudan a detectar posibles errores, pero su uso no garantiza completamente que un sitio web sea totalmente accesible.  </a:t>
            </a:r>
          </a:p>
          <a:p>
            <a:pPr>
              <a:defRPr/>
            </a:pPr>
            <a:endParaRPr lang="es-AR" altLang="es-AR" dirty="0"/>
          </a:p>
        </p:txBody>
      </p:sp>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22</a:t>
            </a:fld>
            <a:endParaRPr lang="es-ES" altLang="es-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1 Título"/>
          <p:cNvSpPr>
            <a:spLocks noGrp="1"/>
          </p:cNvSpPr>
          <p:nvPr>
            <p:ph type="title"/>
          </p:nvPr>
        </p:nvSpPr>
        <p:spPr>
          <a:xfrm>
            <a:off x="457200" y="274638"/>
            <a:ext cx="8229600" cy="654050"/>
          </a:xfrm>
        </p:spPr>
        <p:txBody>
          <a:bodyPr/>
          <a:lstStyle/>
          <a:p>
            <a:r>
              <a:rPr lang="es-AR" altLang="es-AR" b="1"/>
              <a:t>Pautas y leyes</a:t>
            </a:r>
          </a:p>
        </p:txBody>
      </p:sp>
      <p:sp>
        <p:nvSpPr>
          <p:cNvPr id="12291" name="2 Marcador de contenido"/>
          <p:cNvSpPr>
            <a:spLocks noGrp="1"/>
          </p:cNvSpPr>
          <p:nvPr>
            <p:ph idx="1"/>
          </p:nvPr>
        </p:nvSpPr>
        <p:spPr/>
        <p:txBody>
          <a:bodyPr/>
          <a:lstStyle/>
          <a:p>
            <a:pPr>
              <a:defRPr/>
            </a:pPr>
            <a:r>
              <a:rPr lang="es-AR" altLang="es-AR" dirty="0"/>
              <a:t>Introducción</a:t>
            </a:r>
          </a:p>
          <a:p>
            <a:pPr marL="0" indent="0">
              <a:buFontTx/>
              <a:buNone/>
              <a:defRPr/>
            </a:pPr>
            <a:endParaRPr lang="es-AR" altLang="es-AR" dirty="0"/>
          </a:p>
          <a:p>
            <a:pPr marL="0" indent="0">
              <a:buFontTx/>
              <a:buNone/>
              <a:defRPr/>
            </a:pPr>
            <a:endParaRPr lang="es-AR" altLang="es-AR" dirty="0"/>
          </a:p>
        </p:txBody>
      </p:sp>
      <p:sp>
        <p:nvSpPr>
          <p:cNvPr id="4" name="4 Elipse"/>
          <p:cNvSpPr/>
          <p:nvPr/>
        </p:nvSpPr>
        <p:spPr>
          <a:xfrm>
            <a:off x="1908175" y="2133600"/>
            <a:ext cx="5645150" cy="4175125"/>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s-AR" sz="2000" b="1" dirty="0">
                <a:solidFill>
                  <a:schemeClr val="tx1"/>
                </a:solidFill>
              </a:rPr>
              <a:t>W3C</a:t>
            </a:r>
          </a:p>
        </p:txBody>
      </p:sp>
      <p:sp>
        <p:nvSpPr>
          <p:cNvPr id="5" name="5 Elipse"/>
          <p:cNvSpPr/>
          <p:nvPr/>
        </p:nvSpPr>
        <p:spPr>
          <a:xfrm>
            <a:off x="3635375" y="2924175"/>
            <a:ext cx="3363913" cy="2557463"/>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s-AR" sz="2000" b="1" dirty="0">
                <a:solidFill>
                  <a:schemeClr val="tx1"/>
                </a:solidFill>
              </a:rPr>
              <a:t>WAI</a:t>
            </a:r>
          </a:p>
        </p:txBody>
      </p:sp>
      <p:sp>
        <p:nvSpPr>
          <p:cNvPr id="6" name="6 Elipse"/>
          <p:cNvSpPr/>
          <p:nvPr/>
        </p:nvSpPr>
        <p:spPr>
          <a:xfrm>
            <a:off x="5076825" y="3573463"/>
            <a:ext cx="1582738" cy="1423987"/>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s-AR" sz="2000" b="1" dirty="0">
                <a:solidFill>
                  <a:schemeClr val="tx1"/>
                </a:solidFill>
              </a:rPr>
              <a:t>WCAG 2.0</a:t>
            </a:r>
          </a:p>
        </p:txBody>
      </p:sp>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23</a:t>
            </a:fld>
            <a:endParaRPr lang="es-ES" altLang="es-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1 Título"/>
          <p:cNvSpPr>
            <a:spLocks noGrp="1"/>
          </p:cNvSpPr>
          <p:nvPr>
            <p:ph type="title"/>
          </p:nvPr>
        </p:nvSpPr>
        <p:spPr>
          <a:xfrm>
            <a:off x="457200" y="274638"/>
            <a:ext cx="8229600" cy="654050"/>
          </a:xfrm>
        </p:spPr>
        <p:txBody>
          <a:bodyPr/>
          <a:lstStyle/>
          <a:p>
            <a:r>
              <a:rPr lang="es-AR" altLang="es-AR" b="1"/>
              <a:t>Pautas y leyes</a:t>
            </a:r>
          </a:p>
        </p:txBody>
      </p:sp>
      <p:sp>
        <p:nvSpPr>
          <p:cNvPr id="12291" name="2 Marcador de contenido"/>
          <p:cNvSpPr>
            <a:spLocks noGrp="1"/>
          </p:cNvSpPr>
          <p:nvPr>
            <p:ph idx="1"/>
          </p:nvPr>
        </p:nvSpPr>
        <p:spPr/>
        <p:txBody>
          <a:bodyPr/>
          <a:lstStyle/>
          <a:p>
            <a:pPr>
              <a:lnSpc>
                <a:spcPct val="90000"/>
              </a:lnSpc>
              <a:defRPr/>
            </a:pPr>
            <a:r>
              <a:rPr lang="es-AR" dirty="0"/>
              <a:t>Introducción a las WCAG 2.0</a:t>
            </a:r>
          </a:p>
          <a:p>
            <a:pPr marL="0" indent="0">
              <a:lnSpc>
                <a:spcPct val="90000"/>
              </a:lnSpc>
              <a:buFontTx/>
              <a:buNone/>
              <a:defRPr/>
            </a:pPr>
            <a:endParaRPr lang="es-AR" dirty="0"/>
          </a:p>
          <a:p>
            <a:pPr lvl="1">
              <a:lnSpc>
                <a:spcPct val="90000"/>
              </a:lnSpc>
              <a:defRPr/>
            </a:pPr>
            <a:r>
              <a:rPr lang="es-AR" dirty="0"/>
              <a:t>W3C (</a:t>
            </a:r>
            <a:r>
              <a:rPr lang="es-AR" dirty="0" err="1"/>
              <a:t>World</a:t>
            </a:r>
            <a:r>
              <a:rPr lang="es-AR" dirty="0"/>
              <a:t> Wide Web </a:t>
            </a:r>
            <a:r>
              <a:rPr lang="es-AR" dirty="0" err="1"/>
              <a:t>Consortium</a:t>
            </a:r>
            <a:r>
              <a:rPr lang="es-AR" dirty="0"/>
              <a:t>)</a:t>
            </a:r>
          </a:p>
          <a:p>
            <a:pPr marL="457200" lvl="1" indent="0">
              <a:lnSpc>
                <a:spcPct val="90000"/>
              </a:lnSpc>
              <a:buFontTx/>
              <a:buNone/>
              <a:defRPr/>
            </a:pPr>
            <a:endParaRPr lang="es-AR" dirty="0"/>
          </a:p>
          <a:p>
            <a:pPr lvl="2">
              <a:lnSpc>
                <a:spcPct val="90000"/>
              </a:lnSpc>
              <a:defRPr/>
            </a:pPr>
            <a:r>
              <a:rPr lang="es-AR" dirty="0"/>
              <a:t>Organización internacional que trabaja en el desarrollo de estándares web.</a:t>
            </a:r>
          </a:p>
          <a:p>
            <a:pPr lvl="2">
              <a:lnSpc>
                <a:spcPct val="90000"/>
              </a:lnSpc>
              <a:defRPr/>
            </a:pPr>
            <a:endParaRPr lang="es-AR" dirty="0"/>
          </a:p>
          <a:p>
            <a:pPr lvl="2">
              <a:lnSpc>
                <a:spcPct val="90000"/>
              </a:lnSpc>
              <a:defRPr/>
            </a:pPr>
            <a:r>
              <a:rPr lang="es-AR" dirty="0"/>
              <a:t>Recibe el apoyo de los principales actores de la industria y los gobiernos del mundo.</a:t>
            </a:r>
          </a:p>
          <a:p>
            <a:pPr>
              <a:defRPr/>
            </a:pPr>
            <a:endParaRPr lang="es-AR" altLang="es-AR" dirty="0"/>
          </a:p>
        </p:txBody>
      </p:sp>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24</a:t>
            </a:fld>
            <a:endParaRPr lang="es-ES" altLang="es-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1 Título"/>
          <p:cNvSpPr>
            <a:spLocks noGrp="1"/>
          </p:cNvSpPr>
          <p:nvPr>
            <p:ph type="title"/>
          </p:nvPr>
        </p:nvSpPr>
        <p:spPr>
          <a:xfrm>
            <a:off x="457200" y="274638"/>
            <a:ext cx="8229600" cy="654050"/>
          </a:xfrm>
        </p:spPr>
        <p:txBody>
          <a:bodyPr/>
          <a:lstStyle/>
          <a:p>
            <a:r>
              <a:rPr lang="es-AR" altLang="es-AR" b="1"/>
              <a:t>Pautas y leyes</a:t>
            </a:r>
          </a:p>
        </p:txBody>
      </p:sp>
      <p:sp>
        <p:nvSpPr>
          <p:cNvPr id="12291" name="2 Marcador de contenido"/>
          <p:cNvSpPr>
            <a:spLocks noGrp="1"/>
          </p:cNvSpPr>
          <p:nvPr>
            <p:ph idx="1"/>
          </p:nvPr>
        </p:nvSpPr>
        <p:spPr>
          <a:xfrm>
            <a:off x="457200" y="1600200"/>
            <a:ext cx="8229600" cy="4924425"/>
          </a:xfrm>
        </p:spPr>
        <p:txBody>
          <a:bodyPr/>
          <a:lstStyle/>
          <a:p>
            <a:pPr>
              <a:lnSpc>
                <a:spcPct val="90000"/>
              </a:lnSpc>
              <a:defRPr/>
            </a:pPr>
            <a:r>
              <a:rPr lang="es-AR" dirty="0"/>
              <a:t>Introducción a las WCAG 2.0</a:t>
            </a:r>
          </a:p>
          <a:p>
            <a:pPr marL="0" indent="0">
              <a:lnSpc>
                <a:spcPct val="90000"/>
              </a:lnSpc>
              <a:buFontTx/>
              <a:buNone/>
              <a:defRPr/>
            </a:pPr>
            <a:endParaRPr lang="es-AR" dirty="0"/>
          </a:p>
          <a:p>
            <a:pPr lvl="1" algn="just">
              <a:lnSpc>
                <a:spcPct val="90000"/>
              </a:lnSpc>
              <a:defRPr/>
            </a:pPr>
            <a:r>
              <a:rPr lang="es-AR" dirty="0"/>
              <a:t>WAI (Web </a:t>
            </a:r>
            <a:r>
              <a:rPr lang="es-AR" dirty="0" err="1"/>
              <a:t>Accessibility</a:t>
            </a:r>
            <a:r>
              <a:rPr lang="es-AR" dirty="0"/>
              <a:t> </a:t>
            </a:r>
            <a:r>
              <a:rPr lang="es-AR" dirty="0" err="1"/>
              <a:t>Initiative</a:t>
            </a:r>
            <a:r>
              <a:rPr lang="es-AR" dirty="0"/>
              <a:t>)</a:t>
            </a:r>
          </a:p>
          <a:p>
            <a:pPr lvl="2" algn="just">
              <a:lnSpc>
                <a:spcPct val="90000"/>
              </a:lnSpc>
              <a:defRPr/>
            </a:pPr>
            <a:r>
              <a:rPr lang="es-AR" dirty="0"/>
              <a:t>Fundada en 1997.</a:t>
            </a:r>
          </a:p>
          <a:p>
            <a:pPr lvl="2" algn="just">
              <a:lnSpc>
                <a:spcPct val="90000"/>
              </a:lnSpc>
              <a:defRPr/>
            </a:pPr>
            <a:r>
              <a:rPr lang="es-AR" dirty="0"/>
              <a:t>Grupo de trabajo permanente del W3C.</a:t>
            </a:r>
          </a:p>
          <a:p>
            <a:pPr lvl="2" algn="just">
              <a:lnSpc>
                <a:spcPct val="90000"/>
              </a:lnSpc>
              <a:defRPr/>
            </a:pPr>
            <a:r>
              <a:rPr lang="es-AR" dirty="0"/>
              <a:t>Se dedica a promover soluciones de accesibilidad en la web.</a:t>
            </a:r>
          </a:p>
          <a:p>
            <a:pPr lvl="2" algn="just">
              <a:lnSpc>
                <a:spcPct val="90000"/>
              </a:lnSpc>
              <a:defRPr/>
            </a:pPr>
            <a:r>
              <a:rPr lang="es-AR" dirty="0"/>
              <a:t>Actúa sobre 5 áreas de trabajo:</a:t>
            </a:r>
          </a:p>
          <a:p>
            <a:pPr lvl="3">
              <a:lnSpc>
                <a:spcPct val="80000"/>
              </a:lnSpc>
              <a:defRPr/>
            </a:pPr>
            <a:r>
              <a:rPr lang="es-AR" dirty="0"/>
              <a:t>Asegurar que las tecnologías web den soporte a la accesibilidad. </a:t>
            </a:r>
          </a:p>
          <a:p>
            <a:pPr lvl="3" algn="just">
              <a:lnSpc>
                <a:spcPct val="80000"/>
              </a:lnSpc>
              <a:defRPr/>
            </a:pPr>
            <a:r>
              <a:rPr lang="es-AR" dirty="0"/>
              <a:t>Desarrollar pautas de accesibilidad. </a:t>
            </a:r>
          </a:p>
          <a:p>
            <a:pPr lvl="3" algn="just">
              <a:lnSpc>
                <a:spcPct val="80000"/>
              </a:lnSpc>
              <a:defRPr/>
            </a:pPr>
            <a:r>
              <a:rPr lang="es-AR" dirty="0"/>
              <a:t>Crear herramientas de evaluación y corrección de la accesibilidad web. </a:t>
            </a:r>
          </a:p>
          <a:p>
            <a:pPr lvl="3" algn="just">
              <a:lnSpc>
                <a:spcPct val="80000"/>
              </a:lnSpc>
              <a:defRPr/>
            </a:pPr>
            <a:r>
              <a:rPr lang="es-AR" dirty="0"/>
              <a:t>Desarrollar materiales para la educación y difusión. </a:t>
            </a:r>
          </a:p>
          <a:p>
            <a:pPr lvl="3" algn="just">
              <a:lnSpc>
                <a:spcPct val="80000"/>
              </a:lnSpc>
              <a:defRPr/>
            </a:pPr>
            <a:r>
              <a:rPr lang="es-AR" dirty="0"/>
              <a:t>Coordinar proyectos de investigación y desarrollo.</a:t>
            </a:r>
          </a:p>
          <a:p>
            <a:pPr>
              <a:defRPr/>
            </a:pPr>
            <a:endParaRPr lang="es-AR" altLang="es-AR" dirty="0"/>
          </a:p>
        </p:txBody>
      </p:sp>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25</a:t>
            </a:fld>
            <a:endParaRPr lang="es-ES" altLang="es-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1 Título"/>
          <p:cNvSpPr>
            <a:spLocks noGrp="1"/>
          </p:cNvSpPr>
          <p:nvPr>
            <p:ph type="title"/>
          </p:nvPr>
        </p:nvSpPr>
        <p:spPr>
          <a:xfrm>
            <a:off x="457200" y="274638"/>
            <a:ext cx="8229600" cy="654050"/>
          </a:xfrm>
        </p:spPr>
        <p:txBody>
          <a:bodyPr/>
          <a:lstStyle/>
          <a:p>
            <a:r>
              <a:rPr lang="es-AR" altLang="es-AR" b="1"/>
              <a:t>Pautas y leyes</a:t>
            </a:r>
          </a:p>
        </p:txBody>
      </p:sp>
      <p:sp>
        <p:nvSpPr>
          <p:cNvPr id="12291" name="2 Marcador de contenido"/>
          <p:cNvSpPr>
            <a:spLocks noGrp="1"/>
          </p:cNvSpPr>
          <p:nvPr>
            <p:ph idx="1"/>
          </p:nvPr>
        </p:nvSpPr>
        <p:spPr>
          <a:xfrm>
            <a:off x="390525" y="1600200"/>
            <a:ext cx="8296275" cy="4924425"/>
          </a:xfrm>
        </p:spPr>
        <p:txBody>
          <a:bodyPr/>
          <a:lstStyle/>
          <a:p>
            <a:pPr>
              <a:lnSpc>
                <a:spcPct val="90000"/>
              </a:lnSpc>
              <a:defRPr/>
            </a:pPr>
            <a:r>
              <a:rPr lang="es-AR" dirty="0"/>
              <a:t>Introducción a las WCAG 2.0</a:t>
            </a:r>
          </a:p>
          <a:p>
            <a:pPr marL="0" indent="0">
              <a:lnSpc>
                <a:spcPct val="90000"/>
              </a:lnSpc>
              <a:buFontTx/>
              <a:buNone/>
              <a:defRPr/>
            </a:pPr>
            <a:endParaRPr lang="es-AR" dirty="0"/>
          </a:p>
          <a:p>
            <a:pPr marL="0" indent="0">
              <a:buFontTx/>
              <a:buNone/>
              <a:defRPr/>
            </a:pPr>
            <a:endParaRPr lang="es-AR" altLang="es-AR" dirty="0"/>
          </a:p>
        </p:txBody>
      </p:sp>
      <p:sp>
        <p:nvSpPr>
          <p:cNvPr id="4" name="5 Flecha derecha"/>
          <p:cNvSpPr/>
          <p:nvPr/>
        </p:nvSpPr>
        <p:spPr>
          <a:xfrm>
            <a:off x="2203450" y="2619375"/>
            <a:ext cx="5334000" cy="108108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AR"/>
          </a:p>
        </p:txBody>
      </p:sp>
      <p:sp>
        <p:nvSpPr>
          <p:cNvPr id="5" name="6 Conector"/>
          <p:cNvSpPr/>
          <p:nvPr/>
        </p:nvSpPr>
        <p:spPr>
          <a:xfrm>
            <a:off x="2627313" y="2911475"/>
            <a:ext cx="1077912" cy="495300"/>
          </a:xfrm>
          <a:prstGeom prst="flowChartConnector">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s-AR" sz="2000" dirty="0">
                <a:solidFill>
                  <a:schemeClr val="tx1"/>
                </a:solidFill>
              </a:rPr>
              <a:t>1999</a:t>
            </a:r>
          </a:p>
        </p:txBody>
      </p:sp>
      <p:sp>
        <p:nvSpPr>
          <p:cNvPr id="27654" name="8 CuadroTexto"/>
          <p:cNvSpPr txBox="1">
            <a:spLocks noChangeArrowheads="1"/>
          </p:cNvSpPr>
          <p:nvPr/>
        </p:nvSpPr>
        <p:spPr bwMode="auto">
          <a:xfrm>
            <a:off x="2439988" y="2341563"/>
            <a:ext cx="14414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s-AR" altLang="es-AR" sz="2000"/>
              <a:t>WCAG 1.0</a:t>
            </a:r>
          </a:p>
        </p:txBody>
      </p:sp>
      <p:sp>
        <p:nvSpPr>
          <p:cNvPr id="27655" name="10 CuadroTexto"/>
          <p:cNvSpPr txBox="1">
            <a:spLocks noChangeArrowheads="1"/>
          </p:cNvSpPr>
          <p:nvPr/>
        </p:nvSpPr>
        <p:spPr bwMode="auto">
          <a:xfrm>
            <a:off x="4940300" y="2341563"/>
            <a:ext cx="14319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s-AR" altLang="es-AR" sz="2000"/>
              <a:t>WCAG 2.0</a:t>
            </a:r>
          </a:p>
        </p:txBody>
      </p:sp>
      <p:graphicFrame>
        <p:nvGraphicFramePr>
          <p:cNvPr id="9" name="11 Tabla"/>
          <p:cNvGraphicFramePr>
            <a:graphicFrameLocks noGrp="1"/>
          </p:cNvGraphicFramePr>
          <p:nvPr/>
        </p:nvGraphicFramePr>
        <p:xfrm>
          <a:off x="558800" y="3822700"/>
          <a:ext cx="8128000" cy="228600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20000"/>
                    </a:ext>
                  </a:extLst>
                </a:gridCol>
                <a:gridCol w="4064000">
                  <a:extLst>
                    <a:ext uri="{9D8B030D-6E8A-4147-A177-3AD203B41FA5}">
                      <a16:colId xmlns:a16="http://schemas.microsoft.com/office/drawing/2014/main" val="20001"/>
                    </a:ext>
                  </a:extLst>
                </a:gridCol>
              </a:tblGrid>
              <a:tr h="370840">
                <a:tc>
                  <a:txBody>
                    <a:bodyPr/>
                    <a:lstStyle/>
                    <a:p>
                      <a:pPr algn="ctr"/>
                      <a:r>
                        <a:rPr lang="es-AR" sz="2000" dirty="0"/>
                        <a:t>WCAG 1.0</a:t>
                      </a:r>
                    </a:p>
                  </a:txBody>
                  <a:tcPr/>
                </a:tc>
                <a:tc>
                  <a:txBody>
                    <a:bodyPr/>
                    <a:lstStyle/>
                    <a:p>
                      <a:pPr algn="ctr"/>
                      <a:r>
                        <a:rPr lang="es-AR" sz="2000" dirty="0"/>
                        <a:t>WCAG 2.0</a:t>
                      </a:r>
                    </a:p>
                  </a:txBody>
                  <a:tcPr/>
                </a:tc>
                <a:extLst>
                  <a:ext uri="{0D108BD9-81ED-4DB2-BD59-A6C34878D82A}">
                    <a16:rowId xmlns:a16="http://schemas.microsoft.com/office/drawing/2014/main" val="10000"/>
                  </a:ext>
                </a:extLst>
              </a:tr>
              <a:tr h="370840">
                <a:tc>
                  <a:txBody>
                    <a:bodyPr/>
                    <a:lstStyle/>
                    <a:p>
                      <a:r>
                        <a:rPr lang="es-AR" sz="2000" dirty="0"/>
                        <a:t>14 pautas.</a:t>
                      </a:r>
                    </a:p>
                  </a:txBody>
                  <a:tcPr/>
                </a:tc>
                <a:tc>
                  <a:txBody>
                    <a:bodyPr/>
                    <a:lstStyle/>
                    <a:p>
                      <a:r>
                        <a:rPr lang="es-AR" sz="2000" dirty="0"/>
                        <a:t>4 principios,</a:t>
                      </a:r>
                      <a:r>
                        <a:rPr lang="es-AR" sz="2000" baseline="0" dirty="0"/>
                        <a:t> 12 pautas.</a:t>
                      </a:r>
                      <a:endParaRPr lang="es-AR" sz="2000" dirty="0"/>
                    </a:p>
                  </a:txBody>
                  <a:tcPr/>
                </a:tc>
                <a:extLst>
                  <a:ext uri="{0D108BD9-81ED-4DB2-BD59-A6C34878D82A}">
                    <a16:rowId xmlns:a16="http://schemas.microsoft.com/office/drawing/2014/main" val="10001"/>
                  </a:ext>
                </a:extLst>
              </a:tr>
              <a:tr h="370840">
                <a:tc>
                  <a:txBody>
                    <a:bodyPr/>
                    <a:lstStyle/>
                    <a:p>
                      <a:r>
                        <a:rPr lang="es-AR" sz="2000" dirty="0"/>
                        <a:t>65 puntos de verificación.</a:t>
                      </a:r>
                    </a:p>
                  </a:txBody>
                  <a:tcPr/>
                </a:tc>
                <a:tc>
                  <a:txBody>
                    <a:bodyPr/>
                    <a:lstStyle/>
                    <a:p>
                      <a:r>
                        <a:rPr lang="es-AR" sz="2000" dirty="0"/>
                        <a:t>61 criterios de conformidad.</a:t>
                      </a:r>
                    </a:p>
                  </a:txBody>
                  <a:tcPr/>
                </a:tc>
                <a:extLst>
                  <a:ext uri="{0D108BD9-81ED-4DB2-BD59-A6C34878D82A}">
                    <a16:rowId xmlns:a16="http://schemas.microsoft.com/office/drawing/2014/main" val="10002"/>
                  </a:ext>
                </a:extLst>
              </a:tr>
              <a:tr h="370840">
                <a:tc>
                  <a:txBody>
                    <a:bodyPr/>
                    <a:lstStyle/>
                    <a:p>
                      <a:r>
                        <a:rPr lang="es-AR" sz="2000" dirty="0"/>
                        <a:t>Prioridades:</a:t>
                      </a:r>
                      <a:r>
                        <a:rPr lang="es-AR" sz="2000" baseline="0" dirty="0"/>
                        <a:t> 1, 2, 3.</a:t>
                      </a:r>
                      <a:endParaRPr lang="es-AR" sz="2000" dirty="0"/>
                    </a:p>
                  </a:txBody>
                  <a:tcPr/>
                </a:tc>
                <a:tc>
                  <a:txBody>
                    <a:bodyPr/>
                    <a:lstStyle/>
                    <a:p>
                      <a:r>
                        <a:rPr lang="es-AR" sz="2000" dirty="0"/>
                        <a:t>Técnicas</a:t>
                      </a:r>
                      <a:r>
                        <a:rPr lang="es-AR" sz="2000" baseline="0" dirty="0"/>
                        <a:t> suficientes y recomendables.</a:t>
                      </a:r>
                      <a:endParaRPr lang="es-AR" sz="2000" dirty="0"/>
                    </a:p>
                  </a:txBody>
                  <a:tcPr/>
                </a:tc>
                <a:extLst>
                  <a:ext uri="{0D108BD9-81ED-4DB2-BD59-A6C34878D82A}">
                    <a16:rowId xmlns:a16="http://schemas.microsoft.com/office/drawing/2014/main" val="10003"/>
                  </a:ext>
                </a:extLst>
              </a:tr>
              <a:tr h="370840">
                <a:tc gridSpan="2">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s-AR" sz="2000" dirty="0"/>
                        <a:t>Nivel</a:t>
                      </a:r>
                      <a:r>
                        <a:rPr lang="es-AR" sz="2000" baseline="0" dirty="0"/>
                        <a:t> de conformidad: A, AA, AAA</a:t>
                      </a:r>
                      <a:endParaRPr lang="es-AR" sz="2000" dirty="0"/>
                    </a:p>
                  </a:txBody>
                  <a:tcPr/>
                </a:tc>
                <a:tc hMerge="1">
                  <a:txBody>
                    <a:bodyPr/>
                    <a:lstStyle/>
                    <a:p>
                      <a:endParaRPr lang="es-AR" dirty="0"/>
                    </a:p>
                  </a:txBody>
                  <a:tcPr/>
                </a:tc>
                <a:extLst>
                  <a:ext uri="{0D108BD9-81ED-4DB2-BD59-A6C34878D82A}">
                    <a16:rowId xmlns:a16="http://schemas.microsoft.com/office/drawing/2014/main" val="10004"/>
                  </a:ext>
                </a:extLst>
              </a:tr>
            </a:tbl>
          </a:graphicData>
        </a:graphic>
      </p:graphicFrame>
      <p:sp>
        <p:nvSpPr>
          <p:cNvPr id="10" name="6 Conector"/>
          <p:cNvSpPr/>
          <p:nvPr/>
        </p:nvSpPr>
        <p:spPr>
          <a:xfrm>
            <a:off x="5149850" y="2911475"/>
            <a:ext cx="1077913" cy="495300"/>
          </a:xfrm>
          <a:prstGeom prst="flowChartConnector">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s-AR" sz="2000" dirty="0">
                <a:solidFill>
                  <a:schemeClr val="tx1"/>
                </a:solidFill>
              </a:rPr>
              <a:t>2008</a:t>
            </a:r>
          </a:p>
        </p:txBody>
      </p:sp>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26</a:t>
            </a:fld>
            <a:endParaRPr lang="es-ES" altLang="es-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1 Título"/>
          <p:cNvSpPr>
            <a:spLocks noGrp="1"/>
          </p:cNvSpPr>
          <p:nvPr>
            <p:ph type="title"/>
          </p:nvPr>
        </p:nvSpPr>
        <p:spPr>
          <a:xfrm>
            <a:off x="457200" y="274638"/>
            <a:ext cx="8229600" cy="654050"/>
          </a:xfrm>
        </p:spPr>
        <p:txBody>
          <a:bodyPr/>
          <a:lstStyle/>
          <a:p>
            <a:r>
              <a:rPr lang="es-AR" altLang="es-AR" b="1"/>
              <a:t>Pautas y leyes</a:t>
            </a:r>
          </a:p>
        </p:txBody>
      </p:sp>
      <p:pic>
        <p:nvPicPr>
          <p:cNvPr id="28675" name="Picture 2" descr="http://2.bp.blogspot.com/-vg6OPE0h0jM/U255yzWiDCI/AAAAAAAAF80/oOyDhsvveCg/s1600/mapa_visual_wcag2.png"/>
          <p:cNvPicPr>
            <a:picLocks noChangeAspect="1" noChangeArrowheads="1"/>
          </p:cNvPicPr>
          <p:nvPr/>
        </p:nvPicPr>
        <p:blipFill>
          <a:blip r:embed="rId2">
            <a:extLst>
              <a:ext uri="{28A0092B-C50C-407E-A947-70E740481C1C}">
                <a14:useLocalDpi xmlns:a14="http://schemas.microsoft.com/office/drawing/2010/main" val="0"/>
              </a:ext>
            </a:extLst>
          </a:blip>
          <a:srcRect l="829" t="7494" b="6020"/>
          <a:stretch>
            <a:fillRect/>
          </a:stretch>
        </p:blipFill>
        <p:spPr bwMode="auto">
          <a:xfrm>
            <a:off x="1476375" y="1989138"/>
            <a:ext cx="6581775" cy="424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27</a:t>
            </a:fld>
            <a:endParaRPr lang="es-ES" altLang="es-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1 Título"/>
          <p:cNvSpPr>
            <a:spLocks noGrp="1"/>
          </p:cNvSpPr>
          <p:nvPr>
            <p:ph type="title"/>
          </p:nvPr>
        </p:nvSpPr>
        <p:spPr>
          <a:xfrm>
            <a:off x="457200" y="274638"/>
            <a:ext cx="8229600" cy="654050"/>
          </a:xfrm>
        </p:spPr>
        <p:txBody>
          <a:bodyPr/>
          <a:lstStyle/>
          <a:p>
            <a:r>
              <a:rPr lang="es-AR" altLang="es-AR" b="1"/>
              <a:t>Pautas y leyes</a:t>
            </a:r>
          </a:p>
        </p:txBody>
      </p:sp>
      <p:sp>
        <p:nvSpPr>
          <p:cNvPr id="12291" name="2 Marcador de contenido"/>
          <p:cNvSpPr>
            <a:spLocks noGrp="1"/>
          </p:cNvSpPr>
          <p:nvPr>
            <p:ph idx="1"/>
          </p:nvPr>
        </p:nvSpPr>
        <p:spPr>
          <a:xfrm>
            <a:off x="457200" y="1600200"/>
            <a:ext cx="8229600" cy="4924425"/>
          </a:xfrm>
        </p:spPr>
        <p:txBody>
          <a:bodyPr/>
          <a:lstStyle/>
          <a:p>
            <a:pPr>
              <a:lnSpc>
                <a:spcPct val="90000"/>
              </a:lnSpc>
              <a:defRPr/>
            </a:pPr>
            <a:r>
              <a:rPr lang="es-AR" dirty="0"/>
              <a:t>Introducción a las WCAG 2.0</a:t>
            </a:r>
          </a:p>
          <a:p>
            <a:pPr marL="0" indent="0">
              <a:lnSpc>
                <a:spcPct val="90000"/>
              </a:lnSpc>
              <a:buFontTx/>
              <a:buNone/>
              <a:defRPr/>
            </a:pPr>
            <a:endParaRPr lang="es-AR" dirty="0"/>
          </a:p>
          <a:p>
            <a:pPr lvl="1" algn="just">
              <a:lnSpc>
                <a:spcPct val="90000"/>
              </a:lnSpc>
              <a:defRPr/>
            </a:pPr>
            <a:r>
              <a:rPr lang="es-AR" dirty="0"/>
              <a:t>Cantidades para Nivel de conformidad A:</a:t>
            </a:r>
          </a:p>
          <a:p>
            <a:pPr>
              <a:defRPr/>
            </a:pPr>
            <a:endParaRPr lang="es-AR" altLang="es-AR" dirty="0"/>
          </a:p>
        </p:txBody>
      </p:sp>
      <p:graphicFrame>
        <p:nvGraphicFramePr>
          <p:cNvPr id="4" name="11 Tabla"/>
          <p:cNvGraphicFramePr>
            <a:graphicFrameLocks noGrp="1"/>
          </p:cNvGraphicFramePr>
          <p:nvPr/>
        </p:nvGraphicFramePr>
        <p:xfrm>
          <a:off x="528638" y="2752725"/>
          <a:ext cx="8147051" cy="3736976"/>
        </p:xfrm>
        <a:graphic>
          <a:graphicData uri="http://schemas.openxmlformats.org/drawingml/2006/table">
            <a:tbl>
              <a:tblPr firstRow="1" bandRow="1">
                <a:tableStyleId>{5C22544A-7EE6-4342-B048-85BDC9FD1C3A}</a:tableStyleId>
              </a:tblPr>
              <a:tblGrid>
                <a:gridCol w="1810500">
                  <a:extLst>
                    <a:ext uri="{9D8B030D-6E8A-4147-A177-3AD203B41FA5}">
                      <a16:colId xmlns:a16="http://schemas.microsoft.com/office/drawing/2014/main" val="20000"/>
                    </a:ext>
                  </a:extLst>
                </a:gridCol>
                <a:gridCol w="1080094">
                  <a:extLst>
                    <a:ext uri="{9D8B030D-6E8A-4147-A177-3AD203B41FA5}">
                      <a16:colId xmlns:a16="http://schemas.microsoft.com/office/drawing/2014/main" val="20002"/>
                    </a:ext>
                  </a:extLst>
                </a:gridCol>
                <a:gridCol w="1368119">
                  <a:extLst>
                    <a:ext uri="{9D8B030D-6E8A-4147-A177-3AD203B41FA5}">
                      <a16:colId xmlns:a16="http://schemas.microsoft.com/office/drawing/2014/main" val="20003"/>
                    </a:ext>
                  </a:extLst>
                </a:gridCol>
                <a:gridCol w="648056">
                  <a:extLst>
                    <a:ext uri="{9D8B030D-6E8A-4147-A177-3AD203B41FA5}">
                      <a16:colId xmlns:a16="http://schemas.microsoft.com/office/drawing/2014/main" val="20004"/>
                    </a:ext>
                  </a:extLst>
                </a:gridCol>
                <a:gridCol w="504044">
                  <a:extLst>
                    <a:ext uri="{9D8B030D-6E8A-4147-A177-3AD203B41FA5}">
                      <a16:colId xmlns:a16="http://schemas.microsoft.com/office/drawing/2014/main" val="20005"/>
                    </a:ext>
                  </a:extLst>
                </a:gridCol>
                <a:gridCol w="576050">
                  <a:extLst>
                    <a:ext uri="{9D8B030D-6E8A-4147-A177-3AD203B41FA5}">
                      <a16:colId xmlns:a16="http://schemas.microsoft.com/office/drawing/2014/main" val="20006"/>
                    </a:ext>
                  </a:extLst>
                </a:gridCol>
                <a:gridCol w="504044">
                  <a:extLst>
                    <a:ext uri="{9D8B030D-6E8A-4147-A177-3AD203B41FA5}">
                      <a16:colId xmlns:a16="http://schemas.microsoft.com/office/drawing/2014/main" val="20001"/>
                    </a:ext>
                  </a:extLst>
                </a:gridCol>
                <a:gridCol w="576050">
                  <a:extLst>
                    <a:ext uri="{9D8B030D-6E8A-4147-A177-3AD203B41FA5}">
                      <a16:colId xmlns:a16="http://schemas.microsoft.com/office/drawing/2014/main" val="20007"/>
                    </a:ext>
                  </a:extLst>
                </a:gridCol>
                <a:gridCol w="1080094">
                  <a:extLst>
                    <a:ext uri="{9D8B030D-6E8A-4147-A177-3AD203B41FA5}">
                      <a16:colId xmlns:a16="http://schemas.microsoft.com/office/drawing/2014/main" val="20008"/>
                    </a:ext>
                  </a:extLst>
                </a:gridCol>
              </a:tblGrid>
              <a:tr h="963114">
                <a:tc rowSpan="2">
                  <a:txBody>
                    <a:bodyPr/>
                    <a:lstStyle/>
                    <a:p>
                      <a:pPr algn="ctr"/>
                      <a:r>
                        <a:rPr lang="es-AR" sz="2000" dirty="0"/>
                        <a:t>Principios</a:t>
                      </a:r>
                    </a:p>
                  </a:txBody>
                  <a:tcPr marL="91438" marR="91438" marT="45723" marB="45723"/>
                </a:tc>
                <a:tc rowSpan="2">
                  <a:txBody>
                    <a:bodyPr/>
                    <a:lstStyle/>
                    <a:p>
                      <a:pPr algn="ctr"/>
                      <a:r>
                        <a:rPr lang="es-AR" sz="2000" dirty="0"/>
                        <a:t>Pautas</a:t>
                      </a:r>
                    </a:p>
                  </a:txBody>
                  <a:tcPr marL="91438" marR="91438" marT="45723" marB="45723"/>
                </a:tc>
                <a:tc rowSpan="2">
                  <a:txBody>
                    <a:bodyPr/>
                    <a:lstStyle/>
                    <a:p>
                      <a:pPr algn="ctr"/>
                      <a:r>
                        <a:rPr lang="es-AR" sz="2000" dirty="0"/>
                        <a:t>Criterios</a:t>
                      </a:r>
                    </a:p>
                  </a:txBody>
                  <a:tcPr marL="91438" marR="91438" marT="45723" marB="45723"/>
                </a:tc>
                <a:tc gridSpan="3">
                  <a:txBody>
                    <a:bodyPr/>
                    <a:lstStyle/>
                    <a:p>
                      <a:pPr algn="ctr"/>
                      <a:r>
                        <a:rPr lang="es-AR" sz="2000" dirty="0"/>
                        <a:t>Técnicas</a:t>
                      </a:r>
                      <a:r>
                        <a:rPr lang="es-AR" sz="2000" baseline="0" dirty="0"/>
                        <a:t> Suficientes</a:t>
                      </a:r>
                      <a:endParaRPr lang="es-AR" sz="2000" dirty="0"/>
                    </a:p>
                  </a:txBody>
                  <a:tcPr marL="91438" marR="91438" marT="45723" marB="45723"/>
                </a:tc>
                <a:tc hMerge="1">
                  <a:txBody>
                    <a:bodyPr/>
                    <a:lstStyle/>
                    <a:p>
                      <a:pPr algn="ctr"/>
                      <a:endParaRPr lang="es-AR" sz="2000" dirty="0"/>
                    </a:p>
                  </a:txBody>
                  <a:tcPr/>
                </a:tc>
                <a:tc hMerge="1">
                  <a:txBody>
                    <a:bodyPr/>
                    <a:lstStyle/>
                    <a:p>
                      <a:pPr algn="ctr"/>
                      <a:endParaRPr lang="es-AR" sz="2000" dirty="0"/>
                    </a:p>
                  </a:txBody>
                  <a:tcPr/>
                </a:tc>
                <a:tc gridSpan="3">
                  <a:txBody>
                    <a:bodyPr/>
                    <a:lstStyle/>
                    <a:p>
                      <a:pPr algn="ctr"/>
                      <a:r>
                        <a:rPr lang="es-AR" sz="2000" dirty="0"/>
                        <a:t>Técnicas Recomendables</a:t>
                      </a:r>
                    </a:p>
                  </a:txBody>
                  <a:tcPr marL="91438" marR="91438" marT="45723" marB="45723"/>
                </a:tc>
                <a:tc hMerge="1">
                  <a:txBody>
                    <a:bodyPr/>
                    <a:lstStyle/>
                    <a:p>
                      <a:pPr algn="ctr"/>
                      <a:endParaRPr lang="es-AR" sz="2000" dirty="0"/>
                    </a:p>
                  </a:txBody>
                  <a:tcPr/>
                </a:tc>
                <a:tc hMerge="1">
                  <a:txBody>
                    <a:bodyPr/>
                    <a:lstStyle/>
                    <a:p>
                      <a:pPr algn="ctr"/>
                      <a:endParaRPr lang="es-AR" sz="2000" dirty="0"/>
                    </a:p>
                  </a:txBody>
                  <a:tcPr/>
                </a:tc>
                <a:extLst>
                  <a:ext uri="{0D108BD9-81ED-4DB2-BD59-A6C34878D82A}">
                    <a16:rowId xmlns:a16="http://schemas.microsoft.com/office/drawing/2014/main" val="10000"/>
                  </a:ext>
                </a:extLst>
              </a:tr>
              <a:tr h="396266">
                <a:tc vMerge="1">
                  <a:txBody>
                    <a:bodyPr/>
                    <a:lstStyle/>
                    <a:p>
                      <a:endParaRPr lang="es-AR" sz="2000" dirty="0"/>
                    </a:p>
                  </a:txBody>
                  <a:tcPr/>
                </a:tc>
                <a:tc vMerge="1">
                  <a:txBody>
                    <a:bodyPr/>
                    <a:lstStyle/>
                    <a:p>
                      <a:endParaRPr lang="es-AR" sz="2000" dirty="0"/>
                    </a:p>
                  </a:txBody>
                  <a:tcPr/>
                </a:tc>
                <a:tc vMerge="1">
                  <a:txBody>
                    <a:bodyPr/>
                    <a:lstStyle/>
                    <a:p>
                      <a:endParaRPr lang="es-AR" sz="2000" dirty="0"/>
                    </a:p>
                  </a:txBody>
                  <a:tcPr/>
                </a:tc>
                <a:tc>
                  <a:txBody>
                    <a:bodyPr/>
                    <a:lstStyle/>
                    <a:p>
                      <a:pPr algn="ctr"/>
                      <a:r>
                        <a:rPr lang="es-AR" sz="2000" b="1" dirty="0">
                          <a:solidFill>
                            <a:schemeClr val="bg1"/>
                          </a:solidFill>
                        </a:rPr>
                        <a:t>G</a:t>
                      </a:r>
                    </a:p>
                  </a:txBody>
                  <a:tcPr marL="91438" marR="91438" marT="45723" marB="45723">
                    <a:solidFill>
                      <a:schemeClr val="accent1"/>
                    </a:solidFill>
                  </a:tcPr>
                </a:tc>
                <a:tc>
                  <a:txBody>
                    <a:bodyPr/>
                    <a:lstStyle/>
                    <a:p>
                      <a:pPr algn="ctr"/>
                      <a:r>
                        <a:rPr lang="es-AR" sz="2000" b="1" dirty="0">
                          <a:solidFill>
                            <a:schemeClr val="bg1"/>
                          </a:solidFill>
                        </a:rPr>
                        <a:t>H</a:t>
                      </a:r>
                    </a:p>
                  </a:txBody>
                  <a:tcPr marL="91438" marR="91438" marT="45723" marB="45723">
                    <a:solidFill>
                      <a:schemeClr val="accent1"/>
                    </a:solidFill>
                  </a:tcPr>
                </a:tc>
                <a:tc>
                  <a:txBody>
                    <a:bodyPr/>
                    <a:lstStyle/>
                    <a:p>
                      <a:pPr algn="ctr"/>
                      <a:r>
                        <a:rPr lang="es-AR" sz="2000" b="1" dirty="0">
                          <a:solidFill>
                            <a:schemeClr val="bg1"/>
                          </a:solidFill>
                        </a:rPr>
                        <a:t>C</a:t>
                      </a:r>
                    </a:p>
                  </a:txBody>
                  <a:tcPr marL="91438" marR="91438" marT="45723" marB="45723">
                    <a:solidFill>
                      <a:schemeClr val="accent1"/>
                    </a:solidFill>
                  </a:tcPr>
                </a:tc>
                <a:tc>
                  <a:txBody>
                    <a:bodyPr/>
                    <a:lstStyle/>
                    <a:p>
                      <a:pPr algn="ctr"/>
                      <a:r>
                        <a:rPr lang="es-AR" sz="2000" b="1" dirty="0">
                          <a:solidFill>
                            <a:schemeClr val="bg1"/>
                          </a:solidFill>
                        </a:rPr>
                        <a:t>G</a:t>
                      </a:r>
                    </a:p>
                  </a:txBody>
                  <a:tcPr marL="91438" marR="91438" marT="45723" marB="45723">
                    <a:solidFill>
                      <a:schemeClr val="accent1"/>
                    </a:solidFill>
                  </a:tcPr>
                </a:tc>
                <a:tc>
                  <a:txBody>
                    <a:bodyPr/>
                    <a:lstStyle/>
                    <a:p>
                      <a:pPr algn="ctr"/>
                      <a:r>
                        <a:rPr lang="es-AR" sz="2000" b="1" dirty="0">
                          <a:solidFill>
                            <a:schemeClr val="bg1"/>
                          </a:solidFill>
                        </a:rPr>
                        <a:t>H</a:t>
                      </a:r>
                    </a:p>
                  </a:txBody>
                  <a:tcPr marL="91438" marR="91438" marT="45723" marB="45723">
                    <a:solidFill>
                      <a:schemeClr val="accent1"/>
                    </a:solidFill>
                  </a:tcPr>
                </a:tc>
                <a:tc>
                  <a:txBody>
                    <a:bodyPr/>
                    <a:lstStyle/>
                    <a:p>
                      <a:pPr algn="ctr"/>
                      <a:r>
                        <a:rPr lang="es-AR" sz="2000" b="1" dirty="0">
                          <a:solidFill>
                            <a:schemeClr val="bg1"/>
                          </a:solidFill>
                        </a:rPr>
                        <a:t>C</a:t>
                      </a:r>
                    </a:p>
                  </a:txBody>
                  <a:tcPr marL="91438" marR="91438" marT="45723" marB="45723">
                    <a:solidFill>
                      <a:schemeClr val="accent1"/>
                    </a:solidFill>
                  </a:tcPr>
                </a:tc>
                <a:extLst>
                  <a:ext uri="{0D108BD9-81ED-4DB2-BD59-A6C34878D82A}">
                    <a16:rowId xmlns:a16="http://schemas.microsoft.com/office/drawing/2014/main" val="10004"/>
                  </a:ext>
                </a:extLst>
              </a:tr>
              <a:tr h="396266">
                <a:tc>
                  <a:txBody>
                    <a:bodyPr/>
                    <a:lstStyle/>
                    <a:p>
                      <a:r>
                        <a:rPr lang="es-AR" sz="2000" dirty="0"/>
                        <a:t>Perceptible</a:t>
                      </a:r>
                    </a:p>
                  </a:txBody>
                  <a:tcPr marL="91438" marR="91438" marT="45723" marB="45723"/>
                </a:tc>
                <a:tc>
                  <a:txBody>
                    <a:bodyPr/>
                    <a:lstStyle/>
                    <a:p>
                      <a:pPr algn="ctr"/>
                      <a:r>
                        <a:rPr lang="es-AR" sz="2000" dirty="0"/>
                        <a:t>4</a:t>
                      </a:r>
                    </a:p>
                  </a:txBody>
                  <a:tcPr marL="91438" marR="91438" marT="45723" marB="45723"/>
                </a:tc>
                <a:tc>
                  <a:txBody>
                    <a:bodyPr/>
                    <a:lstStyle/>
                    <a:p>
                      <a:pPr algn="ctr"/>
                      <a:r>
                        <a:rPr lang="es-AR" sz="2000" dirty="0"/>
                        <a:t>9</a:t>
                      </a:r>
                    </a:p>
                  </a:txBody>
                  <a:tcPr marL="91438" marR="91438" marT="45723" marB="45723"/>
                </a:tc>
                <a:tc>
                  <a:txBody>
                    <a:bodyPr/>
                    <a:lstStyle/>
                    <a:p>
                      <a:pPr algn="ctr"/>
                      <a:r>
                        <a:rPr lang="es-AR" sz="2000" dirty="0"/>
                        <a:t>35</a:t>
                      </a:r>
                    </a:p>
                  </a:txBody>
                  <a:tcPr marL="91438" marR="91438" marT="45723" marB="45723"/>
                </a:tc>
                <a:tc>
                  <a:txBody>
                    <a:bodyPr/>
                    <a:lstStyle/>
                    <a:p>
                      <a:pPr algn="ctr"/>
                      <a:r>
                        <a:rPr lang="es-AR" sz="2000" dirty="0"/>
                        <a:t>29</a:t>
                      </a:r>
                    </a:p>
                  </a:txBody>
                  <a:tcPr marL="91438" marR="91438" marT="45723" marB="45723"/>
                </a:tc>
                <a:tc>
                  <a:txBody>
                    <a:bodyPr/>
                    <a:lstStyle/>
                    <a:p>
                      <a:pPr algn="ctr"/>
                      <a:r>
                        <a:rPr lang="es-AR" sz="2000" dirty="0"/>
                        <a:t>4</a:t>
                      </a:r>
                    </a:p>
                  </a:txBody>
                  <a:tcPr marL="91438" marR="91438" marT="45723" marB="45723"/>
                </a:tc>
                <a:tc>
                  <a:txBody>
                    <a:bodyPr/>
                    <a:lstStyle/>
                    <a:p>
                      <a:pPr algn="ctr"/>
                      <a:r>
                        <a:rPr lang="es-AR" sz="2000" dirty="0"/>
                        <a:t>2</a:t>
                      </a:r>
                    </a:p>
                  </a:txBody>
                  <a:tcPr marL="91438" marR="91438" marT="45723" marB="45723"/>
                </a:tc>
                <a:tc>
                  <a:txBody>
                    <a:bodyPr/>
                    <a:lstStyle/>
                    <a:p>
                      <a:pPr algn="ctr"/>
                      <a:r>
                        <a:rPr lang="es-AR" sz="2000" dirty="0"/>
                        <a:t>3</a:t>
                      </a:r>
                    </a:p>
                  </a:txBody>
                  <a:tcPr marL="91438" marR="91438" marT="45723" marB="45723"/>
                </a:tc>
                <a:tc>
                  <a:txBody>
                    <a:bodyPr/>
                    <a:lstStyle/>
                    <a:p>
                      <a:pPr algn="ctr"/>
                      <a:r>
                        <a:rPr lang="es-AR" sz="2000" dirty="0"/>
                        <a:t>3</a:t>
                      </a:r>
                    </a:p>
                  </a:txBody>
                  <a:tcPr marL="91438" marR="91438" marT="45723" marB="45723"/>
                </a:tc>
                <a:extLst>
                  <a:ext uri="{0D108BD9-81ED-4DB2-BD59-A6C34878D82A}">
                    <a16:rowId xmlns:a16="http://schemas.microsoft.com/office/drawing/2014/main" val="10001"/>
                  </a:ext>
                </a:extLst>
              </a:tr>
              <a:tr h="396266">
                <a:tc>
                  <a:txBody>
                    <a:bodyPr/>
                    <a:lstStyle/>
                    <a:p>
                      <a:r>
                        <a:rPr lang="es-AR" sz="2000" dirty="0"/>
                        <a:t>Operable</a:t>
                      </a:r>
                    </a:p>
                  </a:txBody>
                  <a:tcPr marL="91438" marR="91438" marT="45723" marB="45723"/>
                </a:tc>
                <a:tc>
                  <a:txBody>
                    <a:bodyPr/>
                    <a:lstStyle/>
                    <a:p>
                      <a:pPr algn="ctr"/>
                      <a:r>
                        <a:rPr lang="es-AR" sz="2000" dirty="0"/>
                        <a:t>4</a:t>
                      </a:r>
                    </a:p>
                  </a:txBody>
                  <a:tcPr marL="91438" marR="91438" marT="45723" marB="45723"/>
                </a:tc>
                <a:tc>
                  <a:txBody>
                    <a:bodyPr/>
                    <a:lstStyle/>
                    <a:p>
                      <a:pPr algn="ctr"/>
                      <a:r>
                        <a:rPr lang="es-AR" sz="2000" dirty="0"/>
                        <a:t>9</a:t>
                      </a:r>
                    </a:p>
                  </a:txBody>
                  <a:tcPr marL="91438" marR="91438" marT="45723" marB="45723"/>
                </a:tc>
                <a:tc>
                  <a:txBody>
                    <a:bodyPr/>
                    <a:lstStyle/>
                    <a:p>
                      <a:pPr algn="ctr"/>
                      <a:r>
                        <a:rPr lang="es-AR" sz="2000" dirty="0"/>
                        <a:t>23</a:t>
                      </a:r>
                    </a:p>
                  </a:txBody>
                  <a:tcPr marL="91438" marR="91438" marT="45723" marB="45723"/>
                </a:tc>
                <a:tc>
                  <a:txBody>
                    <a:bodyPr/>
                    <a:lstStyle/>
                    <a:p>
                      <a:pPr algn="ctr"/>
                      <a:r>
                        <a:rPr lang="es-AR" sz="2000" dirty="0"/>
                        <a:t>13</a:t>
                      </a:r>
                    </a:p>
                  </a:txBody>
                  <a:tcPr marL="91438" marR="91438" marT="45723" marB="45723"/>
                </a:tc>
                <a:tc>
                  <a:txBody>
                    <a:bodyPr/>
                    <a:lstStyle/>
                    <a:p>
                      <a:pPr algn="ctr"/>
                      <a:r>
                        <a:rPr lang="es-AR" sz="2000" dirty="0"/>
                        <a:t>2</a:t>
                      </a:r>
                    </a:p>
                  </a:txBody>
                  <a:tcPr marL="91438" marR="91438" marT="45723" marB="45723"/>
                </a:tc>
                <a:tc>
                  <a:txBody>
                    <a:bodyPr/>
                    <a:lstStyle/>
                    <a:p>
                      <a:pPr algn="ctr"/>
                      <a:r>
                        <a:rPr lang="es-AR" sz="2000" dirty="0"/>
                        <a:t>1</a:t>
                      </a:r>
                    </a:p>
                  </a:txBody>
                  <a:tcPr marL="91438" marR="91438" marT="45723" marB="45723"/>
                </a:tc>
                <a:tc>
                  <a:txBody>
                    <a:bodyPr/>
                    <a:lstStyle/>
                    <a:p>
                      <a:pPr algn="ctr"/>
                      <a:r>
                        <a:rPr lang="es-AR" sz="2000" dirty="0"/>
                        <a:t>2</a:t>
                      </a:r>
                    </a:p>
                  </a:txBody>
                  <a:tcPr marL="91438" marR="91438" marT="45723" marB="45723"/>
                </a:tc>
                <a:tc>
                  <a:txBody>
                    <a:bodyPr/>
                    <a:lstStyle/>
                    <a:p>
                      <a:pPr algn="ctr"/>
                      <a:r>
                        <a:rPr lang="es-AR" sz="2000" dirty="0"/>
                        <a:t>1</a:t>
                      </a:r>
                    </a:p>
                  </a:txBody>
                  <a:tcPr marL="91438" marR="91438" marT="45723" marB="45723"/>
                </a:tc>
                <a:extLst>
                  <a:ext uri="{0D108BD9-81ED-4DB2-BD59-A6C34878D82A}">
                    <a16:rowId xmlns:a16="http://schemas.microsoft.com/office/drawing/2014/main" val="10002"/>
                  </a:ext>
                </a:extLst>
              </a:tr>
              <a:tr h="396266">
                <a:tc>
                  <a:txBody>
                    <a:bodyPr/>
                    <a:lstStyle/>
                    <a:p>
                      <a:r>
                        <a:rPr lang="es-AR" sz="2000" dirty="0"/>
                        <a:t>Comprensible</a:t>
                      </a:r>
                    </a:p>
                  </a:txBody>
                  <a:tcPr marL="91438" marR="91438" marT="45723" marB="45723"/>
                </a:tc>
                <a:tc>
                  <a:txBody>
                    <a:bodyPr/>
                    <a:lstStyle/>
                    <a:p>
                      <a:pPr algn="ctr"/>
                      <a:r>
                        <a:rPr lang="es-AR" sz="2000" dirty="0"/>
                        <a:t>3</a:t>
                      </a:r>
                    </a:p>
                  </a:txBody>
                  <a:tcPr marL="91438" marR="91438" marT="45723" marB="45723"/>
                </a:tc>
                <a:tc>
                  <a:txBody>
                    <a:bodyPr/>
                    <a:lstStyle/>
                    <a:p>
                      <a:pPr algn="ctr"/>
                      <a:r>
                        <a:rPr lang="es-AR" sz="2000" dirty="0"/>
                        <a:t>5</a:t>
                      </a:r>
                    </a:p>
                  </a:txBody>
                  <a:tcPr marL="91438" marR="91438" marT="45723" marB="45723"/>
                </a:tc>
                <a:tc>
                  <a:txBody>
                    <a:bodyPr/>
                    <a:lstStyle/>
                    <a:p>
                      <a:pPr algn="ctr"/>
                      <a:r>
                        <a:rPr lang="es-AR" sz="2000" dirty="0"/>
                        <a:t>12</a:t>
                      </a:r>
                    </a:p>
                  </a:txBody>
                  <a:tcPr marL="91438" marR="91438" marT="45723" marB="45723"/>
                </a:tc>
                <a:tc>
                  <a:txBody>
                    <a:bodyPr/>
                    <a:lstStyle/>
                    <a:p>
                      <a:pPr algn="ctr"/>
                      <a:r>
                        <a:rPr lang="es-AR" sz="2000" dirty="0"/>
                        <a:t>7</a:t>
                      </a:r>
                    </a:p>
                  </a:txBody>
                  <a:tcPr marL="91438" marR="91438" marT="45723" marB="45723"/>
                </a:tc>
                <a:tc>
                  <a:txBody>
                    <a:bodyPr/>
                    <a:lstStyle/>
                    <a:p>
                      <a:pPr algn="ctr"/>
                      <a:r>
                        <a:rPr lang="es-AR" sz="2000" dirty="0"/>
                        <a:t>0</a:t>
                      </a:r>
                    </a:p>
                  </a:txBody>
                  <a:tcPr marL="91438" marR="91438" marT="45723" marB="45723"/>
                </a:tc>
                <a:tc>
                  <a:txBody>
                    <a:bodyPr/>
                    <a:lstStyle/>
                    <a:p>
                      <a:pPr algn="ctr"/>
                      <a:r>
                        <a:rPr lang="es-AR" sz="2000" dirty="0"/>
                        <a:t>6</a:t>
                      </a:r>
                    </a:p>
                  </a:txBody>
                  <a:tcPr marL="91438" marR="91438" marT="45723" marB="45723"/>
                </a:tc>
                <a:tc>
                  <a:txBody>
                    <a:bodyPr/>
                    <a:lstStyle/>
                    <a:p>
                      <a:pPr algn="ctr"/>
                      <a:r>
                        <a:rPr lang="es-AR" sz="2000" dirty="0"/>
                        <a:t>0</a:t>
                      </a:r>
                    </a:p>
                  </a:txBody>
                  <a:tcPr marL="91438" marR="91438" marT="45723" marB="45723"/>
                </a:tc>
                <a:tc>
                  <a:txBody>
                    <a:bodyPr/>
                    <a:lstStyle/>
                    <a:p>
                      <a:pPr algn="ctr"/>
                      <a:r>
                        <a:rPr lang="es-AR" sz="2000" dirty="0"/>
                        <a:t>0</a:t>
                      </a:r>
                    </a:p>
                  </a:txBody>
                  <a:tcPr marL="91438" marR="91438" marT="45723" marB="45723"/>
                </a:tc>
                <a:extLst>
                  <a:ext uri="{0D108BD9-81ED-4DB2-BD59-A6C34878D82A}">
                    <a16:rowId xmlns:a16="http://schemas.microsoft.com/office/drawing/2014/main" val="10003"/>
                  </a:ext>
                </a:extLst>
              </a:tr>
              <a:tr h="396266">
                <a:tc>
                  <a:txBody>
                    <a:bodyPr/>
                    <a:lstStyle/>
                    <a:p>
                      <a:r>
                        <a:rPr lang="es-AR" sz="2000" dirty="0"/>
                        <a:t>Robusto</a:t>
                      </a:r>
                    </a:p>
                  </a:txBody>
                  <a:tcPr marL="91438" marR="91438" marT="45723" marB="45723"/>
                </a:tc>
                <a:tc>
                  <a:txBody>
                    <a:bodyPr/>
                    <a:lstStyle/>
                    <a:p>
                      <a:pPr algn="ctr"/>
                      <a:r>
                        <a:rPr lang="es-AR" sz="2000" dirty="0"/>
                        <a:t>1</a:t>
                      </a:r>
                    </a:p>
                  </a:txBody>
                  <a:tcPr marL="91438" marR="91438" marT="45723" marB="45723"/>
                </a:tc>
                <a:tc>
                  <a:txBody>
                    <a:bodyPr/>
                    <a:lstStyle/>
                    <a:p>
                      <a:pPr algn="ctr"/>
                      <a:r>
                        <a:rPr lang="es-AR" sz="2000" dirty="0"/>
                        <a:t>2</a:t>
                      </a:r>
                    </a:p>
                  </a:txBody>
                  <a:tcPr marL="91438" marR="91438" marT="45723" marB="45723"/>
                </a:tc>
                <a:tc>
                  <a:txBody>
                    <a:bodyPr/>
                    <a:lstStyle/>
                    <a:p>
                      <a:pPr algn="ctr"/>
                      <a:r>
                        <a:rPr lang="es-AR" sz="2000" dirty="0"/>
                        <a:t>3</a:t>
                      </a:r>
                    </a:p>
                  </a:txBody>
                  <a:tcPr marL="91438" marR="91438" marT="45723" marB="45723"/>
                </a:tc>
                <a:tc>
                  <a:txBody>
                    <a:bodyPr/>
                    <a:lstStyle/>
                    <a:p>
                      <a:pPr algn="ctr"/>
                      <a:r>
                        <a:rPr lang="es-AR" sz="2000" dirty="0"/>
                        <a:t>10</a:t>
                      </a:r>
                    </a:p>
                  </a:txBody>
                  <a:tcPr marL="91438" marR="91438" marT="45723" marB="45723"/>
                </a:tc>
                <a:tc>
                  <a:txBody>
                    <a:bodyPr/>
                    <a:lstStyle/>
                    <a:p>
                      <a:pPr algn="ctr"/>
                      <a:r>
                        <a:rPr lang="es-AR" sz="2000" dirty="0"/>
                        <a:t>0</a:t>
                      </a:r>
                    </a:p>
                  </a:txBody>
                  <a:tcPr marL="91438" marR="91438" marT="45723" marB="45723"/>
                </a:tc>
                <a:tc>
                  <a:txBody>
                    <a:bodyPr/>
                    <a:lstStyle/>
                    <a:p>
                      <a:pPr algn="ctr"/>
                      <a:r>
                        <a:rPr lang="es-AR" sz="2000" dirty="0"/>
                        <a:t>0</a:t>
                      </a:r>
                    </a:p>
                  </a:txBody>
                  <a:tcPr marL="91438" marR="91438" marT="45723" marB="45723"/>
                </a:tc>
                <a:tc>
                  <a:txBody>
                    <a:bodyPr/>
                    <a:lstStyle/>
                    <a:p>
                      <a:pPr algn="ctr"/>
                      <a:r>
                        <a:rPr lang="es-AR" sz="2000" dirty="0"/>
                        <a:t>0</a:t>
                      </a:r>
                    </a:p>
                  </a:txBody>
                  <a:tcPr marL="91438" marR="91438" marT="45723" marB="45723"/>
                </a:tc>
                <a:tc>
                  <a:txBody>
                    <a:bodyPr/>
                    <a:lstStyle/>
                    <a:p>
                      <a:pPr algn="ctr"/>
                      <a:r>
                        <a:rPr lang="es-AR" sz="2000" dirty="0"/>
                        <a:t>0</a:t>
                      </a:r>
                    </a:p>
                  </a:txBody>
                  <a:tcPr marL="91438" marR="91438" marT="45723" marB="45723"/>
                </a:tc>
                <a:extLst>
                  <a:ext uri="{0D108BD9-81ED-4DB2-BD59-A6C34878D82A}">
                    <a16:rowId xmlns:a16="http://schemas.microsoft.com/office/drawing/2014/main" val="10005"/>
                  </a:ext>
                </a:extLst>
              </a:tr>
              <a:tr h="396266">
                <a:tc>
                  <a:txBody>
                    <a:bodyPr/>
                    <a:lstStyle/>
                    <a:p>
                      <a:endParaRPr lang="es-AR" sz="2000" dirty="0"/>
                    </a:p>
                  </a:txBody>
                  <a:tcPr marL="91438" marR="91438" marT="45723" marB="45723">
                    <a:noFill/>
                  </a:tcPr>
                </a:tc>
                <a:tc rowSpan="2">
                  <a:txBody>
                    <a:bodyPr/>
                    <a:lstStyle/>
                    <a:p>
                      <a:pPr algn="ctr"/>
                      <a:r>
                        <a:rPr lang="es-AR" sz="2000" b="1" dirty="0"/>
                        <a:t>12</a:t>
                      </a:r>
                    </a:p>
                  </a:txBody>
                  <a:tcPr marL="91438" marR="91438" marT="45723" marB="45723"/>
                </a:tc>
                <a:tc rowSpan="2">
                  <a:txBody>
                    <a:bodyPr/>
                    <a:lstStyle/>
                    <a:p>
                      <a:pPr algn="ctr"/>
                      <a:r>
                        <a:rPr lang="es-AR" sz="2000" b="1" dirty="0"/>
                        <a:t>25</a:t>
                      </a:r>
                    </a:p>
                  </a:txBody>
                  <a:tcPr marL="91438" marR="91438" marT="45723" marB="45723"/>
                </a:tc>
                <a:tc>
                  <a:txBody>
                    <a:bodyPr/>
                    <a:lstStyle/>
                    <a:p>
                      <a:pPr algn="ctr"/>
                      <a:r>
                        <a:rPr lang="es-AR" sz="2000" b="1" dirty="0"/>
                        <a:t>73</a:t>
                      </a:r>
                    </a:p>
                  </a:txBody>
                  <a:tcPr marL="91438" marR="91438" marT="45723" marB="45723"/>
                </a:tc>
                <a:tc>
                  <a:txBody>
                    <a:bodyPr/>
                    <a:lstStyle/>
                    <a:p>
                      <a:pPr algn="ctr"/>
                      <a:r>
                        <a:rPr lang="es-AR" sz="2000" b="1" dirty="0"/>
                        <a:t>59</a:t>
                      </a:r>
                    </a:p>
                  </a:txBody>
                  <a:tcPr marL="91438" marR="91438" marT="45723" marB="45723"/>
                </a:tc>
                <a:tc>
                  <a:txBody>
                    <a:bodyPr/>
                    <a:lstStyle/>
                    <a:p>
                      <a:pPr algn="ctr"/>
                      <a:r>
                        <a:rPr lang="es-AR" sz="2000" b="1" dirty="0"/>
                        <a:t>6</a:t>
                      </a:r>
                    </a:p>
                  </a:txBody>
                  <a:tcPr marL="91438" marR="91438" marT="45723" marB="45723"/>
                </a:tc>
                <a:tc>
                  <a:txBody>
                    <a:bodyPr/>
                    <a:lstStyle/>
                    <a:p>
                      <a:pPr algn="ctr"/>
                      <a:r>
                        <a:rPr lang="es-AR" sz="2000" b="1" dirty="0"/>
                        <a:t>9</a:t>
                      </a:r>
                    </a:p>
                  </a:txBody>
                  <a:tcPr marL="91438" marR="91438" marT="45723" marB="45723"/>
                </a:tc>
                <a:tc>
                  <a:txBody>
                    <a:bodyPr/>
                    <a:lstStyle/>
                    <a:p>
                      <a:pPr algn="ctr"/>
                      <a:r>
                        <a:rPr lang="es-AR" sz="2000" b="1" dirty="0"/>
                        <a:t>5</a:t>
                      </a:r>
                    </a:p>
                  </a:txBody>
                  <a:tcPr marL="91438" marR="91438" marT="45723" marB="45723"/>
                </a:tc>
                <a:tc>
                  <a:txBody>
                    <a:bodyPr/>
                    <a:lstStyle/>
                    <a:p>
                      <a:pPr algn="ctr"/>
                      <a:r>
                        <a:rPr lang="es-AR" sz="2000" b="1" dirty="0"/>
                        <a:t>4</a:t>
                      </a:r>
                    </a:p>
                  </a:txBody>
                  <a:tcPr marL="91438" marR="91438" marT="45723" marB="45723"/>
                </a:tc>
                <a:extLst>
                  <a:ext uri="{0D108BD9-81ED-4DB2-BD59-A6C34878D82A}">
                    <a16:rowId xmlns:a16="http://schemas.microsoft.com/office/drawing/2014/main" val="10006"/>
                  </a:ext>
                </a:extLst>
              </a:tr>
              <a:tr h="396266">
                <a:tc>
                  <a:txBody>
                    <a:bodyPr/>
                    <a:lstStyle/>
                    <a:p>
                      <a:endParaRPr lang="es-AR" sz="2000" dirty="0"/>
                    </a:p>
                  </a:txBody>
                  <a:tcPr marL="91438" marR="91438" marT="45723" marB="45723">
                    <a:noFill/>
                  </a:tcPr>
                </a:tc>
                <a:tc vMerge="1">
                  <a:txBody>
                    <a:bodyPr/>
                    <a:lstStyle/>
                    <a:p>
                      <a:pPr algn="ctr"/>
                      <a:endParaRPr lang="es-AR" sz="2000" dirty="0"/>
                    </a:p>
                  </a:txBody>
                  <a:tcPr/>
                </a:tc>
                <a:tc vMerge="1">
                  <a:txBody>
                    <a:bodyPr/>
                    <a:lstStyle/>
                    <a:p>
                      <a:pPr algn="ctr"/>
                      <a:endParaRPr lang="es-AR" sz="2000" dirty="0"/>
                    </a:p>
                  </a:txBody>
                  <a:tcPr/>
                </a:tc>
                <a:tc gridSpan="6">
                  <a:txBody>
                    <a:bodyPr/>
                    <a:lstStyle/>
                    <a:p>
                      <a:pPr algn="ctr"/>
                      <a:r>
                        <a:rPr lang="es-AR" sz="2000" b="1" dirty="0"/>
                        <a:t>146</a:t>
                      </a:r>
                    </a:p>
                  </a:txBody>
                  <a:tcPr marL="91438" marR="91438" marT="45723" marB="45723"/>
                </a:tc>
                <a:tc hMerge="1">
                  <a:txBody>
                    <a:bodyPr/>
                    <a:lstStyle/>
                    <a:p>
                      <a:pPr algn="ctr"/>
                      <a:endParaRPr lang="es-AR" sz="2000" dirty="0"/>
                    </a:p>
                  </a:txBody>
                  <a:tcPr/>
                </a:tc>
                <a:tc hMerge="1">
                  <a:txBody>
                    <a:bodyPr/>
                    <a:lstStyle/>
                    <a:p>
                      <a:pPr algn="ctr"/>
                      <a:endParaRPr lang="es-AR" sz="2000" dirty="0"/>
                    </a:p>
                  </a:txBody>
                  <a:tcPr/>
                </a:tc>
                <a:tc hMerge="1">
                  <a:txBody>
                    <a:bodyPr/>
                    <a:lstStyle/>
                    <a:p>
                      <a:pPr algn="ctr"/>
                      <a:endParaRPr lang="es-AR" sz="2000" dirty="0"/>
                    </a:p>
                  </a:txBody>
                  <a:tcPr/>
                </a:tc>
                <a:tc hMerge="1">
                  <a:txBody>
                    <a:bodyPr/>
                    <a:lstStyle/>
                    <a:p>
                      <a:pPr algn="ctr"/>
                      <a:endParaRPr lang="es-AR" sz="2000" dirty="0"/>
                    </a:p>
                  </a:txBody>
                  <a:tcPr/>
                </a:tc>
                <a:tc hMerge="1">
                  <a:txBody>
                    <a:bodyPr/>
                    <a:lstStyle/>
                    <a:p>
                      <a:pPr algn="ctr"/>
                      <a:endParaRPr lang="es-AR" sz="2000" dirty="0"/>
                    </a:p>
                  </a:txBody>
                  <a:tcPr/>
                </a:tc>
                <a:extLst>
                  <a:ext uri="{0D108BD9-81ED-4DB2-BD59-A6C34878D82A}">
                    <a16:rowId xmlns:a16="http://schemas.microsoft.com/office/drawing/2014/main" val="10007"/>
                  </a:ext>
                </a:extLst>
              </a:tr>
            </a:tbl>
          </a:graphicData>
        </a:graphic>
      </p:graphicFrame>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28</a:t>
            </a:fld>
            <a:endParaRPr lang="es-ES" altLang="es-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1 Título"/>
          <p:cNvSpPr>
            <a:spLocks noGrp="1"/>
          </p:cNvSpPr>
          <p:nvPr>
            <p:ph type="title"/>
          </p:nvPr>
        </p:nvSpPr>
        <p:spPr>
          <a:xfrm>
            <a:off x="457200" y="274638"/>
            <a:ext cx="8229600" cy="654050"/>
          </a:xfrm>
        </p:spPr>
        <p:txBody>
          <a:bodyPr/>
          <a:lstStyle/>
          <a:p>
            <a:r>
              <a:rPr lang="es-AR" altLang="es-AR" b="1"/>
              <a:t>Pautas y leyes</a:t>
            </a:r>
          </a:p>
        </p:txBody>
      </p:sp>
      <p:sp>
        <p:nvSpPr>
          <p:cNvPr id="12291" name="2 Marcador de contenido"/>
          <p:cNvSpPr>
            <a:spLocks noGrp="1"/>
          </p:cNvSpPr>
          <p:nvPr>
            <p:ph idx="1"/>
          </p:nvPr>
        </p:nvSpPr>
        <p:spPr>
          <a:xfrm>
            <a:off x="457200" y="1600200"/>
            <a:ext cx="8229600" cy="4924425"/>
          </a:xfrm>
        </p:spPr>
        <p:txBody>
          <a:bodyPr/>
          <a:lstStyle/>
          <a:p>
            <a:pPr>
              <a:lnSpc>
                <a:spcPct val="90000"/>
              </a:lnSpc>
              <a:defRPr/>
            </a:pPr>
            <a:r>
              <a:rPr lang="es-AR" dirty="0"/>
              <a:t>Introducción a las WCAG 2.0</a:t>
            </a:r>
          </a:p>
          <a:p>
            <a:pPr marL="0" indent="0">
              <a:lnSpc>
                <a:spcPct val="90000"/>
              </a:lnSpc>
              <a:buFontTx/>
              <a:buNone/>
              <a:defRPr/>
            </a:pPr>
            <a:endParaRPr lang="es-AR" dirty="0"/>
          </a:p>
          <a:p>
            <a:pPr>
              <a:lnSpc>
                <a:spcPct val="90000"/>
              </a:lnSpc>
              <a:defRPr/>
            </a:pPr>
            <a:r>
              <a:rPr lang="es-AR" dirty="0"/>
              <a:t>Principios:</a:t>
            </a:r>
          </a:p>
          <a:p>
            <a:pPr lvl="1">
              <a:lnSpc>
                <a:spcPct val="90000"/>
              </a:lnSpc>
              <a:defRPr/>
            </a:pPr>
            <a:r>
              <a:rPr lang="es-AR" b="1" dirty="0"/>
              <a:t>1. Perceptible</a:t>
            </a:r>
            <a:r>
              <a:rPr lang="es-AR" dirty="0"/>
              <a:t>: La información y los componentes de la interfaz de usuario deben ser presentados a los usuarios de modo que ellos puedan percibirlos. </a:t>
            </a:r>
          </a:p>
          <a:p>
            <a:pPr lvl="1">
              <a:lnSpc>
                <a:spcPct val="90000"/>
              </a:lnSpc>
              <a:defRPr/>
            </a:pPr>
            <a:r>
              <a:rPr lang="es-AR" b="1" dirty="0"/>
              <a:t>2. Operable</a:t>
            </a:r>
            <a:r>
              <a:rPr lang="es-AR" dirty="0"/>
              <a:t>: Los componentes de la interfaz de usuario y la navegación deben ser operables. </a:t>
            </a:r>
          </a:p>
          <a:p>
            <a:pPr lvl="1">
              <a:lnSpc>
                <a:spcPct val="90000"/>
              </a:lnSpc>
              <a:defRPr/>
            </a:pPr>
            <a:r>
              <a:rPr lang="es-AR" b="1" dirty="0"/>
              <a:t>3. Comprensible</a:t>
            </a:r>
            <a:r>
              <a:rPr lang="es-AR" dirty="0"/>
              <a:t>: La información y el manejo de la interfaz de usuario deben ser comprensibles. </a:t>
            </a:r>
          </a:p>
          <a:p>
            <a:pPr lvl="1">
              <a:lnSpc>
                <a:spcPct val="90000"/>
              </a:lnSpc>
              <a:defRPr/>
            </a:pPr>
            <a:r>
              <a:rPr lang="es-AR" b="1" dirty="0"/>
              <a:t>4. Robusto</a:t>
            </a:r>
            <a:r>
              <a:rPr lang="es-AR" dirty="0"/>
              <a:t>: El contenido debe ser suficientemente robusto como para ser interpretado de forma fiable por una amplia variedad de aplicaciones de usuario, incluyendo los productos de apoyo. </a:t>
            </a:r>
          </a:p>
          <a:p>
            <a:pPr>
              <a:defRPr/>
            </a:pPr>
            <a:endParaRPr lang="es-AR" altLang="es-AR" dirty="0"/>
          </a:p>
        </p:txBody>
      </p:sp>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29</a:t>
            </a:fld>
            <a:endParaRPr lang="es-ES" altLang="es-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1 Título"/>
          <p:cNvSpPr>
            <a:spLocks noGrp="1"/>
          </p:cNvSpPr>
          <p:nvPr>
            <p:ph type="title"/>
          </p:nvPr>
        </p:nvSpPr>
        <p:spPr>
          <a:xfrm>
            <a:off x="457200" y="274638"/>
            <a:ext cx="8229600" cy="654050"/>
          </a:xfrm>
        </p:spPr>
        <p:txBody>
          <a:bodyPr/>
          <a:lstStyle/>
          <a:p>
            <a:r>
              <a:rPr lang="es-AR" altLang="es-AR" b="1"/>
              <a:t>Pautas y leyes</a:t>
            </a:r>
          </a:p>
        </p:txBody>
      </p:sp>
      <p:sp>
        <p:nvSpPr>
          <p:cNvPr id="12291" name="2 Marcador de contenido"/>
          <p:cNvSpPr>
            <a:spLocks noGrp="1"/>
          </p:cNvSpPr>
          <p:nvPr>
            <p:ph idx="1"/>
          </p:nvPr>
        </p:nvSpPr>
        <p:spPr>
          <a:xfrm>
            <a:off x="457200" y="1600200"/>
            <a:ext cx="8229600" cy="4924425"/>
          </a:xfrm>
        </p:spPr>
        <p:txBody>
          <a:bodyPr/>
          <a:lstStyle/>
          <a:p>
            <a:pPr>
              <a:lnSpc>
                <a:spcPct val="90000"/>
              </a:lnSpc>
              <a:defRPr/>
            </a:pPr>
            <a:r>
              <a:rPr lang="es-AR" dirty="0"/>
              <a:t>Introducción a las WCAG 2.0</a:t>
            </a:r>
          </a:p>
          <a:p>
            <a:pPr marL="0" indent="0">
              <a:lnSpc>
                <a:spcPct val="90000"/>
              </a:lnSpc>
              <a:buFontTx/>
              <a:buNone/>
              <a:defRPr/>
            </a:pPr>
            <a:endParaRPr lang="es-AR" dirty="0"/>
          </a:p>
          <a:p>
            <a:pPr algn="just">
              <a:lnSpc>
                <a:spcPct val="90000"/>
              </a:lnSpc>
              <a:defRPr/>
            </a:pPr>
            <a:r>
              <a:rPr lang="es-AR" dirty="0"/>
              <a:t>Pautas del Principio Perceptible:</a:t>
            </a:r>
          </a:p>
          <a:p>
            <a:pPr marL="57150" indent="0" algn="just">
              <a:lnSpc>
                <a:spcPct val="90000"/>
              </a:lnSpc>
              <a:buFontTx/>
              <a:buNone/>
              <a:defRPr/>
            </a:pPr>
            <a:endParaRPr lang="es-AR" dirty="0"/>
          </a:p>
          <a:p>
            <a:pPr lvl="3" algn="just">
              <a:lnSpc>
                <a:spcPct val="80000"/>
              </a:lnSpc>
              <a:defRPr/>
            </a:pPr>
            <a:r>
              <a:rPr lang="es-AR" b="1" dirty="0"/>
              <a:t>Pauta 1.1</a:t>
            </a:r>
            <a:r>
              <a:rPr lang="es-AR" dirty="0"/>
              <a:t> Alternativas textuales.</a:t>
            </a:r>
          </a:p>
          <a:p>
            <a:pPr lvl="3" algn="just">
              <a:lnSpc>
                <a:spcPct val="80000"/>
              </a:lnSpc>
              <a:defRPr/>
            </a:pPr>
            <a:endParaRPr lang="es-AR" dirty="0"/>
          </a:p>
          <a:p>
            <a:pPr lvl="3" algn="just">
              <a:lnSpc>
                <a:spcPct val="80000"/>
              </a:lnSpc>
              <a:defRPr/>
            </a:pPr>
            <a:r>
              <a:rPr lang="es-AR" b="1" dirty="0"/>
              <a:t>Pauta 1.2</a:t>
            </a:r>
            <a:r>
              <a:rPr lang="es-AR" dirty="0"/>
              <a:t> Medios tempodependientes.</a:t>
            </a:r>
          </a:p>
          <a:p>
            <a:pPr lvl="3" algn="just">
              <a:lnSpc>
                <a:spcPct val="80000"/>
              </a:lnSpc>
              <a:defRPr/>
            </a:pPr>
            <a:endParaRPr lang="es-AR" dirty="0"/>
          </a:p>
          <a:p>
            <a:pPr lvl="3" algn="just">
              <a:lnSpc>
                <a:spcPct val="80000"/>
              </a:lnSpc>
              <a:defRPr/>
            </a:pPr>
            <a:r>
              <a:rPr lang="es-AR" b="1" dirty="0"/>
              <a:t>Pauta 1.3</a:t>
            </a:r>
            <a:r>
              <a:rPr lang="es-AR" dirty="0"/>
              <a:t> Adaptable.</a:t>
            </a:r>
          </a:p>
          <a:p>
            <a:pPr lvl="3" algn="just">
              <a:lnSpc>
                <a:spcPct val="80000"/>
              </a:lnSpc>
              <a:defRPr/>
            </a:pPr>
            <a:endParaRPr lang="es-AR" dirty="0"/>
          </a:p>
          <a:p>
            <a:pPr lvl="3" algn="just">
              <a:lnSpc>
                <a:spcPct val="80000"/>
              </a:lnSpc>
              <a:defRPr/>
            </a:pPr>
            <a:r>
              <a:rPr lang="es-AR" b="1" dirty="0"/>
              <a:t>Pauta 1.4</a:t>
            </a:r>
            <a:r>
              <a:rPr lang="es-AR" dirty="0"/>
              <a:t> Distinguible.</a:t>
            </a:r>
          </a:p>
          <a:p>
            <a:pPr>
              <a:defRPr/>
            </a:pPr>
            <a:endParaRPr lang="es-AR" altLang="es-AR" dirty="0"/>
          </a:p>
        </p:txBody>
      </p:sp>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30</a:t>
            </a:fld>
            <a:endParaRPr lang="es-ES" altLang="es-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1 Título"/>
          <p:cNvSpPr>
            <a:spLocks noGrp="1"/>
          </p:cNvSpPr>
          <p:nvPr>
            <p:ph type="title"/>
          </p:nvPr>
        </p:nvSpPr>
        <p:spPr>
          <a:xfrm>
            <a:off x="457200" y="274638"/>
            <a:ext cx="8229600" cy="654050"/>
          </a:xfrm>
        </p:spPr>
        <p:txBody>
          <a:bodyPr/>
          <a:lstStyle/>
          <a:p>
            <a:r>
              <a:rPr lang="es-AR" altLang="es-AR" b="1"/>
              <a:t>Pautas y leyes</a:t>
            </a:r>
          </a:p>
        </p:txBody>
      </p:sp>
      <p:sp>
        <p:nvSpPr>
          <p:cNvPr id="12291" name="2 Marcador de contenido"/>
          <p:cNvSpPr>
            <a:spLocks noGrp="1"/>
          </p:cNvSpPr>
          <p:nvPr>
            <p:ph idx="1"/>
          </p:nvPr>
        </p:nvSpPr>
        <p:spPr>
          <a:xfrm>
            <a:off x="457200" y="1600200"/>
            <a:ext cx="8229600" cy="4924425"/>
          </a:xfrm>
        </p:spPr>
        <p:txBody>
          <a:bodyPr/>
          <a:lstStyle/>
          <a:p>
            <a:pPr>
              <a:lnSpc>
                <a:spcPct val="90000"/>
              </a:lnSpc>
              <a:defRPr/>
            </a:pPr>
            <a:r>
              <a:rPr lang="es-AR" dirty="0"/>
              <a:t>Introducción a las WCAG 2.0</a:t>
            </a:r>
          </a:p>
          <a:p>
            <a:pPr marL="0" indent="0">
              <a:lnSpc>
                <a:spcPct val="90000"/>
              </a:lnSpc>
              <a:buFontTx/>
              <a:buNone/>
              <a:defRPr/>
            </a:pPr>
            <a:endParaRPr lang="es-AR" dirty="0"/>
          </a:p>
          <a:p>
            <a:pPr algn="just">
              <a:lnSpc>
                <a:spcPct val="90000"/>
              </a:lnSpc>
              <a:defRPr/>
            </a:pPr>
            <a:r>
              <a:rPr lang="es-AR" dirty="0"/>
              <a:t>Pautas del Principio Operable:</a:t>
            </a:r>
          </a:p>
          <a:p>
            <a:pPr algn="just">
              <a:lnSpc>
                <a:spcPct val="90000"/>
              </a:lnSpc>
              <a:defRPr/>
            </a:pPr>
            <a:endParaRPr lang="es-AR" dirty="0"/>
          </a:p>
          <a:p>
            <a:pPr lvl="3" algn="just">
              <a:lnSpc>
                <a:spcPct val="80000"/>
              </a:lnSpc>
              <a:defRPr/>
            </a:pPr>
            <a:r>
              <a:rPr lang="es-AR" b="1" dirty="0"/>
              <a:t>Pauta 2.1</a:t>
            </a:r>
            <a:r>
              <a:rPr lang="es-AR" dirty="0"/>
              <a:t> Accesible por teclado.</a:t>
            </a:r>
          </a:p>
          <a:p>
            <a:pPr lvl="3" algn="just">
              <a:lnSpc>
                <a:spcPct val="80000"/>
              </a:lnSpc>
              <a:defRPr/>
            </a:pPr>
            <a:endParaRPr lang="es-AR" dirty="0"/>
          </a:p>
          <a:p>
            <a:pPr lvl="3" algn="just">
              <a:lnSpc>
                <a:spcPct val="80000"/>
              </a:lnSpc>
              <a:defRPr/>
            </a:pPr>
            <a:r>
              <a:rPr lang="es-AR" b="1" dirty="0"/>
              <a:t>Pauta 2.2</a:t>
            </a:r>
            <a:r>
              <a:rPr lang="es-AR" dirty="0"/>
              <a:t> Tiempo suficiente.</a:t>
            </a:r>
          </a:p>
          <a:p>
            <a:pPr lvl="3" algn="just">
              <a:lnSpc>
                <a:spcPct val="80000"/>
              </a:lnSpc>
              <a:defRPr/>
            </a:pPr>
            <a:endParaRPr lang="es-AR" dirty="0"/>
          </a:p>
          <a:p>
            <a:pPr lvl="3" algn="just">
              <a:lnSpc>
                <a:spcPct val="80000"/>
              </a:lnSpc>
              <a:defRPr/>
            </a:pPr>
            <a:r>
              <a:rPr lang="es-AR" b="1" dirty="0"/>
              <a:t>Pauta 2.3</a:t>
            </a:r>
            <a:r>
              <a:rPr lang="es-AR" dirty="0"/>
              <a:t> Convulsiones.</a:t>
            </a:r>
          </a:p>
          <a:p>
            <a:pPr lvl="3" algn="just">
              <a:lnSpc>
                <a:spcPct val="80000"/>
              </a:lnSpc>
              <a:defRPr/>
            </a:pPr>
            <a:endParaRPr lang="es-AR" dirty="0"/>
          </a:p>
          <a:p>
            <a:pPr lvl="3" algn="just">
              <a:lnSpc>
                <a:spcPct val="80000"/>
              </a:lnSpc>
              <a:defRPr/>
            </a:pPr>
            <a:r>
              <a:rPr lang="es-AR" b="1" dirty="0"/>
              <a:t>Pauta 2.4</a:t>
            </a:r>
            <a:r>
              <a:rPr lang="es-AR" dirty="0"/>
              <a:t> Navegable</a:t>
            </a:r>
          </a:p>
          <a:p>
            <a:pPr>
              <a:defRPr/>
            </a:pPr>
            <a:endParaRPr lang="es-AR" altLang="es-AR" dirty="0"/>
          </a:p>
        </p:txBody>
      </p:sp>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31</a:t>
            </a:fld>
            <a:endParaRPr lang="es-ES" altLang="es-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1 Título"/>
          <p:cNvSpPr>
            <a:spLocks noGrp="1"/>
          </p:cNvSpPr>
          <p:nvPr>
            <p:ph type="title"/>
          </p:nvPr>
        </p:nvSpPr>
        <p:spPr>
          <a:xfrm>
            <a:off x="457200" y="274638"/>
            <a:ext cx="8229600" cy="654050"/>
          </a:xfrm>
        </p:spPr>
        <p:txBody>
          <a:bodyPr/>
          <a:lstStyle/>
          <a:p>
            <a:r>
              <a:rPr lang="es-AR" altLang="es-AR" b="1"/>
              <a:t>Pautas y leyes</a:t>
            </a:r>
          </a:p>
        </p:txBody>
      </p:sp>
      <p:sp>
        <p:nvSpPr>
          <p:cNvPr id="12291" name="2 Marcador de contenido"/>
          <p:cNvSpPr>
            <a:spLocks noGrp="1"/>
          </p:cNvSpPr>
          <p:nvPr>
            <p:ph idx="1"/>
          </p:nvPr>
        </p:nvSpPr>
        <p:spPr>
          <a:xfrm>
            <a:off x="457200" y="1600200"/>
            <a:ext cx="8229600" cy="4924425"/>
          </a:xfrm>
        </p:spPr>
        <p:txBody>
          <a:bodyPr/>
          <a:lstStyle/>
          <a:p>
            <a:pPr>
              <a:lnSpc>
                <a:spcPct val="90000"/>
              </a:lnSpc>
              <a:defRPr/>
            </a:pPr>
            <a:r>
              <a:rPr lang="es-AR" dirty="0"/>
              <a:t>Introducción a las WCAG 2.0</a:t>
            </a:r>
          </a:p>
          <a:p>
            <a:pPr marL="0" indent="0">
              <a:lnSpc>
                <a:spcPct val="90000"/>
              </a:lnSpc>
              <a:buFontTx/>
              <a:buNone/>
              <a:defRPr/>
            </a:pPr>
            <a:endParaRPr lang="es-AR" dirty="0"/>
          </a:p>
          <a:p>
            <a:pPr algn="just">
              <a:lnSpc>
                <a:spcPct val="90000"/>
              </a:lnSpc>
              <a:defRPr/>
            </a:pPr>
            <a:r>
              <a:rPr lang="es-AR" dirty="0"/>
              <a:t>Pautas del Principio Comprensible:</a:t>
            </a:r>
          </a:p>
          <a:p>
            <a:pPr lvl="1" algn="just">
              <a:lnSpc>
                <a:spcPct val="90000"/>
              </a:lnSpc>
              <a:defRPr/>
            </a:pPr>
            <a:endParaRPr lang="es-AR" dirty="0"/>
          </a:p>
          <a:p>
            <a:pPr lvl="3" algn="just">
              <a:lnSpc>
                <a:spcPct val="90000"/>
              </a:lnSpc>
              <a:defRPr/>
            </a:pPr>
            <a:r>
              <a:rPr lang="es-AR" b="1" dirty="0"/>
              <a:t>Pauta 3.1 </a:t>
            </a:r>
            <a:r>
              <a:rPr lang="es-AR" dirty="0"/>
              <a:t>Legible.</a:t>
            </a:r>
          </a:p>
          <a:p>
            <a:pPr lvl="3" algn="just">
              <a:lnSpc>
                <a:spcPct val="90000"/>
              </a:lnSpc>
              <a:defRPr/>
            </a:pPr>
            <a:endParaRPr lang="es-AR" dirty="0"/>
          </a:p>
          <a:p>
            <a:pPr lvl="3" algn="just">
              <a:lnSpc>
                <a:spcPct val="90000"/>
              </a:lnSpc>
              <a:defRPr/>
            </a:pPr>
            <a:r>
              <a:rPr lang="es-AR" b="1" dirty="0"/>
              <a:t>Pauta 3.2 </a:t>
            </a:r>
            <a:r>
              <a:rPr lang="es-AR" dirty="0"/>
              <a:t>Predecible.</a:t>
            </a:r>
          </a:p>
          <a:p>
            <a:pPr lvl="3" algn="just">
              <a:lnSpc>
                <a:spcPct val="90000"/>
              </a:lnSpc>
              <a:defRPr/>
            </a:pPr>
            <a:endParaRPr lang="es-AR" dirty="0"/>
          </a:p>
          <a:p>
            <a:pPr lvl="3" algn="just">
              <a:lnSpc>
                <a:spcPct val="90000"/>
              </a:lnSpc>
              <a:defRPr/>
            </a:pPr>
            <a:r>
              <a:rPr lang="es-AR" b="1" dirty="0"/>
              <a:t>Pauta 3.3 </a:t>
            </a:r>
            <a:r>
              <a:rPr lang="es-AR" dirty="0"/>
              <a:t>Entrada de datos asistida.</a:t>
            </a:r>
          </a:p>
          <a:p>
            <a:pPr lvl="3" algn="just">
              <a:lnSpc>
                <a:spcPct val="90000"/>
              </a:lnSpc>
              <a:defRPr/>
            </a:pPr>
            <a:endParaRPr lang="es-AR" dirty="0"/>
          </a:p>
          <a:p>
            <a:pPr algn="just">
              <a:lnSpc>
                <a:spcPct val="90000"/>
              </a:lnSpc>
              <a:defRPr/>
            </a:pPr>
            <a:r>
              <a:rPr lang="es-AR" dirty="0"/>
              <a:t>Pauta del Principio Robusto:</a:t>
            </a:r>
          </a:p>
          <a:p>
            <a:pPr algn="just">
              <a:lnSpc>
                <a:spcPct val="90000"/>
              </a:lnSpc>
              <a:defRPr/>
            </a:pPr>
            <a:endParaRPr lang="es-AR" dirty="0"/>
          </a:p>
          <a:p>
            <a:pPr lvl="3" algn="just">
              <a:lnSpc>
                <a:spcPct val="90000"/>
              </a:lnSpc>
              <a:defRPr/>
            </a:pPr>
            <a:r>
              <a:rPr lang="es-AR" b="1" dirty="0"/>
              <a:t>Pauta 4.1 </a:t>
            </a:r>
            <a:r>
              <a:rPr lang="es-AR" dirty="0"/>
              <a:t>Compatible.</a:t>
            </a:r>
          </a:p>
          <a:p>
            <a:pPr>
              <a:defRPr/>
            </a:pPr>
            <a:endParaRPr lang="es-AR" altLang="es-AR" dirty="0"/>
          </a:p>
        </p:txBody>
      </p:sp>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32</a:t>
            </a:fld>
            <a:endParaRPr lang="es-ES" altLang="es-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1 Título"/>
          <p:cNvSpPr>
            <a:spLocks noGrp="1"/>
          </p:cNvSpPr>
          <p:nvPr>
            <p:ph type="title"/>
          </p:nvPr>
        </p:nvSpPr>
        <p:spPr>
          <a:xfrm>
            <a:off x="457200" y="274638"/>
            <a:ext cx="8229600" cy="654050"/>
          </a:xfrm>
        </p:spPr>
        <p:txBody>
          <a:bodyPr/>
          <a:lstStyle/>
          <a:p>
            <a:r>
              <a:rPr lang="es-AR" altLang="es-AR" b="1"/>
              <a:t>Pautas y leyes</a:t>
            </a:r>
          </a:p>
        </p:txBody>
      </p:sp>
      <p:sp>
        <p:nvSpPr>
          <p:cNvPr id="12291" name="2 Marcador de contenido"/>
          <p:cNvSpPr>
            <a:spLocks noGrp="1"/>
          </p:cNvSpPr>
          <p:nvPr>
            <p:ph idx="1"/>
          </p:nvPr>
        </p:nvSpPr>
        <p:spPr>
          <a:xfrm>
            <a:off x="457200" y="1600200"/>
            <a:ext cx="8229600" cy="4924425"/>
          </a:xfrm>
        </p:spPr>
        <p:txBody>
          <a:bodyPr/>
          <a:lstStyle/>
          <a:p>
            <a:pPr>
              <a:lnSpc>
                <a:spcPct val="90000"/>
              </a:lnSpc>
              <a:defRPr/>
            </a:pPr>
            <a:r>
              <a:rPr lang="es-AR" dirty="0"/>
              <a:t>Introducción a las WCAG 2.0</a:t>
            </a:r>
          </a:p>
          <a:p>
            <a:pPr marL="0" indent="0">
              <a:lnSpc>
                <a:spcPct val="90000"/>
              </a:lnSpc>
              <a:buFontTx/>
              <a:buNone/>
              <a:defRPr/>
            </a:pPr>
            <a:endParaRPr lang="es-AR" dirty="0"/>
          </a:p>
          <a:p>
            <a:pPr algn="just">
              <a:lnSpc>
                <a:spcPct val="90000"/>
              </a:lnSpc>
              <a:defRPr/>
            </a:pPr>
            <a:r>
              <a:rPr lang="es-AR" dirty="0"/>
              <a:t>Niveles de Conformidad:</a:t>
            </a:r>
          </a:p>
          <a:p>
            <a:pPr lvl="1" algn="just">
              <a:lnSpc>
                <a:spcPct val="90000"/>
              </a:lnSpc>
              <a:defRPr/>
            </a:pPr>
            <a:endParaRPr lang="es-AR" dirty="0"/>
          </a:p>
          <a:p>
            <a:pPr marL="0" indent="0">
              <a:buFontTx/>
              <a:buNone/>
              <a:defRPr/>
            </a:pPr>
            <a:endParaRPr lang="es-AR" altLang="es-AR" dirty="0"/>
          </a:p>
        </p:txBody>
      </p:sp>
      <p:graphicFrame>
        <p:nvGraphicFramePr>
          <p:cNvPr id="2" name="Tabla 1"/>
          <p:cNvGraphicFramePr>
            <a:graphicFrameLocks noGrp="1"/>
          </p:cNvGraphicFramePr>
          <p:nvPr/>
        </p:nvGraphicFramePr>
        <p:xfrm>
          <a:off x="457200" y="2662238"/>
          <a:ext cx="8229600" cy="3876675"/>
        </p:xfrm>
        <a:graphic>
          <a:graphicData uri="http://schemas.openxmlformats.org/drawingml/2006/table">
            <a:tbl>
              <a:tblPr firstRow="1" bandRow="1">
                <a:tableStyleId>{5C22544A-7EE6-4342-B048-85BDC9FD1C3A}</a:tableStyleId>
              </a:tblPr>
              <a:tblGrid>
                <a:gridCol w="2746648">
                  <a:extLst>
                    <a:ext uri="{9D8B030D-6E8A-4147-A177-3AD203B41FA5}">
                      <a16:colId xmlns:a16="http://schemas.microsoft.com/office/drawing/2014/main" val="1787984952"/>
                    </a:ext>
                  </a:extLst>
                </a:gridCol>
                <a:gridCol w="2739752">
                  <a:extLst>
                    <a:ext uri="{9D8B030D-6E8A-4147-A177-3AD203B41FA5}">
                      <a16:colId xmlns:a16="http://schemas.microsoft.com/office/drawing/2014/main" val="1233709344"/>
                    </a:ext>
                  </a:extLst>
                </a:gridCol>
                <a:gridCol w="2743200">
                  <a:extLst>
                    <a:ext uri="{9D8B030D-6E8A-4147-A177-3AD203B41FA5}">
                      <a16:colId xmlns:a16="http://schemas.microsoft.com/office/drawing/2014/main" val="2180455723"/>
                    </a:ext>
                  </a:extLst>
                </a:gridCol>
              </a:tblGrid>
              <a:tr h="432091">
                <a:tc>
                  <a:txBody>
                    <a:bodyPr/>
                    <a:lstStyle/>
                    <a:p>
                      <a:pPr algn="ctr"/>
                      <a:endParaRPr lang="es-AR" sz="2000" dirty="0"/>
                    </a:p>
                  </a:txBody>
                  <a:tcPr marT="45725" marB="45725"/>
                </a:tc>
                <a:tc>
                  <a:txBody>
                    <a:bodyPr/>
                    <a:lstStyle/>
                    <a:p>
                      <a:pPr algn="ctr"/>
                      <a:endParaRPr lang="es-AR" sz="2000" dirty="0"/>
                    </a:p>
                  </a:txBody>
                  <a:tcPr marT="45725" marB="45725"/>
                </a:tc>
                <a:tc>
                  <a:txBody>
                    <a:bodyPr/>
                    <a:lstStyle/>
                    <a:p>
                      <a:pPr algn="ctr"/>
                      <a:endParaRPr lang="es-AR" sz="2000" dirty="0"/>
                    </a:p>
                  </a:txBody>
                  <a:tcPr marT="45725" marB="45725"/>
                </a:tc>
                <a:extLst>
                  <a:ext uri="{0D108BD9-81ED-4DB2-BD59-A6C34878D82A}">
                    <a16:rowId xmlns:a16="http://schemas.microsoft.com/office/drawing/2014/main" val="887524215"/>
                  </a:ext>
                </a:extLst>
              </a:tr>
              <a:tr h="344458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AR" sz="2000" dirty="0"/>
                        <a:t>Para lograr conformidad con el Nivel A (el mínimo), la página web satisface todos los Criterios de Conformidad del Nivel A, o proporciona una versión alternativa conforme.</a:t>
                      </a:r>
                    </a:p>
                  </a:txBody>
                  <a:tcPr marT="45725" marB="45725"/>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AR" sz="2000" dirty="0"/>
                        <a:t>Para lograr conformidad con el Nivel AA, la página web satisface todos los Criterios de Conformidad de los Niveles A y AA, o se proporciona una versión alternativa conforme al Nivel AA.</a:t>
                      </a:r>
                    </a:p>
                  </a:txBody>
                  <a:tcPr marT="45725" marB="45725"/>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AR" sz="2000" dirty="0"/>
                        <a:t>Para lograr conformidad con el Nivel AAA, la página web satisface todos los Criterios de Conformidad de los Niveles A, AA y AAA, o proporciona una versión alternativa conforme al Nivel AAA.</a:t>
                      </a:r>
                    </a:p>
                  </a:txBody>
                  <a:tcPr marT="45725" marB="45725"/>
                </a:tc>
                <a:extLst>
                  <a:ext uri="{0D108BD9-81ED-4DB2-BD59-A6C34878D82A}">
                    <a16:rowId xmlns:a16="http://schemas.microsoft.com/office/drawing/2014/main" val="120655075"/>
                  </a:ext>
                </a:extLst>
              </a:tr>
            </a:tbl>
          </a:graphicData>
        </a:graphic>
      </p:graphicFrame>
      <p:pic>
        <p:nvPicPr>
          <p:cNvPr id="34834" name="Picture 2" descr="Nivel de conformidad A: indica que se cumplen todos los criterios del nivel de conformidad A. "/>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68413" y="2670175"/>
            <a:ext cx="1081087" cy="376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4835" name="Picture 4" descr="Nivel de conformidad AA: indica que se cumplen todos los criterios de los niveles de conformidad A y AA."/>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17963" y="2662238"/>
            <a:ext cx="10795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4836" name="Picture 6" descr="Nivel de conformidad AAA: indica que se cumplen todos los criterios de los niveles de conformidad A, AA y AAA."/>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756400" y="2659063"/>
            <a:ext cx="1152525" cy="414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Marcador de número de diapositiva 2"/>
          <p:cNvSpPr>
            <a:spLocks noGrp="1"/>
          </p:cNvSpPr>
          <p:nvPr>
            <p:ph type="sldNum" sz="quarter" idx="12"/>
          </p:nvPr>
        </p:nvSpPr>
        <p:spPr/>
        <p:txBody>
          <a:bodyPr/>
          <a:lstStyle/>
          <a:p>
            <a:pPr>
              <a:defRPr/>
            </a:pPr>
            <a:fld id="{4043C4F7-2767-4620-8EE5-22DF55586577}" type="slidenum">
              <a:rPr lang="es-ES" altLang="es-AR" smtClean="0"/>
              <a:pPr>
                <a:defRPr/>
              </a:pPr>
              <a:t>33</a:t>
            </a:fld>
            <a:endParaRPr lang="es-ES" altLang="es-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1 Título"/>
          <p:cNvSpPr>
            <a:spLocks noGrp="1"/>
          </p:cNvSpPr>
          <p:nvPr>
            <p:ph type="title"/>
          </p:nvPr>
        </p:nvSpPr>
        <p:spPr>
          <a:xfrm>
            <a:off x="457200" y="274638"/>
            <a:ext cx="8229600" cy="654050"/>
          </a:xfrm>
        </p:spPr>
        <p:txBody>
          <a:bodyPr/>
          <a:lstStyle/>
          <a:p>
            <a:r>
              <a:rPr lang="es-AR" altLang="es-AR" b="1"/>
              <a:t>Pautas y leyes</a:t>
            </a:r>
          </a:p>
        </p:txBody>
      </p:sp>
      <p:sp>
        <p:nvSpPr>
          <p:cNvPr id="12291" name="2 Marcador de contenido"/>
          <p:cNvSpPr>
            <a:spLocks noGrp="1"/>
          </p:cNvSpPr>
          <p:nvPr>
            <p:ph idx="1"/>
          </p:nvPr>
        </p:nvSpPr>
        <p:spPr>
          <a:xfrm>
            <a:off x="457200" y="1600200"/>
            <a:ext cx="8229600" cy="4924425"/>
          </a:xfrm>
        </p:spPr>
        <p:txBody>
          <a:bodyPr/>
          <a:lstStyle/>
          <a:p>
            <a:pPr>
              <a:lnSpc>
                <a:spcPct val="90000"/>
              </a:lnSpc>
              <a:defRPr/>
            </a:pPr>
            <a:r>
              <a:rPr lang="es-AR" dirty="0"/>
              <a:t>En Argentina:</a:t>
            </a:r>
          </a:p>
          <a:p>
            <a:pPr lvl="1">
              <a:lnSpc>
                <a:spcPct val="90000"/>
              </a:lnSpc>
              <a:defRPr/>
            </a:pPr>
            <a:r>
              <a:rPr lang="es-AR" altLang="es-AR" dirty="0"/>
              <a:t>En noviembre de 2010 se aprobó en Argentina la Ley 26.653 de accesibilidad de la información en las páginas web, que quizás sea la primera o una de las primeras legislaciones sobre accesibilidad web que se promulgan en Sudamérica.</a:t>
            </a:r>
          </a:p>
          <a:p>
            <a:pPr lvl="1">
              <a:lnSpc>
                <a:spcPct val="90000"/>
              </a:lnSpc>
              <a:defRPr/>
            </a:pPr>
            <a:r>
              <a:rPr lang="es-AR" dirty="0"/>
              <a:t>La Ley garantiza y amplía el acceso a la información pública a las personas con discapacidad. Mediante esta ley, el Estado Nacional deberá respetar en los diseños de sus páginas Web las normas y requisitos sobre accesibilidad de la información que faciliten el acceso a sus contenidos para todas las personas con discapacidad, con el objeto de garantizarles la igualdad real de oportunidades y trato, evitando así todo tipo de discriminación.</a:t>
            </a:r>
            <a:endParaRPr lang="es-AR" altLang="es-AR" dirty="0"/>
          </a:p>
        </p:txBody>
      </p:sp>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34</a:t>
            </a:fld>
            <a:endParaRPr lang="es-ES" altLang="es-AR"/>
          </a:p>
        </p:txBody>
      </p:sp>
    </p:spTree>
    <p:extLst>
      <p:ext uri="{BB962C8B-B14F-4D97-AF65-F5344CB8AC3E}">
        <p14:creationId xmlns:p14="http://schemas.microsoft.com/office/powerpoint/2010/main" val="150312414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1 Título"/>
          <p:cNvSpPr>
            <a:spLocks noGrp="1"/>
          </p:cNvSpPr>
          <p:nvPr>
            <p:ph type="title"/>
          </p:nvPr>
        </p:nvSpPr>
        <p:spPr>
          <a:xfrm>
            <a:off x="457200" y="274638"/>
            <a:ext cx="8229600" cy="654050"/>
          </a:xfrm>
        </p:spPr>
        <p:txBody>
          <a:bodyPr/>
          <a:lstStyle/>
          <a:p>
            <a:r>
              <a:rPr lang="es-AR" altLang="es-AR" b="1"/>
              <a:t>Pautas y leyes</a:t>
            </a:r>
          </a:p>
        </p:txBody>
      </p:sp>
      <p:sp>
        <p:nvSpPr>
          <p:cNvPr id="12291" name="2 Marcador de contenido"/>
          <p:cNvSpPr>
            <a:spLocks noGrp="1"/>
          </p:cNvSpPr>
          <p:nvPr>
            <p:ph idx="1"/>
          </p:nvPr>
        </p:nvSpPr>
        <p:spPr>
          <a:xfrm>
            <a:off x="457200" y="1600200"/>
            <a:ext cx="8229600" cy="4924425"/>
          </a:xfrm>
        </p:spPr>
        <p:txBody>
          <a:bodyPr/>
          <a:lstStyle/>
          <a:p>
            <a:pPr>
              <a:lnSpc>
                <a:spcPct val="90000"/>
              </a:lnSpc>
              <a:defRPr/>
            </a:pPr>
            <a:r>
              <a:rPr lang="es-AR" dirty="0"/>
              <a:t>En Argentina:</a:t>
            </a:r>
          </a:p>
          <a:p>
            <a:pPr lvl="1"/>
            <a:r>
              <a:rPr lang="es-AR" dirty="0"/>
              <a:t>La Disposición ONTI 02/2014 de agosto de 2014, establece entre los puntos más importantes: </a:t>
            </a:r>
          </a:p>
          <a:p>
            <a:pPr lvl="2"/>
            <a:r>
              <a:rPr lang="es-AR" i="1" dirty="0"/>
              <a:t>“ARTICULO 1 — Apruébese la “Norma de Accesibilidad Web 2.0.” que como Anexo I forma parte de dicha Disposición.</a:t>
            </a:r>
            <a:endParaRPr lang="es-AR" dirty="0"/>
          </a:p>
          <a:p>
            <a:pPr lvl="2"/>
            <a:r>
              <a:rPr lang="es-AR" i="1" dirty="0"/>
              <a:t>ARTICULO 2 — Apruébense los “Niveles Mínimos de Conformidad” que como Anexo II forma parte integrante de dicha Disposición.</a:t>
            </a:r>
            <a:endParaRPr lang="es-AR" dirty="0"/>
          </a:p>
          <a:p>
            <a:pPr lvl="2"/>
            <a:r>
              <a:rPr lang="es-AR" i="1" dirty="0"/>
              <a:t>ARTICULO 3 — Establécese que el nivel mínimo de conformidad a ser cumplimentado por los organismos, durante el primer período evaluatorio deberá ser de CINCUENTA (50) puntos y en el segundo período el umbral de aprobación se establecerá en OCHENTA (80), acorde lo establecido en el Anexo II que aprueba la Disposición.”</a:t>
            </a:r>
            <a:endParaRPr lang="es-AR" altLang="es-AR" dirty="0"/>
          </a:p>
        </p:txBody>
      </p:sp>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35</a:t>
            </a:fld>
            <a:endParaRPr lang="es-ES" altLang="es-AR"/>
          </a:p>
        </p:txBody>
      </p:sp>
    </p:spTree>
    <p:extLst>
      <p:ext uri="{BB962C8B-B14F-4D97-AF65-F5344CB8AC3E}">
        <p14:creationId xmlns:p14="http://schemas.microsoft.com/office/powerpoint/2010/main" val="271545738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1 Título"/>
          <p:cNvSpPr>
            <a:spLocks noGrp="1"/>
          </p:cNvSpPr>
          <p:nvPr>
            <p:ph type="title"/>
          </p:nvPr>
        </p:nvSpPr>
        <p:spPr>
          <a:xfrm>
            <a:off x="457200" y="274638"/>
            <a:ext cx="8229600" cy="654050"/>
          </a:xfrm>
        </p:spPr>
        <p:txBody>
          <a:bodyPr/>
          <a:lstStyle/>
          <a:p>
            <a:r>
              <a:rPr lang="es-AR" altLang="es-AR" b="1"/>
              <a:t>Organización</a:t>
            </a:r>
          </a:p>
        </p:txBody>
      </p:sp>
      <p:sp>
        <p:nvSpPr>
          <p:cNvPr id="35843" name="2 Marcador de contenido"/>
          <p:cNvSpPr>
            <a:spLocks noGrp="1"/>
          </p:cNvSpPr>
          <p:nvPr>
            <p:ph idx="1"/>
          </p:nvPr>
        </p:nvSpPr>
        <p:spPr/>
        <p:txBody>
          <a:bodyPr/>
          <a:lstStyle/>
          <a:p>
            <a:r>
              <a:rPr lang="es-AR" altLang="es-AR"/>
              <a:t>Introducción.</a:t>
            </a:r>
          </a:p>
          <a:p>
            <a:r>
              <a:rPr lang="es-AR" altLang="es-AR"/>
              <a:t>¿Qué es la accesibilidad web?</a:t>
            </a:r>
          </a:p>
          <a:p>
            <a:r>
              <a:rPr lang="es-AR" altLang="es-AR"/>
              <a:t>Pautas y leyes.</a:t>
            </a:r>
          </a:p>
          <a:p>
            <a:r>
              <a:rPr lang="es-AR" altLang="es-AR" b="1">
                <a:solidFill>
                  <a:srgbClr val="0070C0"/>
                </a:solidFill>
              </a:rPr>
              <a:t>Contenido accesible.</a:t>
            </a:r>
          </a:p>
          <a:p>
            <a:r>
              <a:rPr lang="es-AR" altLang="es-AR"/>
              <a:t>Navegación accesible.</a:t>
            </a:r>
          </a:p>
          <a:p>
            <a:r>
              <a:rPr lang="es-AR" altLang="es-AR"/>
              <a:t>Diseño accesible.</a:t>
            </a:r>
          </a:p>
          <a:p>
            <a:r>
              <a:rPr lang="es-AR" altLang="es-AR"/>
              <a:t>Análisis y evaluación de la accesibilidad web.</a:t>
            </a:r>
          </a:p>
          <a:p>
            <a:r>
              <a:rPr lang="es-AR" altLang="es-AR"/>
              <a:t>Conclusiones.</a:t>
            </a:r>
          </a:p>
        </p:txBody>
      </p:sp>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36</a:t>
            </a:fld>
            <a:endParaRPr lang="es-ES" altLang="es-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1 Título"/>
          <p:cNvSpPr>
            <a:spLocks noGrp="1"/>
          </p:cNvSpPr>
          <p:nvPr>
            <p:ph type="title"/>
          </p:nvPr>
        </p:nvSpPr>
        <p:spPr>
          <a:xfrm>
            <a:off x="457200" y="274638"/>
            <a:ext cx="8229600" cy="654050"/>
          </a:xfrm>
        </p:spPr>
        <p:txBody>
          <a:bodyPr/>
          <a:lstStyle/>
          <a:p>
            <a:r>
              <a:rPr lang="es-AR" altLang="es-AR" b="1"/>
              <a:t>Contenido accesible</a:t>
            </a:r>
          </a:p>
        </p:txBody>
      </p:sp>
      <p:sp>
        <p:nvSpPr>
          <p:cNvPr id="36867" name="2 Marcador de contenido"/>
          <p:cNvSpPr>
            <a:spLocks noGrp="1"/>
          </p:cNvSpPr>
          <p:nvPr>
            <p:ph idx="1"/>
          </p:nvPr>
        </p:nvSpPr>
        <p:spPr/>
        <p:txBody>
          <a:bodyPr/>
          <a:lstStyle/>
          <a:p>
            <a:r>
              <a:rPr lang="es-AR" altLang="es-AR"/>
              <a:t>Definición</a:t>
            </a:r>
          </a:p>
          <a:p>
            <a:endParaRPr lang="es-AR" altLang="es-AR"/>
          </a:p>
          <a:p>
            <a:pPr lvl="1" algn="just">
              <a:lnSpc>
                <a:spcPct val="90000"/>
              </a:lnSpc>
            </a:pPr>
            <a:r>
              <a:rPr lang="es-AR" altLang="es-AR"/>
              <a:t>Información contenida en una página web o en una aplicación web, incluyendo:</a:t>
            </a:r>
          </a:p>
          <a:p>
            <a:pPr lvl="1" algn="just">
              <a:lnSpc>
                <a:spcPct val="90000"/>
              </a:lnSpc>
            </a:pPr>
            <a:endParaRPr lang="es-AR" altLang="es-AR"/>
          </a:p>
          <a:p>
            <a:pPr lvl="3" algn="just">
              <a:lnSpc>
                <a:spcPct val="90000"/>
              </a:lnSpc>
            </a:pPr>
            <a:r>
              <a:rPr lang="es-AR" altLang="es-AR"/>
              <a:t>texto, </a:t>
            </a:r>
          </a:p>
          <a:p>
            <a:pPr lvl="3" algn="just">
              <a:lnSpc>
                <a:spcPct val="90000"/>
              </a:lnSpc>
            </a:pPr>
            <a:r>
              <a:rPr lang="es-AR" altLang="es-AR"/>
              <a:t>imágenes, </a:t>
            </a:r>
          </a:p>
          <a:p>
            <a:pPr lvl="3" algn="just">
              <a:lnSpc>
                <a:spcPct val="90000"/>
              </a:lnSpc>
            </a:pPr>
            <a:r>
              <a:rPr lang="es-AR" altLang="es-AR"/>
              <a:t>formularios, </a:t>
            </a:r>
          </a:p>
          <a:p>
            <a:pPr lvl="3" algn="just">
              <a:lnSpc>
                <a:spcPct val="90000"/>
              </a:lnSpc>
            </a:pPr>
            <a:r>
              <a:rPr lang="es-AR" altLang="es-AR"/>
              <a:t>sonido, </a:t>
            </a:r>
          </a:p>
          <a:p>
            <a:pPr lvl="3" algn="just">
              <a:lnSpc>
                <a:spcPct val="90000"/>
              </a:lnSpc>
            </a:pPr>
            <a:r>
              <a:rPr lang="es-AR" altLang="es-AR"/>
              <a:t>etc.</a:t>
            </a:r>
          </a:p>
          <a:p>
            <a:pPr lvl="1"/>
            <a:endParaRPr lang="es-AR" altLang="es-AR"/>
          </a:p>
        </p:txBody>
      </p:sp>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37</a:t>
            </a:fld>
            <a:endParaRPr lang="es-ES" altLang="es-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1 Título"/>
          <p:cNvSpPr>
            <a:spLocks noGrp="1"/>
          </p:cNvSpPr>
          <p:nvPr>
            <p:ph type="title"/>
          </p:nvPr>
        </p:nvSpPr>
        <p:spPr>
          <a:xfrm>
            <a:off x="457200" y="274638"/>
            <a:ext cx="8229600" cy="654050"/>
          </a:xfrm>
        </p:spPr>
        <p:txBody>
          <a:bodyPr/>
          <a:lstStyle/>
          <a:p>
            <a:r>
              <a:rPr lang="es-AR" altLang="es-AR" b="1"/>
              <a:t>Contenido accesible</a:t>
            </a:r>
          </a:p>
        </p:txBody>
      </p:sp>
      <p:sp>
        <p:nvSpPr>
          <p:cNvPr id="37891" name="2 Marcador de contenido"/>
          <p:cNvSpPr>
            <a:spLocks noGrp="1"/>
          </p:cNvSpPr>
          <p:nvPr>
            <p:ph idx="1"/>
          </p:nvPr>
        </p:nvSpPr>
        <p:spPr>
          <a:xfrm>
            <a:off x="457200" y="1600200"/>
            <a:ext cx="8229600" cy="4781550"/>
          </a:xfrm>
        </p:spPr>
        <p:txBody>
          <a:bodyPr/>
          <a:lstStyle/>
          <a:p>
            <a:r>
              <a:rPr lang="es-AR" altLang="es-AR"/>
              <a:t>Pautas que nombran directamente al contenido web:</a:t>
            </a:r>
          </a:p>
          <a:p>
            <a:pPr lvl="1" algn="just">
              <a:lnSpc>
                <a:spcPct val="90000"/>
              </a:lnSpc>
            </a:pPr>
            <a:r>
              <a:rPr lang="es-AR" altLang="es-AR"/>
              <a:t>1.1 Proporcionar alternativas textuales para todo </a:t>
            </a:r>
            <a:r>
              <a:rPr lang="es-AR" altLang="es-AR" b="1"/>
              <a:t>contenido no textual</a:t>
            </a:r>
            <a:r>
              <a:rPr lang="es-AR" altLang="es-AR"/>
              <a:t>.</a:t>
            </a:r>
          </a:p>
          <a:p>
            <a:pPr lvl="1" algn="just">
              <a:lnSpc>
                <a:spcPct val="90000"/>
              </a:lnSpc>
            </a:pPr>
            <a:r>
              <a:rPr lang="es-AR" altLang="es-AR"/>
              <a:t>1.3 Crear </a:t>
            </a:r>
            <a:r>
              <a:rPr lang="es-AR" altLang="es-AR" b="1"/>
              <a:t>contenido</a:t>
            </a:r>
            <a:r>
              <a:rPr lang="es-AR" altLang="es-AR"/>
              <a:t> que pueda presentarse de diferentes formas (por ejemplo, con una disposición mas simple) sin perder información o estructura.</a:t>
            </a:r>
          </a:p>
          <a:p>
            <a:pPr lvl="1" algn="just">
              <a:lnSpc>
                <a:spcPct val="90000"/>
              </a:lnSpc>
            </a:pPr>
            <a:r>
              <a:rPr lang="es-AR" altLang="es-AR"/>
              <a:t>1.4 Facilitar a los usuarios ver y oír el </a:t>
            </a:r>
            <a:r>
              <a:rPr lang="es-AR" altLang="es-AR" b="1"/>
              <a:t>contenido</a:t>
            </a:r>
            <a:r>
              <a:rPr lang="es-AR" altLang="es-AR"/>
              <a:t>.</a:t>
            </a:r>
          </a:p>
          <a:p>
            <a:pPr lvl="1" algn="just">
              <a:lnSpc>
                <a:spcPct val="90000"/>
              </a:lnSpc>
            </a:pPr>
            <a:r>
              <a:rPr lang="es-AR" altLang="es-AR"/>
              <a:t>2.2 Proporcionar a los usuarios el tiempo suficiente para leer y usar el </a:t>
            </a:r>
            <a:r>
              <a:rPr lang="es-AR" altLang="es-AR" b="1"/>
              <a:t>contenido</a:t>
            </a:r>
            <a:r>
              <a:rPr lang="es-AR" altLang="es-AR"/>
              <a:t>.</a:t>
            </a:r>
          </a:p>
          <a:p>
            <a:pPr lvl="1" algn="just">
              <a:lnSpc>
                <a:spcPct val="90000"/>
              </a:lnSpc>
            </a:pPr>
            <a:r>
              <a:rPr lang="es-AR" altLang="es-AR"/>
              <a:t>2.3 No diseñar </a:t>
            </a:r>
            <a:r>
              <a:rPr lang="es-AR" altLang="es-AR" b="1"/>
              <a:t>contenido</a:t>
            </a:r>
            <a:r>
              <a:rPr lang="es-AR" altLang="es-AR"/>
              <a:t> de un modo que se sepa podría provocar ataques, espasmos o convulsiones.</a:t>
            </a:r>
          </a:p>
          <a:p>
            <a:pPr lvl="1" algn="just">
              <a:lnSpc>
                <a:spcPct val="90000"/>
              </a:lnSpc>
            </a:pPr>
            <a:r>
              <a:rPr lang="es-AR" altLang="es-AR"/>
              <a:t>2.4 Proporcionar medios para ayudar a los usuarios a navegar, encontrar </a:t>
            </a:r>
            <a:r>
              <a:rPr lang="es-AR" altLang="es-AR" b="1"/>
              <a:t>contenido</a:t>
            </a:r>
            <a:r>
              <a:rPr lang="es-AR" altLang="es-AR"/>
              <a:t> y determinar dónde se encuentran.</a:t>
            </a:r>
          </a:p>
          <a:p>
            <a:pPr lvl="1" algn="just">
              <a:lnSpc>
                <a:spcPct val="90000"/>
              </a:lnSpc>
            </a:pPr>
            <a:r>
              <a:rPr lang="es-AR" altLang="es-AR"/>
              <a:t>3.1 Hacer que los </a:t>
            </a:r>
            <a:r>
              <a:rPr lang="es-AR" altLang="es-AR" b="1"/>
              <a:t>contenidos</a:t>
            </a:r>
            <a:r>
              <a:rPr lang="es-AR" altLang="es-AR"/>
              <a:t> textuales resulten legibles y comprensibles.</a:t>
            </a:r>
          </a:p>
          <a:p>
            <a:endParaRPr lang="es-AR" altLang="es-AR"/>
          </a:p>
          <a:p>
            <a:pPr lvl="1"/>
            <a:endParaRPr lang="es-AR" altLang="es-AR"/>
          </a:p>
        </p:txBody>
      </p:sp>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38</a:t>
            </a:fld>
            <a:endParaRPr lang="es-ES" altLang="es-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1 Título"/>
          <p:cNvSpPr>
            <a:spLocks noGrp="1"/>
          </p:cNvSpPr>
          <p:nvPr>
            <p:ph type="title"/>
          </p:nvPr>
        </p:nvSpPr>
        <p:spPr>
          <a:xfrm>
            <a:off x="457200" y="274638"/>
            <a:ext cx="8229600" cy="654050"/>
          </a:xfrm>
        </p:spPr>
        <p:txBody>
          <a:bodyPr/>
          <a:lstStyle/>
          <a:p>
            <a:r>
              <a:rPr lang="es-AR" altLang="es-AR" b="1"/>
              <a:t>Contenido accesible</a:t>
            </a:r>
          </a:p>
        </p:txBody>
      </p:sp>
      <p:sp>
        <p:nvSpPr>
          <p:cNvPr id="12291" name="2 Marcador de contenido"/>
          <p:cNvSpPr>
            <a:spLocks noGrp="1"/>
          </p:cNvSpPr>
          <p:nvPr>
            <p:ph idx="1"/>
          </p:nvPr>
        </p:nvSpPr>
        <p:spPr>
          <a:xfrm>
            <a:off x="457200" y="1700213"/>
            <a:ext cx="8229600" cy="4781550"/>
          </a:xfrm>
        </p:spPr>
        <p:txBody>
          <a:bodyPr/>
          <a:lstStyle/>
          <a:p>
            <a:pPr>
              <a:defRPr/>
            </a:pPr>
            <a:r>
              <a:rPr lang="es-AR" dirty="0"/>
              <a:t>Elementos problemáticos en una página web:</a:t>
            </a:r>
          </a:p>
          <a:p>
            <a:pPr marL="0" indent="0">
              <a:buFontTx/>
              <a:buNone/>
              <a:defRPr/>
            </a:pPr>
            <a:endParaRPr lang="es-AR" dirty="0"/>
          </a:p>
          <a:p>
            <a:pPr lvl="1">
              <a:defRPr/>
            </a:pPr>
            <a:r>
              <a:rPr lang="es-AR" dirty="0"/>
              <a:t>CAPTCHA.</a:t>
            </a:r>
          </a:p>
          <a:p>
            <a:pPr lvl="1">
              <a:defRPr/>
            </a:pPr>
            <a:endParaRPr lang="es-AR" dirty="0"/>
          </a:p>
          <a:p>
            <a:pPr lvl="1">
              <a:defRPr/>
            </a:pPr>
            <a:r>
              <a:rPr lang="es-AR" dirty="0"/>
              <a:t>Enlaces o botones que no tienen sentido fuera del contexto.</a:t>
            </a:r>
          </a:p>
          <a:p>
            <a:pPr lvl="1">
              <a:defRPr/>
            </a:pPr>
            <a:endParaRPr lang="es-AR" dirty="0"/>
          </a:p>
          <a:p>
            <a:pPr lvl="1">
              <a:defRPr/>
            </a:pPr>
            <a:r>
              <a:rPr lang="es-AR" dirty="0"/>
              <a:t>Imágenes sin un texto alternativo que las describa o un texto alternativo inapropiado.</a:t>
            </a:r>
          </a:p>
          <a:p>
            <a:pPr lvl="1">
              <a:defRPr/>
            </a:pPr>
            <a:endParaRPr lang="es-AR" dirty="0"/>
          </a:p>
          <a:p>
            <a:pPr lvl="1">
              <a:defRPr/>
            </a:pPr>
            <a:endParaRPr lang="es-AR" dirty="0"/>
          </a:p>
          <a:p>
            <a:pPr lvl="1">
              <a:defRPr/>
            </a:pPr>
            <a:endParaRPr lang="es-AR" dirty="0"/>
          </a:p>
        </p:txBody>
      </p:sp>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39</a:t>
            </a:fld>
            <a:endParaRPr lang="es-ES" altLang="es-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1 Título"/>
          <p:cNvSpPr>
            <a:spLocks noGrp="1"/>
          </p:cNvSpPr>
          <p:nvPr>
            <p:ph type="title"/>
          </p:nvPr>
        </p:nvSpPr>
        <p:spPr>
          <a:xfrm>
            <a:off x="457200" y="274638"/>
            <a:ext cx="8229600" cy="654050"/>
          </a:xfrm>
        </p:spPr>
        <p:txBody>
          <a:bodyPr/>
          <a:lstStyle/>
          <a:p>
            <a:r>
              <a:rPr lang="es-AR" altLang="es-AR" b="1"/>
              <a:t>Contenido accesible</a:t>
            </a:r>
          </a:p>
        </p:txBody>
      </p:sp>
      <p:sp>
        <p:nvSpPr>
          <p:cNvPr id="12291" name="2 Marcador de contenido"/>
          <p:cNvSpPr>
            <a:spLocks noGrp="1"/>
          </p:cNvSpPr>
          <p:nvPr>
            <p:ph idx="1"/>
          </p:nvPr>
        </p:nvSpPr>
        <p:spPr>
          <a:xfrm>
            <a:off x="457200" y="1700213"/>
            <a:ext cx="8229600" cy="4781550"/>
          </a:xfrm>
        </p:spPr>
        <p:txBody>
          <a:bodyPr/>
          <a:lstStyle/>
          <a:p>
            <a:pPr>
              <a:defRPr/>
            </a:pPr>
            <a:r>
              <a:rPr lang="es-AR" dirty="0"/>
              <a:t>Elemento problemático 1: CAPTCHA</a:t>
            </a:r>
          </a:p>
          <a:p>
            <a:pPr lvl="1">
              <a:lnSpc>
                <a:spcPct val="90000"/>
              </a:lnSpc>
              <a:defRPr/>
            </a:pPr>
            <a:r>
              <a:rPr lang="es-AR" dirty="0"/>
              <a:t>Completely Automated Public Turing test to tell Computers and Humans Apart (prueba de Turing completamente automática y pública para diferenciar computadoras de humanos)</a:t>
            </a:r>
          </a:p>
          <a:p>
            <a:pPr lvl="1">
              <a:lnSpc>
                <a:spcPct val="90000"/>
              </a:lnSpc>
              <a:defRPr/>
            </a:pPr>
            <a:r>
              <a:rPr lang="es-AR" dirty="0"/>
              <a:t>Evitar que accedan robots de spam u otro tipo de software automático a zonas restringidas.</a:t>
            </a:r>
          </a:p>
          <a:p>
            <a:pPr lvl="1">
              <a:lnSpc>
                <a:spcPct val="90000"/>
              </a:lnSpc>
              <a:defRPr/>
            </a:pPr>
            <a:r>
              <a:rPr lang="es-AR" dirty="0"/>
              <a:t>Impiden el acceso a los usuarios que no pueden ver la imagen.</a:t>
            </a:r>
          </a:p>
          <a:p>
            <a:pPr lvl="1">
              <a:lnSpc>
                <a:spcPct val="90000"/>
              </a:lnSpc>
              <a:defRPr/>
            </a:pPr>
            <a:r>
              <a:rPr lang="es-AR" dirty="0"/>
              <a:t>Modalidades: Visuales, Auditivos y Lógicos.</a:t>
            </a:r>
          </a:p>
          <a:p>
            <a:pPr lvl="1">
              <a:lnSpc>
                <a:spcPct val="90000"/>
              </a:lnSpc>
              <a:defRPr/>
            </a:pPr>
            <a:r>
              <a:rPr lang="es-AR" dirty="0"/>
              <a:t>Como programar un CAPTCHA accesible?</a:t>
            </a:r>
          </a:p>
          <a:p>
            <a:pPr lvl="2">
              <a:lnSpc>
                <a:spcPct val="90000"/>
              </a:lnSpc>
              <a:defRPr/>
            </a:pPr>
            <a:r>
              <a:rPr lang="es-AR" dirty="0"/>
              <a:t>1. Proporcionar una alternativa textual que describa su propósito. Ejemplo:</a:t>
            </a:r>
          </a:p>
          <a:p>
            <a:pPr marL="914400" lvl="2" indent="0">
              <a:lnSpc>
                <a:spcPct val="90000"/>
              </a:lnSpc>
              <a:buFontTx/>
              <a:buNone/>
              <a:defRPr/>
            </a:pPr>
            <a:r>
              <a:rPr lang="es-AR" b="1" dirty="0"/>
              <a:t>&lt;</a:t>
            </a:r>
            <a:r>
              <a:rPr lang="es-AR" b="1" dirty="0" err="1"/>
              <a:t>img</a:t>
            </a:r>
            <a:r>
              <a:rPr lang="es-AR" b="1" dirty="0"/>
              <a:t> </a:t>
            </a:r>
            <a:r>
              <a:rPr lang="es-AR" b="1" dirty="0" err="1"/>
              <a:t>src</a:t>
            </a:r>
            <a:r>
              <a:rPr lang="es-AR" b="1" dirty="0"/>
              <a:t>=“micaptcha.gif” </a:t>
            </a:r>
            <a:r>
              <a:rPr lang="es-AR" b="1" dirty="0" err="1">
                <a:solidFill>
                  <a:srgbClr val="FF0000"/>
                </a:solidFill>
              </a:rPr>
              <a:t>alt</a:t>
            </a:r>
            <a:r>
              <a:rPr lang="es-AR" b="1" dirty="0">
                <a:solidFill>
                  <a:srgbClr val="FF0000"/>
                </a:solidFill>
              </a:rPr>
              <a:t> = “Introduzca las letras de la imagen”</a:t>
            </a:r>
            <a:r>
              <a:rPr lang="es-AR" b="1" dirty="0"/>
              <a:t>&gt;</a:t>
            </a:r>
            <a:endParaRPr lang="es-AR" altLang="es-AR" dirty="0"/>
          </a:p>
        </p:txBody>
      </p:sp>
      <p:pic>
        <p:nvPicPr>
          <p:cNvPr id="39940" name="Picture 2" descr="http://www.zdnet.com/i/story/60/80/001835/india_captcha_breakers6.JPG"/>
          <p:cNvPicPr>
            <a:picLocks noChangeAspect="1" noChangeArrowheads="1"/>
          </p:cNvPicPr>
          <p:nvPr/>
        </p:nvPicPr>
        <p:blipFill>
          <a:blip r:embed="rId3">
            <a:extLst>
              <a:ext uri="{28A0092B-C50C-407E-A947-70E740481C1C}">
                <a14:useLocalDpi xmlns:a14="http://schemas.microsoft.com/office/drawing/2010/main" val="0"/>
              </a:ext>
            </a:extLst>
          </a:blip>
          <a:srcRect l="6413" t="34267" r="12646" b="23325"/>
          <a:stretch>
            <a:fillRect/>
          </a:stretch>
        </p:blipFill>
        <p:spPr bwMode="auto">
          <a:xfrm>
            <a:off x="3702050" y="5661025"/>
            <a:ext cx="1739900" cy="9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40</a:t>
            </a:fld>
            <a:endParaRPr lang="es-ES" altLang="es-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1 Título"/>
          <p:cNvSpPr>
            <a:spLocks noGrp="1"/>
          </p:cNvSpPr>
          <p:nvPr>
            <p:ph type="title"/>
          </p:nvPr>
        </p:nvSpPr>
        <p:spPr>
          <a:xfrm>
            <a:off x="457200" y="274638"/>
            <a:ext cx="8229600" cy="654050"/>
          </a:xfrm>
        </p:spPr>
        <p:txBody>
          <a:bodyPr/>
          <a:lstStyle/>
          <a:p>
            <a:r>
              <a:rPr lang="es-AR" altLang="es-AR" b="1"/>
              <a:t>Contenido accesible</a:t>
            </a:r>
          </a:p>
        </p:txBody>
      </p:sp>
      <p:sp>
        <p:nvSpPr>
          <p:cNvPr id="40963" name="2 Marcador de contenido"/>
          <p:cNvSpPr>
            <a:spLocks noGrp="1"/>
          </p:cNvSpPr>
          <p:nvPr>
            <p:ph idx="1"/>
          </p:nvPr>
        </p:nvSpPr>
        <p:spPr>
          <a:xfrm>
            <a:off x="430213" y="1916113"/>
            <a:ext cx="8229600" cy="4781550"/>
          </a:xfrm>
        </p:spPr>
        <p:txBody>
          <a:bodyPr/>
          <a:lstStyle/>
          <a:p>
            <a:pPr>
              <a:lnSpc>
                <a:spcPct val="90000"/>
              </a:lnSpc>
            </a:pPr>
            <a:r>
              <a:rPr lang="es-AR" altLang="es-AR"/>
              <a:t>Elemento problemático 2: Enlaces o botones que no tienen sentido fuera del contexto.</a:t>
            </a:r>
          </a:p>
          <a:p>
            <a:pPr lvl="1">
              <a:lnSpc>
                <a:spcPct val="90000"/>
              </a:lnSpc>
            </a:pPr>
            <a:r>
              <a:rPr lang="es-AR" altLang="es-AR"/>
              <a:t>Ejemplo:  </a:t>
            </a:r>
            <a:r>
              <a:rPr lang="es-AR" altLang="es-AR" b="1" u="sng">
                <a:solidFill>
                  <a:srgbClr val="00B0F0"/>
                </a:solidFill>
              </a:rPr>
              <a:t>Pinche aquí </a:t>
            </a:r>
            <a:r>
              <a:rPr lang="es-AR" altLang="es-AR"/>
              <a:t>para más información sobre accesibilidad web.</a:t>
            </a:r>
          </a:p>
          <a:p>
            <a:pPr lvl="1">
              <a:lnSpc>
                <a:spcPct val="90000"/>
              </a:lnSpc>
            </a:pPr>
            <a:r>
              <a:rPr lang="es-AR" altLang="es-AR"/>
              <a:t>Tener en cuenta que …</a:t>
            </a:r>
          </a:p>
          <a:p>
            <a:pPr lvl="2">
              <a:lnSpc>
                <a:spcPct val="90000"/>
              </a:lnSpc>
            </a:pPr>
            <a:r>
              <a:rPr lang="es-AR" altLang="es-AR"/>
              <a:t>Enlaces con el mismo destino tienen que tener la misma descripción, el mismo texto del enlace.</a:t>
            </a:r>
          </a:p>
          <a:p>
            <a:pPr lvl="2">
              <a:lnSpc>
                <a:spcPct val="90000"/>
              </a:lnSpc>
            </a:pPr>
            <a:r>
              <a:rPr lang="es-AR" altLang="es-AR"/>
              <a:t>Enlaces a diferentes destinos tienen que tener diferentes descripciones, es decir, diferentes textos del enlace.</a:t>
            </a:r>
          </a:p>
          <a:p>
            <a:pPr lvl="1">
              <a:lnSpc>
                <a:spcPct val="80000"/>
              </a:lnSpc>
            </a:pPr>
            <a:r>
              <a:rPr lang="es-AR" altLang="es-AR"/>
              <a:t>Usar el propio </a:t>
            </a:r>
            <a:r>
              <a:rPr lang="es-AR" altLang="es-AR" b="1"/>
              <a:t>texto del enlace</a:t>
            </a:r>
            <a:r>
              <a:rPr lang="es-AR" altLang="es-AR"/>
              <a:t> para describir su propósito.</a:t>
            </a:r>
          </a:p>
          <a:p>
            <a:pPr lvl="2">
              <a:lnSpc>
                <a:spcPct val="80000"/>
              </a:lnSpc>
            </a:pPr>
            <a:r>
              <a:rPr lang="es-AR" altLang="es-AR"/>
              <a:t>Ejemplo:</a:t>
            </a:r>
          </a:p>
          <a:p>
            <a:pPr lvl="3">
              <a:lnSpc>
                <a:spcPct val="80000"/>
              </a:lnSpc>
            </a:pPr>
            <a:r>
              <a:rPr lang="es-AR" altLang="es-AR"/>
              <a:t>Hubo mucho derramamiento de sangre durante el “</a:t>
            </a:r>
            <a:r>
              <a:rPr lang="es-AR" altLang="es-AR" b="1" u="sng">
                <a:solidFill>
                  <a:srgbClr val="00B0F0"/>
                </a:solidFill>
              </a:rPr>
              <a:t>periodo de la Edad Media</a:t>
            </a:r>
            <a:r>
              <a:rPr lang="es-AR" altLang="es-AR"/>
              <a:t>”.</a:t>
            </a:r>
          </a:p>
        </p:txBody>
      </p:sp>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41</a:t>
            </a:fld>
            <a:endParaRPr lang="es-ES" altLang="es-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1 Título"/>
          <p:cNvSpPr>
            <a:spLocks noGrp="1"/>
          </p:cNvSpPr>
          <p:nvPr>
            <p:ph type="title"/>
          </p:nvPr>
        </p:nvSpPr>
        <p:spPr>
          <a:xfrm>
            <a:off x="457200" y="274638"/>
            <a:ext cx="8229600" cy="654050"/>
          </a:xfrm>
        </p:spPr>
        <p:txBody>
          <a:bodyPr/>
          <a:lstStyle/>
          <a:p>
            <a:r>
              <a:rPr lang="es-AR" altLang="es-AR" b="1"/>
              <a:t>Contenido accesible</a:t>
            </a:r>
          </a:p>
        </p:txBody>
      </p:sp>
      <p:sp>
        <p:nvSpPr>
          <p:cNvPr id="12291" name="2 Marcador de contenido"/>
          <p:cNvSpPr>
            <a:spLocks noGrp="1"/>
          </p:cNvSpPr>
          <p:nvPr>
            <p:ph idx="1"/>
          </p:nvPr>
        </p:nvSpPr>
        <p:spPr>
          <a:xfrm>
            <a:off x="430213" y="1916113"/>
            <a:ext cx="8229600" cy="4781550"/>
          </a:xfrm>
        </p:spPr>
        <p:txBody>
          <a:bodyPr/>
          <a:lstStyle/>
          <a:p>
            <a:pPr>
              <a:lnSpc>
                <a:spcPct val="90000"/>
              </a:lnSpc>
              <a:defRPr/>
            </a:pPr>
            <a:r>
              <a:rPr lang="es-AR" dirty="0"/>
              <a:t>Elemento problemático 2: Enlaces o botones que no tienen sentido fuera del contexto.</a:t>
            </a:r>
          </a:p>
          <a:p>
            <a:pPr marL="0" indent="0">
              <a:lnSpc>
                <a:spcPct val="90000"/>
              </a:lnSpc>
              <a:buFontTx/>
              <a:buNone/>
              <a:defRPr/>
            </a:pPr>
            <a:endParaRPr lang="es-AR" dirty="0"/>
          </a:p>
          <a:p>
            <a:pPr lvl="1">
              <a:lnSpc>
                <a:spcPct val="80000"/>
              </a:lnSpc>
              <a:defRPr/>
            </a:pPr>
            <a:r>
              <a:rPr lang="es-AR" altLang="es-AR" dirty="0"/>
              <a:t>Proporcionar una descripción adicional al texto del enlace.</a:t>
            </a:r>
          </a:p>
          <a:p>
            <a:pPr marL="457200" lvl="1" indent="0">
              <a:lnSpc>
                <a:spcPct val="80000"/>
              </a:lnSpc>
              <a:buFontTx/>
              <a:buNone/>
              <a:defRPr/>
            </a:pPr>
            <a:endParaRPr lang="es-AR" altLang="es-AR" dirty="0"/>
          </a:p>
          <a:p>
            <a:pPr lvl="2">
              <a:lnSpc>
                <a:spcPct val="80000"/>
              </a:lnSpc>
              <a:defRPr/>
            </a:pPr>
            <a:r>
              <a:rPr lang="es-AR" altLang="es-AR" dirty="0"/>
              <a:t>Ejemplo: Una web que contiene una colección de nuevos artículos.</a:t>
            </a:r>
          </a:p>
          <a:p>
            <a:pPr marL="914400" lvl="2" indent="0">
              <a:lnSpc>
                <a:spcPct val="80000"/>
              </a:lnSpc>
              <a:buFontTx/>
              <a:buNone/>
              <a:defRPr/>
            </a:pPr>
            <a:endParaRPr lang="es-AR" altLang="es-AR" dirty="0"/>
          </a:p>
          <a:p>
            <a:pPr lvl="3">
              <a:lnSpc>
                <a:spcPct val="80000"/>
              </a:lnSpc>
              <a:defRPr/>
            </a:pPr>
            <a:r>
              <a:rPr lang="es-AR" altLang="es-AR" dirty="0"/>
              <a:t>Título artículo 1</a:t>
            </a:r>
          </a:p>
          <a:p>
            <a:pPr lvl="3">
              <a:lnSpc>
                <a:spcPct val="80000"/>
              </a:lnSpc>
              <a:buFontTx/>
              <a:buNone/>
              <a:defRPr/>
            </a:pPr>
            <a:r>
              <a:rPr lang="es-AR" altLang="es-AR" dirty="0"/>
              <a:t>	Resumen de la noticia 1 (</a:t>
            </a:r>
            <a:r>
              <a:rPr lang="es-AR" altLang="es-AR" b="1" u="sng" dirty="0">
                <a:solidFill>
                  <a:srgbClr val="00B0F0"/>
                </a:solidFill>
              </a:rPr>
              <a:t>Leer más</a:t>
            </a:r>
            <a:r>
              <a:rPr lang="es-AR" altLang="es-AR" dirty="0"/>
              <a:t>).</a:t>
            </a:r>
          </a:p>
          <a:p>
            <a:pPr lvl="3">
              <a:lnSpc>
                <a:spcPct val="80000"/>
              </a:lnSpc>
              <a:defRPr/>
            </a:pPr>
            <a:r>
              <a:rPr lang="es-AR" altLang="es-AR" dirty="0"/>
              <a:t>Título artículo 2</a:t>
            </a:r>
          </a:p>
          <a:p>
            <a:pPr lvl="3">
              <a:lnSpc>
                <a:spcPct val="80000"/>
              </a:lnSpc>
              <a:buFontTx/>
              <a:buNone/>
              <a:defRPr/>
            </a:pPr>
            <a:r>
              <a:rPr lang="es-AR" altLang="es-AR" dirty="0"/>
              <a:t>	Resumen de la noticia 2 (</a:t>
            </a:r>
            <a:r>
              <a:rPr lang="es-AR" altLang="es-AR" b="1" u="sng" dirty="0">
                <a:solidFill>
                  <a:srgbClr val="00B0F0"/>
                </a:solidFill>
              </a:rPr>
              <a:t>Leer más</a:t>
            </a:r>
            <a:r>
              <a:rPr lang="es-AR" altLang="es-AR" dirty="0"/>
              <a:t>).</a:t>
            </a:r>
            <a:endParaRPr lang="es-AR" dirty="0"/>
          </a:p>
        </p:txBody>
      </p:sp>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42</a:t>
            </a:fld>
            <a:endParaRPr lang="es-ES" altLang="es-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1 Título"/>
          <p:cNvSpPr>
            <a:spLocks noGrp="1"/>
          </p:cNvSpPr>
          <p:nvPr>
            <p:ph type="title"/>
          </p:nvPr>
        </p:nvSpPr>
        <p:spPr>
          <a:xfrm>
            <a:off x="457200" y="274638"/>
            <a:ext cx="8229600" cy="654050"/>
          </a:xfrm>
        </p:spPr>
        <p:txBody>
          <a:bodyPr/>
          <a:lstStyle/>
          <a:p>
            <a:r>
              <a:rPr lang="es-AR" altLang="es-AR" b="1"/>
              <a:t>Contenido accesible</a:t>
            </a:r>
          </a:p>
        </p:txBody>
      </p:sp>
      <p:sp>
        <p:nvSpPr>
          <p:cNvPr id="12291" name="2 Marcador de contenido"/>
          <p:cNvSpPr>
            <a:spLocks noGrp="1"/>
          </p:cNvSpPr>
          <p:nvPr>
            <p:ph idx="1"/>
          </p:nvPr>
        </p:nvSpPr>
        <p:spPr>
          <a:xfrm>
            <a:off x="430213" y="1916113"/>
            <a:ext cx="8229600" cy="4781550"/>
          </a:xfrm>
        </p:spPr>
        <p:txBody>
          <a:bodyPr/>
          <a:lstStyle/>
          <a:p>
            <a:pPr>
              <a:lnSpc>
                <a:spcPct val="90000"/>
              </a:lnSpc>
              <a:defRPr/>
            </a:pPr>
            <a:r>
              <a:rPr lang="es-AR" dirty="0"/>
              <a:t>Elemento problemático 2: Enlaces o botones que no tienen sentido fuera del contexto.</a:t>
            </a:r>
          </a:p>
          <a:p>
            <a:pPr marL="0" indent="0">
              <a:lnSpc>
                <a:spcPct val="90000"/>
              </a:lnSpc>
              <a:buFontTx/>
              <a:buNone/>
              <a:defRPr/>
            </a:pPr>
            <a:endParaRPr lang="es-AR" dirty="0"/>
          </a:p>
          <a:p>
            <a:pPr lvl="1" algn="just">
              <a:lnSpc>
                <a:spcPct val="80000"/>
              </a:lnSpc>
              <a:defRPr/>
            </a:pPr>
            <a:r>
              <a:rPr lang="es-AR" altLang="es-AR" dirty="0"/>
              <a:t>A través del atributo TITLE:</a:t>
            </a:r>
          </a:p>
          <a:p>
            <a:pPr lvl="2" algn="just">
              <a:lnSpc>
                <a:spcPct val="80000"/>
              </a:lnSpc>
              <a:buFontTx/>
              <a:buNone/>
              <a:defRPr/>
            </a:pPr>
            <a:r>
              <a:rPr lang="es-AR" altLang="es-AR" b="1" dirty="0"/>
              <a:t>&lt;a </a:t>
            </a:r>
            <a:r>
              <a:rPr lang="es-AR" altLang="es-AR" b="1" dirty="0" err="1"/>
              <a:t>href</a:t>
            </a:r>
            <a:r>
              <a:rPr lang="es-AR" altLang="es-AR" b="1" dirty="0"/>
              <a:t>=“” </a:t>
            </a:r>
            <a:r>
              <a:rPr lang="es-AR" altLang="es-AR" b="1" dirty="0" err="1">
                <a:solidFill>
                  <a:srgbClr val="FF0000"/>
                </a:solidFill>
              </a:rPr>
              <a:t>title</a:t>
            </a:r>
            <a:r>
              <a:rPr lang="es-AR" altLang="es-AR" b="1" dirty="0">
                <a:solidFill>
                  <a:srgbClr val="FF0000"/>
                </a:solidFill>
              </a:rPr>
              <a:t>=“Título artículo 1”</a:t>
            </a:r>
            <a:r>
              <a:rPr lang="es-AR" altLang="es-AR" b="1" dirty="0"/>
              <a:t>&gt;Leer más&lt;/a&gt;</a:t>
            </a:r>
          </a:p>
          <a:p>
            <a:pPr lvl="2" algn="just">
              <a:lnSpc>
                <a:spcPct val="80000"/>
              </a:lnSpc>
              <a:buFontTx/>
              <a:buNone/>
              <a:defRPr/>
            </a:pPr>
            <a:r>
              <a:rPr lang="es-AR" altLang="es-AR" b="1" dirty="0"/>
              <a:t>&lt;a </a:t>
            </a:r>
            <a:r>
              <a:rPr lang="es-AR" altLang="es-AR" b="1" dirty="0" err="1"/>
              <a:t>href</a:t>
            </a:r>
            <a:r>
              <a:rPr lang="es-AR" altLang="es-AR" b="1" dirty="0"/>
              <a:t>=“” </a:t>
            </a:r>
            <a:r>
              <a:rPr lang="es-AR" altLang="es-AR" b="1" dirty="0" err="1">
                <a:solidFill>
                  <a:srgbClr val="FF0000"/>
                </a:solidFill>
              </a:rPr>
              <a:t>title</a:t>
            </a:r>
            <a:r>
              <a:rPr lang="es-AR" altLang="es-AR" b="1" dirty="0">
                <a:solidFill>
                  <a:srgbClr val="FF0000"/>
                </a:solidFill>
              </a:rPr>
              <a:t>=“Título artículo 2”</a:t>
            </a:r>
            <a:r>
              <a:rPr lang="es-AR" altLang="es-AR" b="1" dirty="0"/>
              <a:t>&gt;Leer más&lt;/a&gt;</a:t>
            </a:r>
          </a:p>
          <a:p>
            <a:pPr lvl="2" algn="just">
              <a:lnSpc>
                <a:spcPct val="80000"/>
              </a:lnSpc>
              <a:buFontTx/>
              <a:buNone/>
              <a:defRPr/>
            </a:pPr>
            <a:endParaRPr lang="es-AR" altLang="es-AR" b="1" dirty="0"/>
          </a:p>
          <a:p>
            <a:pPr lvl="1" algn="just">
              <a:lnSpc>
                <a:spcPct val="80000"/>
              </a:lnSpc>
              <a:defRPr/>
            </a:pPr>
            <a:r>
              <a:rPr lang="es-AR" altLang="es-AR" dirty="0"/>
              <a:t>A través la CSS (hojas de estilo)</a:t>
            </a:r>
          </a:p>
          <a:p>
            <a:pPr lvl="2" algn="just">
              <a:lnSpc>
                <a:spcPct val="80000"/>
              </a:lnSpc>
              <a:buFontTx/>
              <a:buNone/>
              <a:defRPr/>
            </a:pPr>
            <a:r>
              <a:rPr lang="es-AR" altLang="es-AR" b="1" dirty="0"/>
              <a:t>&lt;a </a:t>
            </a:r>
            <a:r>
              <a:rPr lang="es-AR" altLang="es-AR" b="1" dirty="0" err="1"/>
              <a:t>href</a:t>
            </a:r>
            <a:r>
              <a:rPr lang="es-AR" altLang="es-AR" b="1" dirty="0"/>
              <a:t>=“”&gt; Leer más &lt;</a:t>
            </a:r>
            <a:r>
              <a:rPr lang="es-AR" altLang="es-AR" b="1" dirty="0" err="1"/>
              <a:t>span</a:t>
            </a:r>
            <a:r>
              <a:rPr lang="es-AR" altLang="es-AR" b="1" dirty="0"/>
              <a:t> </a:t>
            </a:r>
            <a:r>
              <a:rPr lang="es-AR" altLang="es-AR" b="1" dirty="0" err="1">
                <a:solidFill>
                  <a:srgbClr val="FF0000"/>
                </a:solidFill>
              </a:rPr>
              <a:t>class</a:t>
            </a:r>
            <a:r>
              <a:rPr lang="es-AR" altLang="es-AR" b="1" dirty="0">
                <a:solidFill>
                  <a:srgbClr val="FF0000"/>
                </a:solidFill>
              </a:rPr>
              <a:t>=“ocultar”</a:t>
            </a:r>
            <a:r>
              <a:rPr lang="es-AR" altLang="es-AR" b="1" dirty="0"/>
              <a:t>&gt; sobre el artículo 1 &lt;/</a:t>
            </a:r>
            <a:r>
              <a:rPr lang="es-AR" altLang="es-AR" b="1" dirty="0" err="1"/>
              <a:t>span</a:t>
            </a:r>
            <a:r>
              <a:rPr lang="es-AR" altLang="es-AR" b="1" dirty="0"/>
              <a:t>&gt;&lt;/a&gt;</a:t>
            </a:r>
          </a:p>
          <a:p>
            <a:pPr lvl="2" algn="just">
              <a:lnSpc>
                <a:spcPct val="80000"/>
              </a:lnSpc>
              <a:buFontTx/>
              <a:buNone/>
              <a:defRPr/>
            </a:pPr>
            <a:endParaRPr lang="es-AR" altLang="es-AR" dirty="0"/>
          </a:p>
          <a:p>
            <a:pPr lvl="2" algn="just">
              <a:lnSpc>
                <a:spcPct val="80000"/>
              </a:lnSpc>
              <a:buFontTx/>
              <a:buNone/>
              <a:defRPr/>
            </a:pPr>
            <a:r>
              <a:rPr lang="es-AR" altLang="es-AR" b="1" dirty="0" err="1"/>
              <a:t>span.</a:t>
            </a:r>
            <a:r>
              <a:rPr lang="es-AR" altLang="es-AR" b="1" dirty="0" err="1">
                <a:solidFill>
                  <a:srgbClr val="FF0000"/>
                </a:solidFill>
              </a:rPr>
              <a:t>ocultar</a:t>
            </a:r>
            <a:r>
              <a:rPr lang="es-AR" altLang="es-AR" b="1" dirty="0"/>
              <a:t> {</a:t>
            </a:r>
          </a:p>
          <a:p>
            <a:pPr lvl="2" algn="just">
              <a:lnSpc>
                <a:spcPct val="80000"/>
              </a:lnSpc>
              <a:buFontTx/>
              <a:buNone/>
              <a:defRPr/>
            </a:pPr>
            <a:r>
              <a:rPr lang="es-AR" altLang="es-AR" b="1" dirty="0"/>
              <a:t>	position: </a:t>
            </a:r>
            <a:r>
              <a:rPr lang="es-AR" altLang="es-AR" b="1" dirty="0" err="1"/>
              <a:t>absolute</a:t>
            </a:r>
            <a:r>
              <a:rPr lang="es-AR" altLang="es-AR" b="1" dirty="0"/>
              <a:t>;</a:t>
            </a:r>
          </a:p>
          <a:p>
            <a:pPr lvl="2" algn="just">
              <a:lnSpc>
                <a:spcPct val="80000"/>
              </a:lnSpc>
              <a:buFontTx/>
              <a:buNone/>
              <a:defRPr/>
            </a:pPr>
            <a:r>
              <a:rPr lang="es-AR" altLang="es-AR" b="1" dirty="0"/>
              <a:t>	</a:t>
            </a:r>
            <a:r>
              <a:rPr lang="es-AR" altLang="es-AR" b="1" dirty="0" err="1"/>
              <a:t>left</a:t>
            </a:r>
            <a:r>
              <a:rPr lang="es-AR" altLang="es-AR" b="1" dirty="0"/>
              <a:t>: -9000px;</a:t>
            </a:r>
          </a:p>
          <a:p>
            <a:pPr lvl="2" algn="just">
              <a:lnSpc>
                <a:spcPct val="80000"/>
              </a:lnSpc>
              <a:buFontTx/>
              <a:buNone/>
              <a:defRPr/>
            </a:pPr>
            <a:r>
              <a:rPr lang="es-AR" altLang="es-AR" b="1" dirty="0"/>
              <a:t>}</a:t>
            </a:r>
            <a:endParaRPr lang="es-AR" dirty="0"/>
          </a:p>
        </p:txBody>
      </p:sp>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43</a:t>
            </a:fld>
            <a:endParaRPr lang="es-ES" altLang="es-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1 Título"/>
          <p:cNvSpPr>
            <a:spLocks noGrp="1"/>
          </p:cNvSpPr>
          <p:nvPr>
            <p:ph type="title"/>
          </p:nvPr>
        </p:nvSpPr>
        <p:spPr>
          <a:xfrm>
            <a:off x="457200" y="274638"/>
            <a:ext cx="8229600" cy="654050"/>
          </a:xfrm>
        </p:spPr>
        <p:txBody>
          <a:bodyPr/>
          <a:lstStyle/>
          <a:p>
            <a:r>
              <a:rPr lang="es-AR" altLang="es-AR" b="1"/>
              <a:t>Contenido accesible</a:t>
            </a:r>
          </a:p>
        </p:txBody>
      </p:sp>
      <p:sp>
        <p:nvSpPr>
          <p:cNvPr id="12291" name="2 Marcador de contenido"/>
          <p:cNvSpPr>
            <a:spLocks noGrp="1"/>
          </p:cNvSpPr>
          <p:nvPr>
            <p:ph idx="1"/>
          </p:nvPr>
        </p:nvSpPr>
        <p:spPr>
          <a:xfrm>
            <a:off x="430213" y="1916113"/>
            <a:ext cx="8229600" cy="4321175"/>
          </a:xfrm>
        </p:spPr>
        <p:txBody>
          <a:bodyPr/>
          <a:lstStyle/>
          <a:p>
            <a:pPr algn="just">
              <a:lnSpc>
                <a:spcPct val="90000"/>
              </a:lnSpc>
              <a:defRPr/>
            </a:pPr>
            <a:r>
              <a:rPr lang="es-AR" dirty="0"/>
              <a:t>Elemento problemático 3: Imágenes sin un texto alternativo que las describa o un texto alternativo inapropiado.</a:t>
            </a:r>
          </a:p>
          <a:p>
            <a:pPr marL="0" indent="0" algn="just">
              <a:lnSpc>
                <a:spcPct val="90000"/>
              </a:lnSpc>
              <a:buFontTx/>
              <a:buNone/>
              <a:defRPr/>
            </a:pPr>
            <a:endParaRPr lang="es-AR" dirty="0"/>
          </a:p>
          <a:p>
            <a:pPr lvl="1" algn="just">
              <a:lnSpc>
                <a:spcPct val="80000"/>
              </a:lnSpc>
              <a:defRPr/>
            </a:pPr>
            <a:r>
              <a:rPr lang="es-AR" altLang="es-AR" dirty="0"/>
              <a:t>Imágenes decorativas:</a:t>
            </a:r>
          </a:p>
          <a:p>
            <a:pPr marL="457200" lvl="1" indent="0" algn="just">
              <a:lnSpc>
                <a:spcPct val="80000"/>
              </a:lnSpc>
              <a:buFontTx/>
              <a:buNone/>
              <a:defRPr/>
            </a:pPr>
            <a:endParaRPr lang="es-AR" altLang="es-AR" dirty="0"/>
          </a:p>
          <a:p>
            <a:pPr lvl="2" algn="just">
              <a:lnSpc>
                <a:spcPct val="80000"/>
              </a:lnSpc>
              <a:defRPr/>
            </a:pPr>
            <a:r>
              <a:rPr lang="es-AR" altLang="es-AR" dirty="0"/>
              <a:t>No transmiten información importante.</a:t>
            </a:r>
          </a:p>
          <a:p>
            <a:pPr lvl="2" algn="just">
              <a:lnSpc>
                <a:spcPct val="80000"/>
              </a:lnSpc>
              <a:defRPr/>
            </a:pPr>
            <a:endParaRPr lang="es-AR" altLang="es-AR" dirty="0"/>
          </a:p>
          <a:p>
            <a:pPr lvl="2" algn="just">
              <a:lnSpc>
                <a:spcPct val="80000"/>
              </a:lnSpc>
              <a:defRPr/>
            </a:pPr>
            <a:r>
              <a:rPr lang="es-AR" altLang="es-AR" dirty="0"/>
              <a:t>Texto alternativo vacío.</a:t>
            </a:r>
          </a:p>
          <a:p>
            <a:pPr marL="914400" lvl="2" indent="0" algn="just">
              <a:lnSpc>
                <a:spcPct val="80000"/>
              </a:lnSpc>
              <a:buFontTx/>
              <a:buNone/>
              <a:defRPr/>
            </a:pPr>
            <a:endParaRPr lang="es-AR" altLang="es-AR" dirty="0"/>
          </a:p>
          <a:p>
            <a:pPr lvl="2" algn="just">
              <a:lnSpc>
                <a:spcPct val="80000"/>
              </a:lnSpc>
              <a:buFontTx/>
              <a:buNone/>
              <a:defRPr/>
            </a:pPr>
            <a:r>
              <a:rPr lang="es-AR" altLang="es-AR" b="1" dirty="0"/>
              <a:t>&lt;</a:t>
            </a:r>
            <a:r>
              <a:rPr lang="es-AR" altLang="es-AR" b="1" dirty="0" err="1"/>
              <a:t>img</a:t>
            </a:r>
            <a:r>
              <a:rPr lang="es-AR" altLang="es-AR" b="1" dirty="0"/>
              <a:t> </a:t>
            </a:r>
            <a:r>
              <a:rPr lang="es-AR" altLang="es-AR" b="1" dirty="0" err="1"/>
              <a:t>src</a:t>
            </a:r>
            <a:r>
              <a:rPr lang="es-AR" altLang="es-AR" b="1" dirty="0"/>
              <a:t>=“mi_imagen.jpg” </a:t>
            </a:r>
            <a:r>
              <a:rPr lang="es-AR" altLang="es-AR" b="1" dirty="0" err="1">
                <a:solidFill>
                  <a:srgbClr val="FF0000"/>
                </a:solidFill>
              </a:rPr>
              <a:t>alt</a:t>
            </a:r>
            <a:r>
              <a:rPr lang="es-AR" altLang="es-AR" b="1" dirty="0">
                <a:solidFill>
                  <a:srgbClr val="FF0000"/>
                </a:solidFill>
              </a:rPr>
              <a:t>=“”</a:t>
            </a:r>
            <a:r>
              <a:rPr lang="es-AR" altLang="es-AR" b="1" dirty="0"/>
              <a:t>&gt;   </a:t>
            </a:r>
          </a:p>
          <a:p>
            <a:pPr lvl="2" algn="just">
              <a:lnSpc>
                <a:spcPct val="80000"/>
              </a:lnSpc>
              <a:buFontTx/>
              <a:buNone/>
              <a:defRPr/>
            </a:pPr>
            <a:endParaRPr lang="es-AR" altLang="es-AR" b="1" dirty="0">
              <a:solidFill>
                <a:srgbClr val="00B050"/>
              </a:solidFill>
            </a:endParaRPr>
          </a:p>
          <a:p>
            <a:pPr lvl="2" algn="just">
              <a:lnSpc>
                <a:spcPct val="80000"/>
              </a:lnSpc>
              <a:buFontTx/>
              <a:buNone/>
              <a:defRPr/>
            </a:pPr>
            <a:r>
              <a:rPr lang="es-AR" altLang="es-AR" b="1" dirty="0"/>
              <a:t>&lt;</a:t>
            </a:r>
            <a:r>
              <a:rPr lang="es-AR" altLang="es-AR" b="1" dirty="0" err="1"/>
              <a:t>img</a:t>
            </a:r>
            <a:r>
              <a:rPr lang="es-AR" altLang="es-AR" b="1" dirty="0"/>
              <a:t> </a:t>
            </a:r>
            <a:r>
              <a:rPr lang="es-AR" altLang="es-AR" b="1" dirty="0" err="1"/>
              <a:t>src</a:t>
            </a:r>
            <a:r>
              <a:rPr lang="es-AR" altLang="es-AR" b="1" dirty="0"/>
              <a:t>=“mi_imagen.jpg”&gt;</a:t>
            </a:r>
            <a:r>
              <a:rPr lang="es-AR" altLang="es-AR" dirty="0"/>
              <a:t> </a:t>
            </a:r>
            <a:endParaRPr lang="es-AR" dirty="0"/>
          </a:p>
        </p:txBody>
      </p:sp>
      <p:sp>
        <p:nvSpPr>
          <p:cNvPr id="44036" name="CuadroTexto 3"/>
          <p:cNvSpPr txBox="1">
            <a:spLocks noChangeArrowheads="1"/>
          </p:cNvSpPr>
          <p:nvPr/>
        </p:nvSpPr>
        <p:spPr bwMode="auto">
          <a:xfrm>
            <a:off x="5732463" y="4664075"/>
            <a:ext cx="1901825" cy="400050"/>
          </a:xfrm>
          <a:prstGeom prst="rect">
            <a:avLst/>
          </a:prstGeom>
          <a:solidFill>
            <a:srgbClr val="92D05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s-AR" altLang="es-AR" sz="2000" b="1"/>
              <a:t>CORRECTO</a:t>
            </a:r>
          </a:p>
        </p:txBody>
      </p:sp>
      <p:sp>
        <p:nvSpPr>
          <p:cNvPr id="44037" name="CuadroTexto 4"/>
          <p:cNvSpPr txBox="1">
            <a:spLocks noChangeArrowheads="1"/>
          </p:cNvSpPr>
          <p:nvPr/>
        </p:nvSpPr>
        <p:spPr bwMode="auto">
          <a:xfrm>
            <a:off x="5732463" y="5357813"/>
            <a:ext cx="1901825" cy="400050"/>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s-AR" altLang="es-AR" sz="2000" b="1"/>
              <a:t>INCORRECTO</a:t>
            </a:r>
          </a:p>
        </p:txBody>
      </p:sp>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44</a:t>
            </a:fld>
            <a:endParaRPr lang="es-ES" altLang="es-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1 Título"/>
          <p:cNvSpPr>
            <a:spLocks noGrp="1"/>
          </p:cNvSpPr>
          <p:nvPr>
            <p:ph type="title"/>
          </p:nvPr>
        </p:nvSpPr>
        <p:spPr>
          <a:xfrm>
            <a:off x="457200" y="274638"/>
            <a:ext cx="8229600" cy="654050"/>
          </a:xfrm>
        </p:spPr>
        <p:txBody>
          <a:bodyPr/>
          <a:lstStyle/>
          <a:p>
            <a:r>
              <a:rPr lang="es-AR" altLang="es-AR" b="1"/>
              <a:t>Contenido accesible</a:t>
            </a:r>
          </a:p>
        </p:txBody>
      </p:sp>
      <p:sp>
        <p:nvSpPr>
          <p:cNvPr id="12291" name="2 Marcador de contenido"/>
          <p:cNvSpPr>
            <a:spLocks noGrp="1"/>
          </p:cNvSpPr>
          <p:nvPr>
            <p:ph idx="1"/>
          </p:nvPr>
        </p:nvSpPr>
        <p:spPr>
          <a:xfrm>
            <a:off x="430213" y="1916113"/>
            <a:ext cx="8229600" cy="4321175"/>
          </a:xfrm>
        </p:spPr>
        <p:txBody>
          <a:bodyPr/>
          <a:lstStyle/>
          <a:p>
            <a:pPr algn="just">
              <a:lnSpc>
                <a:spcPct val="90000"/>
              </a:lnSpc>
              <a:defRPr/>
            </a:pPr>
            <a:r>
              <a:rPr lang="es-AR" dirty="0"/>
              <a:t>Elemento problemático 3: Imágenes sin un texto alternativo que las describa o un texto alternativo inapropiado.</a:t>
            </a:r>
          </a:p>
          <a:p>
            <a:pPr marL="0" indent="0" algn="just">
              <a:lnSpc>
                <a:spcPct val="90000"/>
              </a:lnSpc>
              <a:buFontTx/>
              <a:buNone/>
              <a:defRPr/>
            </a:pPr>
            <a:endParaRPr lang="es-AR" dirty="0"/>
          </a:p>
          <a:p>
            <a:pPr lvl="1" algn="just">
              <a:lnSpc>
                <a:spcPct val="80000"/>
              </a:lnSpc>
              <a:defRPr/>
            </a:pPr>
            <a:r>
              <a:rPr lang="es-AR" altLang="es-AR" dirty="0"/>
              <a:t>Imágenes necesarias:</a:t>
            </a:r>
          </a:p>
          <a:p>
            <a:pPr lvl="2" algn="just">
              <a:lnSpc>
                <a:spcPct val="80000"/>
              </a:lnSpc>
              <a:defRPr/>
            </a:pPr>
            <a:r>
              <a:rPr lang="es-AR" altLang="es-AR" dirty="0"/>
              <a:t>Transmiten información relevante.</a:t>
            </a:r>
          </a:p>
          <a:p>
            <a:pPr lvl="2" algn="just">
              <a:lnSpc>
                <a:spcPct val="80000"/>
              </a:lnSpc>
              <a:defRPr/>
            </a:pPr>
            <a:r>
              <a:rPr lang="es-AR" altLang="es-AR" dirty="0"/>
              <a:t>Texto alternativo no superior a 150 caracteres.</a:t>
            </a:r>
          </a:p>
          <a:p>
            <a:pPr lvl="2" algn="just">
              <a:lnSpc>
                <a:spcPct val="80000"/>
              </a:lnSpc>
              <a:buFontTx/>
              <a:buNone/>
              <a:defRPr/>
            </a:pPr>
            <a:r>
              <a:rPr lang="es-AR" altLang="es-AR" dirty="0"/>
              <a:t>	</a:t>
            </a:r>
            <a:r>
              <a:rPr lang="es-AR" altLang="es-AR" b="1" dirty="0"/>
              <a:t>&lt;</a:t>
            </a:r>
            <a:r>
              <a:rPr lang="es-AR" altLang="es-AR" b="1" dirty="0" err="1"/>
              <a:t>img</a:t>
            </a:r>
            <a:r>
              <a:rPr lang="es-AR" altLang="es-AR" b="1" dirty="0"/>
              <a:t> </a:t>
            </a:r>
            <a:r>
              <a:rPr lang="es-AR" altLang="es-AR" b="1" dirty="0" err="1"/>
              <a:t>src</a:t>
            </a:r>
            <a:r>
              <a:rPr lang="es-AR" altLang="es-AR" b="1" dirty="0"/>
              <a:t>=“mi_imagen.jpg” </a:t>
            </a:r>
            <a:r>
              <a:rPr lang="es-AR" altLang="es-AR" b="1" dirty="0" err="1">
                <a:solidFill>
                  <a:srgbClr val="FF0000"/>
                </a:solidFill>
              </a:rPr>
              <a:t>alt</a:t>
            </a:r>
            <a:r>
              <a:rPr lang="es-AR" altLang="es-AR" b="1" dirty="0">
                <a:solidFill>
                  <a:srgbClr val="FF0000"/>
                </a:solidFill>
              </a:rPr>
              <a:t>=“mi alternativa”</a:t>
            </a:r>
            <a:r>
              <a:rPr lang="es-AR" altLang="es-AR" b="1" dirty="0"/>
              <a:t>&gt;</a:t>
            </a:r>
          </a:p>
          <a:p>
            <a:pPr lvl="2" algn="just">
              <a:lnSpc>
                <a:spcPct val="80000"/>
              </a:lnSpc>
              <a:defRPr/>
            </a:pPr>
            <a:r>
              <a:rPr lang="es-AR" altLang="es-AR" dirty="0"/>
              <a:t>Imagen no posee información textual</a:t>
            </a:r>
          </a:p>
          <a:p>
            <a:pPr lvl="2" algn="just">
              <a:lnSpc>
                <a:spcPct val="80000"/>
              </a:lnSpc>
              <a:buFontTx/>
              <a:buNone/>
              <a:defRPr/>
            </a:pPr>
            <a:r>
              <a:rPr lang="es-AR" altLang="es-AR" dirty="0"/>
              <a:t>	</a:t>
            </a:r>
            <a:r>
              <a:rPr lang="es-AR" altLang="es-AR" b="1" dirty="0"/>
              <a:t>&lt;</a:t>
            </a:r>
            <a:r>
              <a:rPr lang="es-AR" altLang="es-AR" b="1" dirty="0" err="1"/>
              <a:t>img</a:t>
            </a:r>
            <a:r>
              <a:rPr lang="es-AR" altLang="es-AR" b="1" dirty="0"/>
              <a:t> </a:t>
            </a:r>
            <a:r>
              <a:rPr lang="es-AR" altLang="es-AR" b="1" dirty="0" err="1"/>
              <a:t>src</a:t>
            </a:r>
            <a:r>
              <a:rPr lang="es-AR" altLang="es-AR" b="1" dirty="0"/>
              <a:t>=“advertencia.jpg” </a:t>
            </a:r>
            <a:r>
              <a:rPr lang="es-AR" altLang="es-AR" b="1" dirty="0" err="1">
                <a:solidFill>
                  <a:srgbClr val="FF0000"/>
                </a:solidFill>
              </a:rPr>
              <a:t>alt</a:t>
            </a:r>
            <a:r>
              <a:rPr lang="es-AR" altLang="es-AR" b="1" dirty="0">
                <a:solidFill>
                  <a:srgbClr val="FF0000"/>
                </a:solidFill>
              </a:rPr>
              <a:t>=“Importante”</a:t>
            </a:r>
            <a:r>
              <a:rPr lang="es-AR" altLang="es-AR" b="1" dirty="0"/>
              <a:t>&gt;</a:t>
            </a:r>
          </a:p>
          <a:p>
            <a:pPr lvl="2" algn="just">
              <a:lnSpc>
                <a:spcPct val="80000"/>
              </a:lnSpc>
              <a:defRPr/>
            </a:pPr>
            <a:r>
              <a:rPr lang="es-AR" altLang="es-AR" dirty="0"/>
              <a:t>Imagen que posee información textual</a:t>
            </a:r>
          </a:p>
          <a:p>
            <a:pPr lvl="2" algn="just">
              <a:lnSpc>
                <a:spcPct val="80000"/>
              </a:lnSpc>
              <a:buFontTx/>
              <a:buNone/>
              <a:defRPr/>
            </a:pPr>
            <a:r>
              <a:rPr lang="es-AR" altLang="es-AR" dirty="0"/>
              <a:t>	</a:t>
            </a:r>
            <a:r>
              <a:rPr lang="es-AR" altLang="es-AR" b="1" dirty="0"/>
              <a:t>&lt;</a:t>
            </a:r>
            <a:r>
              <a:rPr lang="es-AR" altLang="es-AR" b="1" dirty="0" err="1"/>
              <a:t>img</a:t>
            </a:r>
            <a:r>
              <a:rPr lang="es-AR" altLang="es-AR" b="1" dirty="0"/>
              <a:t> </a:t>
            </a:r>
            <a:r>
              <a:rPr lang="es-AR" altLang="es-AR" b="1" dirty="0" err="1"/>
              <a:t>src</a:t>
            </a:r>
            <a:r>
              <a:rPr lang="es-AR" altLang="es-AR" b="1" dirty="0"/>
              <a:t>=“w3c.jpg” </a:t>
            </a:r>
            <a:r>
              <a:rPr lang="es-AR" altLang="es-AR" b="1" dirty="0" err="1">
                <a:solidFill>
                  <a:srgbClr val="FF0000"/>
                </a:solidFill>
              </a:rPr>
              <a:t>alt</a:t>
            </a:r>
            <a:r>
              <a:rPr lang="es-AR" altLang="es-AR" b="1" dirty="0">
                <a:solidFill>
                  <a:srgbClr val="FF0000"/>
                </a:solidFill>
              </a:rPr>
              <a:t>=“W3C. </a:t>
            </a:r>
            <a:r>
              <a:rPr lang="es-AR" altLang="es-AR" b="1" dirty="0" err="1">
                <a:solidFill>
                  <a:srgbClr val="FF0000"/>
                </a:solidFill>
              </a:rPr>
              <a:t>World</a:t>
            </a:r>
            <a:r>
              <a:rPr lang="es-AR" altLang="es-AR" b="1" dirty="0">
                <a:solidFill>
                  <a:srgbClr val="FF0000"/>
                </a:solidFill>
              </a:rPr>
              <a:t> Wide Web </a:t>
            </a:r>
            <a:r>
              <a:rPr lang="es-AR" altLang="es-AR" b="1" dirty="0" err="1">
                <a:solidFill>
                  <a:srgbClr val="FF0000"/>
                </a:solidFill>
              </a:rPr>
              <a:t>Consortium</a:t>
            </a:r>
            <a:r>
              <a:rPr lang="es-AR" altLang="es-AR" b="1" dirty="0">
                <a:solidFill>
                  <a:srgbClr val="FF0000"/>
                </a:solidFill>
              </a:rPr>
              <a:t>”</a:t>
            </a:r>
            <a:r>
              <a:rPr lang="es-AR" altLang="es-AR" b="1" dirty="0"/>
              <a:t>&gt;</a:t>
            </a:r>
          </a:p>
          <a:p>
            <a:pPr lvl="2" algn="just">
              <a:lnSpc>
                <a:spcPct val="80000"/>
              </a:lnSpc>
              <a:defRPr/>
            </a:pPr>
            <a:r>
              <a:rPr lang="es-AR" altLang="es-AR" dirty="0"/>
              <a:t>Imagen que funciona como enlace</a:t>
            </a:r>
          </a:p>
          <a:p>
            <a:pPr lvl="2" algn="just">
              <a:lnSpc>
                <a:spcPct val="80000"/>
              </a:lnSpc>
              <a:buFontTx/>
              <a:buNone/>
              <a:defRPr/>
            </a:pPr>
            <a:r>
              <a:rPr lang="es-AR" altLang="es-AR" dirty="0"/>
              <a:t>	</a:t>
            </a:r>
            <a:r>
              <a:rPr lang="es-AR" altLang="es-AR" b="1" dirty="0"/>
              <a:t>&lt;a </a:t>
            </a:r>
            <a:r>
              <a:rPr lang="es-AR" altLang="es-AR" b="1" dirty="0" err="1"/>
              <a:t>href</a:t>
            </a:r>
            <a:r>
              <a:rPr lang="es-AR" altLang="es-AR" b="1" dirty="0"/>
              <a:t>=“”&gt;&lt;</a:t>
            </a:r>
            <a:r>
              <a:rPr lang="es-AR" altLang="es-AR" b="1" dirty="0" err="1"/>
              <a:t>img</a:t>
            </a:r>
            <a:r>
              <a:rPr lang="es-AR" altLang="es-AR" b="1" dirty="0"/>
              <a:t> </a:t>
            </a:r>
            <a:r>
              <a:rPr lang="es-AR" altLang="es-AR" b="1" dirty="0" err="1"/>
              <a:t>src</a:t>
            </a:r>
            <a:r>
              <a:rPr lang="es-AR" altLang="es-AR" b="1" dirty="0"/>
              <a:t>=“imprimir.jpg” </a:t>
            </a:r>
            <a:r>
              <a:rPr lang="es-AR" altLang="es-AR" b="1" dirty="0" err="1">
                <a:solidFill>
                  <a:srgbClr val="FF0000"/>
                </a:solidFill>
              </a:rPr>
              <a:t>alt</a:t>
            </a:r>
            <a:r>
              <a:rPr lang="es-AR" altLang="es-AR" b="1" dirty="0">
                <a:solidFill>
                  <a:srgbClr val="FF0000"/>
                </a:solidFill>
              </a:rPr>
              <a:t>=“Imprimir”</a:t>
            </a:r>
            <a:r>
              <a:rPr lang="es-AR" altLang="es-AR" b="1" dirty="0"/>
              <a:t>&gt;&lt;/a&gt;</a:t>
            </a:r>
          </a:p>
        </p:txBody>
      </p:sp>
      <p:pic>
        <p:nvPicPr>
          <p:cNvPr id="45060" name="Picture 4"/>
          <p:cNvPicPr>
            <a:picLocks noChangeAspect="1" noChangeArrowheads="1"/>
          </p:cNvPicPr>
          <p:nvPr/>
        </p:nvPicPr>
        <p:blipFill>
          <a:blip r:embed="rId3">
            <a:extLst>
              <a:ext uri="{28A0092B-C50C-407E-A947-70E740481C1C}">
                <a14:useLocalDpi xmlns:a14="http://schemas.microsoft.com/office/drawing/2010/main" val="0"/>
              </a:ext>
            </a:extLst>
          </a:blip>
          <a:srcRect l="26384" t="49219" r="62549" b="37001"/>
          <a:stretch>
            <a:fillRect/>
          </a:stretch>
        </p:blipFill>
        <p:spPr bwMode="auto">
          <a:xfrm>
            <a:off x="7524750" y="4365625"/>
            <a:ext cx="36036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pic>
        <p:nvPicPr>
          <p:cNvPr id="45061" name="Picture 5"/>
          <p:cNvPicPr>
            <a:picLocks noChangeAspect="1" noChangeArrowheads="1"/>
          </p:cNvPicPr>
          <p:nvPr/>
        </p:nvPicPr>
        <p:blipFill>
          <a:blip r:embed="rId4">
            <a:extLst>
              <a:ext uri="{28A0092B-C50C-407E-A947-70E740481C1C}">
                <a14:useLocalDpi xmlns:a14="http://schemas.microsoft.com/office/drawing/2010/main" val="0"/>
              </a:ext>
            </a:extLst>
          </a:blip>
          <a:srcRect l="33936" t="49197" r="49463" b="35069"/>
          <a:stretch>
            <a:fillRect/>
          </a:stretch>
        </p:blipFill>
        <p:spPr bwMode="auto">
          <a:xfrm>
            <a:off x="7524750" y="5289550"/>
            <a:ext cx="504825" cy="358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pic>
        <p:nvPicPr>
          <p:cNvPr id="45062" name="Picture 6"/>
          <p:cNvPicPr>
            <a:picLocks noChangeAspect="1" noChangeArrowheads="1"/>
          </p:cNvPicPr>
          <p:nvPr/>
        </p:nvPicPr>
        <p:blipFill>
          <a:blip r:embed="rId5">
            <a:extLst>
              <a:ext uri="{28A0092B-C50C-407E-A947-70E740481C1C}">
                <a14:useLocalDpi xmlns:a14="http://schemas.microsoft.com/office/drawing/2010/main" val="0"/>
              </a:ext>
            </a:extLst>
          </a:blip>
          <a:srcRect l="29329" t="50195" r="62549" b="38976"/>
          <a:stretch>
            <a:fillRect/>
          </a:stretch>
        </p:blipFill>
        <p:spPr bwMode="auto">
          <a:xfrm>
            <a:off x="8542338" y="5926138"/>
            <a:ext cx="288925"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45</a:t>
            </a:fld>
            <a:endParaRPr lang="es-ES" altLang="es-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1 Título"/>
          <p:cNvSpPr>
            <a:spLocks noGrp="1"/>
          </p:cNvSpPr>
          <p:nvPr>
            <p:ph type="title"/>
          </p:nvPr>
        </p:nvSpPr>
        <p:spPr>
          <a:xfrm>
            <a:off x="457200" y="274638"/>
            <a:ext cx="8229600" cy="654050"/>
          </a:xfrm>
        </p:spPr>
        <p:txBody>
          <a:bodyPr/>
          <a:lstStyle/>
          <a:p>
            <a:r>
              <a:rPr lang="es-AR" altLang="es-AR" b="1"/>
              <a:t>Contenido accesible</a:t>
            </a:r>
          </a:p>
        </p:txBody>
      </p:sp>
      <p:sp>
        <p:nvSpPr>
          <p:cNvPr id="46083" name="2 Marcador de contenido"/>
          <p:cNvSpPr>
            <a:spLocks noGrp="1"/>
          </p:cNvSpPr>
          <p:nvPr>
            <p:ph idx="1"/>
          </p:nvPr>
        </p:nvSpPr>
        <p:spPr>
          <a:xfrm>
            <a:off x="430213" y="3429000"/>
            <a:ext cx="8229600" cy="720725"/>
          </a:xfrm>
        </p:spPr>
        <p:txBody>
          <a:bodyPr/>
          <a:lstStyle/>
          <a:p>
            <a:pPr algn="just">
              <a:lnSpc>
                <a:spcPct val="90000"/>
              </a:lnSpc>
            </a:pPr>
            <a:r>
              <a:rPr lang="es-AR" altLang="es-AR"/>
              <a:t>Decisiones para proporcionar textos alternativos adecuados a la imagen de la web:</a:t>
            </a:r>
            <a:endParaRPr lang="es-AR" altLang="es-AR" b="1"/>
          </a:p>
        </p:txBody>
      </p:sp>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46</a:t>
            </a:fld>
            <a:endParaRPr lang="es-ES" altLang="es-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1 Título"/>
          <p:cNvSpPr>
            <a:spLocks noGrp="1"/>
          </p:cNvSpPr>
          <p:nvPr>
            <p:ph type="title"/>
          </p:nvPr>
        </p:nvSpPr>
        <p:spPr>
          <a:xfrm>
            <a:off x="457200" y="274638"/>
            <a:ext cx="8229600" cy="654050"/>
          </a:xfrm>
        </p:spPr>
        <p:txBody>
          <a:bodyPr/>
          <a:lstStyle/>
          <a:p>
            <a:r>
              <a:rPr lang="es-AR" altLang="es-AR" b="1"/>
              <a:t>Contenido accesible</a:t>
            </a:r>
          </a:p>
        </p:txBody>
      </p:sp>
      <p:sp>
        <p:nvSpPr>
          <p:cNvPr id="47107" name="2 Marcador de contenido"/>
          <p:cNvSpPr>
            <a:spLocks noGrp="1"/>
          </p:cNvSpPr>
          <p:nvPr>
            <p:ph idx="1"/>
          </p:nvPr>
        </p:nvSpPr>
        <p:spPr>
          <a:xfrm>
            <a:off x="430213" y="1916113"/>
            <a:ext cx="2125662" cy="4321175"/>
          </a:xfrm>
        </p:spPr>
        <p:txBody>
          <a:bodyPr/>
          <a:lstStyle/>
          <a:p>
            <a:pPr>
              <a:lnSpc>
                <a:spcPct val="90000"/>
              </a:lnSpc>
            </a:pPr>
            <a:r>
              <a:rPr lang="es-AR" altLang="es-AR" b="1"/>
              <a:t>SI</a:t>
            </a:r>
            <a:r>
              <a:rPr lang="es-AR" altLang="es-AR"/>
              <a:t> (la imagen es o forma parte de un enlace o botón) </a:t>
            </a:r>
            <a:r>
              <a:rPr lang="es-AR" altLang="es-AR" b="1"/>
              <a:t>Y</a:t>
            </a:r>
            <a:r>
              <a:rPr lang="es-AR" altLang="es-AR"/>
              <a:t> (la imagen es el único elemento dentro del enlace o es un mapa de imagen o un botón de tipo imagen) </a:t>
            </a:r>
            <a:r>
              <a:rPr lang="es-AR" altLang="es-AR" b="1"/>
              <a:t>ENTONCES</a:t>
            </a:r>
          </a:p>
          <a:p>
            <a:pPr>
              <a:lnSpc>
                <a:spcPct val="90000"/>
              </a:lnSpc>
            </a:pPr>
            <a:endParaRPr lang="es-AR" altLang="es-AR" b="1"/>
          </a:p>
        </p:txBody>
      </p:sp>
      <p:pic>
        <p:nvPicPr>
          <p:cNvPr id="47108" name="Picture 3"/>
          <p:cNvPicPr>
            <a:picLocks noChangeAspect="1" noChangeArrowheads="1"/>
          </p:cNvPicPr>
          <p:nvPr/>
        </p:nvPicPr>
        <p:blipFill>
          <a:blip r:embed="rId2">
            <a:extLst>
              <a:ext uri="{28A0092B-C50C-407E-A947-70E740481C1C}">
                <a14:useLocalDpi xmlns:a14="http://schemas.microsoft.com/office/drawing/2010/main" val="0"/>
              </a:ext>
            </a:extLst>
          </a:blip>
          <a:srcRect l="781" t="41203" r="55156" b="16667"/>
          <a:stretch>
            <a:fillRect/>
          </a:stretch>
        </p:blipFill>
        <p:spPr bwMode="auto">
          <a:xfrm>
            <a:off x="2555875" y="2205038"/>
            <a:ext cx="6264275" cy="3368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47</a:t>
            </a:fld>
            <a:endParaRPr lang="es-ES" altLang="es-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1 Título"/>
          <p:cNvSpPr>
            <a:spLocks noGrp="1"/>
          </p:cNvSpPr>
          <p:nvPr>
            <p:ph type="title"/>
          </p:nvPr>
        </p:nvSpPr>
        <p:spPr>
          <a:xfrm>
            <a:off x="457200" y="274638"/>
            <a:ext cx="8229600" cy="654050"/>
          </a:xfrm>
        </p:spPr>
        <p:txBody>
          <a:bodyPr/>
          <a:lstStyle/>
          <a:p>
            <a:r>
              <a:rPr lang="es-AR" altLang="es-AR" b="1"/>
              <a:t>Contenido accesible</a:t>
            </a:r>
          </a:p>
        </p:txBody>
      </p:sp>
      <p:sp>
        <p:nvSpPr>
          <p:cNvPr id="48131" name="2 Marcador de contenido"/>
          <p:cNvSpPr>
            <a:spLocks noGrp="1"/>
          </p:cNvSpPr>
          <p:nvPr>
            <p:ph idx="1"/>
          </p:nvPr>
        </p:nvSpPr>
        <p:spPr>
          <a:xfrm>
            <a:off x="406400" y="1484313"/>
            <a:ext cx="2532063" cy="4321175"/>
          </a:xfrm>
        </p:spPr>
        <p:txBody>
          <a:bodyPr/>
          <a:lstStyle/>
          <a:p>
            <a:pPr>
              <a:lnSpc>
                <a:spcPct val="90000"/>
              </a:lnSpc>
            </a:pPr>
            <a:r>
              <a:rPr lang="es-AR" altLang="es-AR" b="1"/>
              <a:t>SI</a:t>
            </a:r>
            <a:r>
              <a:rPr lang="es-AR" altLang="es-AR"/>
              <a:t> (la imagen es o forma parte de un enlace o botón) </a:t>
            </a:r>
            <a:r>
              <a:rPr lang="es-AR" altLang="es-AR" b="1"/>
              <a:t>Y</a:t>
            </a:r>
            <a:r>
              <a:rPr lang="es-AR" altLang="es-AR"/>
              <a:t> (no es el único elemento dentro del enlace o no es un mapa de imagen o no es un botón de tipo imagen) </a:t>
            </a:r>
            <a:r>
              <a:rPr lang="es-AR" altLang="es-AR" b="1"/>
              <a:t>ENTONCES</a:t>
            </a:r>
          </a:p>
          <a:p>
            <a:pPr lvl="1" algn="just">
              <a:lnSpc>
                <a:spcPct val="90000"/>
              </a:lnSpc>
            </a:pPr>
            <a:endParaRPr lang="es-AR" altLang="es-AR" b="1"/>
          </a:p>
          <a:p>
            <a:pPr algn="just">
              <a:lnSpc>
                <a:spcPct val="90000"/>
              </a:lnSpc>
            </a:pPr>
            <a:endParaRPr lang="es-AR" altLang="es-AR" b="1"/>
          </a:p>
        </p:txBody>
      </p:sp>
      <p:pic>
        <p:nvPicPr>
          <p:cNvPr id="48132" name="Picture 2"/>
          <p:cNvPicPr>
            <a:picLocks noChangeAspect="1" noChangeArrowheads="1"/>
          </p:cNvPicPr>
          <p:nvPr/>
        </p:nvPicPr>
        <p:blipFill>
          <a:blip r:embed="rId2">
            <a:extLst>
              <a:ext uri="{28A0092B-C50C-407E-A947-70E740481C1C}">
                <a14:useLocalDpi xmlns:a14="http://schemas.microsoft.com/office/drawing/2010/main" val="0"/>
              </a:ext>
            </a:extLst>
          </a:blip>
          <a:srcRect l="47762" t="39166" r="22083" b="7315"/>
          <a:stretch>
            <a:fillRect/>
          </a:stretch>
        </p:blipFill>
        <p:spPr bwMode="auto">
          <a:xfrm>
            <a:off x="3348038" y="1484313"/>
            <a:ext cx="5111750" cy="5103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48</a:t>
            </a:fld>
            <a:endParaRPr lang="es-ES" altLang="es-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1 Título"/>
          <p:cNvSpPr>
            <a:spLocks noGrp="1"/>
          </p:cNvSpPr>
          <p:nvPr>
            <p:ph type="title"/>
          </p:nvPr>
        </p:nvSpPr>
        <p:spPr>
          <a:xfrm>
            <a:off x="457200" y="274638"/>
            <a:ext cx="8229600" cy="654050"/>
          </a:xfrm>
        </p:spPr>
        <p:txBody>
          <a:bodyPr/>
          <a:lstStyle/>
          <a:p>
            <a:r>
              <a:rPr lang="es-AR" altLang="es-AR" b="1"/>
              <a:t>Contenido accesible</a:t>
            </a:r>
          </a:p>
        </p:txBody>
      </p:sp>
      <p:sp>
        <p:nvSpPr>
          <p:cNvPr id="49155" name="2 Marcador de contenido"/>
          <p:cNvSpPr>
            <a:spLocks noGrp="1"/>
          </p:cNvSpPr>
          <p:nvPr>
            <p:ph idx="1"/>
          </p:nvPr>
        </p:nvSpPr>
        <p:spPr>
          <a:xfrm>
            <a:off x="438150" y="1557338"/>
            <a:ext cx="2270125" cy="4319587"/>
          </a:xfrm>
        </p:spPr>
        <p:txBody>
          <a:bodyPr/>
          <a:lstStyle/>
          <a:p>
            <a:pPr>
              <a:lnSpc>
                <a:spcPct val="90000"/>
              </a:lnSpc>
            </a:pPr>
            <a:r>
              <a:rPr lang="es-AR" altLang="es-AR" b="1"/>
              <a:t>SI</a:t>
            </a:r>
            <a:r>
              <a:rPr lang="es-AR" altLang="es-AR"/>
              <a:t> (la imagen no es ni forma parte de un enlace o botón) </a:t>
            </a:r>
            <a:r>
              <a:rPr lang="es-AR" altLang="es-AR" b="1"/>
              <a:t>Y</a:t>
            </a:r>
            <a:r>
              <a:rPr lang="es-AR" altLang="es-AR"/>
              <a:t> (la imagen es decorativa, invisible o no aporta información adicional) </a:t>
            </a:r>
            <a:r>
              <a:rPr lang="es-AR" altLang="es-AR" b="1"/>
              <a:t>ENTONCES</a:t>
            </a:r>
          </a:p>
          <a:p>
            <a:pPr lvl="1">
              <a:lnSpc>
                <a:spcPct val="90000"/>
              </a:lnSpc>
            </a:pPr>
            <a:endParaRPr lang="es-AR" altLang="es-AR" b="1"/>
          </a:p>
          <a:p>
            <a:pPr>
              <a:lnSpc>
                <a:spcPct val="90000"/>
              </a:lnSpc>
            </a:pPr>
            <a:endParaRPr lang="es-AR" altLang="es-AR" b="1"/>
          </a:p>
        </p:txBody>
      </p:sp>
      <p:pic>
        <p:nvPicPr>
          <p:cNvPr id="49156" name="Picture 2"/>
          <p:cNvPicPr>
            <a:picLocks noChangeAspect="1" noChangeArrowheads="1"/>
          </p:cNvPicPr>
          <p:nvPr/>
        </p:nvPicPr>
        <p:blipFill>
          <a:blip r:embed="rId2">
            <a:extLst>
              <a:ext uri="{28A0092B-C50C-407E-A947-70E740481C1C}">
                <a14:useLocalDpi xmlns:a14="http://schemas.microsoft.com/office/drawing/2010/main" val="0"/>
              </a:ext>
            </a:extLst>
          </a:blip>
          <a:srcRect l="11823" t="27107" r="70950" b="31242"/>
          <a:stretch>
            <a:fillRect/>
          </a:stretch>
        </p:blipFill>
        <p:spPr bwMode="auto">
          <a:xfrm>
            <a:off x="3779838" y="1557338"/>
            <a:ext cx="3492500" cy="4749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49</a:t>
            </a:fld>
            <a:endParaRPr lang="es-ES" altLang="es-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1 Título"/>
          <p:cNvSpPr>
            <a:spLocks noGrp="1"/>
          </p:cNvSpPr>
          <p:nvPr>
            <p:ph type="title"/>
          </p:nvPr>
        </p:nvSpPr>
        <p:spPr>
          <a:xfrm>
            <a:off x="457200" y="274638"/>
            <a:ext cx="8229600" cy="654050"/>
          </a:xfrm>
        </p:spPr>
        <p:txBody>
          <a:bodyPr/>
          <a:lstStyle/>
          <a:p>
            <a:r>
              <a:rPr lang="es-AR" altLang="es-AR" b="1"/>
              <a:t>Contenido accesible</a:t>
            </a:r>
          </a:p>
        </p:txBody>
      </p:sp>
      <p:sp>
        <p:nvSpPr>
          <p:cNvPr id="50179" name="2 Marcador de contenido"/>
          <p:cNvSpPr>
            <a:spLocks noGrp="1"/>
          </p:cNvSpPr>
          <p:nvPr>
            <p:ph idx="1"/>
          </p:nvPr>
        </p:nvSpPr>
        <p:spPr>
          <a:xfrm>
            <a:off x="457200" y="1628775"/>
            <a:ext cx="2701925" cy="2879725"/>
          </a:xfrm>
        </p:spPr>
        <p:txBody>
          <a:bodyPr/>
          <a:lstStyle/>
          <a:p>
            <a:pPr>
              <a:lnSpc>
                <a:spcPct val="90000"/>
              </a:lnSpc>
            </a:pPr>
            <a:r>
              <a:rPr lang="es-AR" altLang="es-AR" b="1"/>
              <a:t>SI</a:t>
            </a:r>
            <a:r>
              <a:rPr lang="es-AR" altLang="es-AR"/>
              <a:t> (la imagen no es ni forma parte de un enlace o botón) </a:t>
            </a:r>
            <a:r>
              <a:rPr lang="es-AR" altLang="es-AR" b="1"/>
              <a:t>Y</a:t>
            </a:r>
            <a:r>
              <a:rPr lang="es-AR" altLang="es-AR"/>
              <a:t> (la imagen es decorativa, invisible o no aporta información adicional) </a:t>
            </a:r>
            <a:r>
              <a:rPr lang="es-AR" altLang="es-AR" b="1"/>
              <a:t>ENTONCES</a:t>
            </a:r>
          </a:p>
          <a:p>
            <a:pPr lvl="1" algn="just">
              <a:lnSpc>
                <a:spcPct val="90000"/>
              </a:lnSpc>
            </a:pPr>
            <a:endParaRPr lang="es-AR" altLang="es-AR" b="1"/>
          </a:p>
          <a:p>
            <a:pPr algn="just">
              <a:lnSpc>
                <a:spcPct val="90000"/>
              </a:lnSpc>
            </a:pPr>
            <a:endParaRPr lang="es-AR" altLang="es-AR" b="1"/>
          </a:p>
        </p:txBody>
      </p:sp>
      <p:pic>
        <p:nvPicPr>
          <p:cNvPr id="50180" name="Picture 2"/>
          <p:cNvPicPr>
            <a:picLocks noChangeAspect="1" noChangeArrowheads="1"/>
          </p:cNvPicPr>
          <p:nvPr/>
        </p:nvPicPr>
        <p:blipFill>
          <a:blip r:embed="rId2">
            <a:extLst>
              <a:ext uri="{28A0092B-C50C-407E-A947-70E740481C1C}">
                <a14:useLocalDpi xmlns:a14="http://schemas.microsoft.com/office/drawing/2010/main" val="0"/>
              </a:ext>
            </a:extLst>
          </a:blip>
          <a:srcRect l="11823" t="27107" r="70950" b="31242"/>
          <a:stretch>
            <a:fillRect/>
          </a:stretch>
        </p:blipFill>
        <p:spPr bwMode="auto">
          <a:xfrm>
            <a:off x="3419475" y="1412875"/>
            <a:ext cx="3889375" cy="5287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50</a:t>
            </a:fld>
            <a:endParaRPr lang="es-ES" altLang="es-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1 Título"/>
          <p:cNvSpPr>
            <a:spLocks noGrp="1"/>
          </p:cNvSpPr>
          <p:nvPr>
            <p:ph type="title"/>
          </p:nvPr>
        </p:nvSpPr>
        <p:spPr>
          <a:xfrm>
            <a:off x="457200" y="274638"/>
            <a:ext cx="8229600" cy="654050"/>
          </a:xfrm>
        </p:spPr>
        <p:txBody>
          <a:bodyPr/>
          <a:lstStyle/>
          <a:p>
            <a:r>
              <a:rPr lang="es-AR" altLang="es-AR" b="1"/>
              <a:t>Contenido accesible</a:t>
            </a:r>
          </a:p>
        </p:txBody>
      </p:sp>
      <p:sp>
        <p:nvSpPr>
          <p:cNvPr id="51203" name="2 Marcador de contenido"/>
          <p:cNvSpPr>
            <a:spLocks noGrp="1"/>
          </p:cNvSpPr>
          <p:nvPr>
            <p:ph idx="1"/>
          </p:nvPr>
        </p:nvSpPr>
        <p:spPr>
          <a:xfrm>
            <a:off x="444500" y="1557338"/>
            <a:ext cx="2917825" cy="4319587"/>
          </a:xfrm>
        </p:spPr>
        <p:txBody>
          <a:bodyPr/>
          <a:lstStyle/>
          <a:p>
            <a:pPr>
              <a:lnSpc>
                <a:spcPct val="90000"/>
              </a:lnSpc>
            </a:pPr>
            <a:r>
              <a:rPr lang="es-AR" altLang="es-AR" b="1"/>
              <a:t>SI</a:t>
            </a:r>
            <a:r>
              <a:rPr lang="es-AR" altLang="es-AR"/>
              <a:t> (la imagen no es ni forma parte de un enlace o botón) </a:t>
            </a:r>
            <a:r>
              <a:rPr lang="es-AR" altLang="es-AR" b="1"/>
              <a:t>Y</a:t>
            </a:r>
            <a:r>
              <a:rPr lang="es-AR" altLang="es-AR"/>
              <a:t> (la imagen no es decorativa, es visible y aporta información adicional) </a:t>
            </a:r>
            <a:r>
              <a:rPr lang="es-AR" altLang="es-AR" b="1"/>
              <a:t>Y</a:t>
            </a:r>
            <a:r>
              <a:rPr lang="es-AR" altLang="es-AR"/>
              <a:t> (la imagen es un cuadro u otra expresión artística cuya función principal es crear una experiencia sensorial que las palabras no pueden igualar) </a:t>
            </a:r>
            <a:r>
              <a:rPr lang="es-AR" altLang="es-AR" b="1"/>
              <a:t>ENTONCES</a:t>
            </a:r>
          </a:p>
          <a:p>
            <a:pPr lvl="1" algn="just">
              <a:lnSpc>
                <a:spcPct val="90000"/>
              </a:lnSpc>
            </a:pPr>
            <a:endParaRPr lang="es-AR" altLang="es-AR" b="1"/>
          </a:p>
          <a:p>
            <a:pPr algn="just">
              <a:lnSpc>
                <a:spcPct val="90000"/>
              </a:lnSpc>
            </a:pPr>
            <a:endParaRPr lang="es-AR" altLang="es-AR" b="1"/>
          </a:p>
        </p:txBody>
      </p:sp>
      <p:pic>
        <p:nvPicPr>
          <p:cNvPr id="51204" name="Picture 2"/>
          <p:cNvPicPr>
            <a:picLocks noChangeAspect="1" noChangeArrowheads="1"/>
          </p:cNvPicPr>
          <p:nvPr/>
        </p:nvPicPr>
        <p:blipFill>
          <a:blip r:embed="rId2">
            <a:extLst>
              <a:ext uri="{28A0092B-C50C-407E-A947-70E740481C1C}">
                <a14:useLocalDpi xmlns:a14="http://schemas.microsoft.com/office/drawing/2010/main" val="0"/>
              </a:ext>
            </a:extLst>
          </a:blip>
          <a:srcRect l="35327" t="44722" r="38489" b="5370"/>
          <a:stretch>
            <a:fillRect/>
          </a:stretch>
        </p:blipFill>
        <p:spPr bwMode="auto">
          <a:xfrm>
            <a:off x="3635375" y="1550988"/>
            <a:ext cx="4752975" cy="5094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51</a:t>
            </a:fld>
            <a:endParaRPr lang="es-ES" altLang="es-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1 Título"/>
          <p:cNvSpPr>
            <a:spLocks noGrp="1"/>
          </p:cNvSpPr>
          <p:nvPr>
            <p:ph type="title"/>
          </p:nvPr>
        </p:nvSpPr>
        <p:spPr>
          <a:xfrm>
            <a:off x="457200" y="274638"/>
            <a:ext cx="8229600" cy="654050"/>
          </a:xfrm>
        </p:spPr>
        <p:txBody>
          <a:bodyPr/>
          <a:lstStyle/>
          <a:p>
            <a:r>
              <a:rPr lang="es-AR" altLang="es-AR" b="1"/>
              <a:t>Contenido accesible</a:t>
            </a:r>
          </a:p>
        </p:txBody>
      </p:sp>
      <p:sp>
        <p:nvSpPr>
          <p:cNvPr id="52227" name="2 Marcador de contenido"/>
          <p:cNvSpPr>
            <a:spLocks noGrp="1"/>
          </p:cNvSpPr>
          <p:nvPr>
            <p:ph idx="1"/>
          </p:nvPr>
        </p:nvSpPr>
        <p:spPr>
          <a:xfrm>
            <a:off x="457200" y="1412875"/>
            <a:ext cx="3394075" cy="4841875"/>
          </a:xfrm>
        </p:spPr>
        <p:txBody>
          <a:bodyPr/>
          <a:lstStyle/>
          <a:p>
            <a:pPr>
              <a:lnSpc>
                <a:spcPct val="90000"/>
              </a:lnSpc>
            </a:pPr>
            <a:r>
              <a:rPr lang="es-AR" altLang="es-AR" b="1"/>
              <a:t>SI</a:t>
            </a:r>
            <a:r>
              <a:rPr lang="es-AR" altLang="es-AR"/>
              <a:t> (la imagen no es ni forma parte de un enlace o botón) </a:t>
            </a:r>
            <a:r>
              <a:rPr lang="es-AR" altLang="es-AR" b="1"/>
              <a:t>Y</a:t>
            </a:r>
            <a:r>
              <a:rPr lang="es-AR" altLang="es-AR"/>
              <a:t> (la imagen no es decorativa, es visible y aporta información adicional) </a:t>
            </a:r>
            <a:r>
              <a:rPr lang="es-AR" altLang="es-AR" b="1"/>
              <a:t>Y</a:t>
            </a:r>
            <a:r>
              <a:rPr lang="es-AR" altLang="es-AR"/>
              <a:t> (la imagen no es un cuadro u otra expresión artística cuya función principal es crear una experiencia sensorial que las palabras no pueden igualar) </a:t>
            </a:r>
            <a:r>
              <a:rPr lang="es-AR" altLang="es-AR" b="1"/>
              <a:t>Y</a:t>
            </a:r>
            <a:r>
              <a:rPr lang="es-AR" altLang="es-AR"/>
              <a:t> (la imagen es parte de una prueba o test que queda invalidado si se describe la imagen) </a:t>
            </a:r>
            <a:r>
              <a:rPr lang="es-AR" altLang="es-AR" b="1"/>
              <a:t>ENTONCES</a:t>
            </a:r>
          </a:p>
          <a:p>
            <a:pPr lvl="1" algn="just">
              <a:lnSpc>
                <a:spcPct val="90000"/>
              </a:lnSpc>
            </a:pPr>
            <a:endParaRPr lang="es-AR" altLang="es-AR" b="1"/>
          </a:p>
          <a:p>
            <a:pPr algn="just">
              <a:lnSpc>
                <a:spcPct val="90000"/>
              </a:lnSpc>
            </a:pPr>
            <a:endParaRPr lang="es-AR" altLang="es-AR" b="1"/>
          </a:p>
        </p:txBody>
      </p:sp>
      <p:pic>
        <p:nvPicPr>
          <p:cNvPr id="52228" name="Picture 3"/>
          <p:cNvPicPr>
            <a:picLocks noChangeAspect="1" noChangeArrowheads="1"/>
          </p:cNvPicPr>
          <p:nvPr/>
        </p:nvPicPr>
        <p:blipFill>
          <a:blip r:embed="rId2">
            <a:extLst>
              <a:ext uri="{28A0092B-C50C-407E-A947-70E740481C1C}">
                <a14:useLocalDpi xmlns:a14="http://schemas.microsoft.com/office/drawing/2010/main" val="0"/>
              </a:ext>
            </a:extLst>
          </a:blip>
          <a:srcRect t="25668" r="51480" b="21611"/>
          <a:stretch>
            <a:fillRect/>
          </a:stretch>
        </p:blipFill>
        <p:spPr bwMode="auto">
          <a:xfrm>
            <a:off x="4284663" y="2127250"/>
            <a:ext cx="4678362" cy="4103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52</a:t>
            </a:fld>
            <a:endParaRPr lang="es-ES" altLang="es-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1 Título"/>
          <p:cNvSpPr>
            <a:spLocks noGrp="1"/>
          </p:cNvSpPr>
          <p:nvPr>
            <p:ph type="title"/>
          </p:nvPr>
        </p:nvSpPr>
        <p:spPr>
          <a:xfrm>
            <a:off x="457200" y="274638"/>
            <a:ext cx="8229600" cy="654050"/>
          </a:xfrm>
        </p:spPr>
        <p:txBody>
          <a:bodyPr/>
          <a:lstStyle/>
          <a:p>
            <a:r>
              <a:rPr lang="es-AR" altLang="es-AR" b="1"/>
              <a:t>Contenido accesible</a:t>
            </a:r>
          </a:p>
        </p:txBody>
      </p:sp>
      <p:sp>
        <p:nvSpPr>
          <p:cNvPr id="53251" name="2 Marcador de contenido"/>
          <p:cNvSpPr>
            <a:spLocks noGrp="1"/>
          </p:cNvSpPr>
          <p:nvPr>
            <p:ph idx="1"/>
          </p:nvPr>
        </p:nvSpPr>
        <p:spPr>
          <a:xfrm>
            <a:off x="457200" y="1412875"/>
            <a:ext cx="4043363" cy="5111750"/>
          </a:xfrm>
        </p:spPr>
        <p:txBody>
          <a:bodyPr/>
          <a:lstStyle/>
          <a:p>
            <a:pPr>
              <a:lnSpc>
                <a:spcPct val="90000"/>
              </a:lnSpc>
            </a:pPr>
            <a:r>
              <a:rPr lang="es-AR" altLang="es-AR" b="1"/>
              <a:t>SI</a:t>
            </a:r>
            <a:r>
              <a:rPr lang="es-AR" altLang="es-AR"/>
              <a:t> (la imagen no es ni forma parte de un enlace o botón) </a:t>
            </a:r>
            <a:r>
              <a:rPr lang="es-AR" altLang="es-AR" b="1"/>
              <a:t>Y</a:t>
            </a:r>
            <a:r>
              <a:rPr lang="es-AR" altLang="es-AR"/>
              <a:t> (la imagen no es decorativa, es visible y aporta información adicional) </a:t>
            </a:r>
            <a:r>
              <a:rPr lang="es-AR" altLang="es-AR" b="1"/>
              <a:t>Y</a:t>
            </a:r>
            <a:r>
              <a:rPr lang="es-AR" altLang="es-AR"/>
              <a:t> (la imagen no es un cuadro u otra expresión artística cuya función principal es crear una experiencia sensorial que las palabras no pueden igualar) </a:t>
            </a:r>
            <a:r>
              <a:rPr lang="es-AR" altLang="es-AR" b="1"/>
              <a:t>Y</a:t>
            </a:r>
            <a:r>
              <a:rPr lang="es-AR" altLang="es-AR"/>
              <a:t> (la imagen no es parte de una prueba o test que queda invalidado si se describe la imagen) </a:t>
            </a:r>
            <a:r>
              <a:rPr lang="es-AR" altLang="es-AR" b="1"/>
              <a:t>Y</a:t>
            </a:r>
            <a:r>
              <a:rPr lang="es-AR" altLang="es-AR"/>
              <a:t> (la imagen forma parte de una serie de imágenes contiguas que transmiten una información en forma conjunta) </a:t>
            </a:r>
            <a:r>
              <a:rPr lang="es-AR" altLang="es-AR" b="1"/>
              <a:t>ENTONCES</a:t>
            </a:r>
          </a:p>
          <a:p>
            <a:pPr lvl="1">
              <a:lnSpc>
                <a:spcPct val="90000"/>
              </a:lnSpc>
            </a:pPr>
            <a:endParaRPr lang="es-AR" altLang="es-AR" b="1"/>
          </a:p>
          <a:p>
            <a:pPr>
              <a:lnSpc>
                <a:spcPct val="90000"/>
              </a:lnSpc>
            </a:pPr>
            <a:endParaRPr lang="es-AR" altLang="es-AR" b="1"/>
          </a:p>
        </p:txBody>
      </p:sp>
      <p:pic>
        <p:nvPicPr>
          <p:cNvPr id="53252" name="Picture 3"/>
          <p:cNvPicPr>
            <a:picLocks noChangeAspect="1" noChangeArrowheads="1"/>
          </p:cNvPicPr>
          <p:nvPr/>
        </p:nvPicPr>
        <p:blipFill>
          <a:blip r:embed="rId2">
            <a:extLst>
              <a:ext uri="{28A0092B-C50C-407E-A947-70E740481C1C}">
                <a14:useLocalDpi xmlns:a14="http://schemas.microsoft.com/office/drawing/2010/main" val="0"/>
              </a:ext>
            </a:extLst>
          </a:blip>
          <a:srcRect l="54271" t="49892" r="22560" b="1067"/>
          <a:stretch>
            <a:fillRect/>
          </a:stretch>
        </p:blipFill>
        <p:spPr bwMode="auto">
          <a:xfrm>
            <a:off x="5148263" y="1557338"/>
            <a:ext cx="2663825" cy="4551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53</a:t>
            </a:fld>
            <a:endParaRPr lang="es-ES" altLang="es-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1 Título"/>
          <p:cNvSpPr>
            <a:spLocks noGrp="1"/>
          </p:cNvSpPr>
          <p:nvPr>
            <p:ph type="title"/>
          </p:nvPr>
        </p:nvSpPr>
        <p:spPr>
          <a:xfrm>
            <a:off x="457200" y="274638"/>
            <a:ext cx="8229600" cy="654050"/>
          </a:xfrm>
        </p:spPr>
        <p:txBody>
          <a:bodyPr/>
          <a:lstStyle/>
          <a:p>
            <a:r>
              <a:rPr lang="es-AR" altLang="es-AR" b="1"/>
              <a:t>Contenido accesible</a:t>
            </a:r>
          </a:p>
        </p:txBody>
      </p:sp>
      <p:sp>
        <p:nvSpPr>
          <p:cNvPr id="54275" name="2 Marcador de contenido"/>
          <p:cNvSpPr>
            <a:spLocks noGrp="1"/>
          </p:cNvSpPr>
          <p:nvPr>
            <p:ph idx="1"/>
          </p:nvPr>
        </p:nvSpPr>
        <p:spPr>
          <a:xfrm>
            <a:off x="371475" y="1341438"/>
            <a:ext cx="4540250" cy="5111750"/>
          </a:xfrm>
        </p:spPr>
        <p:txBody>
          <a:bodyPr/>
          <a:lstStyle/>
          <a:p>
            <a:pPr>
              <a:lnSpc>
                <a:spcPct val="90000"/>
              </a:lnSpc>
            </a:pPr>
            <a:r>
              <a:rPr lang="es-AR" altLang="es-AR" b="1"/>
              <a:t>SI</a:t>
            </a:r>
            <a:r>
              <a:rPr lang="es-AR" altLang="es-AR"/>
              <a:t> (la imagen no es ni forma parte de un enlace o botón) </a:t>
            </a:r>
            <a:r>
              <a:rPr lang="es-AR" altLang="es-AR" b="1"/>
              <a:t>Y</a:t>
            </a:r>
            <a:r>
              <a:rPr lang="es-AR" altLang="es-AR"/>
              <a:t> (la imagen no es decorativa, es visible y aporta información adicional) </a:t>
            </a:r>
            <a:r>
              <a:rPr lang="es-AR" altLang="es-AR" b="1"/>
              <a:t>Y</a:t>
            </a:r>
            <a:r>
              <a:rPr lang="es-AR" altLang="es-AR"/>
              <a:t> (la imagen no es un cuadro u otra expresión artística cuya función principal es crear una experiencia sensorial que las palabras no pueden igualar) </a:t>
            </a:r>
            <a:r>
              <a:rPr lang="es-AR" altLang="es-AR" b="1"/>
              <a:t>Y</a:t>
            </a:r>
            <a:r>
              <a:rPr lang="es-AR" altLang="es-AR"/>
              <a:t> (la imagen no es parte de una prueba o test que queda invalidado si se describe la imagen) </a:t>
            </a:r>
            <a:r>
              <a:rPr lang="es-AR" altLang="es-AR" b="1"/>
              <a:t>Y</a:t>
            </a:r>
            <a:r>
              <a:rPr lang="es-AR" altLang="es-AR"/>
              <a:t> (la imagen no forma parte de una serie de imágenes contiguas que transmiten una información en forma conjunta) </a:t>
            </a:r>
            <a:r>
              <a:rPr lang="es-AR" altLang="es-AR" b="1"/>
              <a:t>Y</a:t>
            </a:r>
            <a:r>
              <a:rPr lang="es-AR" altLang="es-AR"/>
              <a:t> (se puede describir la información  que proporciona la imagen con una descripción breve  de menos de 100 – 150 caracteres) </a:t>
            </a:r>
            <a:r>
              <a:rPr lang="es-AR" altLang="es-AR" b="1"/>
              <a:t>ENTONCES</a:t>
            </a:r>
          </a:p>
          <a:p>
            <a:pPr lvl="1">
              <a:lnSpc>
                <a:spcPct val="90000"/>
              </a:lnSpc>
            </a:pPr>
            <a:endParaRPr lang="es-AR" altLang="es-AR" b="1"/>
          </a:p>
          <a:p>
            <a:pPr>
              <a:lnSpc>
                <a:spcPct val="90000"/>
              </a:lnSpc>
            </a:pPr>
            <a:endParaRPr lang="es-AR" altLang="es-AR" b="1"/>
          </a:p>
        </p:txBody>
      </p:sp>
      <p:pic>
        <p:nvPicPr>
          <p:cNvPr id="54276" name="Picture 3"/>
          <p:cNvPicPr>
            <a:picLocks noChangeAspect="1" noChangeArrowheads="1"/>
          </p:cNvPicPr>
          <p:nvPr/>
        </p:nvPicPr>
        <p:blipFill>
          <a:blip r:embed="rId2">
            <a:extLst>
              <a:ext uri="{28A0092B-C50C-407E-A947-70E740481C1C}">
                <a14:useLocalDpi xmlns:a14="http://schemas.microsoft.com/office/drawing/2010/main" val="0"/>
              </a:ext>
            </a:extLst>
          </a:blip>
          <a:srcRect l="2" t="18764" r="44725" b="20663"/>
          <a:stretch>
            <a:fillRect/>
          </a:stretch>
        </p:blipFill>
        <p:spPr bwMode="auto">
          <a:xfrm>
            <a:off x="4859338" y="2349500"/>
            <a:ext cx="4233862" cy="3743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54</a:t>
            </a:fld>
            <a:endParaRPr lang="es-ES" altLang="es-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1 Título"/>
          <p:cNvSpPr>
            <a:spLocks noGrp="1"/>
          </p:cNvSpPr>
          <p:nvPr>
            <p:ph type="title"/>
          </p:nvPr>
        </p:nvSpPr>
        <p:spPr>
          <a:xfrm>
            <a:off x="457200" y="274638"/>
            <a:ext cx="8229600" cy="654050"/>
          </a:xfrm>
        </p:spPr>
        <p:txBody>
          <a:bodyPr/>
          <a:lstStyle/>
          <a:p>
            <a:r>
              <a:rPr lang="es-AR" altLang="es-AR" b="1"/>
              <a:t>Contenido accesible</a:t>
            </a:r>
          </a:p>
        </p:txBody>
      </p:sp>
      <p:sp>
        <p:nvSpPr>
          <p:cNvPr id="55299" name="2 Marcador de contenido"/>
          <p:cNvSpPr>
            <a:spLocks noGrp="1"/>
          </p:cNvSpPr>
          <p:nvPr>
            <p:ph idx="1"/>
          </p:nvPr>
        </p:nvSpPr>
        <p:spPr>
          <a:xfrm>
            <a:off x="371475" y="1341438"/>
            <a:ext cx="4540250" cy="5111750"/>
          </a:xfrm>
        </p:spPr>
        <p:txBody>
          <a:bodyPr/>
          <a:lstStyle/>
          <a:p>
            <a:pPr>
              <a:lnSpc>
                <a:spcPct val="90000"/>
              </a:lnSpc>
            </a:pPr>
            <a:r>
              <a:rPr lang="es-AR" altLang="es-AR" b="1"/>
              <a:t>SI</a:t>
            </a:r>
            <a:r>
              <a:rPr lang="es-AR" altLang="es-AR"/>
              <a:t> (la imagen no es ni forma parte de un enlace o botón) </a:t>
            </a:r>
            <a:r>
              <a:rPr lang="es-AR" altLang="es-AR" b="1"/>
              <a:t>Y</a:t>
            </a:r>
            <a:r>
              <a:rPr lang="es-AR" altLang="es-AR"/>
              <a:t> (la imagen no es decorativa, es visible y aporta información adicional) </a:t>
            </a:r>
            <a:r>
              <a:rPr lang="es-AR" altLang="es-AR" b="1"/>
              <a:t>Y</a:t>
            </a:r>
            <a:r>
              <a:rPr lang="es-AR" altLang="es-AR"/>
              <a:t> (la imagen no es un cuadro u otra expresión artística cuya función principal es crear una experiencia sensorial que las palabras no pueden igualar) </a:t>
            </a:r>
            <a:r>
              <a:rPr lang="es-AR" altLang="es-AR" b="1"/>
              <a:t>Y</a:t>
            </a:r>
            <a:r>
              <a:rPr lang="es-AR" altLang="es-AR"/>
              <a:t> (la imagen no es parte de una prueba o test que queda invalidado si se describe la imagen) </a:t>
            </a:r>
            <a:r>
              <a:rPr lang="es-AR" altLang="es-AR" b="1"/>
              <a:t>Y</a:t>
            </a:r>
            <a:r>
              <a:rPr lang="es-AR" altLang="es-AR"/>
              <a:t> (la imagen no forma parte de una serie de imágenes contiguas que transmiten una información en forma conjunta) </a:t>
            </a:r>
            <a:r>
              <a:rPr lang="es-AR" altLang="es-AR" b="1"/>
              <a:t>Y</a:t>
            </a:r>
            <a:r>
              <a:rPr lang="es-AR" altLang="es-AR"/>
              <a:t> (no se puede describir la información  que proporciona la imagen con una descripción breve  de menos de 100 – 150 caracteres) </a:t>
            </a:r>
            <a:r>
              <a:rPr lang="es-AR" altLang="es-AR" b="1"/>
              <a:t>ENTONCES</a:t>
            </a:r>
          </a:p>
          <a:p>
            <a:pPr lvl="1">
              <a:lnSpc>
                <a:spcPct val="90000"/>
              </a:lnSpc>
            </a:pPr>
            <a:endParaRPr lang="es-AR" altLang="es-AR" b="1"/>
          </a:p>
          <a:p>
            <a:pPr>
              <a:lnSpc>
                <a:spcPct val="90000"/>
              </a:lnSpc>
            </a:pPr>
            <a:endParaRPr lang="es-AR" altLang="es-AR" b="1"/>
          </a:p>
        </p:txBody>
      </p:sp>
      <p:pic>
        <p:nvPicPr>
          <p:cNvPr id="55300" name="Picture 3"/>
          <p:cNvPicPr>
            <a:picLocks noChangeAspect="1" noChangeArrowheads="1"/>
          </p:cNvPicPr>
          <p:nvPr/>
        </p:nvPicPr>
        <p:blipFill>
          <a:blip r:embed="rId2">
            <a:extLst>
              <a:ext uri="{28A0092B-C50C-407E-A947-70E740481C1C}">
                <a14:useLocalDpi xmlns:a14="http://schemas.microsoft.com/office/drawing/2010/main" val="0"/>
              </a:ext>
            </a:extLst>
          </a:blip>
          <a:srcRect l="61858" t="21092" r="15672" b="13020"/>
          <a:stretch>
            <a:fillRect/>
          </a:stretch>
        </p:blipFill>
        <p:spPr bwMode="auto">
          <a:xfrm>
            <a:off x="5651500" y="1484313"/>
            <a:ext cx="2160588" cy="5113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55</a:t>
            </a:fld>
            <a:endParaRPr lang="es-ES" altLang="es-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1 Título"/>
          <p:cNvSpPr>
            <a:spLocks noGrp="1"/>
          </p:cNvSpPr>
          <p:nvPr>
            <p:ph type="title"/>
          </p:nvPr>
        </p:nvSpPr>
        <p:spPr>
          <a:xfrm>
            <a:off x="457200" y="274638"/>
            <a:ext cx="8229600" cy="654050"/>
          </a:xfrm>
        </p:spPr>
        <p:txBody>
          <a:bodyPr/>
          <a:lstStyle/>
          <a:p>
            <a:r>
              <a:rPr lang="es-AR" altLang="es-AR" b="1"/>
              <a:t>Contenido accesible</a:t>
            </a:r>
          </a:p>
        </p:txBody>
      </p:sp>
      <p:sp>
        <p:nvSpPr>
          <p:cNvPr id="56323" name="2 Marcador de contenido"/>
          <p:cNvSpPr>
            <a:spLocks noGrp="1"/>
          </p:cNvSpPr>
          <p:nvPr>
            <p:ph idx="1"/>
          </p:nvPr>
        </p:nvSpPr>
        <p:spPr>
          <a:xfrm>
            <a:off x="430213" y="1916113"/>
            <a:ext cx="8229600" cy="4321175"/>
          </a:xfrm>
        </p:spPr>
        <p:txBody>
          <a:bodyPr/>
          <a:lstStyle/>
          <a:p>
            <a:pPr>
              <a:lnSpc>
                <a:spcPct val="90000"/>
              </a:lnSpc>
            </a:pPr>
            <a:r>
              <a:rPr lang="es-AR" altLang="es-AR"/>
              <a:t>Audio y video. Texto alternativo.</a:t>
            </a:r>
          </a:p>
          <a:p>
            <a:pPr lvl="1">
              <a:lnSpc>
                <a:spcPct val="90000"/>
              </a:lnSpc>
            </a:pPr>
            <a:endParaRPr lang="es-AR" altLang="es-AR"/>
          </a:p>
          <a:p>
            <a:pPr lvl="1">
              <a:lnSpc>
                <a:spcPct val="90000"/>
              </a:lnSpc>
            </a:pPr>
            <a:r>
              <a:rPr lang="es-AR" altLang="es-AR" b="1"/>
              <a:t>Pauta 1.2 Medios tempodependientes. </a:t>
            </a:r>
            <a:r>
              <a:rPr lang="es-AR" altLang="es-AR"/>
              <a:t>Proporcionar alternativas para los medios tempodependientes.</a:t>
            </a:r>
          </a:p>
          <a:p>
            <a:pPr lvl="1">
              <a:lnSpc>
                <a:spcPct val="90000"/>
              </a:lnSpc>
            </a:pPr>
            <a:endParaRPr lang="es-AR" altLang="es-AR"/>
          </a:p>
          <a:p>
            <a:pPr lvl="1">
              <a:lnSpc>
                <a:spcPct val="90000"/>
              </a:lnSpc>
            </a:pPr>
            <a:r>
              <a:rPr lang="es-AR" altLang="es-AR"/>
              <a:t>Engloba 9 criterios de conformidad:</a:t>
            </a:r>
          </a:p>
          <a:p>
            <a:pPr lvl="2">
              <a:lnSpc>
                <a:spcPct val="90000"/>
              </a:lnSpc>
            </a:pPr>
            <a:r>
              <a:rPr lang="es-AR" altLang="es-AR"/>
              <a:t>“sólo audio”, “sólo vídeo” y “multimedia sincronizado”, según si dicho contenido es “grabado” o “en directo”.</a:t>
            </a:r>
          </a:p>
        </p:txBody>
      </p:sp>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56</a:t>
            </a:fld>
            <a:endParaRPr lang="es-ES" altLang="es-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1 Título"/>
          <p:cNvSpPr>
            <a:spLocks noGrp="1"/>
          </p:cNvSpPr>
          <p:nvPr>
            <p:ph type="title"/>
          </p:nvPr>
        </p:nvSpPr>
        <p:spPr>
          <a:xfrm>
            <a:off x="457200" y="274638"/>
            <a:ext cx="8229600" cy="654050"/>
          </a:xfrm>
        </p:spPr>
        <p:txBody>
          <a:bodyPr/>
          <a:lstStyle/>
          <a:p>
            <a:r>
              <a:rPr lang="es-AR" altLang="es-AR" b="1"/>
              <a:t>Contenido accesible</a:t>
            </a:r>
          </a:p>
        </p:txBody>
      </p:sp>
      <p:sp>
        <p:nvSpPr>
          <p:cNvPr id="57347" name="2 Marcador de contenido"/>
          <p:cNvSpPr>
            <a:spLocks noGrp="1"/>
          </p:cNvSpPr>
          <p:nvPr>
            <p:ph idx="1"/>
          </p:nvPr>
        </p:nvSpPr>
        <p:spPr>
          <a:xfrm>
            <a:off x="430213" y="1916113"/>
            <a:ext cx="8229600" cy="4321175"/>
          </a:xfrm>
        </p:spPr>
        <p:txBody>
          <a:bodyPr/>
          <a:lstStyle/>
          <a:p>
            <a:pPr>
              <a:lnSpc>
                <a:spcPct val="90000"/>
              </a:lnSpc>
            </a:pPr>
            <a:r>
              <a:rPr lang="es-AR" altLang="es-AR"/>
              <a:t>Audio y video. Terminología:</a:t>
            </a:r>
          </a:p>
          <a:p>
            <a:pPr lvl="1">
              <a:lnSpc>
                <a:spcPct val="90000"/>
              </a:lnSpc>
            </a:pPr>
            <a:endParaRPr lang="es-AR" altLang="es-AR"/>
          </a:p>
          <a:p>
            <a:pPr>
              <a:lnSpc>
                <a:spcPct val="90000"/>
              </a:lnSpc>
            </a:pPr>
            <a:r>
              <a:rPr lang="es-AR" altLang="es-AR" b="1"/>
              <a:t>Sólo audio: </a:t>
            </a:r>
            <a:r>
              <a:rPr lang="es-AR" altLang="es-AR"/>
              <a:t>una presentación basada en el tiempo que contiene únicamente audio (sin video y sin interacción).</a:t>
            </a:r>
          </a:p>
          <a:p>
            <a:pPr>
              <a:lnSpc>
                <a:spcPct val="90000"/>
              </a:lnSpc>
            </a:pPr>
            <a:r>
              <a:rPr lang="es-AR" altLang="es-AR" b="1"/>
              <a:t>Sólo vídeo:</a:t>
            </a:r>
            <a:r>
              <a:rPr lang="es-AR" altLang="es-AR"/>
              <a:t> una presentación basada en el tiempo que contiene únicamente imágenes (vídeo), sin sonidos (audio) ni interacción.</a:t>
            </a:r>
          </a:p>
          <a:p>
            <a:pPr>
              <a:lnSpc>
                <a:spcPct val="90000"/>
              </a:lnSpc>
            </a:pPr>
            <a:r>
              <a:rPr lang="es-AR" altLang="es-AR" b="1"/>
              <a:t>Multimedia sincronizado: </a:t>
            </a:r>
            <a:r>
              <a:rPr lang="es-AR" altLang="es-AR"/>
              <a:t>audio o video sincronizado con otro formato para presentar información y/o con componentes interactivos basados en el tiempo, por ejemplo una película con vídeo y audio.</a:t>
            </a:r>
          </a:p>
          <a:p>
            <a:pPr>
              <a:lnSpc>
                <a:spcPct val="90000"/>
              </a:lnSpc>
            </a:pPr>
            <a:r>
              <a:rPr lang="es-AR" altLang="es-AR" b="1"/>
              <a:t>Grabado:</a:t>
            </a:r>
            <a:r>
              <a:rPr lang="es-AR" altLang="es-AR"/>
              <a:t> Información que no es en directo.</a:t>
            </a:r>
          </a:p>
          <a:p>
            <a:pPr>
              <a:lnSpc>
                <a:spcPct val="90000"/>
              </a:lnSpc>
            </a:pPr>
            <a:r>
              <a:rPr lang="es-AR" altLang="es-AR" b="1"/>
              <a:t>En directo: </a:t>
            </a:r>
            <a:r>
              <a:rPr lang="es-AR" altLang="es-AR"/>
              <a:t>la información capturada de un evento de la vida real y transmitida al receptor sin más demora que el retardo intencional de la emisión.</a:t>
            </a:r>
          </a:p>
        </p:txBody>
      </p:sp>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57</a:t>
            </a:fld>
            <a:endParaRPr lang="es-ES" altLang="es-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1 Título"/>
          <p:cNvSpPr>
            <a:spLocks noGrp="1"/>
          </p:cNvSpPr>
          <p:nvPr>
            <p:ph type="title"/>
          </p:nvPr>
        </p:nvSpPr>
        <p:spPr>
          <a:xfrm>
            <a:off x="457200" y="274638"/>
            <a:ext cx="8229600" cy="654050"/>
          </a:xfrm>
        </p:spPr>
        <p:txBody>
          <a:bodyPr/>
          <a:lstStyle/>
          <a:p>
            <a:r>
              <a:rPr lang="es-AR" altLang="es-AR" b="1"/>
              <a:t>Contenido accesible</a:t>
            </a:r>
          </a:p>
        </p:txBody>
      </p:sp>
      <p:sp>
        <p:nvSpPr>
          <p:cNvPr id="57347" name="2 Marcador de contenido"/>
          <p:cNvSpPr>
            <a:spLocks noGrp="1"/>
          </p:cNvSpPr>
          <p:nvPr>
            <p:ph idx="1"/>
          </p:nvPr>
        </p:nvSpPr>
        <p:spPr>
          <a:xfrm>
            <a:off x="430213" y="1916113"/>
            <a:ext cx="8229600" cy="360759"/>
          </a:xfrm>
        </p:spPr>
        <p:txBody>
          <a:bodyPr/>
          <a:lstStyle/>
          <a:p>
            <a:pPr>
              <a:lnSpc>
                <a:spcPct val="90000"/>
              </a:lnSpc>
            </a:pPr>
            <a:r>
              <a:rPr lang="es-AR" altLang="es-AR" dirty="0"/>
              <a:t>Audio y video. </a:t>
            </a:r>
            <a:r>
              <a:rPr lang="es-AR" dirty="0"/>
              <a:t>Texto alternativo</a:t>
            </a:r>
            <a:r>
              <a:rPr lang="es-AR" altLang="es-AR" dirty="0"/>
              <a:t>:</a:t>
            </a:r>
          </a:p>
        </p:txBody>
      </p:sp>
      <p:graphicFrame>
        <p:nvGraphicFramePr>
          <p:cNvPr id="4" name="Tabla 3"/>
          <p:cNvGraphicFramePr>
            <a:graphicFrameLocks noGrp="1"/>
          </p:cNvGraphicFramePr>
          <p:nvPr>
            <p:extLst>
              <p:ext uri="{D42A27DB-BD31-4B8C-83A1-F6EECF244321}">
                <p14:modId xmlns:p14="http://schemas.microsoft.com/office/powerpoint/2010/main" val="645185615"/>
              </p:ext>
            </p:extLst>
          </p:nvPr>
        </p:nvGraphicFramePr>
        <p:xfrm>
          <a:off x="539969" y="2420888"/>
          <a:ext cx="8119844" cy="3505200"/>
        </p:xfrm>
        <a:graphic>
          <a:graphicData uri="http://schemas.openxmlformats.org/drawingml/2006/table">
            <a:tbl>
              <a:tblPr firstRow="1" bandRow="1">
                <a:tableStyleId>{5C22544A-7EE6-4342-B048-85BDC9FD1C3A}</a:tableStyleId>
              </a:tblPr>
              <a:tblGrid>
                <a:gridCol w="2518243">
                  <a:extLst>
                    <a:ext uri="{9D8B030D-6E8A-4147-A177-3AD203B41FA5}">
                      <a16:colId xmlns:a16="http://schemas.microsoft.com/office/drawing/2014/main" val="2188540485"/>
                    </a:ext>
                  </a:extLst>
                </a:gridCol>
                <a:gridCol w="3169972">
                  <a:extLst>
                    <a:ext uri="{9D8B030D-6E8A-4147-A177-3AD203B41FA5}">
                      <a16:colId xmlns:a16="http://schemas.microsoft.com/office/drawing/2014/main" val="3107740521"/>
                    </a:ext>
                  </a:extLst>
                </a:gridCol>
                <a:gridCol w="2431629">
                  <a:extLst>
                    <a:ext uri="{9D8B030D-6E8A-4147-A177-3AD203B41FA5}">
                      <a16:colId xmlns:a16="http://schemas.microsoft.com/office/drawing/2014/main" val="1168698988"/>
                    </a:ext>
                  </a:extLst>
                </a:gridCol>
              </a:tblGrid>
              <a:tr h="370840">
                <a:tc>
                  <a:txBody>
                    <a:bodyPr/>
                    <a:lstStyle/>
                    <a:p>
                      <a:pPr algn="ctr"/>
                      <a:endParaRPr lang="es-AR" sz="2000" dirty="0"/>
                    </a:p>
                  </a:txBody>
                  <a:tcPr/>
                </a:tc>
                <a:tc gridSpan="2">
                  <a:txBody>
                    <a:bodyPr/>
                    <a:lstStyle/>
                    <a:p>
                      <a:pPr algn="ctr"/>
                      <a:r>
                        <a:rPr lang="es-AR" sz="2000" dirty="0"/>
                        <a:t>A</a:t>
                      </a:r>
                    </a:p>
                  </a:txBody>
                  <a:tcPr/>
                </a:tc>
                <a:tc hMerge="1">
                  <a:txBody>
                    <a:bodyPr/>
                    <a:lstStyle/>
                    <a:p>
                      <a:endParaRPr lang="es-AR" dirty="0"/>
                    </a:p>
                  </a:txBody>
                  <a:tcPr/>
                </a:tc>
                <a:extLst>
                  <a:ext uri="{0D108BD9-81ED-4DB2-BD59-A6C34878D82A}">
                    <a16:rowId xmlns:a16="http://schemas.microsoft.com/office/drawing/2014/main" val="934668851"/>
                  </a:ext>
                </a:extLst>
              </a:tr>
              <a:tr h="370840">
                <a:tc>
                  <a:txBody>
                    <a:bodyPr/>
                    <a:lstStyle/>
                    <a:p>
                      <a:endParaRPr lang="es-AR" sz="2000" dirty="0"/>
                    </a:p>
                  </a:txBody>
                  <a:tcPr/>
                </a:tc>
                <a:tc>
                  <a:txBody>
                    <a:bodyPr/>
                    <a:lstStyle/>
                    <a:p>
                      <a:pPr algn="ctr"/>
                      <a:r>
                        <a:rPr lang="es-AR" sz="2000" b="1" dirty="0"/>
                        <a:t>Grabado</a:t>
                      </a:r>
                    </a:p>
                  </a:txBody>
                  <a:tcPr/>
                </a:tc>
                <a:tc>
                  <a:txBody>
                    <a:bodyPr/>
                    <a:lstStyle/>
                    <a:p>
                      <a:pPr algn="ctr"/>
                      <a:r>
                        <a:rPr lang="es-AR" sz="2000" b="1" dirty="0"/>
                        <a:t>En directo</a:t>
                      </a:r>
                    </a:p>
                  </a:txBody>
                  <a:tcPr/>
                </a:tc>
                <a:extLst>
                  <a:ext uri="{0D108BD9-81ED-4DB2-BD59-A6C34878D82A}">
                    <a16:rowId xmlns:a16="http://schemas.microsoft.com/office/drawing/2014/main" val="3844487394"/>
                  </a:ext>
                </a:extLst>
              </a:tr>
              <a:tr h="370840">
                <a:tc>
                  <a:txBody>
                    <a:bodyPr/>
                    <a:lstStyle/>
                    <a:p>
                      <a:r>
                        <a:rPr lang="es-AR" sz="2000" b="1" dirty="0"/>
                        <a:t>Sólo</a:t>
                      </a:r>
                      <a:r>
                        <a:rPr lang="es-AR" sz="2000" b="1" baseline="0" dirty="0"/>
                        <a:t> audio</a:t>
                      </a:r>
                      <a:endParaRPr lang="es-AR" sz="2000" b="1" dirty="0"/>
                    </a:p>
                  </a:txBody>
                  <a:tcPr/>
                </a:tc>
                <a:tc>
                  <a:txBody>
                    <a:bodyPr/>
                    <a:lstStyle/>
                    <a:p>
                      <a:pPr algn="ctr"/>
                      <a:r>
                        <a:rPr lang="es-AR" sz="2000" dirty="0"/>
                        <a:t>Transcripción textual</a:t>
                      </a:r>
                    </a:p>
                  </a:txBody>
                  <a:tcPr anchor="ctr"/>
                </a:tc>
                <a:tc>
                  <a:txBody>
                    <a:bodyPr/>
                    <a:lstStyle/>
                    <a:p>
                      <a:pPr algn="ctr"/>
                      <a:r>
                        <a:rPr lang="es-AR" sz="2000" dirty="0"/>
                        <a:t>-</a:t>
                      </a:r>
                    </a:p>
                  </a:txBody>
                  <a:tcPr anchor="ctr"/>
                </a:tc>
                <a:extLst>
                  <a:ext uri="{0D108BD9-81ED-4DB2-BD59-A6C34878D82A}">
                    <a16:rowId xmlns:a16="http://schemas.microsoft.com/office/drawing/2014/main" val="2000229781"/>
                  </a:ext>
                </a:extLst>
              </a:tr>
              <a:tr h="370840">
                <a:tc>
                  <a:txBody>
                    <a:bodyPr/>
                    <a:lstStyle/>
                    <a:p>
                      <a:r>
                        <a:rPr lang="es-AR" sz="2000" b="1" dirty="0"/>
                        <a:t>Sólo vídeo</a:t>
                      </a:r>
                    </a:p>
                  </a:txBody>
                  <a:tcPr/>
                </a:tc>
                <a:tc>
                  <a:txBody>
                    <a:bodyPr/>
                    <a:lstStyle/>
                    <a:p>
                      <a:pPr algn="ctr"/>
                      <a:r>
                        <a:rPr lang="es-AR" sz="2000" dirty="0"/>
                        <a:t>Transcripción</a:t>
                      </a:r>
                      <a:r>
                        <a:rPr lang="es-AR" sz="2000" baseline="0" dirty="0"/>
                        <a:t> textual </a:t>
                      </a:r>
                    </a:p>
                    <a:p>
                      <a:pPr algn="ctr"/>
                      <a:r>
                        <a:rPr lang="es-AR" sz="2000" baseline="0" dirty="0"/>
                        <a:t>o </a:t>
                      </a:r>
                    </a:p>
                    <a:p>
                      <a:pPr algn="ctr"/>
                      <a:r>
                        <a:rPr lang="es-AR" sz="2000" baseline="0" dirty="0"/>
                        <a:t>Alternativa en audio</a:t>
                      </a:r>
                      <a:endParaRPr lang="es-AR" sz="2000" dirty="0"/>
                    </a:p>
                  </a:txBody>
                  <a:tcPr anchor="ctr"/>
                </a:tc>
                <a:tc>
                  <a:txBody>
                    <a:bodyPr/>
                    <a:lstStyle/>
                    <a:p>
                      <a:pPr algn="ctr"/>
                      <a:r>
                        <a:rPr lang="es-AR" sz="2000" dirty="0"/>
                        <a:t>-</a:t>
                      </a:r>
                    </a:p>
                  </a:txBody>
                  <a:tcPr anchor="ctr"/>
                </a:tc>
                <a:extLst>
                  <a:ext uri="{0D108BD9-81ED-4DB2-BD59-A6C34878D82A}">
                    <a16:rowId xmlns:a16="http://schemas.microsoft.com/office/drawing/2014/main" val="1757754126"/>
                  </a:ext>
                </a:extLst>
              </a:tr>
              <a:tr h="370840">
                <a:tc>
                  <a:txBody>
                    <a:bodyPr/>
                    <a:lstStyle/>
                    <a:p>
                      <a:r>
                        <a:rPr lang="es-AR" sz="2000" b="1" dirty="0"/>
                        <a:t>Multimedia sincronizada</a:t>
                      </a:r>
                    </a:p>
                  </a:txBody>
                  <a:tcPr/>
                </a:tc>
                <a:tc>
                  <a:txBody>
                    <a:bodyPr/>
                    <a:lstStyle/>
                    <a:p>
                      <a:pPr algn="ctr"/>
                      <a:r>
                        <a:rPr lang="es-AR" sz="2000" dirty="0"/>
                        <a:t>Subtítulos</a:t>
                      </a:r>
                    </a:p>
                    <a:p>
                      <a:pPr algn="ctr"/>
                      <a:r>
                        <a:rPr lang="es-AR" sz="2000" dirty="0"/>
                        <a:t>+</a:t>
                      </a:r>
                    </a:p>
                    <a:p>
                      <a:pPr algn="ctr"/>
                      <a:r>
                        <a:rPr lang="es-AR" sz="2000" dirty="0"/>
                        <a:t>Transcripción</a:t>
                      </a:r>
                      <a:r>
                        <a:rPr lang="es-AR" sz="2000" baseline="0" dirty="0"/>
                        <a:t> textual o Audiodescripción</a:t>
                      </a:r>
                      <a:endParaRPr lang="es-AR" sz="2000" dirty="0"/>
                    </a:p>
                  </a:txBody>
                  <a:tcPr anchor="ctr"/>
                </a:tc>
                <a:tc>
                  <a:txBody>
                    <a:bodyPr/>
                    <a:lstStyle/>
                    <a:p>
                      <a:pPr algn="ctr"/>
                      <a:r>
                        <a:rPr lang="es-AR" sz="2000" dirty="0"/>
                        <a:t>-</a:t>
                      </a:r>
                    </a:p>
                  </a:txBody>
                  <a:tcPr anchor="ctr"/>
                </a:tc>
                <a:extLst>
                  <a:ext uri="{0D108BD9-81ED-4DB2-BD59-A6C34878D82A}">
                    <a16:rowId xmlns:a16="http://schemas.microsoft.com/office/drawing/2014/main" val="3817562574"/>
                  </a:ext>
                </a:extLst>
              </a:tr>
            </a:tbl>
          </a:graphicData>
        </a:graphic>
      </p:graphicFrame>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58</a:t>
            </a:fld>
            <a:endParaRPr lang="es-ES" altLang="es-AR"/>
          </a:p>
        </p:txBody>
      </p:sp>
    </p:spTree>
    <p:extLst>
      <p:ext uri="{BB962C8B-B14F-4D97-AF65-F5344CB8AC3E}">
        <p14:creationId xmlns:p14="http://schemas.microsoft.com/office/powerpoint/2010/main" val="280113041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1 Título"/>
          <p:cNvSpPr>
            <a:spLocks noGrp="1"/>
          </p:cNvSpPr>
          <p:nvPr>
            <p:ph type="title"/>
          </p:nvPr>
        </p:nvSpPr>
        <p:spPr>
          <a:xfrm>
            <a:off x="457200" y="274638"/>
            <a:ext cx="8229600" cy="654050"/>
          </a:xfrm>
        </p:spPr>
        <p:txBody>
          <a:bodyPr/>
          <a:lstStyle/>
          <a:p>
            <a:r>
              <a:rPr lang="es-AR" altLang="es-AR" b="1"/>
              <a:t>Contenido accesible</a:t>
            </a:r>
          </a:p>
        </p:txBody>
      </p:sp>
      <p:sp>
        <p:nvSpPr>
          <p:cNvPr id="57347" name="2 Marcador de contenido"/>
          <p:cNvSpPr>
            <a:spLocks noGrp="1"/>
          </p:cNvSpPr>
          <p:nvPr>
            <p:ph idx="1"/>
          </p:nvPr>
        </p:nvSpPr>
        <p:spPr>
          <a:xfrm>
            <a:off x="430213" y="1916113"/>
            <a:ext cx="8229600" cy="4321175"/>
          </a:xfrm>
        </p:spPr>
        <p:txBody>
          <a:bodyPr/>
          <a:lstStyle/>
          <a:p>
            <a:pPr>
              <a:lnSpc>
                <a:spcPct val="90000"/>
              </a:lnSpc>
            </a:pPr>
            <a:r>
              <a:rPr lang="es-AR" dirty="0"/>
              <a:t>Subtítulos para el contenido multimedia:</a:t>
            </a:r>
          </a:p>
          <a:p>
            <a:pPr marL="0" indent="0">
              <a:lnSpc>
                <a:spcPct val="90000"/>
              </a:lnSpc>
              <a:buNone/>
            </a:pPr>
            <a:endParaRPr lang="es-AR" dirty="0"/>
          </a:p>
          <a:p>
            <a:pPr lvl="1">
              <a:lnSpc>
                <a:spcPct val="90000"/>
              </a:lnSpc>
            </a:pPr>
            <a:r>
              <a:rPr lang="es-AR" dirty="0"/>
              <a:t>1.2.2 Subtítulos (grabados): Se proporcionan subtítulos para el contenido de audio grabado dentro de contenido multimedia sincronizado, excepto cuando la presentación es un contenido multimedia alternativo al texto y está claramente identificado como tal. (Nivel A)</a:t>
            </a:r>
          </a:p>
          <a:p>
            <a:pPr marL="457200" lvl="1" indent="0">
              <a:lnSpc>
                <a:spcPct val="90000"/>
              </a:lnSpc>
              <a:buNone/>
            </a:pPr>
            <a:endParaRPr lang="es-AR" dirty="0"/>
          </a:p>
          <a:p>
            <a:pPr lvl="1">
              <a:lnSpc>
                <a:spcPct val="90000"/>
              </a:lnSpc>
            </a:pPr>
            <a:r>
              <a:rPr lang="es-AR" dirty="0"/>
              <a:t>1.2.4 Subtítulos (en directo): Se proporcionan subtítulos para todo el contenido de audio de los multimedia sincronizados. (Nivel AA)</a:t>
            </a:r>
          </a:p>
        </p:txBody>
      </p:sp>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59</a:t>
            </a:fld>
            <a:endParaRPr lang="es-ES" altLang="es-AR"/>
          </a:p>
        </p:txBody>
      </p:sp>
    </p:spTree>
    <p:extLst>
      <p:ext uri="{BB962C8B-B14F-4D97-AF65-F5344CB8AC3E}">
        <p14:creationId xmlns:p14="http://schemas.microsoft.com/office/powerpoint/2010/main" val="350853801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1 Título"/>
          <p:cNvSpPr>
            <a:spLocks noGrp="1"/>
          </p:cNvSpPr>
          <p:nvPr>
            <p:ph type="title"/>
          </p:nvPr>
        </p:nvSpPr>
        <p:spPr>
          <a:xfrm>
            <a:off x="457200" y="274638"/>
            <a:ext cx="8229600" cy="654050"/>
          </a:xfrm>
        </p:spPr>
        <p:txBody>
          <a:bodyPr/>
          <a:lstStyle/>
          <a:p>
            <a:r>
              <a:rPr lang="es-AR" altLang="es-AR" b="1"/>
              <a:t>Contenido accesible</a:t>
            </a:r>
          </a:p>
        </p:txBody>
      </p:sp>
      <p:sp>
        <p:nvSpPr>
          <p:cNvPr id="57347" name="2 Marcador de contenido"/>
          <p:cNvSpPr>
            <a:spLocks noGrp="1"/>
          </p:cNvSpPr>
          <p:nvPr>
            <p:ph idx="1"/>
          </p:nvPr>
        </p:nvSpPr>
        <p:spPr>
          <a:xfrm>
            <a:off x="430213" y="1916113"/>
            <a:ext cx="8229600" cy="432767"/>
          </a:xfrm>
        </p:spPr>
        <p:txBody>
          <a:bodyPr/>
          <a:lstStyle/>
          <a:p>
            <a:pPr>
              <a:lnSpc>
                <a:spcPct val="90000"/>
              </a:lnSpc>
            </a:pPr>
            <a:r>
              <a:rPr lang="es-AR" dirty="0"/>
              <a:t>Subtítulos para el contenido multimedia:</a:t>
            </a:r>
          </a:p>
          <a:p>
            <a:pPr marL="0" indent="0">
              <a:lnSpc>
                <a:spcPct val="90000"/>
              </a:lnSpc>
              <a:buNone/>
            </a:pPr>
            <a:endParaRPr lang="es-AR" dirty="0"/>
          </a:p>
        </p:txBody>
      </p:sp>
      <p:graphicFrame>
        <p:nvGraphicFramePr>
          <p:cNvPr id="4" name="Tabla 3"/>
          <p:cNvGraphicFramePr>
            <a:graphicFrameLocks noGrp="1"/>
          </p:cNvGraphicFramePr>
          <p:nvPr>
            <p:extLst>
              <p:ext uri="{D42A27DB-BD31-4B8C-83A1-F6EECF244321}">
                <p14:modId xmlns:p14="http://schemas.microsoft.com/office/powerpoint/2010/main" val="779652619"/>
              </p:ext>
            </p:extLst>
          </p:nvPr>
        </p:nvGraphicFramePr>
        <p:xfrm>
          <a:off x="477452" y="2319609"/>
          <a:ext cx="8128000" cy="384048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2845057815"/>
                    </a:ext>
                  </a:extLst>
                </a:gridCol>
                <a:gridCol w="4064000">
                  <a:extLst>
                    <a:ext uri="{9D8B030D-6E8A-4147-A177-3AD203B41FA5}">
                      <a16:colId xmlns:a16="http://schemas.microsoft.com/office/drawing/2014/main" val="931760179"/>
                    </a:ext>
                  </a:extLst>
                </a:gridCol>
              </a:tblGrid>
              <a:tr h="370840">
                <a:tc>
                  <a:txBody>
                    <a:bodyPr/>
                    <a:lstStyle/>
                    <a:p>
                      <a:pPr algn="ctr"/>
                      <a:r>
                        <a:rPr lang="es-AR" sz="2000" dirty="0"/>
                        <a:t>Subtítulos normales</a:t>
                      </a:r>
                    </a:p>
                  </a:txBody>
                  <a:tcPr/>
                </a:tc>
                <a:tc>
                  <a:txBody>
                    <a:bodyPr/>
                    <a:lstStyle/>
                    <a:p>
                      <a:pPr algn="ctr"/>
                      <a:r>
                        <a:rPr lang="es-AR" sz="2000" dirty="0"/>
                        <a:t>Subtítulos</a:t>
                      </a:r>
                      <a:r>
                        <a:rPr lang="es-AR" sz="2000" baseline="0" dirty="0"/>
                        <a:t> para sordos</a:t>
                      </a:r>
                      <a:endParaRPr lang="es-AR" sz="2000" dirty="0"/>
                    </a:p>
                  </a:txBody>
                  <a:tcPr/>
                </a:tc>
                <a:extLst>
                  <a:ext uri="{0D108BD9-81ED-4DB2-BD59-A6C34878D82A}">
                    <a16:rowId xmlns:a16="http://schemas.microsoft.com/office/drawing/2014/main" val="1732690035"/>
                  </a:ext>
                </a:extLst>
              </a:tr>
              <a:tr h="370840">
                <a:tc>
                  <a:txBody>
                    <a:bodyPr/>
                    <a:lstStyle/>
                    <a:p>
                      <a:r>
                        <a:rPr lang="es-AR" sz="2000" b="1" dirty="0"/>
                        <a:t>Obi-</a:t>
                      </a:r>
                      <a:r>
                        <a:rPr lang="es-AR" sz="2000" b="1" dirty="0" err="1"/>
                        <a:t>Wan</a:t>
                      </a:r>
                      <a:r>
                        <a:rPr lang="es-AR" sz="2000" b="1" dirty="0"/>
                        <a:t> no te dijo lo que le pasó a tu padre.</a:t>
                      </a:r>
                    </a:p>
                    <a:p>
                      <a:endParaRPr lang="es-AR" sz="2000" b="1" dirty="0"/>
                    </a:p>
                    <a:p>
                      <a:r>
                        <a:rPr lang="es-AR" sz="2000" b="1" baseline="0" dirty="0"/>
                        <a:t>¡</a:t>
                      </a:r>
                      <a:r>
                        <a:rPr lang="es-AR" sz="2000" b="1" dirty="0"/>
                        <a:t>Me dijo lo suficiente! </a:t>
                      </a:r>
                      <a:r>
                        <a:rPr lang="es-AR" sz="2000" b="1" baseline="0" dirty="0"/>
                        <a:t>¡</a:t>
                      </a:r>
                      <a:r>
                        <a:rPr lang="es-AR" sz="2000" b="1" dirty="0"/>
                        <a:t>Dijo que tú le mataste!</a:t>
                      </a:r>
                    </a:p>
                    <a:p>
                      <a:endParaRPr lang="es-AR" sz="2000" b="1" dirty="0"/>
                    </a:p>
                    <a:p>
                      <a:r>
                        <a:rPr lang="es-AR" sz="2000" b="1" dirty="0"/>
                        <a:t>No.</a:t>
                      </a:r>
                      <a:r>
                        <a:rPr lang="es-AR" sz="2000" b="1" baseline="0" dirty="0"/>
                        <a:t> Yo soy tu padre.</a:t>
                      </a:r>
                      <a:endParaRPr lang="es-AR" sz="2000" b="1" dirty="0"/>
                    </a:p>
                  </a:txBody>
                  <a:tcPr/>
                </a:tc>
                <a:tc>
                  <a:txBody>
                    <a:bodyPr/>
                    <a:lstStyle/>
                    <a:p>
                      <a:r>
                        <a:rPr lang="es-AR" sz="2000" b="1" dirty="0">
                          <a:solidFill>
                            <a:srgbClr val="FF0000"/>
                          </a:solidFill>
                        </a:rPr>
                        <a:t>[♫ Música ceremoniosa]</a:t>
                      </a:r>
                    </a:p>
                    <a:p>
                      <a:endParaRPr lang="es-AR" sz="2000" b="1" dirty="0">
                        <a:solidFill>
                          <a:srgbClr val="FF0000"/>
                        </a:solidFill>
                      </a:endParaRPr>
                    </a:p>
                    <a:p>
                      <a:r>
                        <a:rPr lang="es-AR" sz="2000" b="1" dirty="0">
                          <a:solidFill>
                            <a:srgbClr val="00B050"/>
                          </a:solidFill>
                        </a:rPr>
                        <a:t>Obi-</a:t>
                      </a:r>
                      <a:r>
                        <a:rPr lang="es-AR" sz="2000" b="1" dirty="0" err="1">
                          <a:solidFill>
                            <a:srgbClr val="00B050"/>
                          </a:solidFill>
                        </a:rPr>
                        <a:t>Wan</a:t>
                      </a:r>
                      <a:r>
                        <a:rPr lang="es-AR" sz="2000" b="1" dirty="0">
                          <a:solidFill>
                            <a:srgbClr val="00B050"/>
                          </a:solidFill>
                        </a:rPr>
                        <a:t> no te dijo lo que le pasó a tu padre.</a:t>
                      </a:r>
                    </a:p>
                    <a:p>
                      <a:endParaRPr lang="es-AR" sz="2000" b="1" dirty="0">
                        <a:solidFill>
                          <a:srgbClr val="00B050"/>
                        </a:solidFill>
                      </a:endParaRPr>
                    </a:p>
                    <a:p>
                      <a:r>
                        <a:rPr lang="es-AR" sz="2000" b="1" dirty="0">
                          <a:solidFill>
                            <a:schemeClr val="tx1"/>
                          </a:solidFill>
                        </a:rPr>
                        <a:t>[Silbido del viento]</a:t>
                      </a:r>
                    </a:p>
                    <a:p>
                      <a:endParaRPr lang="es-AR" sz="2000" b="1" dirty="0">
                        <a:solidFill>
                          <a:schemeClr val="tx1"/>
                        </a:solidFill>
                      </a:endParaRPr>
                    </a:p>
                    <a:p>
                      <a:r>
                        <a:rPr lang="es-AR" sz="2000" b="1" baseline="0" dirty="0">
                          <a:solidFill>
                            <a:srgbClr val="0070C0"/>
                          </a:solidFill>
                        </a:rPr>
                        <a:t>¡</a:t>
                      </a:r>
                      <a:r>
                        <a:rPr lang="es-AR" sz="2000" b="1" dirty="0">
                          <a:solidFill>
                            <a:srgbClr val="0070C0"/>
                          </a:solidFill>
                        </a:rPr>
                        <a:t>Me dijo lo suficiente! </a:t>
                      </a:r>
                      <a:r>
                        <a:rPr lang="es-AR" sz="2000" b="1" baseline="0" dirty="0">
                          <a:solidFill>
                            <a:srgbClr val="0070C0"/>
                          </a:solidFill>
                        </a:rPr>
                        <a:t>¡</a:t>
                      </a:r>
                      <a:r>
                        <a:rPr lang="es-AR" sz="2000" b="1" dirty="0">
                          <a:solidFill>
                            <a:srgbClr val="0070C0"/>
                          </a:solidFill>
                        </a:rPr>
                        <a:t>Dijo que tú le mataste!</a:t>
                      </a:r>
                    </a:p>
                    <a:p>
                      <a:endParaRPr lang="es-AR" sz="2000" b="1" dirty="0">
                        <a:solidFill>
                          <a:srgbClr val="0070C0"/>
                        </a:solidFill>
                      </a:endParaRPr>
                    </a:p>
                    <a:p>
                      <a:r>
                        <a:rPr lang="es-AR" sz="2000" b="1" dirty="0">
                          <a:solidFill>
                            <a:srgbClr val="00B050"/>
                          </a:solidFill>
                        </a:rPr>
                        <a:t>No.</a:t>
                      </a:r>
                      <a:r>
                        <a:rPr lang="es-AR" sz="2000" b="1" baseline="0" dirty="0">
                          <a:solidFill>
                            <a:srgbClr val="00B050"/>
                          </a:solidFill>
                        </a:rPr>
                        <a:t> Yo soy tu padre.</a:t>
                      </a:r>
                      <a:endParaRPr lang="es-AR" sz="2000" dirty="0"/>
                    </a:p>
                  </a:txBody>
                  <a:tcPr/>
                </a:tc>
                <a:extLst>
                  <a:ext uri="{0D108BD9-81ED-4DB2-BD59-A6C34878D82A}">
                    <a16:rowId xmlns:a16="http://schemas.microsoft.com/office/drawing/2014/main" val="85792261"/>
                  </a:ext>
                </a:extLst>
              </a:tr>
            </a:tbl>
          </a:graphicData>
        </a:graphic>
      </p:graphicFrame>
      <p:sp>
        <p:nvSpPr>
          <p:cNvPr id="5" name="Bocadillo: rectángulo con esquinas redondeadas 4"/>
          <p:cNvSpPr/>
          <p:nvPr/>
        </p:nvSpPr>
        <p:spPr>
          <a:xfrm>
            <a:off x="1763688" y="5085184"/>
            <a:ext cx="2249347" cy="1152128"/>
          </a:xfrm>
          <a:prstGeom prst="wedgeRoundRectCallout">
            <a:avLst>
              <a:gd name="adj1" fmla="val 77450"/>
              <a:gd name="adj2" fmla="val -177887"/>
              <a:gd name="adj3" fmla="val 16667"/>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AR" sz="2000" dirty="0">
                <a:solidFill>
                  <a:schemeClr val="tx1"/>
                </a:solidFill>
              </a:rPr>
              <a:t>Código de color:</a:t>
            </a:r>
          </a:p>
          <a:p>
            <a:r>
              <a:rPr lang="es-AR" sz="2000" b="1" dirty="0" err="1">
                <a:solidFill>
                  <a:srgbClr val="00B050"/>
                </a:solidFill>
              </a:rPr>
              <a:t>Darth</a:t>
            </a:r>
            <a:r>
              <a:rPr lang="es-AR" sz="2000" b="1" dirty="0">
                <a:solidFill>
                  <a:srgbClr val="00B050"/>
                </a:solidFill>
              </a:rPr>
              <a:t> </a:t>
            </a:r>
            <a:r>
              <a:rPr lang="es-AR" sz="2000" b="1" dirty="0" err="1">
                <a:solidFill>
                  <a:srgbClr val="00B050"/>
                </a:solidFill>
              </a:rPr>
              <a:t>Vader</a:t>
            </a:r>
            <a:endParaRPr lang="es-AR" sz="2000" b="1" dirty="0">
              <a:solidFill>
                <a:srgbClr val="00B050"/>
              </a:solidFill>
            </a:endParaRPr>
          </a:p>
          <a:p>
            <a:r>
              <a:rPr lang="es-AR" sz="2000" b="1" dirty="0" err="1">
                <a:solidFill>
                  <a:srgbClr val="0070C0"/>
                </a:solidFill>
              </a:rPr>
              <a:t>Luke</a:t>
            </a:r>
            <a:r>
              <a:rPr lang="es-AR" sz="2000" b="1" dirty="0">
                <a:solidFill>
                  <a:srgbClr val="0070C0"/>
                </a:solidFill>
              </a:rPr>
              <a:t> </a:t>
            </a:r>
            <a:r>
              <a:rPr lang="es-AR" sz="2000" b="1" dirty="0" err="1">
                <a:solidFill>
                  <a:srgbClr val="0070C0"/>
                </a:solidFill>
              </a:rPr>
              <a:t>Skywalker</a:t>
            </a:r>
            <a:endParaRPr lang="es-AR" sz="2000" b="1" dirty="0">
              <a:solidFill>
                <a:srgbClr val="0070C0"/>
              </a:solidFill>
            </a:endParaRPr>
          </a:p>
        </p:txBody>
      </p:sp>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60</a:t>
            </a:fld>
            <a:endParaRPr lang="es-ES" altLang="es-AR"/>
          </a:p>
        </p:txBody>
      </p:sp>
    </p:spTree>
    <p:extLst>
      <p:ext uri="{BB962C8B-B14F-4D97-AF65-F5344CB8AC3E}">
        <p14:creationId xmlns:p14="http://schemas.microsoft.com/office/powerpoint/2010/main" val="181624148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1 Título"/>
          <p:cNvSpPr>
            <a:spLocks noGrp="1"/>
          </p:cNvSpPr>
          <p:nvPr>
            <p:ph type="title"/>
          </p:nvPr>
        </p:nvSpPr>
        <p:spPr>
          <a:xfrm>
            <a:off x="457200" y="274638"/>
            <a:ext cx="8229600" cy="654050"/>
          </a:xfrm>
        </p:spPr>
        <p:txBody>
          <a:bodyPr/>
          <a:lstStyle/>
          <a:p>
            <a:r>
              <a:rPr lang="es-AR" altLang="es-AR" b="1"/>
              <a:t>Contenido accesible</a:t>
            </a:r>
          </a:p>
        </p:txBody>
      </p:sp>
      <p:sp>
        <p:nvSpPr>
          <p:cNvPr id="57347" name="2 Marcador de contenido"/>
          <p:cNvSpPr>
            <a:spLocks noGrp="1"/>
          </p:cNvSpPr>
          <p:nvPr>
            <p:ph idx="1"/>
          </p:nvPr>
        </p:nvSpPr>
        <p:spPr>
          <a:xfrm>
            <a:off x="457200" y="1484784"/>
            <a:ext cx="8229600" cy="5040560"/>
          </a:xfrm>
        </p:spPr>
        <p:txBody>
          <a:bodyPr/>
          <a:lstStyle/>
          <a:p>
            <a:pPr>
              <a:lnSpc>
                <a:spcPct val="90000"/>
              </a:lnSpc>
            </a:pPr>
            <a:r>
              <a:rPr lang="es-AR" dirty="0"/>
              <a:t>Audio y video. Texto alternativo.</a:t>
            </a:r>
          </a:p>
          <a:p>
            <a:pPr lvl="1">
              <a:lnSpc>
                <a:spcPct val="90000"/>
              </a:lnSpc>
            </a:pPr>
            <a:r>
              <a:rPr lang="es-AR" dirty="0"/>
              <a:t>¿Cómo se crean subtítulos adecuados?</a:t>
            </a:r>
          </a:p>
          <a:p>
            <a:pPr lvl="2">
              <a:lnSpc>
                <a:spcPct val="90000"/>
              </a:lnSpc>
            </a:pPr>
            <a:r>
              <a:rPr lang="es-AR" dirty="0"/>
              <a:t>Centradas en la parte inferior, excepto los efectos sonoros que se sitúan en la parte superior.</a:t>
            </a:r>
          </a:p>
          <a:p>
            <a:pPr lvl="2">
              <a:lnSpc>
                <a:spcPct val="90000"/>
              </a:lnSpc>
            </a:pPr>
            <a:r>
              <a:rPr lang="es-AR" dirty="0"/>
              <a:t>Tiempo suficiente para ser leídos.</a:t>
            </a:r>
          </a:p>
          <a:p>
            <a:pPr lvl="2">
              <a:lnSpc>
                <a:spcPct val="90000"/>
              </a:lnSpc>
            </a:pPr>
            <a:r>
              <a:rPr lang="es-AR" dirty="0"/>
              <a:t>Ocupar máximo 2 líneas en pantalla.</a:t>
            </a:r>
          </a:p>
          <a:p>
            <a:pPr lvl="2">
              <a:lnSpc>
                <a:spcPct val="90000"/>
              </a:lnSpc>
            </a:pPr>
            <a:r>
              <a:rPr lang="es-AR" dirty="0"/>
              <a:t>35 a 40 caracteres por línea.</a:t>
            </a:r>
          </a:p>
          <a:p>
            <a:pPr lvl="2">
              <a:lnSpc>
                <a:spcPct val="90000"/>
              </a:lnSpc>
            </a:pPr>
            <a:r>
              <a:rPr lang="es-AR" dirty="0"/>
              <a:t>Interlineado sencillo.</a:t>
            </a:r>
          </a:p>
          <a:p>
            <a:pPr lvl="2">
              <a:lnSpc>
                <a:spcPct val="90000"/>
              </a:lnSpc>
            </a:pPr>
            <a:r>
              <a:rPr lang="es-AR" dirty="0"/>
              <a:t>Tipografía legible.</a:t>
            </a:r>
          </a:p>
          <a:p>
            <a:pPr lvl="2">
              <a:lnSpc>
                <a:spcPct val="90000"/>
              </a:lnSpc>
            </a:pPr>
            <a:r>
              <a:rPr lang="es-AR" dirty="0"/>
              <a:t>Sincronizado con el habla.</a:t>
            </a:r>
          </a:p>
          <a:p>
            <a:pPr lvl="2">
              <a:lnSpc>
                <a:spcPct val="90000"/>
              </a:lnSpc>
            </a:pPr>
            <a:r>
              <a:rPr lang="es-AR" dirty="0"/>
              <a:t>Código de color para identificar a las personas.</a:t>
            </a:r>
          </a:p>
          <a:p>
            <a:pPr lvl="2">
              <a:lnSpc>
                <a:spcPct val="90000"/>
              </a:lnSpc>
            </a:pPr>
            <a:r>
              <a:rPr lang="es-AR" dirty="0"/>
              <a:t>Efectos de sonido y música () o [] para ayudar a la comprensión.</a:t>
            </a:r>
          </a:p>
          <a:p>
            <a:pPr lvl="2">
              <a:lnSpc>
                <a:spcPct val="90000"/>
              </a:lnSpc>
            </a:pPr>
            <a:r>
              <a:rPr lang="es-AR" dirty="0"/>
              <a:t>Subtitular todo lo que se dice.</a:t>
            </a:r>
          </a:p>
          <a:p>
            <a:pPr lvl="2">
              <a:lnSpc>
                <a:spcPct val="90000"/>
              </a:lnSpc>
            </a:pPr>
            <a:r>
              <a:rPr lang="es-AR" dirty="0"/>
              <a:t>Puntuación y errores ortográficos.</a:t>
            </a:r>
          </a:p>
        </p:txBody>
      </p:sp>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61</a:t>
            </a:fld>
            <a:endParaRPr lang="es-ES" altLang="es-AR"/>
          </a:p>
        </p:txBody>
      </p:sp>
    </p:spTree>
    <p:extLst>
      <p:ext uri="{BB962C8B-B14F-4D97-AF65-F5344CB8AC3E}">
        <p14:creationId xmlns:p14="http://schemas.microsoft.com/office/powerpoint/2010/main" val="283787930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1 Título"/>
          <p:cNvSpPr>
            <a:spLocks noGrp="1"/>
          </p:cNvSpPr>
          <p:nvPr>
            <p:ph type="title"/>
          </p:nvPr>
        </p:nvSpPr>
        <p:spPr>
          <a:xfrm>
            <a:off x="457200" y="274638"/>
            <a:ext cx="8229600" cy="654050"/>
          </a:xfrm>
        </p:spPr>
        <p:txBody>
          <a:bodyPr/>
          <a:lstStyle/>
          <a:p>
            <a:r>
              <a:rPr lang="es-AR" altLang="es-AR" b="1"/>
              <a:t>Contenido accesible</a:t>
            </a:r>
          </a:p>
        </p:txBody>
      </p:sp>
      <p:sp>
        <p:nvSpPr>
          <p:cNvPr id="57347" name="2 Marcador de contenido"/>
          <p:cNvSpPr>
            <a:spLocks noGrp="1"/>
          </p:cNvSpPr>
          <p:nvPr>
            <p:ph idx="1"/>
          </p:nvPr>
        </p:nvSpPr>
        <p:spPr>
          <a:xfrm>
            <a:off x="430213" y="1916113"/>
            <a:ext cx="8229600" cy="4321175"/>
          </a:xfrm>
        </p:spPr>
        <p:txBody>
          <a:bodyPr/>
          <a:lstStyle/>
          <a:p>
            <a:pPr algn="just">
              <a:lnSpc>
                <a:spcPct val="90000"/>
              </a:lnSpc>
            </a:pPr>
            <a:r>
              <a:rPr lang="es-AR" dirty="0"/>
              <a:t>Otros requisitos relacionados con el audio, con el contenido que destella, con el tiempo que se impone al contenido o con el contenido que debe poderse pausar, detener u ocultar.</a:t>
            </a:r>
          </a:p>
          <a:p>
            <a:pPr marL="0" indent="0" algn="just">
              <a:lnSpc>
                <a:spcPct val="90000"/>
              </a:lnSpc>
              <a:buNone/>
            </a:pPr>
            <a:endParaRPr lang="es-AR" dirty="0"/>
          </a:p>
          <a:p>
            <a:pPr lvl="3" algn="just">
              <a:lnSpc>
                <a:spcPct val="90000"/>
              </a:lnSpc>
            </a:pPr>
            <a:r>
              <a:rPr lang="es-AR" b="1" dirty="0"/>
              <a:t>Audio.</a:t>
            </a:r>
          </a:p>
          <a:p>
            <a:pPr lvl="4" algn="just">
              <a:lnSpc>
                <a:spcPct val="90000"/>
              </a:lnSpc>
            </a:pPr>
            <a:endParaRPr lang="es-AR" dirty="0"/>
          </a:p>
          <a:p>
            <a:pPr lvl="3" algn="just">
              <a:lnSpc>
                <a:spcPct val="90000"/>
              </a:lnSpc>
            </a:pPr>
            <a:r>
              <a:rPr lang="es-AR" b="1" dirty="0"/>
              <a:t>Destellos.</a:t>
            </a:r>
          </a:p>
          <a:p>
            <a:pPr lvl="3" algn="just">
              <a:lnSpc>
                <a:spcPct val="90000"/>
              </a:lnSpc>
            </a:pPr>
            <a:endParaRPr lang="es-AR" b="1" dirty="0"/>
          </a:p>
          <a:p>
            <a:pPr lvl="3" algn="just">
              <a:lnSpc>
                <a:spcPct val="90000"/>
              </a:lnSpc>
            </a:pPr>
            <a:r>
              <a:rPr lang="es-AR" b="1" dirty="0"/>
              <a:t>Tiempo suficiente.</a:t>
            </a:r>
          </a:p>
          <a:p>
            <a:pPr>
              <a:lnSpc>
                <a:spcPct val="90000"/>
              </a:lnSpc>
            </a:pPr>
            <a:endParaRPr lang="es-AR" dirty="0"/>
          </a:p>
        </p:txBody>
      </p:sp>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62</a:t>
            </a:fld>
            <a:endParaRPr lang="es-ES" altLang="es-AR"/>
          </a:p>
        </p:txBody>
      </p:sp>
    </p:spTree>
    <p:extLst>
      <p:ext uri="{BB962C8B-B14F-4D97-AF65-F5344CB8AC3E}">
        <p14:creationId xmlns:p14="http://schemas.microsoft.com/office/powerpoint/2010/main" val="628042784"/>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1 Título"/>
          <p:cNvSpPr>
            <a:spLocks noGrp="1"/>
          </p:cNvSpPr>
          <p:nvPr>
            <p:ph type="title"/>
          </p:nvPr>
        </p:nvSpPr>
        <p:spPr>
          <a:xfrm>
            <a:off x="457200" y="274638"/>
            <a:ext cx="8229600" cy="654050"/>
          </a:xfrm>
        </p:spPr>
        <p:txBody>
          <a:bodyPr/>
          <a:lstStyle/>
          <a:p>
            <a:r>
              <a:rPr lang="es-AR" altLang="es-AR" b="1"/>
              <a:t>Contenido accesible</a:t>
            </a:r>
          </a:p>
        </p:txBody>
      </p:sp>
      <p:sp>
        <p:nvSpPr>
          <p:cNvPr id="57347" name="2 Marcador de contenido"/>
          <p:cNvSpPr>
            <a:spLocks noGrp="1"/>
          </p:cNvSpPr>
          <p:nvPr>
            <p:ph idx="1"/>
          </p:nvPr>
        </p:nvSpPr>
        <p:spPr>
          <a:xfrm>
            <a:off x="430213" y="1916113"/>
            <a:ext cx="8229600" cy="4321175"/>
          </a:xfrm>
        </p:spPr>
        <p:txBody>
          <a:bodyPr/>
          <a:lstStyle/>
          <a:p>
            <a:pPr>
              <a:lnSpc>
                <a:spcPct val="90000"/>
              </a:lnSpc>
            </a:pPr>
            <a:r>
              <a:rPr lang="es-AR" b="1" dirty="0"/>
              <a:t>Audio:</a:t>
            </a:r>
          </a:p>
          <a:p>
            <a:pPr marL="0" indent="0">
              <a:lnSpc>
                <a:spcPct val="90000"/>
              </a:lnSpc>
              <a:buNone/>
            </a:pPr>
            <a:endParaRPr lang="es-AR" b="1" dirty="0"/>
          </a:p>
          <a:p>
            <a:pPr lvl="1">
              <a:lnSpc>
                <a:spcPct val="90000"/>
              </a:lnSpc>
            </a:pPr>
            <a:r>
              <a:rPr lang="es-AR" b="1" dirty="0"/>
              <a:t>Pauta 1.4.2 Control de audio. [Nivel A]</a:t>
            </a:r>
          </a:p>
          <a:p>
            <a:pPr marL="457200" lvl="1" indent="0">
              <a:lnSpc>
                <a:spcPct val="90000"/>
              </a:lnSpc>
              <a:buNone/>
            </a:pPr>
            <a:endParaRPr lang="es-AR" b="1" dirty="0"/>
          </a:p>
          <a:p>
            <a:pPr marL="857250" lvl="2" indent="0">
              <a:lnSpc>
                <a:spcPct val="90000"/>
              </a:lnSpc>
              <a:buNone/>
            </a:pPr>
            <a:r>
              <a:rPr lang="es-AR" dirty="0"/>
              <a:t>Si el audio de una página web suena automáticamente durante más de 3 segundos, se proporciona ya sea un mecanismo para pausar o detener el audio, o un mecanismo para controlar el volumen del sonido que es independiente del nivel de volumen global del sistema.</a:t>
            </a:r>
          </a:p>
          <a:p>
            <a:pPr>
              <a:lnSpc>
                <a:spcPct val="90000"/>
              </a:lnSpc>
            </a:pPr>
            <a:endParaRPr lang="es-AR" dirty="0"/>
          </a:p>
        </p:txBody>
      </p:sp>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63</a:t>
            </a:fld>
            <a:endParaRPr lang="es-ES" altLang="es-AR"/>
          </a:p>
        </p:txBody>
      </p:sp>
    </p:spTree>
    <p:extLst>
      <p:ext uri="{BB962C8B-B14F-4D97-AF65-F5344CB8AC3E}">
        <p14:creationId xmlns:p14="http://schemas.microsoft.com/office/powerpoint/2010/main" val="192504373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1 Título"/>
          <p:cNvSpPr>
            <a:spLocks noGrp="1"/>
          </p:cNvSpPr>
          <p:nvPr>
            <p:ph type="title"/>
          </p:nvPr>
        </p:nvSpPr>
        <p:spPr>
          <a:xfrm>
            <a:off x="457200" y="274638"/>
            <a:ext cx="8229600" cy="654050"/>
          </a:xfrm>
        </p:spPr>
        <p:txBody>
          <a:bodyPr/>
          <a:lstStyle/>
          <a:p>
            <a:r>
              <a:rPr lang="es-AR" altLang="es-AR" b="1"/>
              <a:t>Contenido accesible</a:t>
            </a:r>
          </a:p>
        </p:txBody>
      </p:sp>
      <p:sp>
        <p:nvSpPr>
          <p:cNvPr id="57347" name="2 Marcador de contenido"/>
          <p:cNvSpPr>
            <a:spLocks noGrp="1"/>
          </p:cNvSpPr>
          <p:nvPr>
            <p:ph idx="1"/>
          </p:nvPr>
        </p:nvSpPr>
        <p:spPr>
          <a:xfrm>
            <a:off x="430213" y="1916113"/>
            <a:ext cx="8229600" cy="4321175"/>
          </a:xfrm>
        </p:spPr>
        <p:txBody>
          <a:bodyPr/>
          <a:lstStyle/>
          <a:p>
            <a:pPr>
              <a:lnSpc>
                <a:spcPct val="90000"/>
              </a:lnSpc>
            </a:pPr>
            <a:r>
              <a:rPr lang="es-AR" b="1" dirty="0"/>
              <a:t>Destellos:</a:t>
            </a:r>
          </a:p>
          <a:p>
            <a:pPr marL="0" indent="0">
              <a:lnSpc>
                <a:spcPct val="90000"/>
              </a:lnSpc>
              <a:buNone/>
            </a:pPr>
            <a:endParaRPr lang="es-AR" b="1" dirty="0"/>
          </a:p>
          <a:p>
            <a:pPr lvl="1">
              <a:lnSpc>
                <a:spcPct val="90000"/>
              </a:lnSpc>
            </a:pPr>
            <a:r>
              <a:rPr lang="es-AR" b="1" dirty="0"/>
              <a:t>Pauta 2.3.1 Umbral de tres destellos o menos. [Nivel A]</a:t>
            </a:r>
          </a:p>
          <a:p>
            <a:pPr marL="457200" lvl="1" indent="0">
              <a:lnSpc>
                <a:spcPct val="90000"/>
              </a:lnSpc>
              <a:buNone/>
            </a:pPr>
            <a:endParaRPr lang="es-AR" b="1" dirty="0"/>
          </a:p>
          <a:p>
            <a:pPr marL="857250" lvl="2" indent="0">
              <a:lnSpc>
                <a:spcPct val="90000"/>
              </a:lnSpc>
              <a:buNone/>
            </a:pPr>
            <a:r>
              <a:rPr lang="es-AR" dirty="0"/>
              <a:t>Las páginas web no contienen nada que destelle más de tres veces en un segundo, o el destello está por debajo del umbral de destello general y de destello rojo.</a:t>
            </a:r>
          </a:p>
        </p:txBody>
      </p:sp>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64</a:t>
            </a:fld>
            <a:endParaRPr lang="es-ES" altLang="es-AR"/>
          </a:p>
        </p:txBody>
      </p:sp>
    </p:spTree>
    <p:extLst>
      <p:ext uri="{BB962C8B-B14F-4D97-AF65-F5344CB8AC3E}">
        <p14:creationId xmlns:p14="http://schemas.microsoft.com/office/powerpoint/2010/main" val="1672809612"/>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1 Título"/>
          <p:cNvSpPr>
            <a:spLocks noGrp="1"/>
          </p:cNvSpPr>
          <p:nvPr>
            <p:ph type="title"/>
          </p:nvPr>
        </p:nvSpPr>
        <p:spPr>
          <a:xfrm>
            <a:off x="457200" y="274638"/>
            <a:ext cx="8229600" cy="654050"/>
          </a:xfrm>
        </p:spPr>
        <p:txBody>
          <a:bodyPr/>
          <a:lstStyle/>
          <a:p>
            <a:r>
              <a:rPr lang="es-AR" altLang="es-AR" b="1"/>
              <a:t>Contenido accesible</a:t>
            </a:r>
          </a:p>
        </p:txBody>
      </p:sp>
      <p:sp>
        <p:nvSpPr>
          <p:cNvPr id="57347" name="2 Marcador de contenido"/>
          <p:cNvSpPr>
            <a:spLocks noGrp="1"/>
          </p:cNvSpPr>
          <p:nvPr>
            <p:ph idx="1"/>
          </p:nvPr>
        </p:nvSpPr>
        <p:spPr>
          <a:xfrm>
            <a:off x="430213" y="1916113"/>
            <a:ext cx="8229600" cy="4321175"/>
          </a:xfrm>
        </p:spPr>
        <p:txBody>
          <a:bodyPr/>
          <a:lstStyle/>
          <a:p>
            <a:pPr>
              <a:lnSpc>
                <a:spcPct val="90000"/>
              </a:lnSpc>
            </a:pPr>
            <a:r>
              <a:rPr lang="es-AR" b="1" dirty="0"/>
              <a:t>Tiempo suficiente:</a:t>
            </a:r>
          </a:p>
          <a:p>
            <a:pPr marL="0" indent="0">
              <a:lnSpc>
                <a:spcPct val="90000"/>
              </a:lnSpc>
              <a:buNone/>
            </a:pPr>
            <a:endParaRPr lang="es-AR" b="1" dirty="0"/>
          </a:p>
          <a:p>
            <a:pPr lvl="1">
              <a:lnSpc>
                <a:spcPct val="90000"/>
              </a:lnSpc>
            </a:pPr>
            <a:r>
              <a:rPr lang="es-AR" b="1" dirty="0"/>
              <a:t>Pauta 2.2.1 Tiempo ajustable. [Nivel A]</a:t>
            </a:r>
          </a:p>
          <a:p>
            <a:pPr marL="857250" lvl="2" indent="0">
              <a:lnSpc>
                <a:spcPct val="90000"/>
              </a:lnSpc>
              <a:buNone/>
            </a:pPr>
            <a:r>
              <a:rPr lang="es-AR" dirty="0"/>
              <a:t>Para cada límite de tiempo impuesto por el contenido, se cumple al menos uno de los siguientes casos: Apagar, Ajustar, Extender, Excepción de tiempo real, Excepción por ser esencial, Excepción de 20 horas.</a:t>
            </a:r>
          </a:p>
          <a:p>
            <a:pPr marL="457200" lvl="1" indent="0">
              <a:lnSpc>
                <a:spcPct val="90000"/>
              </a:lnSpc>
              <a:buNone/>
            </a:pPr>
            <a:endParaRPr lang="es-AR" dirty="0"/>
          </a:p>
          <a:p>
            <a:pPr lvl="1">
              <a:lnSpc>
                <a:spcPct val="90000"/>
              </a:lnSpc>
            </a:pPr>
            <a:r>
              <a:rPr lang="es-AR" b="1" dirty="0"/>
              <a:t>Pauta 2.2.2 Poner en pausa, detener, ocultar. [Nivel A]</a:t>
            </a:r>
          </a:p>
          <a:p>
            <a:pPr marL="857250" lvl="2" indent="0">
              <a:lnSpc>
                <a:spcPct val="90000"/>
              </a:lnSpc>
              <a:buNone/>
            </a:pPr>
            <a:r>
              <a:rPr lang="es-AR" dirty="0"/>
              <a:t>Para la información que tiene movimiento, parpadeo, se desplaza o se actualiza automáticamente, se cumplen todos los casos siguientes: Movimiento, parpadeo, desplazamiento o Actualizaciones automáticas.</a:t>
            </a:r>
          </a:p>
          <a:p>
            <a:pPr>
              <a:lnSpc>
                <a:spcPct val="90000"/>
              </a:lnSpc>
            </a:pPr>
            <a:endParaRPr lang="es-AR" dirty="0"/>
          </a:p>
        </p:txBody>
      </p:sp>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65</a:t>
            </a:fld>
            <a:endParaRPr lang="es-ES" altLang="es-AR"/>
          </a:p>
        </p:txBody>
      </p:sp>
    </p:spTree>
    <p:extLst>
      <p:ext uri="{BB962C8B-B14F-4D97-AF65-F5344CB8AC3E}">
        <p14:creationId xmlns:p14="http://schemas.microsoft.com/office/powerpoint/2010/main" val="1272049586"/>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1 Título"/>
          <p:cNvSpPr>
            <a:spLocks noGrp="1"/>
          </p:cNvSpPr>
          <p:nvPr>
            <p:ph type="title"/>
          </p:nvPr>
        </p:nvSpPr>
        <p:spPr>
          <a:xfrm>
            <a:off x="457200" y="274638"/>
            <a:ext cx="8229600" cy="654050"/>
          </a:xfrm>
        </p:spPr>
        <p:txBody>
          <a:bodyPr/>
          <a:lstStyle/>
          <a:p>
            <a:r>
              <a:rPr lang="es-AR" altLang="es-AR" b="1"/>
              <a:t>Contenido accesible</a:t>
            </a:r>
          </a:p>
        </p:txBody>
      </p:sp>
      <p:sp>
        <p:nvSpPr>
          <p:cNvPr id="57347" name="2 Marcador de contenido"/>
          <p:cNvSpPr>
            <a:spLocks noGrp="1"/>
          </p:cNvSpPr>
          <p:nvPr>
            <p:ph idx="1"/>
          </p:nvPr>
        </p:nvSpPr>
        <p:spPr>
          <a:xfrm>
            <a:off x="430213" y="1916113"/>
            <a:ext cx="8229600" cy="3025055"/>
          </a:xfrm>
        </p:spPr>
        <p:txBody>
          <a:bodyPr/>
          <a:lstStyle/>
          <a:p>
            <a:pPr algn="just">
              <a:lnSpc>
                <a:spcPct val="90000"/>
              </a:lnSpc>
            </a:pPr>
            <a:r>
              <a:rPr lang="es-AR" dirty="0"/>
              <a:t>Encabezados</a:t>
            </a:r>
          </a:p>
          <a:p>
            <a:pPr marL="0" indent="0" algn="just">
              <a:lnSpc>
                <a:spcPct val="90000"/>
              </a:lnSpc>
              <a:buNone/>
            </a:pPr>
            <a:endParaRPr lang="es-AR" dirty="0"/>
          </a:p>
          <a:p>
            <a:pPr lvl="1" algn="just">
              <a:lnSpc>
                <a:spcPct val="90000"/>
              </a:lnSpc>
            </a:pPr>
            <a:r>
              <a:rPr lang="es-AR" dirty="0"/>
              <a:t>Acciones para intentar encontrar información en una página web larga:</a:t>
            </a:r>
          </a:p>
          <a:p>
            <a:pPr lvl="1" algn="just">
              <a:lnSpc>
                <a:spcPct val="90000"/>
              </a:lnSpc>
            </a:pPr>
            <a:endParaRPr lang="es-AR" dirty="0"/>
          </a:p>
          <a:p>
            <a:pPr lvl="2" algn="just">
              <a:lnSpc>
                <a:spcPct val="90000"/>
              </a:lnSpc>
            </a:pPr>
            <a:r>
              <a:rPr lang="es-AR" b="1" dirty="0"/>
              <a:t>Navegar a través de los encabezados de una página.</a:t>
            </a:r>
          </a:p>
          <a:p>
            <a:pPr lvl="2" algn="just">
              <a:lnSpc>
                <a:spcPct val="90000"/>
              </a:lnSpc>
            </a:pPr>
            <a:r>
              <a:rPr lang="es-AR" dirty="0"/>
              <a:t>Usar la función “Buscar”.</a:t>
            </a:r>
          </a:p>
          <a:p>
            <a:pPr lvl="2" algn="just">
              <a:lnSpc>
                <a:spcPct val="90000"/>
              </a:lnSpc>
            </a:pPr>
            <a:r>
              <a:rPr lang="es-AR" dirty="0"/>
              <a:t>Navegar a través de los enlaces de una página.</a:t>
            </a:r>
          </a:p>
          <a:p>
            <a:pPr lvl="2" algn="just">
              <a:lnSpc>
                <a:spcPct val="90000"/>
              </a:lnSpc>
            </a:pPr>
            <a:r>
              <a:rPr lang="es-AR" dirty="0"/>
              <a:t>Leer a través de la página.</a:t>
            </a:r>
          </a:p>
          <a:p>
            <a:pPr>
              <a:lnSpc>
                <a:spcPct val="90000"/>
              </a:lnSpc>
            </a:pPr>
            <a:endParaRPr lang="es-AR" dirty="0"/>
          </a:p>
        </p:txBody>
      </p:sp>
      <p:sp>
        <p:nvSpPr>
          <p:cNvPr id="4" name="CuadroTexto 3"/>
          <p:cNvSpPr txBox="1"/>
          <p:nvPr/>
        </p:nvSpPr>
        <p:spPr>
          <a:xfrm>
            <a:off x="635067" y="5183666"/>
            <a:ext cx="4513943" cy="400110"/>
          </a:xfrm>
          <a:prstGeom prst="rect">
            <a:avLst/>
          </a:prstGeom>
          <a:noFill/>
        </p:spPr>
        <p:txBody>
          <a:bodyPr wrap="square" rtlCol="0">
            <a:spAutoFit/>
          </a:bodyPr>
          <a:lstStyle/>
          <a:p>
            <a:r>
              <a:rPr lang="es-AR" sz="2000" dirty="0"/>
              <a:t>Navegar a través de los encabezados</a:t>
            </a:r>
          </a:p>
        </p:txBody>
      </p:sp>
      <p:sp>
        <p:nvSpPr>
          <p:cNvPr id="5" name="CuadroTexto 4"/>
          <p:cNvSpPr txBox="1"/>
          <p:nvPr/>
        </p:nvSpPr>
        <p:spPr>
          <a:xfrm>
            <a:off x="4908848" y="5657761"/>
            <a:ext cx="3505200" cy="707886"/>
          </a:xfrm>
          <a:prstGeom prst="rect">
            <a:avLst/>
          </a:prstGeom>
          <a:noFill/>
        </p:spPr>
        <p:txBody>
          <a:bodyPr wrap="square" rtlCol="0">
            <a:spAutoFit/>
          </a:bodyPr>
          <a:lstStyle/>
          <a:p>
            <a:r>
              <a:rPr lang="es-AR" sz="2000" b="1" dirty="0">
                <a:solidFill>
                  <a:srgbClr val="FF0000"/>
                </a:solidFill>
              </a:rPr>
              <a:t>Muchas páginas </a:t>
            </a:r>
          </a:p>
          <a:p>
            <a:r>
              <a:rPr lang="es-AR" sz="2000" b="1" dirty="0">
                <a:solidFill>
                  <a:srgbClr val="FF0000"/>
                </a:solidFill>
              </a:rPr>
              <a:t>carecen de  encabezados</a:t>
            </a:r>
          </a:p>
        </p:txBody>
      </p:sp>
      <p:sp>
        <p:nvSpPr>
          <p:cNvPr id="6" name="CuadroTexto 5"/>
          <p:cNvSpPr txBox="1"/>
          <p:nvPr/>
        </p:nvSpPr>
        <p:spPr>
          <a:xfrm>
            <a:off x="1403648" y="6237312"/>
            <a:ext cx="3505200" cy="400110"/>
          </a:xfrm>
          <a:prstGeom prst="rect">
            <a:avLst/>
          </a:prstGeom>
          <a:noFill/>
        </p:spPr>
        <p:txBody>
          <a:bodyPr wrap="square" rtlCol="0">
            <a:spAutoFit/>
          </a:bodyPr>
          <a:lstStyle/>
          <a:p>
            <a:r>
              <a:rPr lang="es-AR" sz="2000" b="1" dirty="0">
                <a:solidFill>
                  <a:srgbClr val="FF0000"/>
                </a:solidFill>
              </a:rPr>
              <a:t>NO</a:t>
            </a:r>
            <a:r>
              <a:rPr lang="es-AR" sz="2000" dirty="0"/>
              <a:t> Ojear el contenido</a:t>
            </a:r>
          </a:p>
        </p:txBody>
      </p:sp>
      <p:sp>
        <p:nvSpPr>
          <p:cNvPr id="7" name="Flecha: hacia abajo 6"/>
          <p:cNvSpPr/>
          <p:nvPr/>
        </p:nvSpPr>
        <p:spPr>
          <a:xfrm>
            <a:off x="2267744" y="5749180"/>
            <a:ext cx="624295" cy="463494"/>
          </a:xfrm>
          <a:prstGeom prst="downArrow">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8" name="Flecha: hacia abajo 7"/>
          <p:cNvSpPr/>
          <p:nvPr/>
        </p:nvSpPr>
        <p:spPr>
          <a:xfrm rot="3472167">
            <a:off x="4291517" y="5859922"/>
            <a:ext cx="506990" cy="443988"/>
          </a:xfrm>
          <a:prstGeom prst="down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66</a:t>
            </a:fld>
            <a:endParaRPr lang="es-ES" altLang="es-AR"/>
          </a:p>
        </p:txBody>
      </p:sp>
    </p:spTree>
    <p:extLst>
      <p:ext uri="{BB962C8B-B14F-4D97-AF65-F5344CB8AC3E}">
        <p14:creationId xmlns:p14="http://schemas.microsoft.com/office/powerpoint/2010/main" val="3468913266"/>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1 Título"/>
          <p:cNvSpPr>
            <a:spLocks noGrp="1"/>
          </p:cNvSpPr>
          <p:nvPr>
            <p:ph type="title"/>
          </p:nvPr>
        </p:nvSpPr>
        <p:spPr>
          <a:xfrm>
            <a:off x="457200" y="274638"/>
            <a:ext cx="8229600" cy="654050"/>
          </a:xfrm>
        </p:spPr>
        <p:txBody>
          <a:bodyPr/>
          <a:lstStyle/>
          <a:p>
            <a:r>
              <a:rPr lang="es-AR" altLang="es-AR" b="1"/>
              <a:t>Contenido accesible</a:t>
            </a:r>
          </a:p>
        </p:txBody>
      </p:sp>
      <p:sp>
        <p:nvSpPr>
          <p:cNvPr id="57347" name="2 Marcador de contenido"/>
          <p:cNvSpPr>
            <a:spLocks noGrp="1"/>
          </p:cNvSpPr>
          <p:nvPr>
            <p:ph idx="1"/>
          </p:nvPr>
        </p:nvSpPr>
        <p:spPr>
          <a:xfrm>
            <a:off x="430213" y="1916113"/>
            <a:ext cx="8229600" cy="4465215"/>
          </a:xfrm>
        </p:spPr>
        <p:txBody>
          <a:bodyPr/>
          <a:lstStyle/>
          <a:p>
            <a:pPr>
              <a:lnSpc>
                <a:spcPct val="90000"/>
              </a:lnSpc>
            </a:pPr>
            <a:r>
              <a:rPr lang="es-AR" dirty="0"/>
              <a:t>Encabezados</a:t>
            </a:r>
          </a:p>
          <a:p>
            <a:pPr marL="0" indent="0">
              <a:lnSpc>
                <a:spcPct val="90000"/>
              </a:lnSpc>
              <a:buNone/>
            </a:pPr>
            <a:endParaRPr lang="es-AR" dirty="0"/>
          </a:p>
          <a:p>
            <a:pPr lvl="1">
              <a:lnSpc>
                <a:spcPct val="90000"/>
              </a:lnSpc>
            </a:pPr>
            <a:r>
              <a:rPr lang="es-AR" dirty="0"/>
              <a:t>Facilitan la navegabilidad:</a:t>
            </a:r>
          </a:p>
          <a:p>
            <a:pPr lvl="1">
              <a:lnSpc>
                <a:spcPct val="90000"/>
              </a:lnSpc>
            </a:pPr>
            <a:endParaRPr lang="es-AR" dirty="0"/>
          </a:p>
          <a:p>
            <a:pPr lvl="2">
              <a:lnSpc>
                <a:spcPct val="90000"/>
              </a:lnSpc>
            </a:pPr>
            <a:r>
              <a:rPr lang="es-AR" dirty="0"/>
              <a:t>Encabezados claros y descriptivos:</a:t>
            </a:r>
          </a:p>
          <a:p>
            <a:pPr lvl="3">
              <a:lnSpc>
                <a:spcPct val="90000"/>
              </a:lnSpc>
            </a:pPr>
            <a:r>
              <a:rPr lang="es-AR" dirty="0"/>
              <a:t>Encontrar más fácilmente la información buscada.</a:t>
            </a:r>
          </a:p>
          <a:p>
            <a:pPr lvl="3">
              <a:lnSpc>
                <a:spcPct val="90000"/>
              </a:lnSpc>
            </a:pPr>
            <a:r>
              <a:rPr lang="es-AR" dirty="0"/>
              <a:t>Comprender las relaciones entre las distintas partes del contenido.</a:t>
            </a:r>
          </a:p>
          <a:p>
            <a:pPr lvl="2">
              <a:lnSpc>
                <a:spcPct val="90000"/>
              </a:lnSpc>
            </a:pPr>
            <a:r>
              <a:rPr lang="es-AR" dirty="0"/>
              <a:t>Beneficiando:</a:t>
            </a:r>
          </a:p>
          <a:p>
            <a:pPr lvl="3">
              <a:lnSpc>
                <a:spcPct val="90000"/>
              </a:lnSpc>
            </a:pPr>
            <a:r>
              <a:rPr lang="es-AR" dirty="0"/>
              <a:t>Usuarios que usan lectores de pantalla.</a:t>
            </a:r>
          </a:p>
          <a:p>
            <a:pPr lvl="3">
              <a:lnSpc>
                <a:spcPct val="90000"/>
              </a:lnSpc>
            </a:pPr>
            <a:r>
              <a:rPr lang="es-AR" dirty="0"/>
              <a:t>Usuarios con discapacidad que deben leer más lentamente o poseen limitada memoria a corto plazo.</a:t>
            </a:r>
          </a:p>
          <a:p>
            <a:pPr>
              <a:lnSpc>
                <a:spcPct val="90000"/>
              </a:lnSpc>
            </a:pPr>
            <a:endParaRPr lang="es-AR" dirty="0"/>
          </a:p>
        </p:txBody>
      </p:sp>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67</a:t>
            </a:fld>
            <a:endParaRPr lang="es-ES" altLang="es-AR"/>
          </a:p>
        </p:txBody>
      </p:sp>
    </p:spTree>
    <p:extLst>
      <p:ext uri="{BB962C8B-B14F-4D97-AF65-F5344CB8AC3E}">
        <p14:creationId xmlns:p14="http://schemas.microsoft.com/office/powerpoint/2010/main" val="161148743"/>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1 Título"/>
          <p:cNvSpPr>
            <a:spLocks noGrp="1"/>
          </p:cNvSpPr>
          <p:nvPr>
            <p:ph type="title"/>
          </p:nvPr>
        </p:nvSpPr>
        <p:spPr>
          <a:xfrm>
            <a:off x="457200" y="274638"/>
            <a:ext cx="8229600" cy="654050"/>
          </a:xfrm>
        </p:spPr>
        <p:txBody>
          <a:bodyPr/>
          <a:lstStyle/>
          <a:p>
            <a:r>
              <a:rPr lang="es-AR" altLang="es-AR" b="1"/>
              <a:t>Contenido accesible</a:t>
            </a:r>
          </a:p>
        </p:txBody>
      </p:sp>
      <p:sp>
        <p:nvSpPr>
          <p:cNvPr id="57347" name="2 Marcador de contenido"/>
          <p:cNvSpPr>
            <a:spLocks noGrp="1"/>
          </p:cNvSpPr>
          <p:nvPr>
            <p:ph idx="1"/>
          </p:nvPr>
        </p:nvSpPr>
        <p:spPr>
          <a:xfrm>
            <a:off x="430213" y="1916113"/>
            <a:ext cx="8229600" cy="4465215"/>
          </a:xfrm>
        </p:spPr>
        <p:txBody>
          <a:bodyPr/>
          <a:lstStyle/>
          <a:p>
            <a:pPr>
              <a:lnSpc>
                <a:spcPct val="90000"/>
              </a:lnSpc>
            </a:pPr>
            <a:r>
              <a:rPr lang="es-AR" dirty="0"/>
              <a:t>Encabezados</a:t>
            </a:r>
          </a:p>
          <a:p>
            <a:pPr marL="0" indent="0">
              <a:lnSpc>
                <a:spcPct val="90000"/>
              </a:lnSpc>
              <a:buNone/>
            </a:pPr>
            <a:endParaRPr lang="es-AR" dirty="0"/>
          </a:p>
          <a:p>
            <a:pPr lvl="1">
              <a:lnSpc>
                <a:spcPct val="90000"/>
              </a:lnSpc>
            </a:pPr>
            <a:r>
              <a:rPr lang="es-AR" dirty="0"/>
              <a:t>Contenidos adaptables</a:t>
            </a:r>
          </a:p>
          <a:p>
            <a:pPr marL="457200" lvl="1" indent="0">
              <a:lnSpc>
                <a:spcPct val="90000"/>
              </a:lnSpc>
              <a:buNone/>
            </a:pPr>
            <a:endParaRPr lang="es-AR" dirty="0"/>
          </a:p>
          <a:p>
            <a:pPr lvl="2">
              <a:lnSpc>
                <a:spcPct val="90000"/>
              </a:lnSpc>
            </a:pPr>
            <a:r>
              <a:rPr lang="es-AR" b="1" dirty="0"/>
              <a:t>Pauta 1.3.1 Información y relaciones. [Nivel A]</a:t>
            </a:r>
          </a:p>
          <a:p>
            <a:pPr marL="1371600" lvl="3" indent="0">
              <a:lnSpc>
                <a:spcPct val="90000"/>
              </a:lnSpc>
              <a:buNone/>
            </a:pPr>
            <a:r>
              <a:rPr lang="es-AR" dirty="0"/>
              <a:t>La información, estructura y relaciones comunicadas a través de la presentación pueden ser determinadas por software o están disponibles como texto.</a:t>
            </a:r>
          </a:p>
          <a:p>
            <a:pPr marL="1371600" lvl="3" indent="0">
              <a:lnSpc>
                <a:spcPct val="90000"/>
              </a:lnSpc>
              <a:buNone/>
            </a:pPr>
            <a:endParaRPr lang="es-AR" dirty="0"/>
          </a:p>
          <a:p>
            <a:pPr>
              <a:lnSpc>
                <a:spcPct val="90000"/>
              </a:lnSpc>
            </a:pPr>
            <a:endParaRPr lang="es-AR" dirty="0"/>
          </a:p>
        </p:txBody>
      </p:sp>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68</a:t>
            </a:fld>
            <a:endParaRPr lang="es-ES" altLang="es-AR"/>
          </a:p>
        </p:txBody>
      </p:sp>
    </p:spTree>
    <p:extLst>
      <p:ext uri="{BB962C8B-B14F-4D97-AF65-F5344CB8AC3E}">
        <p14:creationId xmlns:p14="http://schemas.microsoft.com/office/powerpoint/2010/main" val="2721841216"/>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1 Título"/>
          <p:cNvSpPr>
            <a:spLocks noGrp="1"/>
          </p:cNvSpPr>
          <p:nvPr>
            <p:ph type="title"/>
          </p:nvPr>
        </p:nvSpPr>
        <p:spPr>
          <a:xfrm>
            <a:off x="457200" y="274638"/>
            <a:ext cx="8229600" cy="654050"/>
          </a:xfrm>
        </p:spPr>
        <p:txBody>
          <a:bodyPr/>
          <a:lstStyle/>
          <a:p>
            <a:r>
              <a:rPr lang="es-AR" altLang="es-AR" b="1"/>
              <a:t>Contenido accesible</a:t>
            </a:r>
          </a:p>
        </p:txBody>
      </p:sp>
      <p:sp>
        <p:nvSpPr>
          <p:cNvPr id="57347" name="2 Marcador de contenido"/>
          <p:cNvSpPr>
            <a:spLocks noGrp="1"/>
          </p:cNvSpPr>
          <p:nvPr>
            <p:ph idx="1"/>
          </p:nvPr>
        </p:nvSpPr>
        <p:spPr>
          <a:xfrm>
            <a:off x="430213" y="1916113"/>
            <a:ext cx="8229600" cy="4465215"/>
          </a:xfrm>
        </p:spPr>
        <p:txBody>
          <a:bodyPr/>
          <a:lstStyle/>
          <a:p>
            <a:pPr>
              <a:lnSpc>
                <a:spcPct val="90000"/>
              </a:lnSpc>
            </a:pPr>
            <a:r>
              <a:rPr lang="es-AR" dirty="0"/>
              <a:t>Encabezados</a:t>
            </a:r>
          </a:p>
          <a:p>
            <a:pPr marL="0" indent="0">
              <a:lnSpc>
                <a:spcPct val="90000"/>
              </a:lnSpc>
              <a:buNone/>
            </a:pPr>
            <a:endParaRPr lang="es-AR" dirty="0"/>
          </a:p>
          <a:p>
            <a:pPr lvl="2" algn="just">
              <a:lnSpc>
                <a:spcPct val="90000"/>
              </a:lnSpc>
            </a:pPr>
            <a:r>
              <a:rPr lang="es-AR" dirty="0"/>
              <a:t>G115: Usar elementos semánticos para marcar la estructura:</a:t>
            </a:r>
          </a:p>
          <a:p>
            <a:pPr marL="914400" lvl="2" indent="0" algn="ctr">
              <a:lnSpc>
                <a:spcPct val="90000"/>
              </a:lnSpc>
              <a:buNone/>
            </a:pPr>
            <a:endParaRPr lang="es-AR" dirty="0"/>
          </a:p>
          <a:p>
            <a:pPr marL="914400" lvl="2" indent="0" algn="ctr">
              <a:lnSpc>
                <a:spcPct val="90000"/>
              </a:lnSpc>
              <a:buNone/>
            </a:pPr>
            <a:r>
              <a:rPr lang="es-AR" sz="3000" b="1" dirty="0"/>
              <a:t>H1</a:t>
            </a:r>
            <a:r>
              <a:rPr lang="es-AR" sz="2400" b="1" dirty="0"/>
              <a:t>  </a:t>
            </a:r>
            <a:r>
              <a:rPr lang="es-AR" b="1" dirty="0"/>
              <a:t>  </a:t>
            </a:r>
            <a:r>
              <a:rPr lang="es-AR" sz="2800" b="1" dirty="0"/>
              <a:t>H2</a:t>
            </a:r>
            <a:r>
              <a:rPr lang="es-AR" b="1" dirty="0"/>
              <a:t>    </a:t>
            </a:r>
            <a:r>
              <a:rPr lang="es-AR" sz="2600" b="1" dirty="0"/>
              <a:t>H3</a:t>
            </a:r>
            <a:r>
              <a:rPr lang="es-AR" b="1" dirty="0"/>
              <a:t>    </a:t>
            </a:r>
            <a:r>
              <a:rPr lang="es-AR" sz="2400" b="1" dirty="0"/>
              <a:t>H4</a:t>
            </a:r>
            <a:r>
              <a:rPr lang="es-AR" b="1" dirty="0"/>
              <a:t>    </a:t>
            </a:r>
            <a:r>
              <a:rPr lang="es-AR" sz="2200" b="1" dirty="0"/>
              <a:t>H5</a:t>
            </a:r>
            <a:r>
              <a:rPr lang="es-AR" b="1" dirty="0"/>
              <a:t>    H6</a:t>
            </a:r>
          </a:p>
          <a:p>
            <a:pPr>
              <a:lnSpc>
                <a:spcPct val="90000"/>
              </a:lnSpc>
            </a:pPr>
            <a:endParaRPr lang="es-AR" dirty="0"/>
          </a:p>
        </p:txBody>
      </p:sp>
      <p:sp>
        <p:nvSpPr>
          <p:cNvPr id="4" name="CuadroTexto 3"/>
          <p:cNvSpPr txBox="1"/>
          <p:nvPr/>
        </p:nvSpPr>
        <p:spPr>
          <a:xfrm>
            <a:off x="2555776" y="3933056"/>
            <a:ext cx="4968552" cy="2246769"/>
          </a:xfrm>
          <a:prstGeom prst="rect">
            <a:avLst/>
          </a:prstGeom>
          <a:noFill/>
          <a:ln>
            <a:solidFill>
              <a:schemeClr val="accent1">
                <a:shade val="50000"/>
              </a:schemeClr>
            </a:solidFill>
          </a:ln>
        </p:spPr>
        <p:txBody>
          <a:bodyPr wrap="square" rtlCol="0">
            <a:spAutoFit/>
          </a:bodyPr>
          <a:lstStyle/>
          <a:p>
            <a:r>
              <a:rPr lang="es-AR" sz="2000" b="1" dirty="0"/>
              <a:t>&lt;</a:t>
            </a:r>
            <a:r>
              <a:rPr lang="es-AR" sz="2000" b="1" dirty="0" err="1"/>
              <a:t>html</a:t>
            </a:r>
            <a:r>
              <a:rPr lang="es-AR" sz="2000" b="1" dirty="0"/>
              <a:t>&gt;</a:t>
            </a:r>
          </a:p>
          <a:p>
            <a:r>
              <a:rPr lang="es-AR" sz="2000" b="1" dirty="0"/>
              <a:t>&lt;head&gt; … &lt;/head&gt;</a:t>
            </a:r>
          </a:p>
          <a:p>
            <a:r>
              <a:rPr lang="es-AR" sz="2000" b="1" dirty="0"/>
              <a:t>&lt;</a:t>
            </a:r>
            <a:r>
              <a:rPr lang="es-AR" sz="2000" b="1" dirty="0" err="1"/>
              <a:t>body</a:t>
            </a:r>
            <a:r>
              <a:rPr lang="es-AR" sz="2000" b="1" dirty="0"/>
              <a:t>&gt;</a:t>
            </a:r>
          </a:p>
          <a:p>
            <a:r>
              <a:rPr lang="es-AR" sz="2000" b="1" dirty="0">
                <a:solidFill>
                  <a:srgbClr val="FF0000"/>
                </a:solidFill>
              </a:rPr>
              <a:t>&lt;h1&gt; </a:t>
            </a:r>
            <a:r>
              <a:rPr lang="es-AR" sz="2000" b="1" dirty="0"/>
              <a:t>Encabezado de primer nivel </a:t>
            </a:r>
            <a:r>
              <a:rPr lang="es-AR" sz="2000" b="1" dirty="0">
                <a:solidFill>
                  <a:srgbClr val="FF0000"/>
                </a:solidFill>
              </a:rPr>
              <a:t>&lt;/h1&gt;</a:t>
            </a:r>
          </a:p>
          <a:p>
            <a:r>
              <a:rPr lang="es-AR" sz="2000" b="1" dirty="0"/>
              <a:t>…</a:t>
            </a:r>
          </a:p>
          <a:p>
            <a:r>
              <a:rPr lang="es-AR" sz="2000" b="1" dirty="0"/>
              <a:t>&lt;/</a:t>
            </a:r>
            <a:r>
              <a:rPr lang="es-AR" sz="2000" b="1" dirty="0" err="1"/>
              <a:t>body</a:t>
            </a:r>
            <a:r>
              <a:rPr lang="es-AR" sz="2000" b="1" dirty="0"/>
              <a:t>&gt;</a:t>
            </a:r>
          </a:p>
          <a:p>
            <a:r>
              <a:rPr lang="es-AR" sz="2000" b="1" dirty="0"/>
              <a:t>&lt;/</a:t>
            </a:r>
            <a:r>
              <a:rPr lang="es-AR" sz="2000" b="1" dirty="0" err="1"/>
              <a:t>html</a:t>
            </a:r>
            <a:r>
              <a:rPr lang="es-AR" sz="2000" b="1" dirty="0"/>
              <a:t>&gt;</a:t>
            </a:r>
          </a:p>
        </p:txBody>
      </p:sp>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69</a:t>
            </a:fld>
            <a:endParaRPr lang="es-ES" altLang="es-AR"/>
          </a:p>
        </p:txBody>
      </p:sp>
    </p:spTree>
    <p:extLst>
      <p:ext uri="{BB962C8B-B14F-4D97-AF65-F5344CB8AC3E}">
        <p14:creationId xmlns:p14="http://schemas.microsoft.com/office/powerpoint/2010/main" val="4274465573"/>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1 Título"/>
          <p:cNvSpPr>
            <a:spLocks noGrp="1"/>
          </p:cNvSpPr>
          <p:nvPr>
            <p:ph type="title"/>
          </p:nvPr>
        </p:nvSpPr>
        <p:spPr>
          <a:xfrm>
            <a:off x="457200" y="274638"/>
            <a:ext cx="8229600" cy="654050"/>
          </a:xfrm>
        </p:spPr>
        <p:txBody>
          <a:bodyPr/>
          <a:lstStyle/>
          <a:p>
            <a:r>
              <a:rPr lang="es-AR" altLang="es-AR" b="1"/>
              <a:t>Contenido accesible</a:t>
            </a:r>
          </a:p>
        </p:txBody>
      </p:sp>
      <p:sp>
        <p:nvSpPr>
          <p:cNvPr id="57347" name="2 Marcador de contenido"/>
          <p:cNvSpPr>
            <a:spLocks noGrp="1"/>
          </p:cNvSpPr>
          <p:nvPr>
            <p:ph idx="1"/>
          </p:nvPr>
        </p:nvSpPr>
        <p:spPr>
          <a:xfrm>
            <a:off x="430213" y="1916113"/>
            <a:ext cx="8229600" cy="4465215"/>
          </a:xfrm>
        </p:spPr>
        <p:txBody>
          <a:bodyPr/>
          <a:lstStyle/>
          <a:p>
            <a:pPr>
              <a:lnSpc>
                <a:spcPct val="90000"/>
              </a:lnSpc>
            </a:pPr>
            <a:r>
              <a:rPr lang="es-AR" dirty="0"/>
              <a:t>Encabezados</a:t>
            </a:r>
          </a:p>
          <a:p>
            <a:pPr marL="0" indent="0">
              <a:lnSpc>
                <a:spcPct val="90000"/>
              </a:lnSpc>
              <a:buNone/>
            </a:pPr>
            <a:endParaRPr lang="es-AR" dirty="0"/>
          </a:p>
          <a:p>
            <a:pPr lvl="1" algn="just">
              <a:lnSpc>
                <a:spcPct val="90000"/>
              </a:lnSpc>
            </a:pPr>
            <a:r>
              <a:rPr lang="es-AR" dirty="0"/>
              <a:t>Contenidos adaptables</a:t>
            </a:r>
          </a:p>
          <a:p>
            <a:pPr marL="457200" lvl="1" indent="0" algn="just">
              <a:lnSpc>
                <a:spcPct val="90000"/>
              </a:lnSpc>
              <a:buNone/>
            </a:pPr>
            <a:endParaRPr lang="es-AR" dirty="0"/>
          </a:p>
          <a:p>
            <a:pPr lvl="2" algn="just">
              <a:lnSpc>
                <a:spcPct val="90000"/>
              </a:lnSpc>
            </a:pPr>
            <a:r>
              <a:rPr lang="es-AR" b="1" dirty="0"/>
              <a:t>Anidar de forma correcta:</a:t>
            </a:r>
            <a:endParaRPr lang="es-AR" dirty="0"/>
          </a:p>
          <a:p>
            <a:pPr>
              <a:lnSpc>
                <a:spcPct val="90000"/>
              </a:lnSpc>
            </a:pPr>
            <a:endParaRPr lang="es-AR" dirty="0"/>
          </a:p>
        </p:txBody>
      </p:sp>
      <p:sp>
        <p:nvSpPr>
          <p:cNvPr id="5" name="CuadroTexto 4"/>
          <p:cNvSpPr txBox="1"/>
          <p:nvPr/>
        </p:nvSpPr>
        <p:spPr>
          <a:xfrm>
            <a:off x="683568" y="3857560"/>
            <a:ext cx="3414298" cy="2523768"/>
          </a:xfrm>
          <a:prstGeom prst="rect">
            <a:avLst/>
          </a:prstGeom>
          <a:noFill/>
          <a:ln>
            <a:solidFill>
              <a:schemeClr val="accent1">
                <a:shade val="50000"/>
              </a:schemeClr>
            </a:solidFill>
          </a:ln>
        </p:spPr>
        <p:txBody>
          <a:bodyPr wrap="square" rtlCol="0">
            <a:spAutoFit/>
          </a:bodyPr>
          <a:lstStyle/>
          <a:p>
            <a:r>
              <a:rPr lang="es-AR" sz="3000" b="1" dirty="0"/>
              <a:t>H1</a:t>
            </a:r>
          </a:p>
          <a:p>
            <a:r>
              <a:rPr lang="es-AR" sz="2400" b="1" dirty="0"/>
              <a:t>	</a:t>
            </a:r>
            <a:r>
              <a:rPr lang="es-AR" sz="2800" b="1" dirty="0"/>
              <a:t>H2</a:t>
            </a:r>
            <a:r>
              <a:rPr lang="es-AR" sz="1400" b="1" dirty="0"/>
              <a:t>    </a:t>
            </a:r>
          </a:p>
          <a:p>
            <a:r>
              <a:rPr lang="es-AR" sz="1400" b="1" dirty="0"/>
              <a:t>		</a:t>
            </a:r>
            <a:r>
              <a:rPr lang="es-AR" sz="2600" b="1" dirty="0"/>
              <a:t>H3</a:t>
            </a:r>
            <a:r>
              <a:rPr lang="es-AR" sz="1400" b="1" dirty="0"/>
              <a:t>    </a:t>
            </a:r>
          </a:p>
          <a:p>
            <a:r>
              <a:rPr lang="es-AR" sz="1400" b="1" dirty="0"/>
              <a:t>			</a:t>
            </a:r>
            <a:r>
              <a:rPr lang="es-AR" sz="2400" b="1" dirty="0"/>
              <a:t>H4</a:t>
            </a:r>
          </a:p>
          <a:p>
            <a:r>
              <a:rPr lang="es-AR" sz="1600" b="1" dirty="0"/>
              <a:t>			</a:t>
            </a:r>
            <a:r>
              <a:rPr lang="es-AR" sz="2400" b="1" dirty="0"/>
              <a:t>H4</a:t>
            </a:r>
          </a:p>
          <a:p>
            <a:r>
              <a:rPr lang="es-AR" sz="1200" b="1" dirty="0"/>
              <a:t>		 </a:t>
            </a:r>
            <a:r>
              <a:rPr lang="es-AR" sz="2600" b="1" dirty="0"/>
              <a:t>H3</a:t>
            </a:r>
            <a:endParaRPr lang="es-AR" sz="1400" b="1" dirty="0"/>
          </a:p>
        </p:txBody>
      </p:sp>
      <p:sp>
        <p:nvSpPr>
          <p:cNvPr id="6" name="CuadroTexto 5"/>
          <p:cNvSpPr txBox="1"/>
          <p:nvPr/>
        </p:nvSpPr>
        <p:spPr>
          <a:xfrm>
            <a:off x="5301441" y="3857560"/>
            <a:ext cx="2405039" cy="1908215"/>
          </a:xfrm>
          <a:prstGeom prst="rect">
            <a:avLst/>
          </a:prstGeom>
          <a:noFill/>
          <a:ln>
            <a:solidFill>
              <a:schemeClr val="accent1">
                <a:shade val="50000"/>
              </a:schemeClr>
            </a:solidFill>
          </a:ln>
        </p:spPr>
        <p:txBody>
          <a:bodyPr wrap="square" rtlCol="0">
            <a:spAutoFit/>
          </a:bodyPr>
          <a:lstStyle/>
          <a:p>
            <a:r>
              <a:rPr lang="es-AR" sz="3000" b="1" dirty="0"/>
              <a:t>H1</a:t>
            </a:r>
          </a:p>
          <a:p>
            <a:r>
              <a:rPr lang="es-AR" sz="2400" b="1" dirty="0"/>
              <a:t>	</a:t>
            </a:r>
            <a:r>
              <a:rPr lang="es-AR" sz="2600" b="1" dirty="0"/>
              <a:t>H3</a:t>
            </a:r>
            <a:r>
              <a:rPr lang="es-AR" sz="1400" b="1" dirty="0"/>
              <a:t>    </a:t>
            </a:r>
          </a:p>
          <a:p>
            <a:r>
              <a:rPr lang="es-AR" sz="1400" b="1" dirty="0"/>
              <a:t>		</a:t>
            </a:r>
            <a:r>
              <a:rPr lang="es-AR" sz="2200" b="1" dirty="0"/>
              <a:t>H5</a:t>
            </a:r>
          </a:p>
          <a:p>
            <a:r>
              <a:rPr lang="es-AR" sz="1200" b="1" dirty="0"/>
              <a:t>	</a:t>
            </a:r>
            <a:r>
              <a:rPr lang="es-AR" sz="2600" b="1" dirty="0"/>
              <a:t>H3</a:t>
            </a:r>
          </a:p>
          <a:p>
            <a:endParaRPr lang="es-AR" sz="1400" b="1" dirty="0"/>
          </a:p>
        </p:txBody>
      </p:sp>
      <p:sp>
        <p:nvSpPr>
          <p:cNvPr id="7" name="CuadroTexto 6"/>
          <p:cNvSpPr txBox="1"/>
          <p:nvPr/>
        </p:nvSpPr>
        <p:spPr>
          <a:xfrm>
            <a:off x="4173071" y="3960181"/>
            <a:ext cx="796722" cy="400110"/>
          </a:xfrm>
          <a:prstGeom prst="rect">
            <a:avLst/>
          </a:prstGeom>
          <a:noFill/>
          <a:ln>
            <a:noFill/>
          </a:ln>
        </p:spPr>
        <p:txBody>
          <a:bodyPr wrap="square" rtlCol="0">
            <a:spAutoFit/>
          </a:bodyPr>
          <a:lstStyle/>
          <a:p>
            <a:r>
              <a:rPr lang="es-AR" sz="2000" b="1" dirty="0">
                <a:solidFill>
                  <a:srgbClr val="00B050"/>
                </a:solidFill>
              </a:rPr>
              <a:t>Bien</a:t>
            </a:r>
            <a:endParaRPr lang="es-AR" sz="2000" b="1" dirty="0"/>
          </a:p>
        </p:txBody>
      </p:sp>
      <p:sp>
        <p:nvSpPr>
          <p:cNvPr id="8" name="CuadroTexto 7"/>
          <p:cNvSpPr txBox="1"/>
          <p:nvPr/>
        </p:nvSpPr>
        <p:spPr>
          <a:xfrm>
            <a:off x="7928406" y="3857560"/>
            <a:ext cx="720080" cy="400110"/>
          </a:xfrm>
          <a:prstGeom prst="rect">
            <a:avLst/>
          </a:prstGeom>
          <a:noFill/>
          <a:ln>
            <a:noFill/>
          </a:ln>
        </p:spPr>
        <p:txBody>
          <a:bodyPr wrap="square" rtlCol="0">
            <a:spAutoFit/>
          </a:bodyPr>
          <a:lstStyle/>
          <a:p>
            <a:r>
              <a:rPr lang="es-AR" sz="2000" b="1" dirty="0">
                <a:solidFill>
                  <a:srgbClr val="FF0000"/>
                </a:solidFill>
              </a:rPr>
              <a:t>Mal</a:t>
            </a:r>
            <a:endParaRPr lang="es-AR" sz="2000" b="1" dirty="0"/>
          </a:p>
        </p:txBody>
      </p:sp>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70</a:t>
            </a:fld>
            <a:endParaRPr lang="es-ES" altLang="es-AR"/>
          </a:p>
        </p:txBody>
      </p:sp>
    </p:spTree>
    <p:extLst>
      <p:ext uri="{BB962C8B-B14F-4D97-AF65-F5344CB8AC3E}">
        <p14:creationId xmlns:p14="http://schemas.microsoft.com/office/powerpoint/2010/main" val="2883978356"/>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1 Título"/>
          <p:cNvSpPr>
            <a:spLocks noGrp="1"/>
          </p:cNvSpPr>
          <p:nvPr>
            <p:ph type="title"/>
          </p:nvPr>
        </p:nvSpPr>
        <p:spPr>
          <a:xfrm>
            <a:off x="457200" y="274638"/>
            <a:ext cx="8229600" cy="654050"/>
          </a:xfrm>
        </p:spPr>
        <p:txBody>
          <a:bodyPr/>
          <a:lstStyle/>
          <a:p>
            <a:r>
              <a:rPr lang="es-AR" altLang="es-AR" b="1"/>
              <a:t>Contenido accesible</a:t>
            </a:r>
          </a:p>
        </p:txBody>
      </p:sp>
      <p:sp>
        <p:nvSpPr>
          <p:cNvPr id="57347" name="2 Marcador de contenido"/>
          <p:cNvSpPr>
            <a:spLocks noGrp="1"/>
          </p:cNvSpPr>
          <p:nvPr>
            <p:ph idx="1"/>
          </p:nvPr>
        </p:nvSpPr>
        <p:spPr>
          <a:xfrm>
            <a:off x="430213" y="1916113"/>
            <a:ext cx="8229600" cy="2304975"/>
          </a:xfrm>
        </p:spPr>
        <p:txBody>
          <a:bodyPr/>
          <a:lstStyle/>
          <a:p>
            <a:pPr>
              <a:lnSpc>
                <a:spcPct val="90000"/>
              </a:lnSpc>
            </a:pPr>
            <a:r>
              <a:rPr lang="es-AR" dirty="0"/>
              <a:t>Encabezados</a:t>
            </a:r>
          </a:p>
          <a:p>
            <a:pPr>
              <a:lnSpc>
                <a:spcPct val="90000"/>
              </a:lnSpc>
            </a:pPr>
            <a:endParaRPr lang="es-AR" dirty="0"/>
          </a:p>
          <a:p>
            <a:pPr lvl="1" algn="just">
              <a:lnSpc>
                <a:spcPct val="90000"/>
              </a:lnSpc>
            </a:pPr>
            <a:r>
              <a:rPr lang="es-AR" dirty="0"/>
              <a:t>Fallos más comunes</a:t>
            </a:r>
          </a:p>
          <a:p>
            <a:pPr lvl="2" algn="just">
              <a:lnSpc>
                <a:spcPct val="90000"/>
              </a:lnSpc>
            </a:pPr>
            <a:r>
              <a:rPr lang="es-AR" dirty="0"/>
              <a:t>Anidar de forma incorrecta los encabezados.</a:t>
            </a:r>
          </a:p>
          <a:p>
            <a:pPr lvl="2" algn="just">
              <a:lnSpc>
                <a:spcPct val="90000"/>
              </a:lnSpc>
            </a:pPr>
            <a:r>
              <a:rPr lang="es-AR" dirty="0"/>
              <a:t>Utilizar elementos semánticos h1-h6 para dar formato al texto.</a:t>
            </a:r>
          </a:p>
          <a:p>
            <a:pPr lvl="2" algn="just">
              <a:lnSpc>
                <a:spcPct val="90000"/>
              </a:lnSpc>
            </a:pPr>
            <a:r>
              <a:rPr lang="es-AR" dirty="0"/>
              <a:t>Utilizar hojas de estilo CSS para simular encabezados.</a:t>
            </a:r>
          </a:p>
          <a:p>
            <a:pPr lvl="2" algn="just">
              <a:lnSpc>
                <a:spcPct val="90000"/>
              </a:lnSpc>
            </a:pPr>
            <a:endParaRPr lang="es-AR" dirty="0"/>
          </a:p>
          <a:p>
            <a:pPr lvl="2" algn="just">
              <a:lnSpc>
                <a:spcPct val="90000"/>
              </a:lnSpc>
            </a:pPr>
            <a:endParaRPr lang="es-AR" dirty="0"/>
          </a:p>
          <a:p>
            <a:pPr lvl="2" algn="just">
              <a:lnSpc>
                <a:spcPct val="90000"/>
              </a:lnSpc>
            </a:pPr>
            <a:endParaRPr lang="es-AR" dirty="0"/>
          </a:p>
          <a:p>
            <a:pPr lvl="2" algn="just">
              <a:lnSpc>
                <a:spcPct val="90000"/>
              </a:lnSpc>
            </a:pPr>
            <a:endParaRPr lang="es-AR" dirty="0"/>
          </a:p>
          <a:p>
            <a:pPr lvl="2" algn="just">
              <a:lnSpc>
                <a:spcPct val="90000"/>
              </a:lnSpc>
            </a:pPr>
            <a:endParaRPr lang="es-AR" dirty="0"/>
          </a:p>
          <a:p>
            <a:pPr lvl="2" algn="just">
              <a:lnSpc>
                <a:spcPct val="90000"/>
              </a:lnSpc>
            </a:pPr>
            <a:endParaRPr lang="es-AR" dirty="0"/>
          </a:p>
          <a:p>
            <a:pPr lvl="2" algn="just">
              <a:lnSpc>
                <a:spcPct val="90000"/>
              </a:lnSpc>
            </a:pPr>
            <a:endParaRPr lang="es-AR" dirty="0"/>
          </a:p>
          <a:p>
            <a:pPr lvl="1">
              <a:lnSpc>
                <a:spcPct val="90000"/>
              </a:lnSpc>
            </a:pPr>
            <a:endParaRPr lang="es-AR" dirty="0"/>
          </a:p>
          <a:p>
            <a:pPr marL="0" indent="0">
              <a:lnSpc>
                <a:spcPct val="90000"/>
              </a:lnSpc>
              <a:buNone/>
            </a:pPr>
            <a:endParaRPr lang="es-AR" dirty="0"/>
          </a:p>
          <a:p>
            <a:pPr marL="1371600" lvl="3" indent="0">
              <a:lnSpc>
                <a:spcPct val="90000"/>
              </a:lnSpc>
              <a:buNone/>
            </a:pPr>
            <a:endParaRPr lang="es-AR" dirty="0"/>
          </a:p>
          <a:p>
            <a:pPr>
              <a:lnSpc>
                <a:spcPct val="90000"/>
              </a:lnSpc>
            </a:pPr>
            <a:endParaRPr lang="es-AR" dirty="0"/>
          </a:p>
        </p:txBody>
      </p:sp>
      <p:sp>
        <p:nvSpPr>
          <p:cNvPr id="4" name="CuadroTexto 3"/>
          <p:cNvSpPr txBox="1"/>
          <p:nvPr/>
        </p:nvSpPr>
        <p:spPr>
          <a:xfrm>
            <a:off x="457200" y="4365104"/>
            <a:ext cx="8229600" cy="1938992"/>
          </a:xfrm>
          <a:prstGeom prst="rect">
            <a:avLst/>
          </a:prstGeom>
          <a:noFill/>
          <a:ln>
            <a:solidFill>
              <a:schemeClr val="accent1">
                <a:shade val="50000"/>
              </a:schemeClr>
            </a:solidFill>
          </a:ln>
        </p:spPr>
        <p:txBody>
          <a:bodyPr wrap="square" rtlCol="0">
            <a:spAutoFit/>
          </a:bodyPr>
          <a:lstStyle/>
          <a:p>
            <a:r>
              <a:rPr lang="es-AR" sz="2000" b="1" dirty="0"/>
              <a:t>&lt;</a:t>
            </a:r>
            <a:r>
              <a:rPr lang="es-AR" sz="2000" b="1" dirty="0" err="1"/>
              <a:t>style</a:t>
            </a:r>
            <a:r>
              <a:rPr lang="es-AR" sz="2000" b="1" dirty="0"/>
              <a:t>&gt;</a:t>
            </a:r>
          </a:p>
          <a:p>
            <a:r>
              <a:rPr lang="es-AR" sz="2000" b="1" dirty="0"/>
              <a:t>p.encabezado1 {font-style:200%; </a:t>
            </a:r>
            <a:r>
              <a:rPr lang="es-AR" sz="2000" b="1" dirty="0" err="1"/>
              <a:t>font-weight:bold</a:t>
            </a:r>
            <a:r>
              <a:rPr lang="es-AR" sz="2000" b="1" dirty="0"/>
              <a:t>; color:#ff0000;}</a:t>
            </a:r>
          </a:p>
          <a:p>
            <a:r>
              <a:rPr lang="es-AR" sz="2000" b="1" dirty="0"/>
              <a:t>&lt;/</a:t>
            </a:r>
            <a:r>
              <a:rPr lang="es-AR" sz="2000" b="1" dirty="0" err="1"/>
              <a:t>style</a:t>
            </a:r>
            <a:r>
              <a:rPr lang="es-AR" sz="2000" b="1" dirty="0"/>
              <a:t>&gt;</a:t>
            </a:r>
          </a:p>
          <a:p>
            <a:r>
              <a:rPr lang="es-AR" sz="2000" b="1" dirty="0"/>
              <a:t>&lt;</a:t>
            </a:r>
            <a:r>
              <a:rPr lang="es-AR" sz="2000" b="1" dirty="0" err="1"/>
              <a:t>body</a:t>
            </a:r>
            <a:r>
              <a:rPr lang="es-AR" sz="2000" b="1" dirty="0"/>
              <a:t>&gt;</a:t>
            </a:r>
          </a:p>
          <a:p>
            <a:r>
              <a:rPr lang="es-AR" sz="2000" b="1" dirty="0"/>
              <a:t>&lt;p </a:t>
            </a:r>
            <a:r>
              <a:rPr lang="es-AR" sz="2000" b="1" dirty="0" err="1"/>
              <a:t>class</a:t>
            </a:r>
            <a:r>
              <a:rPr lang="es-AR" sz="2000" b="1" dirty="0"/>
              <a:t>=“encabezado1”&gt; Técnicas de cocina &lt;/p&gt;</a:t>
            </a:r>
          </a:p>
          <a:p>
            <a:r>
              <a:rPr lang="es-AR" sz="2000" b="1" dirty="0"/>
              <a:t>&lt;/</a:t>
            </a:r>
            <a:r>
              <a:rPr lang="es-AR" sz="2000" b="1" dirty="0" err="1"/>
              <a:t>body</a:t>
            </a:r>
            <a:r>
              <a:rPr lang="es-AR" sz="2000" b="1" dirty="0"/>
              <a:t>&gt;</a:t>
            </a:r>
          </a:p>
        </p:txBody>
      </p:sp>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71</a:t>
            </a:fld>
            <a:endParaRPr lang="es-ES" altLang="es-AR"/>
          </a:p>
        </p:txBody>
      </p:sp>
    </p:spTree>
    <p:extLst>
      <p:ext uri="{BB962C8B-B14F-4D97-AF65-F5344CB8AC3E}">
        <p14:creationId xmlns:p14="http://schemas.microsoft.com/office/powerpoint/2010/main" val="1225167379"/>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1 Título"/>
          <p:cNvSpPr>
            <a:spLocks noGrp="1"/>
          </p:cNvSpPr>
          <p:nvPr>
            <p:ph type="title"/>
          </p:nvPr>
        </p:nvSpPr>
        <p:spPr>
          <a:xfrm>
            <a:off x="457200" y="274638"/>
            <a:ext cx="8229600" cy="654050"/>
          </a:xfrm>
        </p:spPr>
        <p:txBody>
          <a:bodyPr/>
          <a:lstStyle/>
          <a:p>
            <a:r>
              <a:rPr lang="es-AR" altLang="es-AR" b="1"/>
              <a:t>Contenido accesible</a:t>
            </a:r>
          </a:p>
        </p:txBody>
      </p:sp>
      <p:sp>
        <p:nvSpPr>
          <p:cNvPr id="57347" name="2 Marcador de contenido"/>
          <p:cNvSpPr>
            <a:spLocks noGrp="1"/>
          </p:cNvSpPr>
          <p:nvPr>
            <p:ph idx="1"/>
          </p:nvPr>
        </p:nvSpPr>
        <p:spPr>
          <a:xfrm>
            <a:off x="430213" y="1546436"/>
            <a:ext cx="8229600" cy="432767"/>
          </a:xfrm>
        </p:spPr>
        <p:txBody>
          <a:bodyPr/>
          <a:lstStyle/>
          <a:p>
            <a:pPr algn="just">
              <a:lnSpc>
                <a:spcPct val="90000"/>
              </a:lnSpc>
            </a:pPr>
            <a:r>
              <a:rPr lang="es-AR" dirty="0"/>
              <a:t>Otros elementos semánticos: párrafos, citas y énfasis: (H49)</a:t>
            </a:r>
          </a:p>
          <a:p>
            <a:pPr marL="914400" lvl="2" indent="0" algn="just">
              <a:lnSpc>
                <a:spcPct val="90000"/>
              </a:lnSpc>
              <a:buNone/>
            </a:pPr>
            <a:endParaRPr lang="es-AR" dirty="0"/>
          </a:p>
          <a:p>
            <a:pPr lvl="2" algn="just">
              <a:lnSpc>
                <a:spcPct val="90000"/>
              </a:lnSpc>
            </a:pPr>
            <a:endParaRPr lang="es-AR" dirty="0"/>
          </a:p>
          <a:p>
            <a:pPr lvl="2" algn="just">
              <a:lnSpc>
                <a:spcPct val="90000"/>
              </a:lnSpc>
            </a:pPr>
            <a:endParaRPr lang="es-AR" dirty="0"/>
          </a:p>
          <a:p>
            <a:pPr lvl="2" algn="just">
              <a:lnSpc>
                <a:spcPct val="90000"/>
              </a:lnSpc>
            </a:pPr>
            <a:endParaRPr lang="es-AR" dirty="0"/>
          </a:p>
          <a:p>
            <a:pPr lvl="2" algn="just">
              <a:lnSpc>
                <a:spcPct val="90000"/>
              </a:lnSpc>
            </a:pPr>
            <a:endParaRPr lang="es-AR" dirty="0"/>
          </a:p>
          <a:p>
            <a:pPr lvl="2" algn="just">
              <a:lnSpc>
                <a:spcPct val="90000"/>
              </a:lnSpc>
            </a:pPr>
            <a:endParaRPr lang="es-AR" dirty="0"/>
          </a:p>
          <a:p>
            <a:pPr lvl="2" algn="just">
              <a:lnSpc>
                <a:spcPct val="90000"/>
              </a:lnSpc>
            </a:pPr>
            <a:endParaRPr lang="es-AR" dirty="0"/>
          </a:p>
          <a:p>
            <a:pPr lvl="2" algn="just">
              <a:lnSpc>
                <a:spcPct val="90000"/>
              </a:lnSpc>
            </a:pPr>
            <a:endParaRPr lang="es-AR" dirty="0"/>
          </a:p>
          <a:p>
            <a:pPr lvl="1">
              <a:lnSpc>
                <a:spcPct val="90000"/>
              </a:lnSpc>
            </a:pPr>
            <a:endParaRPr lang="es-AR" dirty="0"/>
          </a:p>
          <a:p>
            <a:pPr marL="0" indent="0">
              <a:lnSpc>
                <a:spcPct val="90000"/>
              </a:lnSpc>
              <a:buNone/>
            </a:pPr>
            <a:endParaRPr lang="es-AR" dirty="0"/>
          </a:p>
          <a:p>
            <a:pPr marL="1371600" lvl="3" indent="0">
              <a:lnSpc>
                <a:spcPct val="90000"/>
              </a:lnSpc>
              <a:buNone/>
            </a:pPr>
            <a:endParaRPr lang="es-AR" dirty="0"/>
          </a:p>
          <a:p>
            <a:pPr>
              <a:lnSpc>
                <a:spcPct val="90000"/>
              </a:lnSpc>
            </a:pPr>
            <a:endParaRPr lang="es-AR" dirty="0"/>
          </a:p>
        </p:txBody>
      </p:sp>
      <p:graphicFrame>
        <p:nvGraphicFramePr>
          <p:cNvPr id="5" name="Tabla 4"/>
          <p:cNvGraphicFramePr>
            <a:graphicFrameLocks noGrp="1"/>
          </p:cNvGraphicFramePr>
          <p:nvPr>
            <p:extLst>
              <p:ext uri="{D42A27DB-BD31-4B8C-83A1-F6EECF244321}">
                <p14:modId xmlns:p14="http://schemas.microsoft.com/office/powerpoint/2010/main" val="3596467927"/>
              </p:ext>
            </p:extLst>
          </p:nvPr>
        </p:nvGraphicFramePr>
        <p:xfrm>
          <a:off x="179511" y="1979203"/>
          <a:ext cx="8784978" cy="4312920"/>
        </p:xfrm>
        <a:graphic>
          <a:graphicData uri="http://schemas.openxmlformats.org/drawingml/2006/table">
            <a:tbl>
              <a:tblPr firstRow="1" bandRow="1">
                <a:tableStyleId>{5C22544A-7EE6-4342-B048-85BDC9FD1C3A}</a:tableStyleId>
              </a:tblPr>
              <a:tblGrid>
                <a:gridCol w="1535762">
                  <a:extLst>
                    <a:ext uri="{9D8B030D-6E8A-4147-A177-3AD203B41FA5}">
                      <a16:colId xmlns:a16="http://schemas.microsoft.com/office/drawing/2014/main" val="262665957"/>
                    </a:ext>
                  </a:extLst>
                </a:gridCol>
                <a:gridCol w="1556567">
                  <a:extLst>
                    <a:ext uri="{9D8B030D-6E8A-4147-A177-3AD203B41FA5}">
                      <a16:colId xmlns:a16="http://schemas.microsoft.com/office/drawing/2014/main" val="3409314188"/>
                    </a:ext>
                  </a:extLst>
                </a:gridCol>
                <a:gridCol w="1974877">
                  <a:extLst>
                    <a:ext uri="{9D8B030D-6E8A-4147-A177-3AD203B41FA5}">
                      <a16:colId xmlns:a16="http://schemas.microsoft.com/office/drawing/2014/main" val="4097046466"/>
                    </a:ext>
                  </a:extLst>
                </a:gridCol>
                <a:gridCol w="1960776">
                  <a:extLst>
                    <a:ext uri="{9D8B030D-6E8A-4147-A177-3AD203B41FA5}">
                      <a16:colId xmlns:a16="http://schemas.microsoft.com/office/drawing/2014/main" val="3010346130"/>
                    </a:ext>
                  </a:extLst>
                </a:gridCol>
                <a:gridCol w="1756996">
                  <a:extLst>
                    <a:ext uri="{9D8B030D-6E8A-4147-A177-3AD203B41FA5}">
                      <a16:colId xmlns:a16="http://schemas.microsoft.com/office/drawing/2014/main" val="3719477283"/>
                    </a:ext>
                  </a:extLst>
                </a:gridCol>
              </a:tblGrid>
              <a:tr h="370840">
                <a:tc rowSpan="2">
                  <a:txBody>
                    <a:bodyPr/>
                    <a:lstStyle/>
                    <a:p>
                      <a:endParaRPr lang="es-AR" sz="1800" dirty="0"/>
                    </a:p>
                  </a:txBody>
                  <a:tcPr>
                    <a:noFill/>
                  </a:tcPr>
                </a:tc>
                <a:tc rowSpan="2">
                  <a:txBody>
                    <a:bodyPr/>
                    <a:lstStyle/>
                    <a:p>
                      <a:pPr algn="ctr"/>
                      <a:r>
                        <a:rPr lang="es-AR" sz="1800" dirty="0"/>
                        <a:t>Párrafos</a:t>
                      </a:r>
                    </a:p>
                  </a:txBody>
                  <a:tcPr/>
                </a:tc>
                <a:tc gridSpan="2">
                  <a:txBody>
                    <a:bodyPr/>
                    <a:lstStyle/>
                    <a:p>
                      <a:pPr algn="ctr"/>
                      <a:r>
                        <a:rPr lang="es-AR" sz="1800" dirty="0"/>
                        <a:t>Citas</a:t>
                      </a:r>
                    </a:p>
                  </a:txBody>
                  <a:tcPr/>
                </a:tc>
                <a:tc hMerge="1">
                  <a:txBody>
                    <a:bodyPr/>
                    <a:lstStyle/>
                    <a:p>
                      <a:endParaRPr lang="es-AR" dirty="0"/>
                    </a:p>
                  </a:txBody>
                  <a:tcPr/>
                </a:tc>
                <a:tc rowSpan="2">
                  <a:txBody>
                    <a:bodyPr/>
                    <a:lstStyle/>
                    <a:p>
                      <a:pPr algn="ctr"/>
                      <a:r>
                        <a:rPr lang="es-AR" sz="1800" dirty="0"/>
                        <a:t>Énfasis</a:t>
                      </a:r>
                      <a:r>
                        <a:rPr lang="es-AR" sz="1800" baseline="0" dirty="0"/>
                        <a:t> </a:t>
                      </a:r>
                      <a:endParaRPr lang="es-AR" sz="1800" dirty="0"/>
                    </a:p>
                  </a:txBody>
                  <a:tcPr/>
                </a:tc>
                <a:extLst>
                  <a:ext uri="{0D108BD9-81ED-4DB2-BD59-A6C34878D82A}">
                    <a16:rowId xmlns:a16="http://schemas.microsoft.com/office/drawing/2014/main" val="975077292"/>
                  </a:ext>
                </a:extLst>
              </a:tr>
              <a:tr h="370840">
                <a:tc vMerge="1">
                  <a:txBody>
                    <a:bodyPr/>
                    <a:lstStyle/>
                    <a:p>
                      <a:endParaRPr lang="es-AR" dirty="0"/>
                    </a:p>
                  </a:txBody>
                  <a:tcPr>
                    <a:noFill/>
                  </a:tcPr>
                </a:tc>
                <a:tc vMerge="1">
                  <a:txBody>
                    <a:bodyPr/>
                    <a:lstStyle/>
                    <a:p>
                      <a:endParaRPr lang="es-AR" dirty="0"/>
                    </a:p>
                  </a:txBody>
                  <a:tcPr/>
                </a:tc>
                <a:tc>
                  <a:txBody>
                    <a:bodyPr/>
                    <a:lstStyle/>
                    <a:p>
                      <a:pPr algn="ctr"/>
                      <a:r>
                        <a:rPr lang="es-AR" sz="1800" b="1" dirty="0">
                          <a:solidFill>
                            <a:schemeClr val="bg1"/>
                          </a:solidFill>
                        </a:rPr>
                        <a:t>En </a:t>
                      </a:r>
                      <a:r>
                        <a:rPr lang="es-AR" sz="1800" b="1" kern="1200" dirty="0">
                          <a:solidFill>
                            <a:schemeClr val="bg1"/>
                          </a:solidFill>
                          <a:latin typeface="+mn-lt"/>
                          <a:ea typeface="+mn-ea"/>
                          <a:cs typeface="+mn-cs"/>
                        </a:rPr>
                        <a:t>línea</a:t>
                      </a:r>
                    </a:p>
                  </a:txBody>
                  <a:tcPr>
                    <a:solidFill>
                      <a:schemeClr val="accent1"/>
                    </a:solidFill>
                  </a:tcPr>
                </a:tc>
                <a:tc>
                  <a:txBody>
                    <a:bodyPr/>
                    <a:lstStyle/>
                    <a:p>
                      <a:pPr algn="ctr"/>
                      <a:r>
                        <a:rPr lang="es-AR" sz="1800" b="1" dirty="0">
                          <a:solidFill>
                            <a:schemeClr val="bg1"/>
                          </a:solidFill>
                        </a:rPr>
                        <a:t>En bloque</a:t>
                      </a:r>
                    </a:p>
                  </a:txBody>
                  <a:tcPr>
                    <a:solidFill>
                      <a:schemeClr val="accent1"/>
                    </a:solidFill>
                  </a:tcPr>
                </a:tc>
                <a:tc vMerge="1">
                  <a:txBody>
                    <a:bodyPr/>
                    <a:lstStyle/>
                    <a:p>
                      <a:endParaRPr lang="es-AR" dirty="0"/>
                    </a:p>
                  </a:txBody>
                  <a:tcPr/>
                </a:tc>
                <a:extLst>
                  <a:ext uri="{0D108BD9-81ED-4DB2-BD59-A6C34878D82A}">
                    <a16:rowId xmlns:a16="http://schemas.microsoft.com/office/drawing/2014/main" val="1119201919"/>
                  </a:ext>
                </a:extLst>
              </a:tr>
              <a:tr h="370840">
                <a:tc>
                  <a:txBody>
                    <a:bodyPr/>
                    <a:lstStyle/>
                    <a:p>
                      <a:r>
                        <a:rPr lang="es-AR" sz="1800" dirty="0"/>
                        <a:t>Elemento</a:t>
                      </a:r>
                      <a:r>
                        <a:rPr lang="es-AR" sz="1800" baseline="0" dirty="0"/>
                        <a:t> estructural</a:t>
                      </a:r>
                      <a:endParaRPr lang="es-AR" sz="1800" dirty="0"/>
                    </a:p>
                  </a:txBody>
                  <a:tcPr anchor="ctr"/>
                </a:tc>
                <a:tc>
                  <a:txBody>
                    <a:bodyPr/>
                    <a:lstStyle/>
                    <a:p>
                      <a:pPr algn="ctr"/>
                      <a:r>
                        <a:rPr lang="es-AR" sz="1800" dirty="0"/>
                        <a:t>&lt;p&gt;&lt;/p&gt;</a:t>
                      </a:r>
                    </a:p>
                  </a:txBody>
                  <a:tcPr anchor="ctr"/>
                </a:tc>
                <a:tc>
                  <a:txBody>
                    <a:bodyPr/>
                    <a:lstStyle/>
                    <a:p>
                      <a:pPr algn="ctr"/>
                      <a:r>
                        <a:rPr lang="es-AR" sz="1800" dirty="0"/>
                        <a:t>&lt;q&gt;&lt;/q&gt;</a:t>
                      </a:r>
                    </a:p>
                  </a:txBody>
                  <a:tcPr anchor="ctr"/>
                </a:tc>
                <a:tc>
                  <a:txBody>
                    <a:bodyPr/>
                    <a:lstStyle/>
                    <a:p>
                      <a:pPr algn="ctr"/>
                      <a:r>
                        <a:rPr lang="es-AR" sz="1800" dirty="0"/>
                        <a:t>&lt;</a:t>
                      </a:r>
                      <a:r>
                        <a:rPr lang="es-AR" sz="1800" dirty="0" err="1"/>
                        <a:t>blockquote</a:t>
                      </a:r>
                      <a:r>
                        <a:rPr lang="es-AR" sz="1800" dirty="0"/>
                        <a:t>&gt;</a:t>
                      </a:r>
                    </a:p>
                    <a:p>
                      <a:pPr algn="ctr"/>
                      <a:r>
                        <a:rPr lang="es-AR" sz="1800" dirty="0"/>
                        <a:t>&lt;/</a:t>
                      </a:r>
                      <a:r>
                        <a:rPr lang="es-AR" sz="1800" dirty="0" err="1"/>
                        <a:t>blockquote</a:t>
                      </a:r>
                      <a:r>
                        <a:rPr lang="es-AR" sz="1800" dirty="0"/>
                        <a:t>&gt;</a:t>
                      </a:r>
                    </a:p>
                  </a:txBody>
                  <a:tcPr anchor="ctr"/>
                </a:tc>
                <a:tc>
                  <a:txBody>
                    <a:bodyPr/>
                    <a:lstStyle/>
                    <a:p>
                      <a:pPr algn="ctr"/>
                      <a:r>
                        <a:rPr lang="es-AR" sz="1800" dirty="0"/>
                        <a:t>Cursiva:</a:t>
                      </a:r>
                      <a:r>
                        <a:rPr lang="es-AR" sz="1800" baseline="0" dirty="0"/>
                        <a:t> </a:t>
                      </a:r>
                    </a:p>
                    <a:p>
                      <a:pPr algn="ctr"/>
                      <a:r>
                        <a:rPr lang="es-AR" sz="1800" baseline="0" dirty="0"/>
                        <a:t>&lt;</a:t>
                      </a:r>
                      <a:r>
                        <a:rPr lang="es-AR" sz="1800" baseline="0" dirty="0" err="1"/>
                        <a:t>em</a:t>
                      </a:r>
                      <a:r>
                        <a:rPr lang="es-AR" sz="1800" baseline="0" dirty="0"/>
                        <a:t>&gt;</a:t>
                      </a:r>
                    </a:p>
                    <a:p>
                      <a:pPr algn="ctr"/>
                      <a:r>
                        <a:rPr lang="es-AR" sz="1800" baseline="0" dirty="0"/>
                        <a:t>&lt;/</a:t>
                      </a:r>
                      <a:r>
                        <a:rPr lang="es-AR" sz="1800" baseline="0" dirty="0" err="1"/>
                        <a:t>em</a:t>
                      </a:r>
                      <a:r>
                        <a:rPr lang="es-AR" sz="1800" baseline="0" dirty="0"/>
                        <a:t>&gt;</a:t>
                      </a:r>
                    </a:p>
                    <a:p>
                      <a:pPr algn="ctr"/>
                      <a:r>
                        <a:rPr lang="es-AR" sz="1800" baseline="0" dirty="0"/>
                        <a:t>Negrita: &lt;</a:t>
                      </a:r>
                      <a:r>
                        <a:rPr lang="es-AR" sz="1800" baseline="0" dirty="0" err="1"/>
                        <a:t>strong</a:t>
                      </a:r>
                      <a:r>
                        <a:rPr lang="es-AR" sz="1800" baseline="0" dirty="0"/>
                        <a:t>&gt;</a:t>
                      </a:r>
                    </a:p>
                    <a:p>
                      <a:pPr algn="ctr"/>
                      <a:r>
                        <a:rPr lang="es-AR" sz="1800" baseline="0" dirty="0"/>
                        <a:t>&lt;/</a:t>
                      </a:r>
                      <a:r>
                        <a:rPr lang="es-AR" sz="1800" baseline="0" dirty="0" err="1"/>
                        <a:t>strong</a:t>
                      </a:r>
                      <a:r>
                        <a:rPr lang="es-AR" sz="1800" baseline="0" dirty="0"/>
                        <a:t>&gt;</a:t>
                      </a:r>
                      <a:endParaRPr lang="es-AR" sz="1800" dirty="0"/>
                    </a:p>
                  </a:txBody>
                  <a:tcPr anchor="ctr"/>
                </a:tc>
                <a:extLst>
                  <a:ext uri="{0D108BD9-81ED-4DB2-BD59-A6C34878D82A}">
                    <a16:rowId xmlns:a16="http://schemas.microsoft.com/office/drawing/2014/main" val="2698149890"/>
                  </a:ext>
                </a:extLst>
              </a:tr>
              <a:tr h="370840">
                <a:tc>
                  <a:txBody>
                    <a:bodyPr/>
                    <a:lstStyle/>
                    <a:p>
                      <a:r>
                        <a:rPr lang="es-AR" sz="1800" dirty="0"/>
                        <a:t>Código</a:t>
                      </a:r>
                    </a:p>
                  </a:txBody>
                  <a:tcPr anchor="ctr"/>
                </a:tc>
                <a:tc>
                  <a:txBody>
                    <a:bodyPr/>
                    <a:lstStyle/>
                    <a:p>
                      <a:r>
                        <a:rPr lang="es-AR" sz="1800" dirty="0"/>
                        <a:t>&lt;p&gt;Hola mundo</a:t>
                      </a:r>
                    </a:p>
                    <a:p>
                      <a:r>
                        <a:rPr lang="es-AR" sz="1800" dirty="0"/>
                        <a:t>&lt;/p&gt;</a:t>
                      </a:r>
                    </a:p>
                  </a:txBody>
                  <a:tcPr/>
                </a:tc>
                <a:tc>
                  <a:txBody>
                    <a:bodyPr/>
                    <a:lstStyle/>
                    <a:p>
                      <a:r>
                        <a:rPr lang="es-AR" sz="1800" dirty="0"/>
                        <a:t>&lt;p&gt;Hola &lt;q&gt;mundo&lt;/q&gt;</a:t>
                      </a:r>
                    </a:p>
                    <a:p>
                      <a:r>
                        <a:rPr lang="es-AR" sz="1800" dirty="0"/>
                        <a:t>&lt;/p&gt;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AR" sz="1800" dirty="0"/>
                        <a:t>&lt;p&gt;Hola&lt;/p&gt;</a:t>
                      </a:r>
                    </a:p>
                    <a:p>
                      <a:pPr marL="0" marR="0" lvl="0" indent="0" algn="l" defTabSz="914400" rtl="0" eaLnBrk="1" fontAlgn="auto" latinLnBrk="0" hangingPunct="1">
                        <a:lnSpc>
                          <a:spcPct val="100000"/>
                        </a:lnSpc>
                        <a:spcBef>
                          <a:spcPts val="0"/>
                        </a:spcBef>
                        <a:spcAft>
                          <a:spcPts val="0"/>
                        </a:spcAft>
                        <a:buClrTx/>
                        <a:buSzTx/>
                        <a:buFontTx/>
                        <a:buNone/>
                        <a:tabLst/>
                        <a:defRPr/>
                      </a:pPr>
                      <a:r>
                        <a:rPr lang="es-AR" sz="1800" dirty="0"/>
                        <a:t>&lt;</a:t>
                      </a:r>
                      <a:r>
                        <a:rPr lang="es-AR" sz="1800" dirty="0" err="1"/>
                        <a:t>blockquote</a:t>
                      </a:r>
                      <a:r>
                        <a:rPr lang="es-AR" sz="1800" dirty="0"/>
                        <a:t>&gt;</a:t>
                      </a:r>
                    </a:p>
                    <a:p>
                      <a:pPr marL="0" marR="0" lvl="0" indent="0" algn="l" defTabSz="914400" rtl="0" eaLnBrk="1" fontAlgn="auto" latinLnBrk="0" hangingPunct="1">
                        <a:lnSpc>
                          <a:spcPct val="100000"/>
                        </a:lnSpc>
                        <a:spcBef>
                          <a:spcPts val="0"/>
                        </a:spcBef>
                        <a:spcAft>
                          <a:spcPts val="0"/>
                        </a:spcAft>
                        <a:buClrTx/>
                        <a:buSzTx/>
                        <a:buFontTx/>
                        <a:buNone/>
                        <a:tabLst/>
                        <a:defRPr/>
                      </a:pPr>
                      <a:r>
                        <a:rPr lang="es-AR" sz="1800" dirty="0"/>
                        <a:t>Mundo</a:t>
                      </a:r>
                    </a:p>
                    <a:p>
                      <a:pPr marL="0" marR="0" lvl="0" indent="0" algn="l" defTabSz="914400" rtl="0" eaLnBrk="1" fontAlgn="auto" latinLnBrk="0" hangingPunct="1">
                        <a:lnSpc>
                          <a:spcPct val="100000"/>
                        </a:lnSpc>
                        <a:spcBef>
                          <a:spcPts val="0"/>
                        </a:spcBef>
                        <a:spcAft>
                          <a:spcPts val="0"/>
                        </a:spcAft>
                        <a:buClrTx/>
                        <a:buSzTx/>
                        <a:buFontTx/>
                        <a:buNone/>
                        <a:tabLst/>
                        <a:defRPr/>
                      </a:pPr>
                      <a:r>
                        <a:rPr lang="es-AR" sz="1800" dirty="0"/>
                        <a:t>&lt;/&lt;</a:t>
                      </a:r>
                      <a:r>
                        <a:rPr lang="es-AR" sz="1800" dirty="0" err="1"/>
                        <a:t>blockquote</a:t>
                      </a:r>
                      <a:r>
                        <a:rPr lang="es-AR" sz="1800" dirty="0"/>
                        <a:t>&gt;</a:t>
                      </a:r>
                    </a:p>
                    <a:p>
                      <a:endParaRPr lang="es-AR" sz="1800" dirty="0"/>
                    </a:p>
                  </a:txBody>
                  <a:tcPr/>
                </a:tc>
                <a:tc>
                  <a:txBody>
                    <a:bodyPr/>
                    <a:lstStyle/>
                    <a:p>
                      <a:r>
                        <a:rPr lang="es-AR" sz="1800" dirty="0"/>
                        <a:t>&lt;p&gt;</a:t>
                      </a:r>
                    </a:p>
                    <a:p>
                      <a:r>
                        <a:rPr lang="es-AR" sz="1800" dirty="0"/>
                        <a:t>&lt;</a:t>
                      </a:r>
                      <a:r>
                        <a:rPr lang="es-AR" sz="1800" dirty="0" err="1"/>
                        <a:t>em</a:t>
                      </a:r>
                      <a:r>
                        <a:rPr lang="es-AR" sz="1800" dirty="0"/>
                        <a:t>&gt;Hola&lt;/</a:t>
                      </a:r>
                      <a:r>
                        <a:rPr lang="es-AR" sz="1800" dirty="0" err="1"/>
                        <a:t>em</a:t>
                      </a:r>
                      <a:r>
                        <a:rPr lang="es-AR" sz="1800" dirty="0"/>
                        <a:t>&gt;&lt;</a:t>
                      </a:r>
                      <a:r>
                        <a:rPr lang="es-AR" sz="1800" dirty="0" err="1"/>
                        <a:t>strong</a:t>
                      </a:r>
                      <a:r>
                        <a:rPr lang="es-AR" sz="1800" dirty="0"/>
                        <a:t>&gt;mundo&lt;/</a:t>
                      </a:r>
                      <a:r>
                        <a:rPr lang="es-AR" sz="1800" dirty="0" err="1"/>
                        <a:t>strong</a:t>
                      </a:r>
                      <a:r>
                        <a:rPr lang="es-AR" sz="1800" dirty="0"/>
                        <a:t>&gt;</a:t>
                      </a:r>
                    </a:p>
                    <a:p>
                      <a:r>
                        <a:rPr lang="es-AR" sz="1800" dirty="0"/>
                        <a:t>&lt;/p&gt;</a:t>
                      </a:r>
                    </a:p>
                  </a:txBody>
                  <a:tcPr/>
                </a:tc>
                <a:extLst>
                  <a:ext uri="{0D108BD9-81ED-4DB2-BD59-A6C34878D82A}">
                    <a16:rowId xmlns:a16="http://schemas.microsoft.com/office/drawing/2014/main" val="500369045"/>
                  </a:ext>
                </a:extLst>
              </a:tr>
              <a:tr h="370840">
                <a:tc>
                  <a:txBody>
                    <a:bodyPr/>
                    <a:lstStyle/>
                    <a:p>
                      <a:r>
                        <a:rPr lang="es-AR" sz="1800" dirty="0"/>
                        <a:t>Vista</a:t>
                      </a:r>
                    </a:p>
                  </a:txBody>
                  <a:tcPr anchor="ctr"/>
                </a:tc>
                <a:tc>
                  <a:txBody>
                    <a:bodyPr/>
                    <a:lstStyle/>
                    <a:p>
                      <a:r>
                        <a:rPr lang="es-AR" sz="1800" dirty="0"/>
                        <a:t>Hola mundo</a:t>
                      </a:r>
                    </a:p>
                  </a:txBody>
                  <a:tcPr/>
                </a:tc>
                <a:tc>
                  <a:txBody>
                    <a:bodyPr/>
                    <a:lstStyle/>
                    <a:p>
                      <a:r>
                        <a:rPr lang="es-AR" sz="1800" dirty="0"/>
                        <a:t>Hola mundo</a:t>
                      </a:r>
                    </a:p>
                  </a:txBody>
                  <a:tcPr/>
                </a:tc>
                <a:tc>
                  <a:txBody>
                    <a:bodyPr/>
                    <a:lstStyle/>
                    <a:p>
                      <a:r>
                        <a:rPr lang="es-AR" sz="1800" dirty="0"/>
                        <a:t>Hola     Mundo</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AR" sz="1800" i="1" dirty="0"/>
                        <a:t>Hola</a:t>
                      </a:r>
                      <a:r>
                        <a:rPr lang="es-AR" sz="1800" dirty="0"/>
                        <a:t> </a:t>
                      </a:r>
                      <a:r>
                        <a:rPr lang="es-AR" sz="1800" b="1" dirty="0"/>
                        <a:t>mundo</a:t>
                      </a:r>
                      <a:endParaRPr lang="es-AR" sz="1800" dirty="0"/>
                    </a:p>
                  </a:txBody>
                  <a:tcPr/>
                </a:tc>
                <a:extLst>
                  <a:ext uri="{0D108BD9-81ED-4DB2-BD59-A6C34878D82A}">
                    <a16:rowId xmlns:a16="http://schemas.microsoft.com/office/drawing/2014/main" val="3679167770"/>
                  </a:ext>
                </a:extLst>
              </a:tr>
            </a:tbl>
          </a:graphicData>
        </a:graphic>
      </p:graphicFrame>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72</a:t>
            </a:fld>
            <a:endParaRPr lang="es-ES" altLang="es-AR"/>
          </a:p>
        </p:txBody>
      </p:sp>
    </p:spTree>
    <p:extLst>
      <p:ext uri="{BB962C8B-B14F-4D97-AF65-F5344CB8AC3E}">
        <p14:creationId xmlns:p14="http://schemas.microsoft.com/office/powerpoint/2010/main" val="3977357933"/>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1 Título"/>
          <p:cNvSpPr>
            <a:spLocks noGrp="1"/>
          </p:cNvSpPr>
          <p:nvPr>
            <p:ph type="title"/>
          </p:nvPr>
        </p:nvSpPr>
        <p:spPr>
          <a:xfrm>
            <a:off x="457200" y="274638"/>
            <a:ext cx="8229600" cy="654050"/>
          </a:xfrm>
        </p:spPr>
        <p:txBody>
          <a:bodyPr/>
          <a:lstStyle/>
          <a:p>
            <a:r>
              <a:rPr lang="es-AR" altLang="es-AR" b="1"/>
              <a:t>Contenido accesible</a:t>
            </a:r>
          </a:p>
        </p:txBody>
      </p:sp>
      <p:sp>
        <p:nvSpPr>
          <p:cNvPr id="57347" name="2 Marcador de contenido"/>
          <p:cNvSpPr>
            <a:spLocks noGrp="1"/>
          </p:cNvSpPr>
          <p:nvPr>
            <p:ph idx="1"/>
          </p:nvPr>
        </p:nvSpPr>
        <p:spPr>
          <a:xfrm>
            <a:off x="440788" y="1556792"/>
            <a:ext cx="8229600" cy="432767"/>
          </a:xfrm>
        </p:spPr>
        <p:txBody>
          <a:bodyPr/>
          <a:lstStyle/>
          <a:p>
            <a:pPr algn="just">
              <a:lnSpc>
                <a:spcPct val="90000"/>
              </a:lnSpc>
            </a:pPr>
            <a:r>
              <a:rPr lang="es-AR" dirty="0"/>
              <a:t>Otros elementos semánticos: párrafos, citas y énfasis:</a:t>
            </a:r>
          </a:p>
          <a:p>
            <a:pPr marL="914400" lvl="2" indent="0" algn="just">
              <a:lnSpc>
                <a:spcPct val="90000"/>
              </a:lnSpc>
              <a:buNone/>
            </a:pPr>
            <a:endParaRPr lang="es-AR" dirty="0"/>
          </a:p>
          <a:p>
            <a:pPr lvl="2" algn="just">
              <a:lnSpc>
                <a:spcPct val="90000"/>
              </a:lnSpc>
            </a:pPr>
            <a:endParaRPr lang="es-AR" dirty="0"/>
          </a:p>
          <a:p>
            <a:pPr lvl="2" algn="just">
              <a:lnSpc>
                <a:spcPct val="90000"/>
              </a:lnSpc>
            </a:pPr>
            <a:endParaRPr lang="es-AR" dirty="0"/>
          </a:p>
          <a:p>
            <a:pPr lvl="2" algn="just">
              <a:lnSpc>
                <a:spcPct val="90000"/>
              </a:lnSpc>
            </a:pPr>
            <a:endParaRPr lang="es-AR" dirty="0"/>
          </a:p>
          <a:p>
            <a:pPr lvl="2" algn="just">
              <a:lnSpc>
                <a:spcPct val="90000"/>
              </a:lnSpc>
            </a:pPr>
            <a:endParaRPr lang="es-AR" dirty="0"/>
          </a:p>
          <a:p>
            <a:pPr lvl="2" algn="just">
              <a:lnSpc>
                <a:spcPct val="90000"/>
              </a:lnSpc>
            </a:pPr>
            <a:endParaRPr lang="es-AR" dirty="0"/>
          </a:p>
          <a:p>
            <a:pPr lvl="2" algn="just">
              <a:lnSpc>
                <a:spcPct val="90000"/>
              </a:lnSpc>
            </a:pPr>
            <a:endParaRPr lang="es-AR" dirty="0"/>
          </a:p>
          <a:p>
            <a:pPr lvl="2" algn="just">
              <a:lnSpc>
                <a:spcPct val="90000"/>
              </a:lnSpc>
            </a:pPr>
            <a:endParaRPr lang="es-AR" dirty="0"/>
          </a:p>
          <a:p>
            <a:pPr lvl="1">
              <a:lnSpc>
                <a:spcPct val="90000"/>
              </a:lnSpc>
            </a:pPr>
            <a:endParaRPr lang="es-AR" dirty="0"/>
          </a:p>
          <a:p>
            <a:pPr marL="0" indent="0">
              <a:lnSpc>
                <a:spcPct val="90000"/>
              </a:lnSpc>
              <a:buNone/>
            </a:pPr>
            <a:endParaRPr lang="es-AR" dirty="0"/>
          </a:p>
          <a:p>
            <a:pPr marL="1371600" lvl="3" indent="0">
              <a:lnSpc>
                <a:spcPct val="90000"/>
              </a:lnSpc>
              <a:buNone/>
            </a:pPr>
            <a:endParaRPr lang="es-AR" dirty="0"/>
          </a:p>
          <a:p>
            <a:pPr>
              <a:lnSpc>
                <a:spcPct val="90000"/>
              </a:lnSpc>
            </a:pPr>
            <a:endParaRPr lang="es-AR" dirty="0"/>
          </a:p>
        </p:txBody>
      </p:sp>
      <p:graphicFrame>
        <p:nvGraphicFramePr>
          <p:cNvPr id="5" name="Tabla 4"/>
          <p:cNvGraphicFramePr>
            <a:graphicFrameLocks noGrp="1"/>
          </p:cNvGraphicFramePr>
          <p:nvPr>
            <p:extLst>
              <p:ext uri="{D42A27DB-BD31-4B8C-83A1-F6EECF244321}">
                <p14:modId xmlns:p14="http://schemas.microsoft.com/office/powerpoint/2010/main" val="338228129"/>
              </p:ext>
            </p:extLst>
          </p:nvPr>
        </p:nvGraphicFramePr>
        <p:xfrm>
          <a:off x="522528" y="2132856"/>
          <a:ext cx="8128000" cy="4375883"/>
        </p:xfrm>
        <a:graphic>
          <a:graphicData uri="http://schemas.openxmlformats.org/drawingml/2006/table">
            <a:tbl>
              <a:tblPr firstRow="1" bandRow="1">
                <a:tableStyleId>{5C22544A-7EE6-4342-B048-85BDC9FD1C3A}</a:tableStyleId>
              </a:tblPr>
              <a:tblGrid>
                <a:gridCol w="511795">
                  <a:extLst>
                    <a:ext uri="{9D8B030D-6E8A-4147-A177-3AD203B41FA5}">
                      <a16:colId xmlns:a16="http://schemas.microsoft.com/office/drawing/2014/main" val="262665957"/>
                    </a:ext>
                  </a:extLst>
                </a:gridCol>
                <a:gridCol w="2739405">
                  <a:extLst>
                    <a:ext uri="{9D8B030D-6E8A-4147-A177-3AD203B41FA5}">
                      <a16:colId xmlns:a16="http://schemas.microsoft.com/office/drawing/2014/main" val="3409314188"/>
                    </a:ext>
                  </a:extLst>
                </a:gridCol>
                <a:gridCol w="1266056">
                  <a:extLst>
                    <a:ext uri="{9D8B030D-6E8A-4147-A177-3AD203B41FA5}">
                      <a16:colId xmlns:a16="http://schemas.microsoft.com/office/drawing/2014/main" val="4097046466"/>
                    </a:ext>
                  </a:extLst>
                </a:gridCol>
                <a:gridCol w="1152128">
                  <a:extLst>
                    <a:ext uri="{9D8B030D-6E8A-4147-A177-3AD203B41FA5}">
                      <a16:colId xmlns:a16="http://schemas.microsoft.com/office/drawing/2014/main" val="3010346130"/>
                    </a:ext>
                  </a:extLst>
                </a:gridCol>
                <a:gridCol w="2458616">
                  <a:extLst>
                    <a:ext uri="{9D8B030D-6E8A-4147-A177-3AD203B41FA5}">
                      <a16:colId xmlns:a16="http://schemas.microsoft.com/office/drawing/2014/main" val="3719477283"/>
                    </a:ext>
                  </a:extLst>
                </a:gridCol>
              </a:tblGrid>
              <a:tr h="232906">
                <a:tc rowSpan="2">
                  <a:txBody>
                    <a:bodyPr/>
                    <a:lstStyle/>
                    <a:p>
                      <a:endParaRPr lang="es-AR" sz="2000" dirty="0"/>
                    </a:p>
                  </a:txBody>
                  <a:tcPr>
                    <a:noFill/>
                  </a:tcPr>
                </a:tc>
                <a:tc rowSpan="2">
                  <a:txBody>
                    <a:bodyPr/>
                    <a:lstStyle/>
                    <a:p>
                      <a:pPr algn="ctr"/>
                      <a:r>
                        <a:rPr lang="es-AR" sz="2000" dirty="0">
                          <a:solidFill>
                            <a:schemeClr val="tx1"/>
                          </a:solidFill>
                        </a:rPr>
                        <a:t>Párrafos</a:t>
                      </a:r>
                    </a:p>
                  </a:txBody>
                  <a:tcPr/>
                </a:tc>
                <a:tc gridSpan="2">
                  <a:txBody>
                    <a:bodyPr/>
                    <a:lstStyle/>
                    <a:p>
                      <a:pPr algn="ctr"/>
                      <a:r>
                        <a:rPr lang="es-AR" sz="2000" dirty="0">
                          <a:solidFill>
                            <a:schemeClr val="tx1"/>
                          </a:solidFill>
                        </a:rPr>
                        <a:t>Citas</a:t>
                      </a:r>
                    </a:p>
                  </a:txBody>
                  <a:tcPr/>
                </a:tc>
                <a:tc hMerge="1">
                  <a:txBody>
                    <a:bodyPr/>
                    <a:lstStyle/>
                    <a:p>
                      <a:endParaRPr lang="es-AR" dirty="0"/>
                    </a:p>
                  </a:txBody>
                  <a:tcPr/>
                </a:tc>
                <a:tc rowSpan="2">
                  <a:txBody>
                    <a:bodyPr/>
                    <a:lstStyle/>
                    <a:p>
                      <a:pPr algn="ctr"/>
                      <a:r>
                        <a:rPr lang="es-AR" sz="2000" dirty="0">
                          <a:solidFill>
                            <a:schemeClr val="tx1"/>
                          </a:solidFill>
                        </a:rPr>
                        <a:t>Énfasis</a:t>
                      </a:r>
                      <a:r>
                        <a:rPr lang="es-AR" sz="2000" baseline="0" dirty="0">
                          <a:solidFill>
                            <a:schemeClr val="tx1"/>
                          </a:solidFill>
                        </a:rPr>
                        <a:t> </a:t>
                      </a:r>
                      <a:endParaRPr lang="es-AR" sz="2000" dirty="0">
                        <a:solidFill>
                          <a:schemeClr val="tx1"/>
                        </a:solidFill>
                      </a:endParaRPr>
                    </a:p>
                  </a:txBody>
                  <a:tcPr/>
                </a:tc>
                <a:extLst>
                  <a:ext uri="{0D108BD9-81ED-4DB2-BD59-A6C34878D82A}">
                    <a16:rowId xmlns:a16="http://schemas.microsoft.com/office/drawing/2014/main" val="975077292"/>
                  </a:ext>
                </a:extLst>
              </a:tr>
              <a:tr h="232906">
                <a:tc vMerge="1">
                  <a:txBody>
                    <a:bodyPr/>
                    <a:lstStyle/>
                    <a:p>
                      <a:endParaRPr lang="es-AR" dirty="0"/>
                    </a:p>
                  </a:txBody>
                  <a:tcPr>
                    <a:noFill/>
                  </a:tcPr>
                </a:tc>
                <a:tc vMerge="1">
                  <a:txBody>
                    <a:bodyPr/>
                    <a:lstStyle/>
                    <a:p>
                      <a:endParaRPr lang="es-AR" dirty="0"/>
                    </a:p>
                  </a:txBody>
                  <a:tcPr/>
                </a:tc>
                <a:tc>
                  <a:txBody>
                    <a:bodyPr/>
                    <a:lstStyle/>
                    <a:p>
                      <a:pPr algn="ctr"/>
                      <a:r>
                        <a:rPr lang="es-AR" sz="2000" b="1" kern="1200" dirty="0">
                          <a:solidFill>
                            <a:schemeClr val="tx1"/>
                          </a:solidFill>
                          <a:latin typeface="+mn-lt"/>
                          <a:ea typeface="+mn-ea"/>
                          <a:cs typeface="+mn-cs"/>
                        </a:rPr>
                        <a:t>En línea</a:t>
                      </a:r>
                    </a:p>
                  </a:txBody>
                  <a:tcPr>
                    <a:solidFill>
                      <a:schemeClr val="accent1"/>
                    </a:solidFill>
                  </a:tcPr>
                </a:tc>
                <a:tc>
                  <a:txBody>
                    <a:bodyPr/>
                    <a:lstStyle/>
                    <a:p>
                      <a:pPr algn="ctr"/>
                      <a:r>
                        <a:rPr lang="es-AR" sz="2000" b="1" dirty="0">
                          <a:solidFill>
                            <a:schemeClr val="tx1"/>
                          </a:solidFill>
                        </a:rPr>
                        <a:t> En bloque</a:t>
                      </a:r>
                    </a:p>
                  </a:txBody>
                  <a:tcPr>
                    <a:solidFill>
                      <a:schemeClr val="accent1"/>
                    </a:solidFill>
                  </a:tcPr>
                </a:tc>
                <a:tc vMerge="1">
                  <a:txBody>
                    <a:bodyPr/>
                    <a:lstStyle/>
                    <a:p>
                      <a:endParaRPr lang="es-AR" dirty="0"/>
                    </a:p>
                  </a:txBody>
                  <a:tcPr/>
                </a:tc>
                <a:extLst>
                  <a:ext uri="{0D108BD9-81ED-4DB2-BD59-A6C34878D82A}">
                    <a16:rowId xmlns:a16="http://schemas.microsoft.com/office/drawing/2014/main" val="1119201919"/>
                  </a:ext>
                </a:extLst>
              </a:tr>
              <a:tr h="3278603">
                <a:tc>
                  <a:txBody>
                    <a:bodyPr/>
                    <a:lstStyle/>
                    <a:p>
                      <a:r>
                        <a:rPr lang="es-AR" sz="2000" dirty="0"/>
                        <a:t>Recomendación</a:t>
                      </a:r>
                    </a:p>
                  </a:txBody>
                  <a:tcPr vert="vert" anchor="ctr"/>
                </a:tc>
                <a:tc>
                  <a:txBody>
                    <a:bodyPr/>
                    <a:lstStyle/>
                    <a:p>
                      <a:pPr marL="171450" indent="-171450">
                        <a:buFont typeface="Arial" panose="020B0604020202020204" pitchFamily="34" charset="0"/>
                        <a:buChar char="•"/>
                      </a:pPr>
                      <a:r>
                        <a:rPr lang="es-AR" sz="2000" dirty="0"/>
                        <a:t>Limitar los párrafos a única idea principal.</a:t>
                      </a:r>
                    </a:p>
                    <a:p>
                      <a:pPr marL="171450" indent="-171450">
                        <a:buFont typeface="Arial" panose="020B0604020202020204" pitchFamily="34" charset="0"/>
                        <a:buChar char="•"/>
                      </a:pPr>
                      <a:r>
                        <a:rPr lang="es-AR" sz="2000" dirty="0"/>
                        <a:t>No</a:t>
                      </a:r>
                      <a:r>
                        <a:rPr lang="es-AR" sz="2000" baseline="0" dirty="0"/>
                        <a:t> utilizar párrafos vacíos para separar contenidos ya que algunos lectores de pantalla leerán, “en blanco, en blanco, …”.</a:t>
                      </a:r>
                      <a:endParaRPr lang="es-AR" sz="2000" dirty="0"/>
                    </a:p>
                  </a:txBody>
                  <a:tcPr/>
                </a:tc>
                <a:tc gridSpan="2">
                  <a:txBody>
                    <a:bodyPr/>
                    <a:lstStyle/>
                    <a:p>
                      <a:pPr marL="0" indent="0">
                        <a:buFont typeface="Arial" panose="020B0604020202020204" pitchFamily="34" charset="0"/>
                        <a:buNone/>
                      </a:pPr>
                      <a:r>
                        <a:rPr lang="es-AR" sz="2000" dirty="0"/>
                        <a:t>No uses los elementos de cita para dar formato</a:t>
                      </a:r>
                      <a:r>
                        <a:rPr lang="es-AR" sz="2000" baseline="0" dirty="0"/>
                        <a:t> al texto. Un error muy común es utilizar la cita en bloque para dar sangría al texto.</a:t>
                      </a:r>
                      <a:endParaRPr lang="es-AR" sz="2000" dirty="0"/>
                    </a:p>
                  </a:txBody>
                  <a:tcPr/>
                </a:tc>
                <a:tc hMerge="1">
                  <a:txBody>
                    <a:bodyPr/>
                    <a:lstStyle/>
                    <a:p>
                      <a:endParaRPr lang="es-AR" sz="2000" dirty="0"/>
                    </a:p>
                  </a:txBody>
                  <a:tcPr/>
                </a:tc>
                <a:tc>
                  <a:txBody>
                    <a:bodyPr/>
                    <a:lstStyle/>
                    <a:p>
                      <a:r>
                        <a:rPr lang="es-AR" sz="2000" dirty="0"/>
                        <a:t>Utiliza para</a:t>
                      </a:r>
                      <a:r>
                        <a:rPr lang="es-AR" sz="2000" baseline="0" dirty="0"/>
                        <a:t> enfatizar una o varias palabras estos elementos estructurales en vez de usar las propiedades de las CSS “</a:t>
                      </a:r>
                      <a:r>
                        <a:rPr lang="es-AR" sz="2000" baseline="0" dirty="0" err="1"/>
                        <a:t>font-style:italic</a:t>
                      </a:r>
                      <a:r>
                        <a:rPr lang="es-AR" sz="2000" baseline="0" dirty="0"/>
                        <a:t>” o “</a:t>
                      </a:r>
                      <a:r>
                        <a:rPr lang="es-AR" sz="2000" baseline="0" dirty="0" err="1"/>
                        <a:t>font-weight:bold</a:t>
                      </a:r>
                      <a:r>
                        <a:rPr lang="es-AR" sz="2000" baseline="0" dirty="0"/>
                        <a:t>”</a:t>
                      </a:r>
                      <a:endParaRPr lang="es-AR" sz="2000" dirty="0"/>
                    </a:p>
                  </a:txBody>
                  <a:tcPr/>
                </a:tc>
                <a:extLst>
                  <a:ext uri="{0D108BD9-81ED-4DB2-BD59-A6C34878D82A}">
                    <a16:rowId xmlns:a16="http://schemas.microsoft.com/office/drawing/2014/main" val="2391438731"/>
                  </a:ext>
                </a:extLst>
              </a:tr>
            </a:tbl>
          </a:graphicData>
        </a:graphic>
      </p:graphicFrame>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73</a:t>
            </a:fld>
            <a:endParaRPr lang="es-ES" altLang="es-AR"/>
          </a:p>
        </p:txBody>
      </p:sp>
    </p:spTree>
    <p:extLst>
      <p:ext uri="{BB962C8B-B14F-4D97-AF65-F5344CB8AC3E}">
        <p14:creationId xmlns:p14="http://schemas.microsoft.com/office/powerpoint/2010/main" val="4250332789"/>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1 Título"/>
          <p:cNvSpPr>
            <a:spLocks noGrp="1"/>
          </p:cNvSpPr>
          <p:nvPr>
            <p:ph type="title"/>
          </p:nvPr>
        </p:nvSpPr>
        <p:spPr>
          <a:xfrm>
            <a:off x="457200" y="274638"/>
            <a:ext cx="8229600" cy="654050"/>
          </a:xfrm>
        </p:spPr>
        <p:txBody>
          <a:bodyPr/>
          <a:lstStyle/>
          <a:p>
            <a:r>
              <a:rPr lang="es-AR" altLang="es-AR" b="1"/>
              <a:t>Contenido accesible</a:t>
            </a:r>
          </a:p>
        </p:txBody>
      </p:sp>
      <p:sp>
        <p:nvSpPr>
          <p:cNvPr id="57347" name="2 Marcador de contenido"/>
          <p:cNvSpPr>
            <a:spLocks noGrp="1"/>
          </p:cNvSpPr>
          <p:nvPr>
            <p:ph idx="1"/>
          </p:nvPr>
        </p:nvSpPr>
        <p:spPr>
          <a:xfrm>
            <a:off x="430213" y="1916113"/>
            <a:ext cx="8229600" cy="4465215"/>
          </a:xfrm>
        </p:spPr>
        <p:txBody>
          <a:bodyPr/>
          <a:lstStyle/>
          <a:p>
            <a:pPr algn="just">
              <a:lnSpc>
                <a:spcPct val="90000"/>
              </a:lnSpc>
            </a:pPr>
            <a:r>
              <a:rPr lang="es-AR" dirty="0"/>
              <a:t>Marcado de idioma</a:t>
            </a:r>
          </a:p>
          <a:p>
            <a:pPr marL="0" indent="0" algn="just">
              <a:lnSpc>
                <a:spcPct val="90000"/>
              </a:lnSpc>
              <a:buNone/>
            </a:pPr>
            <a:endParaRPr lang="es-AR" dirty="0"/>
          </a:p>
          <a:p>
            <a:pPr lvl="1" algn="just">
              <a:lnSpc>
                <a:spcPct val="90000"/>
              </a:lnSpc>
            </a:pPr>
            <a:r>
              <a:rPr lang="es-AR" dirty="0"/>
              <a:t>Incrementa la legibilidad de un documento.</a:t>
            </a:r>
          </a:p>
          <a:p>
            <a:pPr marL="457200" lvl="1" indent="0" algn="just">
              <a:lnSpc>
                <a:spcPct val="90000"/>
              </a:lnSpc>
              <a:buNone/>
            </a:pPr>
            <a:endParaRPr lang="es-AR" dirty="0"/>
          </a:p>
          <a:p>
            <a:pPr lvl="1" algn="just">
              <a:lnSpc>
                <a:spcPct val="90000"/>
              </a:lnSpc>
            </a:pPr>
            <a:r>
              <a:rPr lang="es-AR" dirty="0"/>
              <a:t>¿Por qué es importante?</a:t>
            </a:r>
          </a:p>
          <a:p>
            <a:pPr marL="457200" lvl="1" indent="0" algn="just">
              <a:lnSpc>
                <a:spcPct val="90000"/>
              </a:lnSpc>
              <a:buNone/>
            </a:pPr>
            <a:endParaRPr lang="es-AR" dirty="0"/>
          </a:p>
          <a:p>
            <a:pPr marL="914400" lvl="2" indent="0" algn="just">
              <a:lnSpc>
                <a:spcPct val="90000"/>
              </a:lnSpc>
              <a:buNone/>
            </a:pPr>
            <a:r>
              <a:rPr lang="es-AR" dirty="0"/>
              <a:t>1. Facilita la lectura.</a:t>
            </a:r>
          </a:p>
          <a:p>
            <a:pPr lvl="3" algn="just">
              <a:lnSpc>
                <a:spcPct val="90000"/>
              </a:lnSpc>
            </a:pPr>
            <a:r>
              <a:rPr lang="es-AR" dirty="0"/>
              <a:t>Usuarios que leen el documento en braille.</a:t>
            </a:r>
          </a:p>
          <a:p>
            <a:pPr lvl="3" algn="just">
              <a:lnSpc>
                <a:spcPct val="90000"/>
              </a:lnSpc>
            </a:pPr>
            <a:r>
              <a:rPr lang="es-AR" dirty="0"/>
              <a:t>Usuarios que no saben idiomas.</a:t>
            </a:r>
          </a:p>
          <a:p>
            <a:pPr marL="1371600" lvl="3" indent="0" algn="just">
              <a:lnSpc>
                <a:spcPct val="90000"/>
              </a:lnSpc>
              <a:buNone/>
            </a:pPr>
            <a:endParaRPr lang="es-AR" dirty="0"/>
          </a:p>
          <a:p>
            <a:pPr marL="914400" lvl="2" indent="0" algn="just">
              <a:lnSpc>
                <a:spcPct val="90000"/>
              </a:lnSpc>
              <a:buNone/>
            </a:pPr>
            <a:r>
              <a:rPr lang="es-AR" dirty="0"/>
              <a:t>2. Motores de búsqueda identifican los contenidos en el idioma deseado.</a:t>
            </a:r>
          </a:p>
          <a:p>
            <a:pPr marL="457200">
              <a:lnSpc>
                <a:spcPct val="90000"/>
              </a:lnSpc>
            </a:pPr>
            <a:endParaRPr lang="es-AR" dirty="0"/>
          </a:p>
          <a:p>
            <a:pPr>
              <a:lnSpc>
                <a:spcPct val="90000"/>
              </a:lnSpc>
            </a:pPr>
            <a:endParaRPr lang="es-AR" dirty="0"/>
          </a:p>
        </p:txBody>
      </p:sp>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74</a:t>
            </a:fld>
            <a:endParaRPr lang="es-ES" altLang="es-AR"/>
          </a:p>
        </p:txBody>
      </p:sp>
    </p:spTree>
    <p:extLst>
      <p:ext uri="{BB962C8B-B14F-4D97-AF65-F5344CB8AC3E}">
        <p14:creationId xmlns:p14="http://schemas.microsoft.com/office/powerpoint/2010/main" val="676111979"/>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1 Título"/>
          <p:cNvSpPr>
            <a:spLocks noGrp="1"/>
          </p:cNvSpPr>
          <p:nvPr>
            <p:ph type="title"/>
          </p:nvPr>
        </p:nvSpPr>
        <p:spPr>
          <a:xfrm>
            <a:off x="457200" y="274638"/>
            <a:ext cx="8229600" cy="654050"/>
          </a:xfrm>
        </p:spPr>
        <p:txBody>
          <a:bodyPr/>
          <a:lstStyle/>
          <a:p>
            <a:r>
              <a:rPr lang="es-AR" altLang="es-AR" b="1"/>
              <a:t>Contenido accesible</a:t>
            </a:r>
          </a:p>
        </p:txBody>
      </p:sp>
      <p:sp>
        <p:nvSpPr>
          <p:cNvPr id="57347" name="2 Marcador de contenido"/>
          <p:cNvSpPr>
            <a:spLocks noGrp="1"/>
          </p:cNvSpPr>
          <p:nvPr>
            <p:ph idx="1"/>
          </p:nvPr>
        </p:nvSpPr>
        <p:spPr>
          <a:xfrm>
            <a:off x="430213" y="1916113"/>
            <a:ext cx="8229600" cy="4465215"/>
          </a:xfrm>
        </p:spPr>
        <p:txBody>
          <a:bodyPr/>
          <a:lstStyle/>
          <a:p>
            <a:pPr algn="just">
              <a:lnSpc>
                <a:spcPct val="90000"/>
              </a:lnSpc>
            </a:pPr>
            <a:r>
              <a:rPr lang="es-AR" dirty="0"/>
              <a:t>Marcado de idioma</a:t>
            </a:r>
          </a:p>
          <a:p>
            <a:pPr marL="0" indent="0" algn="just">
              <a:lnSpc>
                <a:spcPct val="90000"/>
              </a:lnSpc>
              <a:buNone/>
            </a:pPr>
            <a:endParaRPr lang="es-AR" dirty="0"/>
          </a:p>
          <a:p>
            <a:pPr lvl="1" algn="just">
              <a:lnSpc>
                <a:spcPct val="90000"/>
              </a:lnSpc>
            </a:pPr>
            <a:r>
              <a:rPr lang="es-AR" dirty="0"/>
              <a:t>¿Para qué sirve?</a:t>
            </a:r>
          </a:p>
          <a:p>
            <a:pPr marL="457200" lvl="1" indent="0" algn="just">
              <a:lnSpc>
                <a:spcPct val="90000"/>
              </a:lnSpc>
              <a:buNone/>
            </a:pPr>
            <a:endParaRPr lang="es-AR" dirty="0"/>
          </a:p>
          <a:p>
            <a:pPr lvl="2" algn="just">
              <a:lnSpc>
                <a:spcPct val="90000"/>
              </a:lnSpc>
            </a:pPr>
            <a:r>
              <a:rPr lang="es-AR" dirty="0"/>
              <a:t>Traducir automáticamente el texto de los botones.</a:t>
            </a:r>
          </a:p>
          <a:p>
            <a:pPr marL="914400" lvl="2" indent="0" algn="just">
              <a:lnSpc>
                <a:spcPct val="90000"/>
              </a:lnSpc>
              <a:buNone/>
            </a:pPr>
            <a:endParaRPr lang="es-AR" dirty="0"/>
          </a:p>
          <a:p>
            <a:pPr lvl="2" algn="just">
              <a:lnSpc>
                <a:spcPct val="90000"/>
              </a:lnSpc>
            </a:pPr>
            <a:r>
              <a:rPr lang="es-AR" dirty="0"/>
              <a:t>Cambiar la voz al pronunciar el texto.</a:t>
            </a:r>
          </a:p>
          <a:p>
            <a:pPr marL="914400" lvl="2" indent="0" algn="just">
              <a:lnSpc>
                <a:spcPct val="90000"/>
              </a:lnSpc>
              <a:buNone/>
            </a:pPr>
            <a:endParaRPr lang="es-AR" dirty="0"/>
          </a:p>
          <a:p>
            <a:pPr lvl="2" algn="just">
              <a:lnSpc>
                <a:spcPct val="90000"/>
              </a:lnSpc>
            </a:pPr>
            <a:r>
              <a:rPr lang="es-AR" dirty="0"/>
              <a:t>Aplicar la corrección ortográfica.</a:t>
            </a:r>
          </a:p>
          <a:p>
            <a:pPr marL="914400" lvl="2" indent="0" algn="just">
              <a:lnSpc>
                <a:spcPct val="90000"/>
              </a:lnSpc>
              <a:buNone/>
            </a:pPr>
            <a:endParaRPr lang="es-AR" dirty="0"/>
          </a:p>
          <a:p>
            <a:pPr lvl="2" algn="just">
              <a:lnSpc>
                <a:spcPct val="90000"/>
              </a:lnSpc>
            </a:pPr>
            <a:r>
              <a:rPr lang="es-AR" dirty="0"/>
              <a:t>Aplicar fuentes u otros estilos según corresponda.</a:t>
            </a:r>
          </a:p>
          <a:p>
            <a:pPr marL="457200">
              <a:lnSpc>
                <a:spcPct val="90000"/>
              </a:lnSpc>
            </a:pPr>
            <a:endParaRPr lang="es-AR" dirty="0"/>
          </a:p>
          <a:p>
            <a:pPr>
              <a:lnSpc>
                <a:spcPct val="90000"/>
              </a:lnSpc>
            </a:pPr>
            <a:endParaRPr lang="es-AR" dirty="0"/>
          </a:p>
        </p:txBody>
      </p:sp>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75</a:t>
            </a:fld>
            <a:endParaRPr lang="es-ES" altLang="es-AR"/>
          </a:p>
        </p:txBody>
      </p:sp>
    </p:spTree>
    <p:extLst>
      <p:ext uri="{BB962C8B-B14F-4D97-AF65-F5344CB8AC3E}">
        <p14:creationId xmlns:p14="http://schemas.microsoft.com/office/powerpoint/2010/main" val="3599956558"/>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1 Título"/>
          <p:cNvSpPr>
            <a:spLocks noGrp="1"/>
          </p:cNvSpPr>
          <p:nvPr>
            <p:ph type="title"/>
          </p:nvPr>
        </p:nvSpPr>
        <p:spPr>
          <a:xfrm>
            <a:off x="457200" y="274638"/>
            <a:ext cx="8229600" cy="654050"/>
          </a:xfrm>
        </p:spPr>
        <p:txBody>
          <a:bodyPr/>
          <a:lstStyle/>
          <a:p>
            <a:r>
              <a:rPr lang="es-AR" altLang="es-AR" b="1"/>
              <a:t>Contenido accesible</a:t>
            </a:r>
          </a:p>
        </p:txBody>
      </p:sp>
      <p:sp>
        <p:nvSpPr>
          <p:cNvPr id="57347" name="2 Marcador de contenido"/>
          <p:cNvSpPr>
            <a:spLocks noGrp="1"/>
          </p:cNvSpPr>
          <p:nvPr>
            <p:ph idx="1"/>
          </p:nvPr>
        </p:nvSpPr>
        <p:spPr>
          <a:xfrm>
            <a:off x="430213" y="1916113"/>
            <a:ext cx="8229600" cy="1224855"/>
          </a:xfrm>
        </p:spPr>
        <p:txBody>
          <a:bodyPr/>
          <a:lstStyle/>
          <a:p>
            <a:pPr algn="just">
              <a:lnSpc>
                <a:spcPct val="90000"/>
              </a:lnSpc>
            </a:pPr>
            <a:r>
              <a:rPr lang="es-AR" dirty="0"/>
              <a:t>Marcado de idioma</a:t>
            </a:r>
          </a:p>
          <a:p>
            <a:pPr marL="0" indent="0" algn="just">
              <a:lnSpc>
                <a:spcPct val="90000"/>
              </a:lnSpc>
              <a:buNone/>
            </a:pPr>
            <a:endParaRPr lang="es-AR" dirty="0"/>
          </a:p>
          <a:p>
            <a:pPr lvl="1" algn="just">
              <a:lnSpc>
                <a:spcPct val="90000"/>
              </a:lnSpc>
            </a:pPr>
            <a:r>
              <a:rPr lang="es-AR" dirty="0"/>
              <a:t>Ejemplo: Traducir automáticamente el texto de los botones.</a:t>
            </a:r>
          </a:p>
          <a:p>
            <a:pPr marL="914400" lvl="2" indent="0" algn="just">
              <a:lnSpc>
                <a:spcPct val="90000"/>
              </a:lnSpc>
              <a:buNone/>
            </a:pPr>
            <a:endParaRPr lang="es-AR" dirty="0"/>
          </a:p>
          <a:p>
            <a:pPr marL="114300" indent="0">
              <a:lnSpc>
                <a:spcPct val="90000"/>
              </a:lnSpc>
              <a:buNone/>
            </a:pPr>
            <a:endParaRPr lang="es-AR" dirty="0"/>
          </a:p>
          <a:p>
            <a:pPr>
              <a:lnSpc>
                <a:spcPct val="90000"/>
              </a:lnSpc>
            </a:pPr>
            <a:endParaRPr lang="es-AR" dirty="0"/>
          </a:p>
        </p:txBody>
      </p:sp>
      <p:sp>
        <p:nvSpPr>
          <p:cNvPr id="4" name="4 Bisel"/>
          <p:cNvSpPr/>
          <p:nvPr/>
        </p:nvSpPr>
        <p:spPr>
          <a:xfrm>
            <a:off x="3059832" y="3662228"/>
            <a:ext cx="1290918" cy="466165"/>
          </a:xfrm>
          <a:prstGeom prst="bevel">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AR" sz="2000" b="1" dirty="0"/>
              <a:t>Help</a:t>
            </a:r>
          </a:p>
        </p:txBody>
      </p:sp>
      <p:sp>
        <p:nvSpPr>
          <p:cNvPr id="5" name="5 Bisel"/>
          <p:cNvSpPr/>
          <p:nvPr/>
        </p:nvSpPr>
        <p:spPr>
          <a:xfrm>
            <a:off x="4870703" y="3680158"/>
            <a:ext cx="1290918" cy="466165"/>
          </a:xfrm>
          <a:prstGeom prst="bevel">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AR" sz="2000" b="1" dirty="0"/>
              <a:t>Ayuda</a:t>
            </a:r>
          </a:p>
        </p:txBody>
      </p:sp>
      <p:sp>
        <p:nvSpPr>
          <p:cNvPr id="6" name="6 CuadroTexto"/>
          <p:cNvSpPr txBox="1"/>
          <p:nvPr/>
        </p:nvSpPr>
        <p:spPr>
          <a:xfrm>
            <a:off x="2915816" y="4841865"/>
            <a:ext cx="1605844" cy="1323439"/>
          </a:xfrm>
          <a:prstGeom prst="rect">
            <a:avLst/>
          </a:prstGeom>
          <a:noFill/>
        </p:spPr>
        <p:txBody>
          <a:bodyPr wrap="square" rtlCol="0">
            <a:spAutoFit/>
          </a:bodyPr>
          <a:lstStyle/>
          <a:p>
            <a:pPr algn="ctr"/>
            <a:r>
              <a:rPr lang="es-AR" sz="2000" dirty="0"/>
              <a:t>Sin marcar el idioma del documento</a:t>
            </a:r>
          </a:p>
        </p:txBody>
      </p:sp>
      <p:sp>
        <p:nvSpPr>
          <p:cNvPr id="7" name="7 Flecha derecha"/>
          <p:cNvSpPr/>
          <p:nvPr/>
        </p:nvSpPr>
        <p:spPr>
          <a:xfrm>
            <a:off x="4476255" y="3841523"/>
            <a:ext cx="277906" cy="14343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8" name="9 CuadroTexto"/>
          <p:cNvSpPr txBox="1"/>
          <p:nvPr/>
        </p:nvSpPr>
        <p:spPr>
          <a:xfrm>
            <a:off x="4843861" y="4773849"/>
            <a:ext cx="2104403" cy="400110"/>
          </a:xfrm>
          <a:prstGeom prst="rect">
            <a:avLst/>
          </a:prstGeom>
          <a:noFill/>
        </p:spPr>
        <p:txBody>
          <a:bodyPr wrap="square" rtlCol="0">
            <a:spAutoFit/>
          </a:bodyPr>
          <a:lstStyle/>
          <a:p>
            <a:pPr algn="ctr"/>
            <a:r>
              <a:rPr lang="es-AR" sz="2000" dirty="0"/>
              <a:t>&lt;</a:t>
            </a:r>
            <a:r>
              <a:rPr lang="es-AR" sz="2000" dirty="0" err="1"/>
              <a:t>html</a:t>
            </a:r>
            <a:r>
              <a:rPr lang="es-AR" sz="2000" dirty="0"/>
              <a:t> </a:t>
            </a:r>
            <a:r>
              <a:rPr lang="es-AR" sz="2000" dirty="0" err="1"/>
              <a:t>lang</a:t>
            </a:r>
            <a:r>
              <a:rPr lang="es-AR" sz="2000" dirty="0"/>
              <a:t>=“es”&gt;</a:t>
            </a:r>
          </a:p>
        </p:txBody>
      </p:sp>
      <p:sp>
        <p:nvSpPr>
          <p:cNvPr id="9" name="10 Flecha arriba"/>
          <p:cNvSpPr/>
          <p:nvPr/>
        </p:nvSpPr>
        <p:spPr>
          <a:xfrm>
            <a:off x="3678397" y="4235969"/>
            <a:ext cx="71717" cy="546847"/>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10" name="11 Flecha arriba"/>
          <p:cNvSpPr/>
          <p:nvPr/>
        </p:nvSpPr>
        <p:spPr>
          <a:xfrm>
            <a:off x="5534147" y="4253894"/>
            <a:ext cx="71717" cy="546847"/>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76</a:t>
            </a:fld>
            <a:endParaRPr lang="es-ES" altLang="es-AR"/>
          </a:p>
        </p:txBody>
      </p:sp>
    </p:spTree>
    <p:extLst>
      <p:ext uri="{BB962C8B-B14F-4D97-AF65-F5344CB8AC3E}">
        <p14:creationId xmlns:p14="http://schemas.microsoft.com/office/powerpoint/2010/main" val="3828346623"/>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1 Título"/>
          <p:cNvSpPr>
            <a:spLocks noGrp="1"/>
          </p:cNvSpPr>
          <p:nvPr>
            <p:ph type="title"/>
          </p:nvPr>
        </p:nvSpPr>
        <p:spPr>
          <a:xfrm>
            <a:off x="457200" y="274638"/>
            <a:ext cx="8229600" cy="654050"/>
          </a:xfrm>
        </p:spPr>
        <p:txBody>
          <a:bodyPr/>
          <a:lstStyle/>
          <a:p>
            <a:r>
              <a:rPr lang="es-AR" altLang="es-AR" b="1"/>
              <a:t>Contenido accesible</a:t>
            </a:r>
          </a:p>
        </p:txBody>
      </p:sp>
      <p:sp>
        <p:nvSpPr>
          <p:cNvPr id="57347" name="2 Marcador de contenido"/>
          <p:cNvSpPr>
            <a:spLocks noGrp="1"/>
          </p:cNvSpPr>
          <p:nvPr>
            <p:ph idx="1"/>
          </p:nvPr>
        </p:nvSpPr>
        <p:spPr>
          <a:xfrm>
            <a:off x="430213" y="1916113"/>
            <a:ext cx="8229600" cy="4465215"/>
          </a:xfrm>
        </p:spPr>
        <p:txBody>
          <a:bodyPr/>
          <a:lstStyle/>
          <a:p>
            <a:pPr algn="just">
              <a:lnSpc>
                <a:spcPct val="90000"/>
              </a:lnSpc>
            </a:pPr>
            <a:r>
              <a:rPr lang="es-AR" dirty="0"/>
              <a:t>Marcado de idioma</a:t>
            </a:r>
          </a:p>
          <a:p>
            <a:pPr marL="0" indent="0" algn="just">
              <a:lnSpc>
                <a:spcPct val="90000"/>
              </a:lnSpc>
              <a:buNone/>
            </a:pPr>
            <a:endParaRPr lang="es-AR" dirty="0"/>
          </a:p>
          <a:p>
            <a:pPr lvl="1" algn="just">
              <a:lnSpc>
                <a:spcPct val="90000"/>
              </a:lnSpc>
            </a:pPr>
            <a:r>
              <a:rPr lang="es-AR" dirty="0"/>
              <a:t>¿Qué marcamos como idioma?</a:t>
            </a:r>
          </a:p>
          <a:p>
            <a:pPr lvl="1" algn="just">
              <a:lnSpc>
                <a:spcPct val="90000"/>
              </a:lnSpc>
            </a:pPr>
            <a:endParaRPr lang="es-AR" dirty="0"/>
          </a:p>
          <a:p>
            <a:pPr lvl="2" algn="just">
              <a:lnSpc>
                <a:spcPct val="90000"/>
              </a:lnSpc>
            </a:pPr>
            <a:r>
              <a:rPr lang="es-AR" b="1" dirty="0"/>
              <a:t>Idioma de la página</a:t>
            </a:r>
            <a:r>
              <a:rPr lang="es-AR" dirty="0"/>
              <a:t>, al inicio del documento [Nivel A].</a:t>
            </a:r>
          </a:p>
          <a:p>
            <a:pPr lvl="2" algn="just">
              <a:lnSpc>
                <a:spcPct val="90000"/>
              </a:lnSpc>
            </a:pPr>
            <a:endParaRPr lang="es-AR" dirty="0"/>
          </a:p>
          <a:p>
            <a:pPr lvl="3">
              <a:lnSpc>
                <a:spcPct val="90000"/>
              </a:lnSpc>
            </a:pPr>
            <a:r>
              <a:rPr lang="es-AR" b="1" dirty="0"/>
              <a:t>3.1.1 Idioma de la página. [Nivel A]</a:t>
            </a:r>
          </a:p>
          <a:p>
            <a:pPr lvl="2">
              <a:lnSpc>
                <a:spcPct val="90000"/>
              </a:lnSpc>
              <a:buNone/>
            </a:pPr>
            <a:r>
              <a:rPr lang="es-AR" dirty="0"/>
              <a:t>	El idioma predeterminado de cada página web puede ser determinado por software.</a:t>
            </a:r>
          </a:p>
          <a:p>
            <a:pPr marL="1371600" lvl="3" indent="0" algn="just">
              <a:lnSpc>
                <a:spcPct val="90000"/>
              </a:lnSpc>
              <a:buNone/>
            </a:pPr>
            <a:endParaRPr lang="es-AR" dirty="0"/>
          </a:p>
          <a:p>
            <a:pPr lvl="2" algn="just">
              <a:lnSpc>
                <a:spcPct val="90000"/>
              </a:lnSpc>
            </a:pPr>
            <a:r>
              <a:rPr lang="es-AR" b="1" dirty="0"/>
              <a:t>Idioma de las partes</a:t>
            </a:r>
            <a:r>
              <a:rPr lang="es-AR" dirty="0"/>
              <a:t>, cualquier cambio de idioma a lo largo del texto [Nivel AA].</a:t>
            </a:r>
          </a:p>
          <a:p>
            <a:pPr marL="457200">
              <a:lnSpc>
                <a:spcPct val="90000"/>
              </a:lnSpc>
            </a:pPr>
            <a:endParaRPr lang="es-AR" dirty="0"/>
          </a:p>
          <a:p>
            <a:pPr>
              <a:lnSpc>
                <a:spcPct val="90000"/>
              </a:lnSpc>
            </a:pPr>
            <a:endParaRPr lang="es-AR" dirty="0"/>
          </a:p>
        </p:txBody>
      </p:sp>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77</a:t>
            </a:fld>
            <a:endParaRPr lang="es-ES" altLang="es-AR"/>
          </a:p>
        </p:txBody>
      </p:sp>
    </p:spTree>
    <p:extLst>
      <p:ext uri="{BB962C8B-B14F-4D97-AF65-F5344CB8AC3E}">
        <p14:creationId xmlns:p14="http://schemas.microsoft.com/office/powerpoint/2010/main" val="3494213570"/>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1 Título"/>
          <p:cNvSpPr>
            <a:spLocks noGrp="1"/>
          </p:cNvSpPr>
          <p:nvPr>
            <p:ph type="title"/>
          </p:nvPr>
        </p:nvSpPr>
        <p:spPr>
          <a:xfrm>
            <a:off x="457200" y="274638"/>
            <a:ext cx="8229600" cy="654050"/>
          </a:xfrm>
        </p:spPr>
        <p:txBody>
          <a:bodyPr/>
          <a:lstStyle/>
          <a:p>
            <a:r>
              <a:rPr lang="es-AR" altLang="es-AR" b="1"/>
              <a:t>Contenido accesible</a:t>
            </a:r>
          </a:p>
        </p:txBody>
      </p:sp>
      <p:sp>
        <p:nvSpPr>
          <p:cNvPr id="57347" name="2 Marcador de contenido"/>
          <p:cNvSpPr>
            <a:spLocks noGrp="1"/>
          </p:cNvSpPr>
          <p:nvPr>
            <p:ph idx="1"/>
          </p:nvPr>
        </p:nvSpPr>
        <p:spPr>
          <a:xfrm>
            <a:off x="430213" y="1916113"/>
            <a:ext cx="8229600" cy="2016943"/>
          </a:xfrm>
        </p:spPr>
        <p:txBody>
          <a:bodyPr/>
          <a:lstStyle/>
          <a:p>
            <a:pPr>
              <a:lnSpc>
                <a:spcPct val="90000"/>
              </a:lnSpc>
            </a:pPr>
            <a:r>
              <a:rPr lang="es-AR" dirty="0"/>
              <a:t>Marcado de idioma</a:t>
            </a:r>
          </a:p>
          <a:p>
            <a:pPr marL="0" indent="0">
              <a:lnSpc>
                <a:spcPct val="90000"/>
              </a:lnSpc>
              <a:buNone/>
            </a:pPr>
            <a:endParaRPr lang="es-AR" dirty="0"/>
          </a:p>
          <a:p>
            <a:pPr lvl="1">
              <a:lnSpc>
                <a:spcPct val="90000"/>
              </a:lnSpc>
            </a:pPr>
            <a:r>
              <a:rPr lang="es-AR" dirty="0"/>
              <a:t>Idioma de la página</a:t>
            </a:r>
          </a:p>
          <a:p>
            <a:pPr lvl="2">
              <a:lnSpc>
                <a:spcPct val="90000"/>
              </a:lnSpc>
              <a:buNone/>
            </a:pPr>
            <a:endParaRPr lang="es-AR" dirty="0"/>
          </a:p>
          <a:p>
            <a:pPr lvl="3">
              <a:lnSpc>
                <a:spcPct val="90000"/>
              </a:lnSpc>
            </a:pPr>
            <a:r>
              <a:rPr lang="es-AR" b="1" dirty="0"/>
              <a:t>Técnica 57: Usar atributos de idioma en el elemento HTML.</a:t>
            </a:r>
            <a:endParaRPr lang="es-AR" dirty="0"/>
          </a:p>
          <a:p>
            <a:pPr>
              <a:lnSpc>
                <a:spcPct val="90000"/>
              </a:lnSpc>
            </a:pPr>
            <a:endParaRPr lang="es-AR" dirty="0"/>
          </a:p>
        </p:txBody>
      </p:sp>
      <p:sp>
        <p:nvSpPr>
          <p:cNvPr id="4" name="4 CuadroTexto"/>
          <p:cNvSpPr txBox="1"/>
          <p:nvPr/>
        </p:nvSpPr>
        <p:spPr>
          <a:xfrm>
            <a:off x="971600" y="4005064"/>
            <a:ext cx="880240" cy="400110"/>
          </a:xfrm>
          <a:prstGeom prst="rect">
            <a:avLst/>
          </a:prstGeom>
          <a:noFill/>
          <a:ln>
            <a:solidFill>
              <a:schemeClr val="accent1"/>
            </a:solidFill>
          </a:ln>
        </p:spPr>
        <p:txBody>
          <a:bodyPr wrap="square" rtlCol="0">
            <a:spAutoFit/>
          </a:bodyPr>
          <a:lstStyle/>
          <a:p>
            <a:r>
              <a:rPr lang="es-AR" sz="2000" b="1" dirty="0" err="1">
                <a:solidFill>
                  <a:srgbClr val="00B050"/>
                </a:solidFill>
              </a:rPr>
              <a:t>lang</a:t>
            </a:r>
            <a:endParaRPr lang="es-AR" sz="2000" b="1" dirty="0">
              <a:solidFill>
                <a:srgbClr val="00B050"/>
              </a:solidFill>
            </a:endParaRPr>
          </a:p>
        </p:txBody>
      </p:sp>
      <p:sp>
        <p:nvSpPr>
          <p:cNvPr id="5" name="5 CuadroTexto"/>
          <p:cNvSpPr txBox="1"/>
          <p:nvPr/>
        </p:nvSpPr>
        <p:spPr>
          <a:xfrm>
            <a:off x="2267744" y="4014029"/>
            <a:ext cx="1332907" cy="400110"/>
          </a:xfrm>
          <a:prstGeom prst="rect">
            <a:avLst/>
          </a:prstGeom>
          <a:noFill/>
          <a:ln>
            <a:solidFill>
              <a:schemeClr val="accent1"/>
            </a:solidFill>
          </a:ln>
        </p:spPr>
        <p:txBody>
          <a:bodyPr wrap="square" rtlCol="0">
            <a:spAutoFit/>
          </a:bodyPr>
          <a:lstStyle/>
          <a:p>
            <a:r>
              <a:rPr lang="es-AR" sz="2000" b="1" dirty="0" err="1">
                <a:solidFill>
                  <a:srgbClr val="0070C0"/>
                </a:solidFill>
              </a:rPr>
              <a:t>xml:lang</a:t>
            </a:r>
            <a:endParaRPr lang="es-AR" sz="2000" b="1" dirty="0">
              <a:solidFill>
                <a:srgbClr val="0070C0"/>
              </a:solidFill>
            </a:endParaRPr>
          </a:p>
        </p:txBody>
      </p:sp>
      <p:sp>
        <p:nvSpPr>
          <p:cNvPr id="6" name="6 CuadroTexto"/>
          <p:cNvSpPr txBox="1"/>
          <p:nvPr/>
        </p:nvSpPr>
        <p:spPr>
          <a:xfrm>
            <a:off x="4355976" y="4014030"/>
            <a:ext cx="4136032" cy="400110"/>
          </a:xfrm>
          <a:prstGeom prst="rect">
            <a:avLst/>
          </a:prstGeom>
          <a:noFill/>
        </p:spPr>
        <p:txBody>
          <a:bodyPr wrap="square" rtlCol="0">
            <a:spAutoFit/>
          </a:bodyPr>
          <a:lstStyle/>
          <a:p>
            <a:r>
              <a:rPr lang="es-AR" sz="2000" dirty="0"/>
              <a:t>Depende de la gramática utilizada</a:t>
            </a:r>
          </a:p>
        </p:txBody>
      </p:sp>
      <p:sp>
        <p:nvSpPr>
          <p:cNvPr id="7" name="7 Cerrar llave"/>
          <p:cNvSpPr/>
          <p:nvPr/>
        </p:nvSpPr>
        <p:spPr>
          <a:xfrm>
            <a:off x="3923928" y="4005064"/>
            <a:ext cx="202184" cy="601816"/>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s-AR" sz="2000"/>
          </a:p>
        </p:txBody>
      </p:sp>
      <p:graphicFrame>
        <p:nvGraphicFramePr>
          <p:cNvPr id="8" name="9 Tabla"/>
          <p:cNvGraphicFramePr>
            <a:graphicFrameLocks noGrp="1"/>
          </p:cNvGraphicFramePr>
          <p:nvPr>
            <p:extLst>
              <p:ext uri="{D42A27DB-BD31-4B8C-83A1-F6EECF244321}">
                <p14:modId xmlns:p14="http://schemas.microsoft.com/office/powerpoint/2010/main" val="447435833"/>
              </p:ext>
            </p:extLst>
          </p:nvPr>
        </p:nvGraphicFramePr>
        <p:xfrm>
          <a:off x="994549" y="4687853"/>
          <a:ext cx="7571183" cy="1493520"/>
        </p:xfrm>
        <a:graphic>
          <a:graphicData uri="http://schemas.openxmlformats.org/drawingml/2006/table">
            <a:tbl>
              <a:tblPr firstRow="1" bandRow="1">
                <a:tableStyleId>{5C22544A-7EE6-4342-B048-85BDC9FD1C3A}</a:tableStyleId>
              </a:tblPr>
              <a:tblGrid>
                <a:gridCol w="3219989">
                  <a:extLst>
                    <a:ext uri="{9D8B030D-6E8A-4147-A177-3AD203B41FA5}">
                      <a16:colId xmlns:a16="http://schemas.microsoft.com/office/drawing/2014/main" val="20000"/>
                    </a:ext>
                  </a:extLst>
                </a:gridCol>
                <a:gridCol w="4351194">
                  <a:extLst>
                    <a:ext uri="{9D8B030D-6E8A-4147-A177-3AD203B41FA5}">
                      <a16:colId xmlns:a16="http://schemas.microsoft.com/office/drawing/2014/main" val="20001"/>
                    </a:ext>
                  </a:extLst>
                </a:gridCol>
              </a:tblGrid>
              <a:tr h="311905">
                <a:tc>
                  <a:txBody>
                    <a:bodyPr/>
                    <a:lstStyle/>
                    <a:p>
                      <a:r>
                        <a:rPr lang="es-AR" sz="1600" b="1" dirty="0">
                          <a:solidFill>
                            <a:schemeClr val="tx1"/>
                          </a:solidFill>
                        </a:rPr>
                        <a:t>Gramática HTML 4.01</a:t>
                      </a:r>
                      <a:r>
                        <a:rPr lang="es-AR" sz="1600" b="1" baseline="0" dirty="0">
                          <a:solidFill>
                            <a:schemeClr val="tx1"/>
                          </a:solidFill>
                        </a:rPr>
                        <a:t> y HTML5</a:t>
                      </a:r>
                      <a:endParaRPr lang="es-AR" sz="1600" b="1" dirty="0">
                        <a:solidFill>
                          <a:schemeClr val="tx1"/>
                        </a:solidFill>
                      </a:endParaRPr>
                    </a:p>
                  </a:txBody>
                  <a:tcPr>
                    <a:solidFill>
                      <a:schemeClr val="accent1">
                        <a:lumMod val="20000"/>
                        <a:lumOff val="80000"/>
                      </a:schemeClr>
                    </a:solidFill>
                  </a:tcPr>
                </a:tc>
                <a:tc>
                  <a:txBody>
                    <a:bodyPr/>
                    <a:lstStyle/>
                    <a:p>
                      <a:r>
                        <a:rPr lang="es-AR" sz="1600" b="0" dirty="0">
                          <a:solidFill>
                            <a:schemeClr val="tx1"/>
                          </a:solidFill>
                        </a:rPr>
                        <a:t>&lt;</a:t>
                      </a:r>
                      <a:r>
                        <a:rPr lang="es-AR" sz="1600" b="0" dirty="0" err="1">
                          <a:solidFill>
                            <a:schemeClr val="tx1"/>
                          </a:solidFill>
                        </a:rPr>
                        <a:t>html</a:t>
                      </a:r>
                      <a:r>
                        <a:rPr lang="es-AR" sz="1600" b="0" baseline="0" dirty="0">
                          <a:solidFill>
                            <a:schemeClr val="tx1"/>
                          </a:solidFill>
                        </a:rPr>
                        <a:t> </a:t>
                      </a:r>
                      <a:r>
                        <a:rPr lang="es-AR" sz="1600" b="1" baseline="0" dirty="0" err="1">
                          <a:solidFill>
                            <a:srgbClr val="00B050"/>
                          </a:solidFill>
                        </a:rPr>
                        <a:t>lang</a:t>
                      </a:r>
                      <a:r>
                        <a:rPr lang="es-AR" sz="1600" b="1" baseline="0" dirty="0">
                          <a:solidFill>
                            <a:srgbClr val="00B050"/>
                          </a:solidFill>
                        </a:rPr>
                        <a:t>=“es”</a:t>
                      </a:r>
                      <a:r>
                        <a:rPr lang="es-AR" sz="1600" b="0" baseline="0" dirty="0">
                          <a:solidFill>
                            <a:schemeClr val="tx1"/>
                          </a:solidFill>
                        </a:rPr>
                        <a:t>&gt;</a:t>
                      </a:r>
                      <a:endParaRPr lang="es-AR" sz="1600" b="0" dirty="0">
                        <a:solidFill>
                          <a:schemeClr val="tx1"/>
                        </a:solidFill>
                      </a:endParaRPr>
                    </a:p>
                  </a:txBody>
                  <a:tcPr>
                    <a:solidFill>
                      <a:schemeClr val="accent1">
                        <a:lumMod val="20000"/>
                        <a:lumOff val="80000"/>
                      </a:schemeClr>
                    </a:solidFill>
                  </a:tcPr>
                </a:tc>
                <a:extLst>
                  <a:ext uri="{0D108BD9-81ED-4DB2-BD59-A6C34878D82A}">
                    <a16:rowId xmlns:a16="http://schemas.microsoft.com/office/drawing/2014/main" val="10000"/>
                  </a:ext>
                </a:extLst>
              </a:tr>
              <a:tr h="311905">
                <a:tc>
                  <a:txBody>
                    <a:bodyPr/>
                    <a:lstStyle/>
                    <a:p>
                      <a:r>
                        <a:rPr lang="es-AR" sz="1600" b="1" dirty="0">
                          <a:solidFill>
                            <a:schemeClr val="tx1"/>
                          </a:solidFill>
                        </a:rPr>
                        <a:t>Gramática</a:t>
                      </a:r>
                      <a:r>
                        <a:rPr lang="es-AR" sz="1600" b="1" baseline="0" dirty="0">
                          <a:solidFill>
                            <a:schemeClr val="tx1"/>
                          </a:solidFill>
                        </a:rPr>
                        <a:t> XHTML 1.1 y XHTML 1.0 servido como XML</a:t>
                      </a:r>
                      <a:endParaRPr lang="es-AR" sz="1600" b="1" dirty="0">
                        <a:solidFill>
                          <a:schemeClr val="tx1"/>
                        </a:solidFill>
                      </a:endParaRPr>
                    </a:p>
                  </a:txBody>
                  <a:tcPr/>
                </a:tc>
                <a:tc>
                  <a:txBody>
                    <a:bodyPr/>
                    <a:lstStyle/>
                    <a:p>
                      <a:r>
                        <a:rPr lang="es-AR" sz="1600" b="0" dirty="0">
                          <a:solidFill>
                            <a:schemeClr val="tx1"/>
                          </a:solidFill>
                        </a:rPr>
                        <a:t>&lt;</a:t>
                      </a:r>
                      <a:r>
                        <a:rPr lang="es-AR" sz="1600" b="0" dirty="0" err="1">
                          <a:solidFill>
                            <a:schemeClr val="tx1"/>
                          </a:solidFill>
                        </a:rPr>
                        <a:t>html</a:t>
                      </a:r>
                      <a:r>
                        <a:rPr lang="es-AR" sz="1600" b="0" baseline="0" dirty="0">
                          <a:solidFill>
                            <a:schemeClr val="tx1"/>
                          </a:solidFill>
                        </a:rPr>
                        <a:t> </a:t>
                      </a:r>
                      <a:r>
                        <a:rPr lang="es-AR" sz="1600" b="1" baseline="0" dirty="0" err="1">
                          <a:solidFill>
                            <a:srgbClr val="0070C0"/>
                          </a:solidFill>
                        </a:rPr>
                        <a:t>xml:lang</a:t>
                      </a:r>
                      <a:r>
                        <a:rPr lang="es-AR" sz="1600" b="1" baseline="0" dirty="0">
                          <a:solidFill>
                            <a:srgbClr val="0070C0"/>
                          </a:solidFill>
                        </a:rPr>
                        <a:t>=“es”</a:t>
                      </a:r>
                      <a:r>
                        <a:rPr lang="es-AR" sz="1600" b="1" baseline="0" dirty="0">
                          <a:solidFill>
                            <a:srgbClr val="FFC000"/>
                          </a:solidFill>
                        </a:rPr>
                        <a:t> </a:t>
                      </a:r>
                      <a:r>
                        <a:rPr lang="es-AR" sz="1600" b="0" baseline="0" dirty="0" err="1">
                          <a:solidFill>
                            <a:schemeClr val="tx1"/>
                          </a:solidFill>
                        </a:rPr>
                        <a:t>xmlns</a:t>
                      </a:r>
                      <a:r>
                        <a:rPr lang="es-AR" sz="1600" b="0" baseline="0" dirty="0">
                          <a:solidFill>
                            <a:schemeClr val="tx1"/>
                          </a:solidFill>
                        </a:rPr>
                        <a:t>=“http://www.w3.org/1999/xhtml&gt;</a:t>
                      </a:r>
                      <a:endParaRPr lang="es-AR" sz="1600" b="0" dirty="0">
                        <a:solidFill>
                          <a:schemeClr val="tx1"/>
                        </a:solidFill>
                      </a:endParaRPr>
                    </a:p>
                  </a:txBody>
                  <a:tcPr/>
                </a:tc>
                <a:extLst>
                  <a:ext uri="{0D108BD9-81ED-4DB2-BD59-A6C34878D82A}">
                    <a16:rowId xmlns:a16="http://schemas.microsoft.com/office/drawing/2014/main" val="10001"/>
                  </a:ext>
                </a:extLst>
              </a:tr>
              <a:tr h="311905">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s-AR" sz="1600" b="1" dirty="0">
                          <a:solidFill>
                            <a:schemeClr val="tx1"/>
                          </a:solidFill>
                        </a:rPr>
                        <a:t>Gramática</a:t>
                      </a:r>
                      <a:r>
                        <a:rPr lang="es-AR" sz="1600" b="1" baseline="0" dirty="0">
                          <a:solidFill>
                            <a:schemeClr val="tx1"/>
                          </a:solidFill>
                        </a:rPr>
                        <a:t> XHTML 1.0 servido como </a:t>
                      </a:r>
                      <a:r>
                        <a:rPr lang="es-AR" sz="1600" b="1" baseline="0" dirty="0" err="1">
                          <a:solidFill>
                            <a:schemeClr val="tx1"/>
                          </a:solidFill>
                        </a:rPr>
                        <a:t>text</a:t>
                      </a:r>
                      <a:r>
                        <a:rPr lang="es-AR" sz="1600" b="1" baseline="0" dirty="0">
                          <a:solidFill>
                            <a:schemeClr val="tx1"/>
                          </a:solidFill>
                        </a:rPr>
                        <a:t>/</a:t>
                      </a:r>
                      <a:r>
                        <a:rPr lang="es-AR" sz="1600" b="1" baseline="0" dirty="0" err="1">
                          <a:solidFill>
                            <a:schemeClr val="tx1"/>
                          </a:solidFill>
                        </a:rPr>
                        <a:t>html</a:t>
                      </a:r>
                      <a:endParaRPr lang="es-AR" sz="1600" b="1" dirty="0">
                        <a:solidFill>
                          <a:schemeClr val="tx1"/>
                        </a:solidFill>
                      </a:endParaRPr>
                    </a:p>
                  </a:txBody>
                  <a:tcPr/>
                </a:tc>
                <a:tc>
                  <a:txBody>
                    <a:bodyPr/>
                    <a:lstStyle/>
                    <a:p>
                      <a:r>
                        <a:rPr lang="es-AR" sz="1600" b="0" dirty="0">
                          <a:solidFill>
                            <a:schemeClr val="tx1"/>
                          </a:solidFill>
                        </a:rPr>
                        <a:t>&lt;</a:t>
                      </a:r>
                      <a:r>
                        <a:rPr lang="es-AR" sz="1600" b="0" dirty="0" err="1">
                          <a:solidFill>
                            <a:schemeClr val="tx1"/>
                          </a:solidFill>
                        </a:rPr>
                        <a:t>html</a:t>
                      </a:r>
                      <a:r>
                        <a:rPr lang="es-AR" sz="1600" b="0" dirty="0">
                          <a:solidFill>
                            <a:schemeClr val="tx1"/>
                          </a:solidFill>
                        </a:rPr>
                        <a:t> </a:t>
                      </a:r>
                      <a:r>
                        <a:rPr lang="es-AR" sz="1600" b="1" dirty="0" err="1">
                          <a:solidFill>
                            <a:srgbClr val="00B050"/>
                          </a:solidFill>
                        </a:rPr>
                        <a:t>lang</a:t>
                      </a:r>
                      <a:r>
                        <a:rPr lang="es-AR" sz="1600" b="1" dirty="0">
                          <a:solidFill>
                            <a:srgbClr val="00B050"/>
                          </a:solidFill>
                        </a:rPr>
                        <a:t>=“es” </a:t>
                      </a:r>
                      <a:r>
                        <a:rPr lang="es-AR" sz="1600" b="1" dirty="0" err="1">
                          <a:solidFill>
                            <a:srgbClr val="0070C0"/>
                          </a:solidFill>
                        </a:rPr>
                        <a:t>xml:lang</a:t>
                      </a:r>
                      <a:r>
                        <a:rPr lang="es-AR" sz="1600" b="1" dirty="0">
                          <a:solidFill>
                            <a:srgbClr val="0070C0"/>
                          </a:solidFill>
                        </a:rPr>
                        <a:t>=“es” </a:t>
                      </a:r>
                      <a:r>
                        <a:rPr lang="es-AR" sz="1600" b="0" baseline="0" dirty="0" err="1">
                          <a:solidFill>
                            <a:schemeClr val="tx1"/>
                          </a:solidFill>
                        </a:rPr>
                        <a:t>xmlns</a:t>
                      </a:r>
                      <a:r>
                        <a:rPr lang="es-AR" sz="1600" b="0" baseline="0" dirty="0">
                          <a:solidFill>
                            <a:schemeClr val="tx1"/>
                          </a:solidFill>
                        </a:rPr>
                        <a:t>=“http://www.w3.org/1999/xhtml&gt;</a:t>
                      </a:r>
                      <a:endParaRPr lang="es-AR" sz="1600" b="0" dirty="0">
                        <a:solidFill>
                          <a:schemeClr val="tx1"/>
                        </a:solidFill>
                      </a:endParaRPr>
                    </a:p>
                  </a:txBody>
                  <a:tcPr/>
                </a:tc>
                <a:extLst>
                  <a:ext uri="{0D108BD9-81ED-4DB2-BD59-A6C34878D82A}">
                    <a16:rowId xmlns:a16="http://schemas.microsoft.com/office/drawing/2014/main" val="10002"/>
                  </a:ext>
                </a:extLst>
              </a:tr>
            </a:tbl>
          </a:graphicData>
        </a:graphic>
      </p:graphicFrame>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78</a:t>
            </a:fld>
            <a:endParaRPr lang="es-ES" altLang="es-AR"/>
          </a:p>
        </p:txBody>
      </p:sp>
    </p:spTree>
    <p:extLst>
      <p:ext uri="{BB962C8B-B14F-4D97-AF65-F5344CB8AC3E}">
        <p14:creationId xmlns:p14="http://schemas.microsoft.com/office/powerpoint/2010/main" val="1836800391"/>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1 Título"/>
          <p:cNvSpPr>
            <a:spLocks noGrp="1"/>
          </p:cNvSpPr>
          <p:nvPr>
            <p:ph type="title"/>
          </p:nvPr>
        </p:nvSpPr>
        <p:spPr>
          <a:xfrm>
            <a:off x="457200" y="274638"/>
            <a:ext cx="8229600" cy="654050"/>
          </a:xfrm>
        </p:spPr>
        <p:txBody>
          <a:bodyPr/>
          <a:lstStyle/>
          <a:p>
            <a:r>
              <a:rPr lang="es-AR" altLang="es-AR" b="1"/>
              <a:t>Contenido accesible</a:t>
            </a:r>
          </a:p>
        </p:txBody>
      </p:sp>
      <p:sp>
        <p:nvSpPr>
          <p:cNvPr id="57347" name="2 Marcador de contenido"/>
          <p:cNvSpPr>
            <a:spLocks noGrp="1"/>
          </p:cNvSpPr>
          <p:nvPr>
            <p:ph idx="1"/>
          </p:nvPr>
        </p:nvSpPr>
        <p:spPr>
          <a:xfrm>
            <a:off x="430213" y="1916113"/>
            <a:ext cx="8229600" cy="4321199"/>
          </a:xfrm>
        </p:spPr>
        <p:txBody>
          <a:bodyPr/>
          <a:lstStyle/>
          <a:p>
            <a:pPr>
              <a:lnSpc>
                <a:spcPct val="90000"/>
              </a:lnSpc>
            </a:pPr>
            <a:r>
              <a:rPr lang="es-AR" dirty="0"/>
              <a:t>Marcado de idioma</a:t>
            </a:r>
          </a:p>
          <a:p>
            <a:pPr marL="0" indent="0">
              <a:lnSpc>
                <a:spcPct val="90000"/>
              </a:lnSpc>
              <a:buNone/>
            </a:pPr>
            <a:endParaRPr lang="es-AR" dirty="0"/>
          </a:p>
          <a:p>
            <a:pPr lvl="1" algn="just">
              <a:lnSpc>
                <a:spcPct val="90000"/>
              </a:lnSpc>
            </a:pPr>
            <a:r>
              <a:rPr lang="es-AR" dirty="0"/>
              <a:t>¿Cuál es la etiqueta de idioma correcta?</a:t>
            </a:r>
          </a:p>
          <a:p>
            <a:pPr marL="457200" lvl="1" indent="0" algn="just">
              <a:lnSpc>
                <a:spcPct val="90000"/>
              </a:lnSpc>
              <a:buNone/>
            </a:pPr>
            <a:endParaRPr lang="es-AR" dirty="0"/>
          </a:p>
          <a:p>
            <a:pPr lvl="3" algn="just">
              <a:lnSpc>
                <a:spcPct val="90000"/>
              </a:lnSpc>
            </a:pPr>
            <a:r>
              <a:rPr lang="es-AR" b="1" dirty="0"/>
              <a:t> es </a:t>
            </a:r>
            <a:r>
              <a:rPr lang="es-AR" dirty="0"/>
              <a:t>(español)</a:t>
            </a:r>
          </a:p>
          <a:p>
            <a:pPr lvl="3" algn="just">
              <a:lnSpc>
                <a:spcPct val="90000"/>
              </a:lnSpc>
            </a:pPr>
            <a:r>
              <a:rPr lang="es-AR" b="1" dirty="0"/>
              <a:t> en </a:t>
            </a:r>
            <a:r>
              <a:rPr lang="es-AR" dirty="0"/>
              <a:t>(inglés)</a:t>
            </a:r>
          </a:p>
          <a:p>
            <a:pPr lvl="3" algn="just">
              <a:lnSpc>
                <a:spcPct val="90000"/>
              </a:lnSpc>
            </a:pPr>
            <a:r>
              <a:rPr lang="es-AR" b="1" dirty="0"/>
              <a:t> </a:t>
            </a:r>
            <a:r>
              <a:rPr lang="es-AR" b="1" dirty="0" err="1"/>
              <a:t>fr</a:t>
            </a:r>
            <a:r>
              <a:rPr lang="es-AR" b="1" dirty="0"/>
              <a:t> </a:t>
            </a:r>
            <a:r>
              <a:rPr lang="es-AR" dirty="0"/>
              <a:t>(francés)</a:t>
            </a:r>
          </a:p>
          <a:p>
            <a:pPr lvl="3" algn="just">
              <a:lnSpc>
                <a:spcPct val="90000"/>
              </a:lnSpc>
            </a:pPr>
            <a:r>
              <a:rPr lang="es-AR" b="1" dirty="0"/>
              <a:t> de</a:t>
            </a:r>
            <a:r>
              <a:rPr lang="es-AR" dirty="0"/>
              <a:t> (alemán)</a:t>
            </a:r>
          </a:p>
          <a:p>
            <a:pPr lvl="3" algn="just">
              <a:lnSpc>
                <a:spcPct val="90000"/>
              </a:lnSpc>
            </a:pPr>
            <a:r>
              <a:rPr lang="es-AR" b="1" dirty="0"/>
              <a:t> </a:t>
            </a:r>
            <a:r>
              <a:rPr lang="es-AR" b="1" dirty="0" err="1"/>
              <a:t>it</a:t>
            </a:r>
            <a:r>
              <a:rPr lang="es-AR" dirty="0"/>
              <a:t> (italiano)</a:t>
            </a:r>
          </a:p>
          <a:p>
            <a:pPr lvl="3" algn="just">
              <a:lnSpc>
                <a:spcPct val="90000"/>
              </a:lnSpc>
            </a:pPr>
            <a:r>
              <a:rPr lang="es-AR" b="1" dirty="0"/>
              <a:t> …</a:t>
            </a:r>
          </a:p>
          <a:p>
            <a:pPr lvl="3" algn="just">
              <a:lnSpc>
                <a:spcPct val="90000"/>
              </a:lnSpc>
            </a:pPr>
            <a:endParaRPr lang="es-AR" b="1" dirty="0"/>
          </a:p>
          <a:p>
            <a:pPr lvl="1" algn="just">
              <a:lnSpc>
                <a:spcPct val="90000"/>
              </a:lnSpc>
            </a:pPr>
            <a:r>
              <a:rPr lang="es-AR" b="1" dirty="0"/>
              <a:t>W3C: Etiquetas de idioma en HTML y XHTML</a:t>
            </a:r>
          </a:p>
          <a:p>
            <a:pPr lvl="2" algn="just">
              <a:lnSpc>
                <a:spcPct val="90000"/>
              </a:lnSpc>
            </a:pPr>
            <a:r>
              <a:rPr lang="es-AR" b="1" dirty="0">
                <a:hlinkClick r:id="rId3"/>
              </a:rPr>
              <a:t>http://www.w3.org/International/articles/language-tags/</a:t>
            </a:r>
            <a:endParaRPr lang="es-AR" b="1" dirty="0"/>
          </a:p>
          <a:p>
            <a:pPr lvl="1" algn="just">
              <a:lnSpc>
                <a:spcPct val="90000"/>
              </a:lnSpc>
            </a:pPr>
            <a:endParaRPr lang="es-AR" b="1" dirty="0"/>
          </a:p>
          <a:p>
            <a:pPr>
              <a:lnSpc>
                <a:spcPct val="90000"/>
              </a:lnSpc>
            </a:pPr>
            <a:endParaRPr lang="es-AR" dirty="0"/>
          </a:p>
        </p:txBody>
      </p:sp>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79</a:t>
            </a:fld>
            <a:endParaRPr lang="es-ES" altLang="es-AR"/>
          </a:p>
        </p:txBody>
      </p:sp>
    </p:spTree>
    <p:extLst>
      <p:ext uri="{BB962C8B-B14F-4D97-AF65-F5344CB8AC3E}">
        <p14:creationId xmlns:p14="http://schemas.microsoft.com/office/powerpoint/2010/main" val="4016212747"/>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1 Título"/>
          <p:cNvSpPr>
            <a:spLocks noGrp="1"/>
          </p:cNvSpPr>
          <p:nvPr>
            <p:ph type="title"/>
          </p:nvPr>
        </p:nvSpPr>
        <p:spPr>
          <a:xfrm>
            <a:off x="457200" y="274638"/>
            <a:ext cx="8229600" cy="654050"/>
          </a:xfrm>
        </p:spPr>
        <p:txBody>
          <a:bodyPr/>
          <a:lstStyle/>
          <a:p>
            <a:r>
              <a:rPr lang="es-AR" altLang="es-AR" b="1"/>
              <a:t>Contenido accesible</a:t>
            </a:r>
          </a:p>
        </p:txBody>
      </p:sp>
      <p:sp>
        <p:nvSpPr>
          <p:cNvPr id="57347" name="2 Marcador de contenido"/>
          <p:cNvSpPr>
            <a:spLocks noGrp="1"/>
          </p:cNvSpPr>
          <p:nvPr>
            <p:ph idx="1"/>
          </p:nvPr>
        </p:nvSpPr>
        <p:spPr>
          <a:xfrm>
            <a:off x="430213" y="1916113"/>
            <a:ext cx="8229600" cy="4393207"/>
          </a:xfrm>
        </p:spPr>
        <p:txBody>
          <a:bodyPr/>
          <a:lstStyle/>
          <a:p>
            <a:pPr>
              <a:lnSpc>
                <a:spcPct val="90000"/>
              </a:lnSpc>
            </a:pPr>
            <a:r>
              <a:rPr lang="es-AR" dirty="0"/>
              <a:t>Tablas</a:t>
            </a:r>
          </a:p>
          <a:p>
            <a:pPr marL="0" indent="0">
              <a:lnSpc>
                <a:spcPct val="90000"/>
              </a:lnSpc>
              <a:buNone/>
            </a:pPr>
            <a:endParaRPr lang="es-AR" dirty="0"/>
          </a:p>
          <a:p>
            <a:pPr lvl="1">
              <a:lnSpc>
                <a:spcPct val="90000"/>
              </a:lnSpc>
            </a:pPr>
            <a:r>
              <a:rPr lang="es-AR" dirty="0"/>
              <a:t>¿Para qué sirven?</a:t>
            </a:r>
          </a:p>
          <a:p>
            <a:pPr marL="457200" lvl="1" indent="0">
              <a:lnSpc>
                <a:spcPct val="90000"/>
              </a:lnSpc>
              <a:buNone/>
            </a:pPr>
            <a:endParaRPr lang="es-AR" dirty="0"/>
          </a:p>
          <a:p>
            <a:pPr lvl="2">
              <a:lnSpc>
                <a:spcPct val="90000"/>
              </a:lnSpc>
            </a:pPr>
            <a:r>
              <a:rPr lang="es-AR" dirty="0"/>
              <a:t>Mostrar información tabular.</a:t>
            </a:r>
          </a:p>
          <a:p>
            <a:pPr lvl="2">
              <a:lnSpc>
                <a:spcPct val="90000"/>
              </a:lnSpc>
            </a:pPr>
            <a:endParaRPr lang="es-AR" dirty="0"/>
          </a:p>
          <a:p>
            <a:pPr lvl="2">
              <a:lnSpc>
                <a:spcPct val="90000"/>
              </a:lnSpc>
            </a:pPr>
            <a:r>
              <a:rPr lang="es-AR" b="1" dirty="0">
                <a:solidFill>
                  <a:srgbClr val="FF0000"/>
                </a:solidFill>
              </a:rPr>
              <a:t>NO</a:t>
            </a:r>
            <a:r>
              <a:rPr lang="es-AR" dirty="0"/>
              <a:t> sirven para dotar de presentación a los contenidos de nuestros sitios web.</a:t>
            </a:r>
          </a:p>
          <a:p>
            <a:pPr lvl="2">
              <a:lnSpc>
                <a:spcPct val="90000"/>
              </a:lnSpc>
            </a:pPr>
            <a:endParaRPr lang="es-AR" dirty="0"/>
          </a:p>
          <a:p>
            <a:pPr lvl="2">
              <a:lnSpc>
                <a:spcPct val="90000"/>
              </a:lnSpc>
            </a:pPr>
            <a:r>
              <a:rPr lang="es-AR" b="1" dirty="0">
                <a:solidFill>
                  <a:srgbClr val="FF0000"/>
                </a:solidFill>
              </a:rPr>
              <a:t>NO</a:t>
            </a:r>
            <a:r>
              <a:rPr lang="es-AR" dirty="0"/>
              <a:t> usar tablas para maquetar nuestros sitios web.</a:t>
            </a:r>
          </a:p>
        </p:txBody>
      </p:sp>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80</a:t>
            </a:fld>
            <a:endParaRPr lang="es-ES" altLang="es-AR"/>
          </a:p>
        </p:txBody>
      </p:sp>
    </p:spTree>
    <p:extLst>
      <p:ext uri="{BB962C8B-B14F-4D97-AF65-F5344CB8AC3E}">
        <p14:creationId xmlns:p14="http://schemas.microsoft.com/office/powerpoint/2010/main" val="2821572751"/>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1 Título"/>
          <p:cNvSpPr>
            <a:spLocks noGrp="1"/>
          </p:cNvSpPr>
          <p:nvPr>
            <p:ph type="title"/>
          </p:nvPr>
        </p:nvSpPr>
        <p:spPr>
          <a:xfrm>
            <a:off x="457200" y="274638"/>
            <a:ext cx="8229600" cy="654050"/>
          </a:xfrm>
        </p:spPr>
        <p:txBody>
          <a:bodyPr/>
          <a:lstStyle/>
          <a:p>
            <a:r>
              <a:rPr lang="es-AR" altLang="es-AR" b="1"/>
              <a:t>Contenido accesible</a:t>
            </a:r>
          </a:p>
        </p:txBody>
      </p:sp>
      <p:sp>
        <p:nvSpPr>
          <p:cNvPr id="57347" name="2 Marcador de contenido"/>
          <p:cNvSpPr>
            <a:spLocks noGrp="1"/>
          </p:cNvSpPr>
          <p:nvPr>
            <p:ph idx="1"/>
          </p:nvPr>
        </p:nvSpPr>
        <p:spPr>
          <a:xfrm>
            <a:off x="430213" y="1916113"/>
            <a:ext cx="8229600" cy="1080839"/>
          </a:xfrm>
        </p:spPr>
        <p:txBody>
          <a:bodyPr/>
          <a:lstStyle/>
          <a:p>
            <a:pPr>
              <a:lnSpc>
                <a:spcPct val="90000"/>
              </a:lnSpc>
            </a:pPr>
            <a:r>
              <a:rPr lang="es-AR" dirty="0"/>
              <a:t>Tablas</a:t>
            </a:r>
          </a:p>
          <a:p>
            <a:pPr marL="0" indent="0">
              <a:lnSpc>
                <a:spcPct val="90000"/>
              </a:lnSpc>
              <a:buNone/>
            </a:pPr>
            <a:endParaRPr lang="es-AR" dirty="0"/>
          </a:p>
          <a:p>
            <a:pPr lvl="1" algn="just">
              <a:lnSpc>
                <a:spcPct val="90000"/>
              </a:lnSpc>
            </a:pPr>
            <a:r>
              <a:rPr lang="es-AR" b="1" dirty="0">
                <a:solidFill>
                  <a:srgbClr val="FF0000"/>
                </a:solidFill>
              </a:rPr>
              <a:t>NO</a:t>
            </a:r>
            <a:r>
              <a:rPr lang="es-AR" dirty="0"/>
              <a:t> Usar tablas para maquetar sitios web.</a:t>
            </a:r>
          </a:p>
        </p:txBody>
      </p:sp>
      <p:graphicFrame>
        <p:nvGraphicFramePr>
          <p:cNvPr id="4" name="5 Tabla"/>
          <p:cNvGraphicFramePr>
            <a:graphicFrameLocks noGrp="1"/>
          </p:cNvGraphicFramePr>
          <p:nvPr>
            <p:extLst>
              <p:ext uri="{D42A27DB-BD31-4B8C-83A1-F6EECF244321}">
                <p14:modId xmlns:p14="http://schemas.microsoft.com/office/powerpoint/2010/main" val="3535321730"/>
              </p:ext>
            </p:extLst>
          </p:nvPr>
        </p:nvGraphicFramePr>
        <p:xfrm>
          <a:off x="971600" y="3021717"/>
          <a:ext cx="2190376" cy="1925320"/>
        </p:xfrm>
        <a:graphic>
          <a:graphicData uri="http://schemas.openxmlformats.org/drawingml/2006/table">
            <a:tbl>
              <a:tblPr firstRow="1" bandRow="1">
                <a:tableStyleId>{5C22544A-7EE6-4342-B048-85BDC9FD1C3A}</a:tableStyleId>
              </a:tblPr>
              <a:tblGrid>
                <a:gridCol w="390493">
                  <a:extLst>
                    <a:ext uri="{9D8B030D-6E8A-4147-A177-3AD203B41FA5}">
                      <a16:colId xmlns:a16="http://schemas.microsoft.com/office/drawing/2014/main" val="20000"/>
                    </a:ext>
                  </a:extLst>
                </a:gridCol>
                <a:gridCol w="1799883">
                  <a:extLst>
                    <a:ext uri="{9D8B030D-6E8A-4147-A177-3AD203B41FA5}">
                      <a16:colId xmlns:a16="http://schemas.microsoft.com/office/drawing/2014/main" val="20001"/>
                    </a:ext>
                  </a:extLst>
                </a:gridCol>
              </a:tblGrid>
              <a:tr h="346435">
                <a:tc gridSpan="2">
                  <a:txBody>
                    <a:bodyPr/>
                    <a:lstStyle/>
                    <a:p>
                      <a:pPr algn="ctr"/>
                      <a:r>
                        <a:rPr lang="es-AR" dirty="0"/>
                        <a:t>CABECERA</a:t>
                      </a:r>
                    </a:p>
                  </a:txBody>
                  <a:tcPr/>
                </a:tc>
                <a:tc hMerge="1">
                  <a:txBody>
                    <a:bodyPr/>
                    <a:lstStyle/>
                    <a:p>
                      <a:endParaRPr lang="es-AR" dirty="0"/>
                    </a:p>
                  </a:txBody>
                  <a:tcPr/>
                </a:tc>
                <a:extLst>
                  <a:ext uri="{0D108BD9-81ED-4DB2-BD59-A6C34878D82A}">
                    <a16:rowId xmlns:a16="http://schemas.microsoft.com/office/drawing/2014/main" val="10000"/>
                  </a:ext>
                </a:extLst>
              </a:tr>
              <a:tr h="370840">
                <a:tc>
                  <a:txBody>
                    <a:bodyPr/>
                    <a:lstStyle/>
                    <a:p>
                      <a:r>
                        <a:rPr lang="es-AR" b="1" dirty="0"/>
                        <a:t>M</a:t>
                      </a:r>
                    </a:p>
                    <a:p>
                      <a:r>
                        <a:rPr lang="es-AR" b="1" dirty="0"/>
                        <a:t>E</a:t>
                      </a:r>
                    </a:p>
                    <a:p>
                      <a:r>
                        <a:rPr lang="es-AR" b="1" dirty="0"/>
                        <a:t>N</a:t>
                      </a:r>
                    </a:p>
                    <a:p>
                      <a:r>
                        <a:rPr lang="es-AR" b="1" dirty="0"/>
                        <a:t>U</a:t>
                      </a:r>
                    </a:p>
                  </a:txBody>
                  <a:tcPr/>
                </a:tc>
                <a:tc>
                  <a:txBody>
                    <a:bodyPr/>
                    <a:lstStyle/>
                    <a:p>
                      <a:endParaRPr lang="es-AR" dirty="0"/>
                    </a:p>
                    <a:p>
                      <a:pPr algn="ctr"/>
                      <a:r>
                        <a:rPr lang="es-AR" b="1" dirty="0"/>
                        <a:t>CONTENIDO</a:t>
                      </a:r>
                    </a:p>
                    <a:p>
                      <a:pPr algn="ctr"/>
                      <a:r>
                        <a:rPr lang="es-AR" b="1" dirty="0"/>
                        <a:t>PRINCIPAL</a:t>
                      </a:r>
                    </a:p>
                  </a:txBody>
                  <a:tcPr>
                    <a:solidFill>
                      <a:schemeClr val="accent1">
                        <a:lumMod val="60000"/>
                        <a:lumOff val="40000"/>
                      </a:schemeClr>
                    </a:solidFill>
                  </a:tcPr>
                </a:tc>
                <a:extLst>
                  <a:ext uri="{0D108BD9-81ED-4DB2-BD59-A6C34878D82A}">
                    <a16:rowId xmlns:a16="http://schemas.microsoft.com/office/drawing/2014/main" val="10001"/>
                  </a:ext>
                </a:extLst>
              </a:tr>
              <a:tr h="370840">
                <a:tc gridSpan="2">
                  <a:txBody>
                    <a:bodyPr/>
                    <a:lstStyle/>
                    <a:p>
                      <a:pPr algn="ctr"/>
                      <a:r>
                        <a:rPr lang="es-AR" b="1" dirty="0"/>
                        <a:t>PIE</a:t>
                      </a:r>
                    </a:p>
                  </a:txBody>
                  <a:tcPr/>
                </a:tc>
                <a:tc hMerge="1">
                  <a:txBody>
                    <a:bodyPr/>
                    <a:lstStyle/>
                    <a:p>
                      <a:endParaRPr lang="es-AR" dirty="0"/>
                    </a:p>
                  </a:txBody>
                  <a:tcPr/>
                </a:tc>
                <a:extLst>
                  <a:ext uri="{0D108BD9-81ED-4DB2-BD59-A6C34878D82A}">
                    <a16:rowId xmlns:a16="http://schemas.microsoft.com/office/drawing/2014/main" val="10002"/>
                  </a:ext>
                </a:extLst>
              </a:tr>
            </a:tbl>
          </a:graphicData>
        </a:graphic>
      </p:graphicFrame>
      <p:sp>
        <p:nvSpPr>
          <p:cNvPr id="5" name="CuadroTexto 8"/>
          <p:cNvSpPr txBox="1"/>
          <p:nvPr/>
        </p:nvSpPr>
        <p:spPr>
          <a:xfrm>
            <a:off x="3491880" y="2996952"/>
            <a:ext cx="5167933" cy="3477875"/>
          </a:xfrm>
          <a:prstGeom prst="rect">
            <a:avLst/>
          </a:prstGeom>
          <a:noFill/>
          <a:ln>
            <a:solidFill>
              <a:schemeClr val="accent1">
                <a:shade val="50000"/>
              </a:schemeClr>
            </a:solidFill>
          </a:ln>
        </p:spPr>
        <p:txBody>
          <a:bodyPr wrap="square" rtlCol="0">
            <a:spAutoFit/>
          </a:bodyPr>
          <a:lstStyle/>
          <a:p>
            <a:r>
              <a:rPr lang="es-AR" sz="2000" b="1" dirty="0"/>
              <a:t>&lt;</a:t>
            </a:r>
            <a:r>
              <a:rPr lang="es-AR" sz="2000" b="1" dirty="0" err="1"/>
              <a:t>table</a:t>
            </a:r>
            <a:r>
              <a:rPr lang="es-AR" sz="2000" b="1" dirty="0"/>
              <a:t>&gt;</a:t>
            </a:r>
          </a:p>
          <a:p>
            <a:r>
              <a:rPr lang="es-AR" sz="2000" b="1" dirty="0"/>
              <a:t>&lt;</a:t>
            </a:r>
            <a:r>
              <a:rPr lang="es-AR" sz="2000" b="1" dirty="0" err="1"/>
              <a:t>tr</a:t>
            </a:r>
            <a:r>
              <a:rPr lang="es-AR" sz="2000" b="1" dirty="0"/>
              <a:t>&gt;</a:t>
            </a:r>
          </a:p>
          <a:p>
            <a:r>
              <a:rPr lang="es-AR" sz="2000" b="1" dirty="0"/>
              <a:t>       &lt;</a:t>
            </a:r>
            <a:r>
              <a:rPr lang="es-AR" sz="2000" b="1" dirty="0" err="1"/>
              <a:t>td</a:t>
            </a:r>
            <a:r>
              <a:rPr lang="es-AR" sz="2000" b="1" dirty="0"/>
              <a:t> </a:t>
            </a:r>
            <a:r>
              <a:rPr lang="es-AR" sz="2000" b="1" dirty="0" err="1"/>
              <a:t>colspan</a:t>
            </a:r>
            <a:r>
              <a:rPr lang="es-AR" sz="2000" b="1" dirty="0"/>
              <a:t>=“2”&gt; CABECERA &lt;/</a:t>
            </a:r>
            <a:r>
              <a:rPr lang="es-AR" sz="2000" b="1" dirty="0" err="1"/>
              <a:t>td</a:t>
            </a:r>
            <a:r>
              <a:rPr lang="es-AR" sz="2000" b="1" dirty="0"/>
              <a:t>&gt;</a:t>
            </a:r>
          </a:p>
          <a:p>
            <a:r>
              <a:rPr lang="es-AR" sz="2000" b="1" dirty="0"/>
              <a:t>&lt;/</a:t>
            </a:r>
            <a:r>
              <a:rPr lang="es-AR" sz="2000" b="1" dirty="0" err="1"/>
              <a:t>tr</a:t>
            </a:r>
            <a:r>
              <a:rPr lang="es-AR" sz="2000" b="1" dirty="0"/>
              <a:t>&gt;</a:t>
            </a:r>
          </a:p>
          <a:p>
            <a:r>
              <a:rPr lang="es-AR" sz="2000" b="1" dirty="0"/>
              <a:t>&lt;</a:t>
            </a:r>
            <a:r>
              <a:rPr lang="es-AR" sz="2000" b="1" dirty="0" err="1"/>
              <a:t>tr</a:t>
            </a:r>
            <a:r>
              <a:rPr lang="es-AR" sz="2000" b="1" dirty="0"/>
              <a:t>&gt;</a:t>
            </a:r>
          </a:p>
          <a:p>
            <a:r>
              <a:rPr lang="es-AR" sz="2000" b="1" dirty="0"/>
              <a:t>       &lt;</a:t>
            </a:r>
            <a:r>
              <a:rPr lang="es-AR" sz="2000" b="1" dirty="0" err="1"/>
              <a:t>td</a:t>
            </a:r>
            <a:r>
              <a:rPr lang="es-AR" sz="2000" b="1" dirty="0"/>
              <a:t>&gt; MENU &lt;/</a:t>
            </a:r>
            <a:r>
              <a:rPr lang="es-AR" sz="2000" b="1" dirty="0" err="1"/>
              <a:t>td</a:t>
            </a:r>
            <a:r>
              <a:rPr lang="es-AR" sz="2000" b="1" dirty="0"/>
              <a:t>&gt;</a:t>
            </a:r>
          </a:p>
          <a:p>
            <a:r>
              <a:rPr lang="es-AR" sz="2000" b="1" dirty="0"/>
              <a:t>       &lt;</a:t>
            </a:r>
            <a:r>
              <a:rPr lang="es-AR" sz="2000" b="1" dirty="0" err="1"/>
              <a:t>td</a:t>
            </a:r>
            <a:r>
              <a:rPr lang="es-AR" sz="2000" b="1" dirty="0"/>
              <a:t>&gt; CONTENIDO PRINCIPAL &lt;/</a:t>
            </a:r>
            <a:r>
              <a:rPr lang="es-AR" sz="2000" b="1" dirty="0" err="1"/>
              <a:t>td</a:t>
            </a:r>
            <a:r>
              <a:rPr lang="es-AR" sz="2000" b="1" dirty="0"/>
              <a:t>&gt;</a:t>
            </a:r>
          </a:p>
          <a:p>
            <a:r>
              <a:rPr lang="es-AR" sz="2000" b="1" dirty="0"/>
              <a:t>&lt;/</a:t>
            </a:r>
            <a:r>
              <a:rPr lang="es-AR" sz="2000" b="1" dirty="0" err="1"/>
              <a:t>tr</a:t>
            </a:r>
            <a:r>
              <a:rPr lang="es-AR" sz="2000" b="1" dirty="0"/>
              <a:t>&gt;</a:t>
            </a:r>
          </a:p>
          <a:p>
            <a:r>
              <a:rPr lang="es-AR" sz="2000" b="1" dirty="0"/>
              <a:t>&lt;</a:t>
            </a:r>
            <a:r>
              <a:rPr lang="es-AR" sz="2000" b="1" dirty="0" err="1"/>
              <a:t>tr</a:t>
            </a:r>
            <a:r>
              <a:rPr lang="es-AR" sz="2000" b="1" dirty="0"/>
              <a:t>&gt; &lt;</a:t>
            </a:r>
            <a:r>
              <a:rPr lang="es-AR" sz="2000" b="1" dirty="0" err="1"/>
              <a:t>td</a:t>
            </a:r>
            <a:r>
              <a:rPr lang="es-AR" sz="2000" b="1" dirty="0"/>
              <a:t> </a:t>
            </a:r>
            <a:r>
              <a:rPr lang="es-AR" sz="2000" b="1" dirty="0" err="1"/>
              <a:t>colspan</a:t>
            </a:r>
            <a:r>
              <a:rPr lang="es-AR" sz="2000" b="1" dirty="0"/>
              <a:t>=“2”&gt; PIE &lt;/</a:t>
            </a:r>
            <a:r>
              <a:rPr lang="es-AR" sz="2000" b="1" dirty="0" err="1"/>
              <a:t>td</a:t>
            </a:r>
            <a:r>
              <a:rPr lang="es-AR" sz="2000" b="1" dirty="0"/>
              <a:t>&gt; </a:t>
            </a:r>
          </a:p>
          <a:p>
            <a:r>
              <a:rPr lang="es-AR" sz="2000" b="1" dirty="0"/>
              <a:t>&lt;/</a:t>
            </a:r>
            <a:r>
              <a:rPr lang="es-AR" sz="2000" b="1" dirty="0" err="1"/>
              <a:t>tr</a:t>
            </a:r>
            <a:r>
              <a:rPr lang="es-AR" sz="2000" b="1" dirty="0"/>
              <a:t>&gt;</a:t>
            </a:r>
          </a:p>
          <a:p>
            <a:r>
              <a:rPr lang="es-AR" sz="2000" b="1" dirty="0"/>
              <a:t>&lt;/</a:t>
            </a:r>
            <a:r>
              <a:rPr lang="es-AR" sz="2000" b="1" dirty="0" err="1"/>
              <a:t>table</a:t>
            </a:r>
            <a:r>
              <a:rPr lang="es-AR" sz="2000" b="1" dirty="0"/>
              <a:t>&gt;  </a:t>
            </a:r>
          </a:p>
        </p:txBody>
      </p:sp>
      <p:cxnSp>
        <p:nvCxnSpPr>
          <p:cNvPr id="6" name="8 Conector recto"/>
          <p:cNvCxnSpPr/>
          <p:nvPr/>
        </p:nvCxnSpPr>
        <p:spPr>
          <a:xfrm>
            <a:off x="3331221" y="2911895"/>
            <a:ext cx="5489251" cy="3656096"/>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7" name="12 Conector recto"/>
          <p:cNvCxnSpPr/>
          <p:nvPr/>
        </p:nvCxnSpPr>
        <p:spPr>
          <a:xfrm flipV="1">
            <a:off x="3324438" y="2852936"/>
            <a:ext cx="5496034" cy="3715055"/>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81</a:t>
            </a:fld>
            <a:endParaRPr lang="es-ES" altLang="es-AR"/>
          </a:p>
        </p:txBody>
      </p:sp>
    </p:spTree>
    <p:extLst>
      <p:ext uri="{BB962C8B-B14F-4D97-AF65-F5344CB8AC3E}">
        <p14:creationId xmlns:p14="http://schemas.microsoft.com/office/powerpoint/2010/main" val="980307524"/>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1 Título"/>
          <p:cNvSpPr>
            <a:spLocks noGrp="1"/>
          </p:cNvSpPr>
          <p:nvPr>
            <p:ph type="title"/>
          </p:nvPr>
        </p:nvSpPr>
        <p:spPr>
          <a:xfrm>
            <a:off x="457200" y="274638"/>
            <a:ext cx="8229600" cy="654050"/>
          </a:xfrm>
        </p:spPr>
        <p:txBody>
          <a:bodyPr/>
          <a:lstStyle/>
          <a:p>
            <a:r>
              <a:rPr lang="es-AR" altLang="es-AR" b="1"/>
              <a:t>Contenido accesible</a:t>
            </a:r>
          </a:p>
        </p:txBody>
      </p:sp>
      <p:sp>
        <p:nvSpPr>
          <p:cNvPr id="57347" name="2 Marcador de contenido"/>
          <p:cNvSpPr>
            <a:spLocks noGrp="1"/>
          </p:cNvSpPr>
          <p:nvPr>
            <p:ph idx="1"/>
          </p:nvPr>
        </p:nvSpPr>
        <p:spPr>
          <a:xfrm>
            <a:off x="430213" y="1916113"/>
            <a:ext cx="8229600" cy="1080839"/>
          </a:xfrm>
        </p:spPr>
        <p:txBody>
          <a:bodyPr/>
          <a:lstStyle/>
          <a:p>
            <a:pPr>
              <a:lnSpc>
                <a:spcPct val="90000"/>
              </a:lnSpc>
            </a:pPr>
            <a:r>
              <a:rPr lang="es-AR" dirty="0"/>
              <a:t>Tablas</a:t>
            </a:r>
          </a:p>
          <a:p>
            <a:pPr marL="0" indent="0">
              <a:lnSpc>
                <a:spcPct val="90000"/>
              </a:lnSpc>
              <a:buNone/>
            </a:pPr>
            <a:endParaRPr lang="es-AR" dirty="0"/>
          </a:p>
          <a:p>
            <a:pPr lvl="1" algn="just">
              <a:lnSpc>
                <a:spcPct val="90000"/>
              </a:lnSpc>
            </a:pPr>
            <a:r>
              <a:rPr lang="es-AR" b="1" dirty="0">
                <a:solidFill>
                  <a:srgbClr val="00B050"/>
                </a:solidFill>
              </a:rPr>
              <a:t>SI</a:t>
            </a:r>
            <a:r>
              <a:rPr lang="es-AR" b="1" dirty="0">
                <a:solidFill>
                  <a:srgbClr val="FF0000"/>
                </a:solidFill>
              </a:rPr>
              <a:t> </a:t>
            </a:r>
            <a:r>
              <a:rPr lang="es-AR" dirty="0"/>
              <a:t>programar sitio web con capas (DIV) y CSS.</a:t>
            </a:r>
          </a:p>
          <a:p>
            <a:pPr lvl="2" algn="just">
              <a:lnSpc>
                <a:spcPct val="90000"/>
              </a:lnSpc>
              <a:buNone/>
            </a:pPr>
            <a:endParaRPr lang="es-AR" dirty="0"/>
          </a:p>
        </p:txBody>
      </p:sp>
      <p:graphicFrame>
        <p:nvGraphicFramePr>
          <p:cNvPr id="4" name="5 Tabla"/>
          <p:cNvGraphicFramePr>
            <a:graphicFrameLocks noGrp="1"/>
          </p:cNvGraphicFramePr>
          <p:nvPr>
            <p:extLst>
              <p:ext uri="{D42A27DB-BD31-4B8C-83A1-F6EECF244321}">
                <p14:modId xmlns:p14="http://schemas.microsoft.com/office/powerpoint/2010/main" val="3112857349"/>
              </p:ext>
            </p:extLst>
          </p:nvPr>
        </p:nvGraphicFramePr>
        <p:xfrm>
          <a:off x="971600" y="2996952"/>
          <a:ext cx="2190376" cy="1925320"/>
        </p:xfrm>
        <a:graphic>
          <a:graphicData uri="http://schemas.openxmlformats.org/drawingml/2006/table">
            <a:tbl>
              <a:tblPr firstRow="1" bandRow="1">
                <a:tableStyleId>{5C22544A-7EE6-4342-B048-85BDC9FD1C3A}</a:tableStyleId>
              </a:tblPr>
              <a:tblGrid>
                <a:gridCol w="390493">
                  <a:extLst>
                    <a:ext uri="{9D8B030D-6E8A-4147-A177-3AD203B41FA5}">
                      <a16:colId xmlns:a16="http://schemas.microsoft.com/office/drawing/2014/main" val="20000"/>
                    </a:ext>
                  </a:extLst>
                </a:gridCol>
                <a:gridCol w="1799883">
                  <a:extLst>
                    <a:ext uri="{9D8B030D-6E8A-4147-A177-3AD203B41FA5}">
                      <a16:colId xmlns:a16="http://schemas.microsoft.com/office/drawing/2014/main" val="20001"/>
                    </a:ext>
                  </a:extLst>
                </a:gridCol>
              </a:tblGrid>
              <a:tr h="346435">
                <a:tc gridSpan="2">
                  <a:txBody>
                    <a:bodyPr/>
                    <a:lstStyle/>
                    <a:p>
                      <a:pPr algn="ctr"/>
                      <a:r>
                        <a:rPr lang="es-AR" dirty="0"/>
                        <a:t>CABECERA</a:t>
                      </a:r>
                    </a:p>
                  </a:txBody>
                  <a:tcPr/>
                </a:tc>
                <a:tc hMerge="1">
                  <a:txBody>
                    <a:bodyPr/>
                    <a:lstStyle/>
                    <a:p>
                      <a:endParaRPr lang="es-AR" dirty="0"/>
                    </a:p>
                  </a:txBody>
                  <a:tcPr/>
                </a:tc>
                <a:extLst>
                  <a:ext uri="{0D108BD9-81ED-4DB2-BD59-A6C34878D82A}">
                    <a16:rowId xmlns:a16="http://schemas.microsoft.com/office/drawing/2014/main" val="10000"/>
                  </a:ext>
                </a:extLst>
              </a:tr>
              <a:tr h="370840">
                <a:tc>
                  <a:txBody>
                    <a:bodyPr/>
                    <a:lstStyle/>
                    <a:p>
                      <a:r>
                        <a:rPr lang="es-AR" b="1" dirty="0"/>
                        <a:t>M</a:t>
                      </a:r>
                    </a:p>
                    <a:p>
                      <a:r>
                        <a:rPr lang="es-AR" b="1" dirty="0"/>
                        <a:t>E</a:t>
                      </a:r>
                    </a:p>
                    <a:p>
                      <a:r>
                        <a:rPr lang="es-AR" b="1" dirty="0"/>
                        <a:t>N</a:t>
                      </a:r>
                    </a:p>
                    <a:p>
                      <a:r>
                        <a:rPr lang="es-AR" b="1" dirty="0"/>
                        <a:t>U</a:t>
                      </a:r>
                    </a:p>
                  </a:txBody>
                  <a:tcPr/>
                </a:tc>
                <a:tc>
                  <a:txBody>
                    <a:bodyPr/>
                    <a:lstStyle/>
                    <a:p>
                      <a:endParaRPr lang="es-AR" dirty="0"/>
                    </a:p>
                    <a:p>
                      <a:pPr algn="ctr"/>
                      <a:r>
                        <a:rPr lang="es-AR" b="1" dirty="0"/>
                        <a:t>CONTENIDO</a:t>
                      </a:r>
                    </a:p>
                    <a:p>
                      <a:pPr algn="ctr"/>
                      <a:r>
                        <a:rPr lang="es-AR" b="1" dirty="0"/>
                        <a:t>PRINCIPAL</a:t>
                      </a:r>
                    </a:p>
                  </a:txBody>
                  <a:tcPr>
                    <a:solidFill>
                      <a:schemeClr val="accent1">
                        <a:lumMod val="60000"/>
                        <a:lumOff val="40000"/>
                      </a:schemeClr>
                    </a:solidFill>
                  </a:tcPr>
                </a:tc>
                <a:extLst>
                  <a:ext uri="{0D108BD9-81ED-4DB2-BD59-A6C34878D82A}">
                    <a16:rowId xmlns:a16="http://schemas.microsoft.com/office/drawing/2014/main" val="10001"/>
                  </a:ext>
                </a:extLst>
              </a:tr>
              <a:tr h="370840">
                <a:tc gridSpan="2">
                  <a:txBody>
                    <a:bodyPr/>
                    <a:lstStyle/>
                    <a:p>
                      <a:pPr algn="ctr"/>
                      <a:r>
                        <a:rPr lang="es-AR" b="1" dirty="0"/>
                        <a:t>PIE</a:t>
                      </a:r>
                    </a:p>
                  </a:txBody>
                  <a:tcPr/>
                </a:tc>
                <a:tc hMerge="1">
                  <a:txBody>
                    <a:bodyPr/>
                    <a:lstStyle/>
                    <a:p>
                      <a:endParaRPr lang="es-AR" dirty="0"/>
                    </a:p>
                  </a:txBody>
                  <a:tcPr/>
                </a:tc>
                <a:extLst>
                  <a:ext uri="{0D108BD9-81ED-4DB2-BD59-A6C34878D82A}">
                    <a16:rowId xmlns:a16="http://schemas.microsoft.com/office/drawing/2014/main" val="10002"/>
                  </a:ext>
                </a:extLst>
              </a:tr>
            </a:tbl>
          </a:graphicData>
        </a:graphic>
      </p:graphicFrame>
      <p:sp>
        <p:nvSpPr>
          <p:cNvPr id="5" name="CuadroTexto 8"/>
          <p:cNvSpPr txBox="1"/>
          <p:nvPr/>
        </p:nvSpPr>
        <p:spPr>
          <a:xfrm>
            <a:off x="3446859" y="2996952"/>
            <a:ext cx="5239941" cy="3785652"/>
          </a:xfrm>
          <a:prstGeom prst="rect">
            <a:avLst/>
          </a:prstGeom>
          <a:noFill/>
          <a:ln>
            <a:solidFill>
              <a:schemeClr val="accent1">
                <a:shade val="50000"/>
              </a:schemeClr>
            </a:solidFill>
          </a:ln>
        </p:spPr>
        <p:txBody>
          <a:bodyPr wrap="square" rtlCol="0">
            <a:spAutoFit/>
          </a:bodyPr>
          <a:lstStyle/>
          <a:p>
            <a:r>
              <a:rPr lang="es-AR" sz="2000" b="1" dirty="0"/>
              <a:t>CSS</a:t>
            </a:r>
          </a:p>
          <a:p>
            <a:r>
              <a:rPr lang="es-AR" sz="2000" dirty="0"/>
              <a:t>#cabecera {width:100;}</a:t>
            </a:r>
          </a:p>
          <a:p>
            <a:r>
              <a:rPr lang="es-AR" sz="2000" dirty="0"/>
              <a:t>#</a:t>
            </a:r>
            <a:r>
              <a:rPr lang="es-AR" sz="2000" dirty="0" err="1"/>
              <a:t>menu</a:t>
            </a:r>
            <a:r>
              <a:rPr lang="es-AR" sz="2000" dirty="0"/>
              <a:t> {width:15%; </a:t>
            </a:r>
            <a:r>
              <a:rPr lang="es-AR" sz="2000" dirty="0" err="1"/>
              <a:t>float</a:t>
            </a:r>
            <a:r>
              <a:rPr lang="es-AR" sz="2000" dirty="0"/>
              <a:t>: </a:t>
            </a:r>
            <a:r>
              <a:rPr lang="es-AR" sz="2000" dirty="0" err="1"/>
              <a:t>left</a:t>
            </a:r>
            <a:r>
              <a:rPr lang="es-AR" sz="2000" dirty="0"/>
              <a:t>;}</a:t>
            </a:r>
          </a:p>
          <a:p>
            <a:r>
              <a:rPr lang="es-AR" sz="2000" dirty="0"/>
              <a:t>#contenido {width:85%; </a:t>
            </a:r>
            <a:r>
              <a:rPr lang="es-AR" sz="2000" dirty="0" err="1"/>
              <a:t>float</a:t>
            </a:r>
            <a:r>
              <a:rPr lang="es-AR" sz="2000" dirty="0"/>
              <a:t>: </a:t>
            </a:r>
            <a:r>
              <a:rPr lang="es-AR" sz="2000" dirty="0" err="1"/>
              <a:t>right</a:t>
            </a:r>
            <a:r>
              <a:rPr lang="es-AR" sz="2000" dirty="0"/>
              <a:t>;}</a:t>
            </a:r>
          </a:p>
          <a:p>
            <a:r>
              <a:rPr lang="es-AR" sz="2000" dirty="0"/>
              <a:t>#pie {</a:t>
            </a:r>
            <a:r>
              <a:rPr lang="es-AR" sz="2000" dirty="0" err="1"/>
              <a:t>clear:both</a:t>
            </a:r>
            <a:r>
              <a:rPr lang="es-AR" sz="2000" dirty="0"/>
              <a:t>; width:100%;}</a:t>
            </a:r>
          </a:p>
          <a:p>
            <a:endParaRPr lang="es-AR" sz="2000" dirty="0"/>
          </a:p>
          <a:p>
            <a:r>
              <a:rPr lang="es-AR" sz="2000" b="1" dirty="0"/>
              <a:t>HTML</a:t>
            </a:r>
          </a:p>
          <a:p>
            <a:r>
              <a:rPr lang="es-AR" sz="2000" dirty="0"/>
              <a:t>&lt;</a:t>
            </a:r>
            <a:r>
              <a:rPr lang="es-AR" sz="2000" dirty="0" err="1"/>
              <a:t>div</a:t>
            </a:r>
            <a:r>
              <a:rPr lang="es-AR" sz="2000" dirty="0"/>
              <a:t> id=“cabecera”&gt; CABECERA &lt;/</a:t>
            </a:r>
            <a:r>
              <a:rPr lang="es-AR" sz="2000" dirty="0" err="1"/>
              <a:t>div</a:t>
            </a:r>
            <a:r>
              <a:rPr lang="es-AR" sz="2000" dirty="0"/>
              <a:t>&gt;</a:t>
            </a:r>
          </a:p>
          <a:p>
            <a:r>
              <a:rPr lang="es-AR" sz="2000" dirty="0"/>
              <a:t>&lt;</a:t>
            </a:r>
            <a:r>
              <a:rPr lang="es-AR" sz="2000" dirty="0" err="1"/>
              <a:t>div</a:t>
            </a:r>
            <a:r>
              <a:rPr lang="es-AR" sz="2000" dirty="0"/>
              <a:t> id=“</a:t>
            </a:r>
            <a:r>
              <a:rPr lang="es-AR" sz="2000" dirty="0" err="1"/>
              <a:t>menu</a:t>
            </a:r>
            <a:r>
              <a:rPr lang="es-AR" sz="2000" dirty="0"/>
              <a:t>”&gt; MENÚ &lt;/</a:t>
            </a:r>
            <a:r>
              <a:rPr lang="es-AR" sz="2000" dirty="0" err="1"/>
              <a:t>div</a:t>
            </a:r>
            <a:r>
              <a:rPr lang="es-AR" sz="2000" dirty="0"/>
              <a:t>&gt;</a:t>
            </a:r>
          </a:p>
          <a:p>
            <a:r>
              <a:rPr lang="es-AR" sz="2000" dirty="0"/>
              <a:t>&lt;</a:t>
            </a:r>
            <a:r>
              <a:rPr lang="es-AR" sz="2000" dirty="0" err="1"/>
              <a:t>div</a:t>
            </a:r>
            <a:r>
              <a:rPr lang="es-AR" sz="2000" dirty="0"/>
              <a:t> id=“contenido”&gt; CONTENIDO PRINCIPAL &lt;/</a:t>
            </a:r>
            <a:r>
              <a:rPr lang="es-AR" sz="2000" dirty="0" err="1"/>
              <a:t>div</a:t>
            </a:r>
            <a:r>
              <a:rPr lang="es-AR" sz="2000" dirty="0"/>
              <a:t>&gt;</a:t>
            </a:r>
          </a:p>
          <a:p>
            <a:r>
              <a:rPr lang="es-AR" sz="2000" dirty="0"/>
              <a:t>&lt;div id=“pie”&gt; PIE &lt;/div&gt; </a:t>
            </a:r>
            <a:endParaRPr lang="es-AR" sz="2000" b="1" dirty="0"/>
          </a:p>
        </p:txBody>
      </p:sp>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82</a:t>
            </a:fld>
            <a:endParaRPr lang="es-ES" altLang="es-AR"/>
          </a:p>
        </p:txBody>
      </p:sp>
    </p:spTree>
    <p:extLst>
      <p:ext uri="{BB962C8B-B14F-4D97-AF65-F5344CB8AC3E}">
        <p14:creationId xmlns:p14="http://schemas.microsoft.com/office/powerpoint/2010/main" val="3775509818"/>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1 Título"/>
          <p:cNvSpPr>
            <a:spLocks noGrp="1"/>
          </p:cNvSpPr>
          <p:nvPr>
            <p:ph type="title"/>
          </p:nvPr>
        </p:nvSpPr>
        <p:spPr>
          <a:xfrm>
            <a:off x="457200" y="274638"/>
            <a:ext cx="8229600" cy="654050"/>
          </a:xfrm>
        </p:spPr>
        <p:txBody>
          <a:bodyPr/>
          <a:lstStyle/>
          <a:p>
            <a:r>
              <a:rPr lang="es-AR" altLang="es-AR" b="1"/>
              <a:t>Contenido accesible</a:t>
            </a:r>
          </a:p>
        </p:txBody>
      </p:sp>
      <p:sp>
        <p:nvSpPr>
          <p:cNvPr id="57347" name="2 Marcador de contenido"/>
          <p:cNvSpPr>
            <a:spLocks noGrp="1"/>
          </p:cNvSpPr>
          <p:nvPr>
            <p:ph idx="1"/>
          </p:nvPr>
        </p:nvSpPr>
        <p:spPr>
          <a:xfrm>
            <a:off x="430213" y="1916113"/>
            <a:ext cx="8229600" cy="1440879"/>
          </a:xfrm>
        </p:spPr>
        <p:txBody>
          <a:bodyPr/>
          <a:lstStyle/>
          <a:p>
            <a:pPr>
              <a:lnSpc>
                <a:spcPct val="90000"/>
              </a:lnSpc>
            </a:pPr>
            <a:r>
              <a:rPr lang="es-AR" dirty="0"/>
              <a:t>Tablas</a:t>
            </a:r>
          </a:p>
          <a:p>
            <a:pPr marL="0" indent="0">
              <a:lnSpc>
                <a:spcPct val="90000"/>
              </a:lnSpc>
              <a:buNone/>
            </a:pPr>
            <a:endParaRPr lang="es-AR" dirty="0"/>
          </a:p>
          <a:p>
            <a:pPr lvl="1" algn="just">
              <a:lnSpc>
                <a:spcPct val="90000"/>
              </a:lnSpc>
            </a:pPr>
            <a:r>
              <a:rPr lang="es-AR" dirty="0"/>
              <a:t>¿Cómo se leen las tablas?</a:t>
            </a:r>
          </a:p>
          <a:p>
            <a:pPr lvl="1" algn="ctr">
              <a:lnSpc>
                <a:spcPct val="90000"/>
              </a:lnSpc>
              <a:buNone/>
            </a:pPr>
            <a:r>
              <a:rPr lang="es-AR" i="1" dirty="0"/>
              <a:t>Visitantes de rrrr.com por países</a:t>
            </a:r>
          </a:p>
          <a:p>
            <a:pPr lvl="2" algn="just">
              <a:lnSpc>
                <a:spcPct val="90000"/>
              </a:lnSpc>
              <a:buNone/>
            </a:pPr>
            <a:endParaRPr lang="es-AR" dirty="0"/>
          </a:p>
        </p:txBody>
      </p:sp>
      <p:graphicFrame>
        <p:nvGraphicFramePr>
          <p:cNvPr id="6" name="3 Tabla"/>
          <p:cNvGraphicFramePr>
            <a:graphicFrameLocks noGrp="1"/>
          </p:cNvGraphicFramePr>
          <p:nvPr>
            <p:extLst>
              <p:ext uri="{D42A27DB-BD31-4B8C-83A1-F6EECF244321}">
                <p14:modId xmlns:p14="http://schemas.microsoft.com/office/powerpoint/2010/main" val="2943330810"/>
              </p:ext>
            </p:extLst>
          </p:nvPr>
        </p:nvGraphicFramePr>
        <p:xfrm>
          <a:off x="899592" y="3324398"/>
          <a:ext cx="7344815" cy="1889760"/>
        </p:xfrm>
        <a:graphic>
          <a:graphicData uri="http://schemas.openxmlformats.org/drawingml/2006/table">
            <a:tbl>
              <a:tblPr firstRow="1" bandRow="1">
                <a:tableStyleId>{5C22544A-7EE6-4342-B048-85BDC9FD1C3A}</a:tableStyleId>
              </a:tblPr>
              <a:tblGrid>
                <a:gridCol w="1468963">
                  <a:extLst>
                    <a:ext uri="{9D8B030D-6E8A-4147-A177-3AD203B41FA5}">
                      <a16:colId xmlns:a16="http://schemas.microsoft.com/office/drawing/2014/main" val="20000"/>
                    </a:ext>
                  </a:extLst>
                </a:gridCol>
                <a:gridCol w="1468963">
                  <a:extLst>
                    <a:ext uri="{9D8B030D-6E8A-4147-A177-3AD203B41FA5}">
                      <a16:colId xmlns:a16="http://schemas.microsoft.com/office/drawing/2014/main" val="20001"/>
                    </a:ext>
                  </a:extLst>
                </a:gridCol>
                <a:gridCol w="1468963">
                  <a:extLst>
                    <a:ext uri="{9D8B030D-6E8A-4147-A177-3AD203B41FA5}">
                      <a16:colId xmlns:a16="http://schemas.microsoft.com/office/drawing/2014/main" val="20002"/>
                    </a:ext>
                  </a:extLst>
                </a:gridCol>
                <a:gridCol w="1468963">
                  <a:extLst>
                    <a:ext uri="{9D8B030D-6E8A-4147-A177-3AD203B41FA5}">
                      <a16:colId xmlns:a16="http://schemas.microsoft.com/office/drawing/2014/main" val="20003"/>
                    </a:ext>
                  </a:extLst>
                </a:gridCol>
                <a:gridCol w="1468963">
                  <a:extLst>
                    <a:ext uri="{9D8B030D-6E8A-4147-A177-3AD203B41FA5}">
                      <a16:colId xmlns:a16="http://schemas.microsoft.com/office/drawing/2014/main" val="20004"/>
                    </a:ext>
                  </a:extLst>
                </a:gridCol>
              </a:tblGrid>
              <a:tr h="229101">
                <a:tc rowSpan="2">
                  <a:txBody>
                    <a:bodyPr/>
                    <a:lstStyle/>
                    <a:p>
                      <a:pPr algn="ctr"/>
                      <a:r>
                        <a:rPr lang="es-AR" sz="2000" dirty="0">
                          <a:solidFill>
                            <a:schemeClr val="tx1"/>
                          </a:solidFill>
                        </a:rPr>
                        <a:t>MES</a:t>
                      </a:r>
                    </a:p>
                  </a:txBody>
                  <a:tcPr anchor="ctr"/>
                </a:tc>
                <a:tc gridSpan="2">
                  <a:txBody>
                    <a:bodyPr/>
                    <a:lstStyle/>
                    <a:p>
                      <a:pPr algn="ctr"/>
                      <a:r>
                        <a:rPr lang="es-AR" sz="2000" dirty="0">
                          <a:solidFill>
                            <a:schemeClr val="tx1"/>
                          </a:solidFill>
                        </a:rPr>
                        <a:t>ARGENTINA</a:t>
                      </a:r>
                    </a:p>
                  </a:txBody>
                  <a:tcPr/>
                </a:tc>
                <a:tc hMerge="1">
                  <a:txBody>
                    <a:bodyPr/>
                    <a:lstStyle/>
                    <a:p>
                      <a:endParaRPr lang="es-AR" dirty="0"/>
                    </a:p>
                  </a:txBody>
                  <a:tcPr/>
                </a:tc>
                <a:tc gridSpan="2">
                  <a:txBody>
                    <a:bodyPr/>
                    <a:lstStyle/>
                    <a:p>
                      <a:pPr algn="ctr"/>
                      <a:r>
                        <a:rPr lang="es-AR" sz="2000" dirty="0">
                          <a:solidFill>
                            <a:schemeClr val="tx1"/>
                          </a:solidFill>
                        </a:rPr>
                        <a:t>CHILE</a:t>
                      </a:r>
                    </a:p>
                  </a:txBody>
                  <a:tcPr/>
                </a:tc>
                <a:tc hMerge="1">
                  <a:txBody>
                    <a:bodyPr/>
                    <a:lstStyle/>
                    <a:p>
                      <a:endParaRPr lang="es-AR" dirty="0"/>
                    </a:p>
                  </a:txBody>
                  <a:tcPr/>
                </a:tc>
                <a:extLst>
                  <a:ext uri="{0D108BD9-81ED-4DB2-BD59-A6C34878D82A}">
                    <a16:rowId xmlns:a16="http://schemas.microsoft.com/office/drawing/2014/main" val="10000"/>
                  </a:ext>
                </a:extLst>
              </a:tr>
              <a:tr h="395434">
                <a:tc vMerge="1">
                  <a:txBody>
                    <a:bodyPr/>
                    <a:lstStyle/>
                    <a:p>
                      <a:endParaRPr lang="es-AR" dirty="0"/>
                    </a:p>
                  </a:txBody>
                  <a:tcPr/>
                </a:tc>
                <a:tc>
                  <a:txBody>
                    <a:bodyPr/>
                    <a:lstStyle/>
                    <a:p>
                      <a:pPr algn="ctr"/>
                      <a:r>
                        <a:rPr lang="es-AR" sz="2000" b="1" dirty="0">
                          <a:solidFill>
                            <a:schemeClr val="tx1"/>
                          </a:solidFill>
                        </a:rPr>
                        <a:t>Hablan español</a:t>
                      </a:r>
                    </a:p>
                  </a:txBody>
                  <a:tcPr>
                    <a:solidFill>
                      <a:schemeClr val="accent1"/>
                    </a:solidFill>
                  </a:tcPr>
                </a:tc>
                <a:tc>
                  <a:txBody>
                    <a:bodyPr/>
                    <a:lstStyle/>
                    <a:p>
                      <a:pPr algn="ctr"/>
                      <a:r>
                        <a:rPr lang="es-AR" sz="2000" b="1" dirty="0">
                          <a:solidFill>
                            <a:schemeClr val="tx1"/>
                          </a:solidFill>
                        </a:rPr>
                        <a:t>No hablan español</a:t>
                      </a:r>
                    </a:p>
                  </a:txBody>
                  <a:tcPr>
                    <a:solidFill>
                      <a:schemeClr val="accent1"/>
                    </a:solidFill>
                  </a:tcPr>
                </a:tc>
                <a:tc>
                  <a:txBody>
                    <a:bodyPr/>
                    <a:lstStyle/>
                    <a:p>
                      <a:pPr algn="ctr"/>
                      <a:r>
                        <a:rPr lang="es-AR" sz="2000" b="1" dirty="0">
                          <a:solidFill>
                            <a:schemeClr val="tx1"/>
                          </a:solidFill>
                        </a:rPr>
                        <a:t>Hablan</a:t>
                      </a:r>
                      <a:r>
                        <a:rPr lang="es-AR" sz="2000" b="1" baseline="0" dirty="0">
                          <a:solidFill>
                            <a:schemeClr val="tx1"/>
                          </a:solidFill>
                        </a:rPr>
                        <a:t> español</a:t>
                      </a:r>
                      <a:endParaRPr lang="es-AR" sz="2000" b="1" dirty="0">
                        <a:solidFill>
                          <a:schemeClr val="tx1"/>
                        </a:solidFill>
                      </a:endParaRPr>
                    </a:p>
                  </a:txBody>
                  <a:tcPr>
                    <a:solidFill>
                      <a:schemeClr val="accent1"/>
                    </a:solidFill>
                  </a:tcPr>
                </a:tc>
                <a:tc>
                  <a:txBody>
                    <a:bodyPr/>
                    <a:lstStyle/>
                    <a:p>
                      <a:pPr algn="ctr"/>
                      <a:r>
                        <a:rPr lang="es-AR" sz="2000" b="1" dirty="0">
                          <a:solidFill>
                            <a:schemeClr val="tx1"/>
                          </a:solidFill>
                        </a:rPr>
                        <a:t>No hablan español</a:t>
                      </a:r>
                    </a:p>
                  </a:txBody>
                  <a:tcPr>
                    <a:solidFill>
                      <a:schemeClr val="accent1"/>
                    </a:solidFill>
                  </a:tcPr>
                </a:tc>
                <a:extLst>
                  <a:ext uri="{0D108BD9-81ED-4DB2-BD59-A6C34878D82A}">
                    <a16:rowId xmlns:a16="http://schemas.microsoft.com/office/drawing/2014/main" val="10001"/>
                  </a:ext>
                </a:extLst>
              </a:tr>
              <a:tr h="229101">
                <a:tc>
                  <a:txBody>
                    <a:bodyPr/>
                    <a:lstStyle/>
                    <a:p>
                      <a:r>
                        <a:rPr lang="es-AR" sz="2000" b="1" dirty="0">
                          <a:solidFill>
                            <a:schemeClr val="tx1"/>
                          </a:solidFill>
                        </a:rPr>
                        <a:t>Enero</a:t>
                      </a:r>
                    </a:p>
                  </a:txBody>
                  <a:tcPr>
                    <a:solidFill>
                      <a:schemeClr val="accent1"/>
                    </a:solidFill>
                  </a:tcPr>
                </a:tc>
                <a:tc>
                  <a:txBody>
                    <a:bodyPr/>
                    <a:lstStyle/>
                    <a:p>
                      <a:r>
                        <a:rPr lang="es-AR" sz="2000" dirty="0">
                          <a:solidFill>
                            <a:schemeClr val="tx1"/>
                          </a:solidFill>
                        </a:rPr>
                        <a:t>10</a:t>
                      </a:r>
                    </a:p>
                  </a:txBody>
                  <a:tcPr/>
                </a:tc>
                <a:tc>
                  <a:txBody>
                    <a:bodyPr/>
                    <a:lstStyle/>
                    <a:p>
                      <a:r>
                        <a:rPr lang="es-AR" sz="2000" dirty="0">
                          <a:solidFill>
                            <a:schemeClr val="tx1"/>
                          </a:solidFill>
                        </a:rPr>
                        <a:t>0</a:t>
                      </a:r>
                    </a:p>
                  </a:txBody>
                  <a:tcPr/>
                </a:tc>
                <a:tc>
                  <a:txBody>
                    <a:bodyPr/>
                    <a:lstStyle/>
                    <a:p>
                      <a:r>
                        <a:rPr lang="es-AR" sz="2000" dirty="0">
                          <a:solidFill>
                            <a:schemeClr val="tx1"/>
                          </a:solidFill>
                        </a:rPr>
                        <a:t>15</a:t>
                      </a:r>
                    </a:p>
                  </a:txBody>
                  <a:tcPr/>
                </a:tc>
                <a:tc>
                  <a:txBody>
                    <a:bodyPr/>
                    <a:lstStyle/>
                    <a:p>
                      <a:r>
                        <a:rPr lang="es-AR" sz="2000" dirty="0">
                          <a:solidFill>
                            <a:schemeClr val="tx1"/>
                          </a:solidFill>
                        </a:rPr>
                        <a:t>5</a:t>
                      </a:r>
                    </a:p>
                  </a:txBody>
                  <a:tcPr/>
                </a:tc>
                <a:extLst>
                  <a:ext uri="{0D108BD9-81ED-4DB2-BD59-A6C34878D82A}">
                    <a16:rowId xmlns:a16="http://schemas.microsoft.com/office/drawing/2014/main" val="10002"/>
                  </a:ext>
                </a:extLst>
              </a:tr>
              <a:tr h="229101">
                <a:tc>
                  <a:txBody>
                    <a:bodyPr/>
                    <a:lstStyle/>
                    <a:p>
                      <a:r>
                        <a:rPr lang="es-AR" sz="2000" b="1" dirty="0">
                          <a:solidFill>
                            <a:schemeClr val="tx1"/>
                          </a:solidFill>
                        </a:rPr>
                        <a:t>Febrero</a:t>
                      </a:r>
                    </a:p>
                  </a:txBody>
                  <a:tcPr>
                    <a:solidFill>
                      <a:schemeClr val="accent1"/>
                    </a:solidFill>
                  </a:tcPr>
                </a:tc>
                <a:tc>
                  <a:txBody>
                    <a:bodyPr/>
                    <a:lstStyle/>
                    <a:p>
                      <a:r>
                        <a:rPr lang="es-AR" sz="2000" dirty="0">
                          <a:solidFill>
                            <a:schemeClr val="tx1"/>
                          </a:solidFill>
                        </a:rPr>
                        <a:t>11</a:t>
                      </a:r>
                    </a:p>
                  </a:txBody>
                  <a:tcPr/>
                </a:tc>
                <a:tc>
                  <a:txBody>
                    <a:bodyPr/>
                    <a:lstStyle/>
                    <a:p>
                      <a:r>
                        <a:rPr lang="es-AR" sz="2000" dirty="0">
                          <a:solidFill>
                            <a:schemeClr val="tx1"/>
                          </a:solidFill>
                        </a:rPr>
                        <a:t>0</a:t>
                      </a:r>
                    </a:p>
                  </a:txBody>
                  <a:tcPr/>
                </a:tc>
                <a:tc>
                  <a:txBody>
                    <a:bodyPr/>
                    <a:lstStyle/>
                    <a:p>
                      <a:r>
                        <a:rPr lang="es-AR" sz="2000" dirty="0">
                          <a:solidFill>
                            <a:schemeClr val="tx1"/>
                          </a:solidFill>
                        </a:rPr>
                        <a:t>20</a:t>
                      </a:r>
                    </a:p>
                  </a:txBody>
                  <a:tcPr/>
                </a:tc>
                <a:tc>
                  <a:txBody>
                    <a:bodyPr/>
                    <a:lstStyle/>
                    <a:p>
                      <a:r>
                        <a:rPr lang="es-AR" sz="2000" dirty="0">
                          <a:solidFill>
                            <a:schemeClr val="tx1"/>
                          </a:solidFill>
                        </a:rPr>
                        <a:t>2</a:t>
                      </a:r>
                    </a:p>
                  </a:txBody>
                  <a:tcPr/>
                </a:tc>
                <a:extLst>
                  <a:ext uri="{0D108BD9-81ED-4DB2-BD59-A6C34878D82A}">
                    <a16:rowId xmlns:a16="http://schemas.microsoft.com/office/drawing/2014/main" val="10003"/>
                  </a:ext>
                </a:extLst>
              </a:tr>
            </a:tbl>
          </a:graphicData>
        </a:graphic>
      </p:graphicFrame>
      <p:sp>
        <p:nvSpPr>
          <p:cNvPr id="7" name="2 Marcador de contenido"/>
          <p:cNvSpPr txBox="1">
            <a:spLocks/>
          </p:cNvSpPr>
          <p:nvPr/>
        </p:nvSpPr>
        <p:spPr bwMode="auto">
          <a:xfrm>
            <a:off x="433810" y="5589241"/>
            <a:ext cx="8229600" cy="9361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20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000">
                <a:solidFill>
                  <a:schemeClr val="tx1"/>
                </a:solidFill>
                <a:latin typeface="+mn-lt"/>
                <a:cs typeface="+mn-cs"/>
              </a:defRPr>
            </a:lvl2pPr>
            <a:lvl3pPr marL="1143000" indent="-228600" algn="l" rtl="0" eaLnBrk="0" fontAlgn="base" hangingPunct="0">
              <a:spcBef>
                <a:spcPct val="20000"/>
              </a:spcBef>
              <a:spcAft>
                <a:spcPct val="0"/>
              </a:spcAft>
              <a:buChar char="•"/>
              <a:defRPr sz="2000">
                <a:solidFill>
                  <a:schemeClr val="tx1"/>
                </a:solidFill>
                <a:latin typeface="+mn-lt"/>
                <a:cs typeface="+mn-cs"/>
              </a:defRPr>
            </a:lvl3pPr>
            <a:lvl4pPr marL="1600200" indent="-228600" algn="l" rtl="0" eaLnBrk="0" fontAlgn="base" hangingPunct="0">
              <a:spcBef>
                <a:spcPct val="20000"/>
              </a:spcBef>
              <a:spcAft>
                <a:spcPct val="0"/>
              </a:spcAft>
              <a:buChar char="–"/>
              <a:defRPr sz="2000">
                <a:solidFill>
                  <a:schemeClr val="tx1"/>
                </a:solidFill>
                <a:latin typeface="+mn-lt"/>
                <a:cs typeface="+mn-cs"/>
              </a:defRPr>
            </a:lvl4pPr>
            <a:lvl5pPr marL="2057400" indent="-228600" algn="l" rtl="0" eaLnBrk="0" fontAlgn="base" hangingPunct="0">
              <a:spcBef>
                <a:spcPct val="20000"/>
              </a:spcBef>
              <a:spcAft>
                <a:spcPct val="0"/>
              </a:spcAft>
              <a:buChar char="»"/>
              <a:defRPr sz="2000">
                <a:solidFill>
                  <a:schemeClr val="tx1"/>
                </a:solidFill>
                <a:latin typeface="+mn-lt"/>
                <a:cs typeface="+mn-cs"/>
              </a:defRPr>
            </a:lvl5pPr>
            <a:lvl6pPr marL="2514600" indent="-228600" algn="l" rtl="0" fontAlgn="base">
              <a:spcBef>
                <a:spcPct val="20000"/>
              </a:spcBef>
              <a:spcAft>
                <a:spcPct val="0"/>
              </a:spcAft>
              <a:buChar char="»"/>
              <a:defRPr sz="2000">
                <a:solidFill>
                  <a:schemeClr val="tx1"/>
                </a:solidFill>
                <a:latin typeface="+mn-lt"/>
                <a:cs typeface="+mn-cs"/>
              </a:defRPr>
            </a:lvl6pPr>
            <a:lvl7pPr marL="2971800" indent="-228600" algn="l" rtl="0" fontAlgn="base">
              <a:spcBef>
                <a:spcPct val="20000"/>
              </a:spcBef>
              <a:spcAft>
                <a:spcPct val="0"/>
              </a:spcAft>
              <a:buChar char="»"/>
              <a:defRPr sz="2000">
                <a:solidFill>
                  <a:schemeClr val="tx1"/>
                </a:solidFill>
                <a:latin typeface="+mn-lt"/>
                <a:cs typeface="+mn-cs"/>
              </a:defRPr>
            </a:lvl7pPr>
            <a:lvl8pPr marL="3429000" indent="-228600" algn="l" rtl="0" fontAlgn="base">
              <a:spcBef>
                <a:spcPct val="20000"/>
              </a:spcBef>
              <a:spcAft>
                <a:spcPct val="0"/>
              </a:spcAft>
              <a:buChar char="»"/>
              <a:defRPr sz="2000">
                <a:solidFill>
                  <a:schemeClr val="tx1"/>
                </a:solidFill>
                <a:latin typeface="+mn-lt"/>
                <a:cs typeface="+mn-cs"/>
              </a:defRPr>
            </a:lvl8pPr>
            <a:lvl9pPr marL="3886200" indent="-228600" algn="l" rtl="0" fontAlgn="base">
              <a:spcBef>
                <a:spcPct val="20000"/>
              </a:spcBef>
              <a:spcAft>
                <a:spcPct val="0"/>
              </a:spcAft>
              <a:buChar char="»"/>
              <a:defRPr sz="2000">
                <a:solidFill>
                  <a:schemeClr val="tx1"/>
                </a:solidFill>
                <a:latin typeface="+mn-lt"/>
                <a:cs typeface="+mn-cs"/>
              </a:defRPr>
            </a:lvl9pPr>
          </a:lstStyle>
          <a:p>
            <a:pPr marL="114300" indent="0" algn="just">
              <a:lnSpc>
                <a:spcPct val="90000"/>
              </a:lnSpc>
            </a:pPr>
            <a:r>
              <a:rPr lang="es-AR" dirty="0"/>
              <a:t> Personas videntes: En el mes de Enero, en Argentina 10 visitantes de rrrr.com hablaban español.</a:t>
            </a:r>
          </a:p>
          <a:p>
            <a:pPr marL="114300" indent="0" algn="just">
              <a:lnSpc>
                <a:spcPct val="90000"/>
              </a:lnSpc>
            </a:pPr>
            <a:r>
              <a:rPr lang="es-AR" dirty="0"/>
              <a:t> Personas invidentes: ¿Cómo perciben la tabla?</a:t>
            </a:r>
            <a:endParaRPr lang="es-AR" kern="0" dirty="0"/>
          </a:p>
        </p:txBody>
      </p:sp>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83</a:t>
            </a:fld>
            <a:endParaRPr lang="es-ES" altLang="es-AR"/>
          </a:p>
        </p:txBody>
      </p:sp>
    </p:spTree>
    <p:extLst>
      <p:ext uri="{BB962C8B-B14F-4D97-AF65-F5344CB8AC3E}">
        <p14:creationId xmlns:p14="http://schemas.microsoft.com/office/powerpoint/2010/main" val="4273874789"/>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1 Título"/>
          <p:cNvSpPr>
            <a:spLocks noGrp="1"/>
          </p:cNvSpPr>
          <p:nvPr>
            <p:ph type="title"/>
          </p:nvPr>
        </p:nvSpPr>
        <p:spPr>
          <a:xfrm>
            <a:off x="457200" y="274638"/>
            <a:ext cx="8229600" cy="654050"/>
          </a:xfrm>
        </p:spPr>
        <p:txBody>
          <a:bodyPr/>
          <a:lstStyle/>
          <a:p>
            <a:r>
              <a:rPr lang="es-AR" altLang="es-AR" b="1"/>
              <a:t>Contenido accesible</a:t>
            </a:r>
          </a:p>
        </p:txBody>
      </p:sp>
      <p:sp>
        <p:nvSpPr>
          <p:cNvPr id="57347" name="2 Marcador de contenido"/>
          <p:cNvSpPr>
            <a:spLocks noGrp="1"/>
          </p:cNvSpPr>
          <p:nvPr>
            <p:ph idx="1"/>
          </p:nvPr>
        </p:nvSpPr>
        <p:spPr>
          <a:xfrm>
            <a:off x="430213" y="1916113"/>
            <a:ext cx="4933872" cy="1440879"/>
          </a:xfrm>
        </p:spPr>
        <p:txBody>
          <a:bodyPr/>
          <a:lstStyle/>
          <a:p>
            <a:pPr>
              <a:lnSpc>
                <a:spcPct val="90000"/>
              </a:lnSpc>
            </a:pPr>
            <a:r>
              <a:rPr lang="es-AR" dirty="0"/>
              <a:t>Tablas</a:t>
            </a:r>
          </a:p>
          <a:p>
            <a:pPr marL="0" indent="0">
              <a:lnSpc>
                <a:spcPct val="90000"/>
              </a:lnSpc>
              <a:buNone/>
            </a:pPr>
            <a:endParaRPr lang="es-AR" dirty="0"/>
          </a:p>
          <a:p>
            <a:pPr lvl="1" algn="just">
              <a:lnSpc>
                <a:spcPct val="90000"/>
              </a:lnSpc>
            </a:pPr>
            <a:r>
              <a:rPr lang="es-AR" dirty="0"/>
              <a:t>¿Cómo se leen las tablas?</a:t>
            </a:r>
          </a:p>
          <a:p>
            <a:pPr lvl="1">
              <a:lnSpc>
                <a:spcPct val="90000"/>
              </a:lnSpc>
              <a:buNone/>
            </a:pPr>
            <a:r>
              <a:rPr lang="es-AR" i="1" dirty="0"/>
              <a:t>Visitantes de rrrr.com por países</a:t>
            </a:r>
          </a:p>
          <a:p>
            <a:pPr lvl="2" algn="just">
              <a:lnSpc>
                <a:spcPct val="90000"/>
              </a:lnSpc>
              <a:buNone/>
            </a:pPr>
            <a:endParaRPr lang="es-AR" dirty="0"/>
          </a:p>
        </p:txBody>
      </p:sp>
      <p:graphicFrame>
        <p:nvGraphicFramePr>
          <p:cNvPr id="6" name="3 Tabla"/>
          <p:cNvGraphicFramePr>
            <a:graphicFrameLocks noGrp="1"/>
          </p:cNvGraphicFramePr>
          <p:nvPr>
            <p:extLst>
              <p:ext uri="{D42A27DB-BD31-4B8C-83A1-F6EECF244321}">
                <p14:modId xmlns:p14="http://schemas.microsoft.com/office/powerpoint/2010/main" val="975610132"/>
              </p:ext>
            </p:extLst>
          </p:nvPr>
        </p:nvGraphicFramePr>
        <p:xfrm>
          <a:off x="611560" y="3403225"/>
          <a:ext cx="4752525" cy="1904803"/>
        </p:xfrm>
        <a:graphic>
          <a:graphicData uri="http://schemas.openxmlformats.org/drawingml/2006/table">
            <a:tbl>
              <a:tblPr firstRow="1" bandRow="1">
                <a:tableStyleId>{5C22544A-7EE6-4342-B048-85BDC9FD1C3A}</a:tableStyleId>
              </a:tblPr>
              <a:tblGrid>
                <a:gridCol w="950505">
                  <a:extLst>
                    <a:ext uri="{9D8B030D-6E8A-4147-A177-3AD203B41FA5}">
                      <a16:colId xmlns:a16="http://schemas.microsoft.com/office/drawing/2014/main" val="20000"/>
                    </a:ext>
                  </a:extLst>
                </a:gridCol>
                <a:gridCol w="950505">
                  <a:extLst>
                    <a:ext uri="{9D8B030D-6E8A-4147-A177-3AD203B41FA5}">
                      <a16:colId xmlns:a16="http://schemas.microsoft.com/office/drawing/2014/main" val="20001"/>
                    </a:ext>
                  </a:extLst>
                </a:gridCol>
                <a:gridCol w="950505">
                  <a:extLst>
                    <a:ext uri="{9D8B030D-6E8A-4147-A177-3AD203B41FA5}">
                      <a16:colId xmlns:a16="http://schemas.microsoft.com/office/drawing/2014/main" val="20002"/>
                    </a:ext>
                  </a:extLst>
                </a:gridCol>
                <a:gridCol w="950505">
                  <a:extLst>
                    <a:ext uri="{9D8B030D-6E8A-4147-A177-3AD203B41FA5}">
                      <a16:colId xmlns:a16="http://schemas.microsoft.com/office/drawing/2014/main" val="20003"/>
                    </a:ext>
                  </a:extLst>
                </a:gridCol>
                <a:gridCol w="950505">
                  <a:extLst>
                    <a:ext uri="{9D8B030D-6E8A-4147-A177-3AD203B41FA5}">
                      <a16:colId xmlns:a16="http://schemas.microsoft.com/office/drawing/2014/main" val="20004"/>
                    </a:ext>
                  </a:extLst>
                </a:gridCol>
              </a:tblGrid>
              <a:tr h="343923">
                <a:tc rowSpan="2">
                  <a:txBody>
                    <a:bodyPr/>
                    <a:lstStyle/>
                    <a:p>
                      <a:pPr algn="ctr"/>
                      <a:r>
                        <a:rPr lang="es-AR" sz="1600" dirty="0">
                          <a:solidFill>
                            <a:schemeClr val="tx1"/>
                          </a:solidFill>
                        </a:rPr>
                        <a:t>MES</a:t>
                      </a:r>
                    </a:p>
                  </a:txBody>
                  <a:tcPr anchor="ctr"/>
                </a:tc>
                <a:tc gridSpan="2">
                  <a:txBody>
                    <a:bodyPr/>
                    <a:lstStyle/>
                    <a:p>
                      <a:pPr algn="ctr"/>
                      <a:r>
                        <a:rPr lang="es-AR" sz="1600" dirty="0">
                          <a:solidFill>
                            <a:schemeClr val="tx1"/>
                          </a:solidFill>
                        </a:rPr>
                        <a:t>ARGENTINA</a:t>
                      </a:r>
                    </a:p>
                  </a:txBody>
                  <a:tcPr/>
                </a:tc>
                <a:tc hMerge="1">
                  <a:txBody>
                    <a:bodyPr/>
                    <a:lstStyle/>
                    <a:p>
                      <a:endParaRPr lang="es-AR" dirty="0"/>
                    </a:p>
                  </a:txBody>
                  <a:tcPr/>
                </a:tc>
                <a:tc gridSpan="2">
                  <a:txBody>
                    <a:bodyPr/>
                    <a:lstStyle/>
                    <a:p>
                      <a:pPr algn="ctr"/>
                      <a:r>
                        <a:rPr lang="es-AR" sz="1600" dirty="0">
                          <a:solidFill>
                            <a:schemeClr val="tx1"/>
                          </a:solidFill>
                        </a:rPr>
                        <a:t>CHILE</a:t>
                      </a:r>
                    </a:p>
                  </a:txBody>
                  <a:tcPr/>
                </a:tc>
                <a:tc hMerge="1">
                  <a:txBody>
                    <a:bodyPr/>
                    <a:lstStyle/>
                    <a:p>
                      <a:endParaRPr lang="es-AR" dirty="0"/>
                    </a:p>
                  </a:txBody>
                  <a:tcPr/>
                </a:tc>
                <a:extLst>
                  <a:ext uri="{0D108BD9-81ED-4DB2-BD59-A6C34878D82A}">
                    <a16:rowId xmlns:a16="http://schemas.microsoft.com/office/drawing/2014/main" val="10000"/>
                  </a:ext>
                </a:extLst>
              </a:tr>
              <a:tr h="873034">
                <a:tc vMerge="1">
                  <a:txBody>
                    <a:bodyPr/>
                    <a:lstStyle/>
                    <a:p>
                      <a:endParaRPr lang="es-AR" dirty="0"/>
                    </a:p>
                  </a:txBody>
                  <a:tcPr/>
                </a:tc>
                <a:tc>
                  <a:txBody>
                    <a:bodyPr/>
                    <a:lstStyle/>
                    <a:p>
                      <a:pPr algn="ctr"/>
                      <a:r>
                        <a:rPr lang="es-AR" sz="1600" b="1" dirty="0">
                          <a:solidFill>
                            <a:schemeClr val="tx1"/>
                          </a:solidFill>
                        </a:rPr>
                        <a:t>Hablan español</a:t>
                      </a:r>
                    </a:p>
                  </a:txBody>
                  <a:tcPr>
                    <a:solidFill>
                      <a:schemeClr val="accent1"/>
                    </a:solidFill>
                  </a:tcPr>
                </a:tc>
                <a:tc>
                  <a:txBody>
                    <a:bodyPr/>
                    <a:lstStyle/>
                    <a:p>
                      <a:pPr algn="ctr"/>
                      <a:r>
                        <a:rPr lang="es-AR" sz="1600" b="1" dirty="0">
                          <a:solidFill>
                            <a:schemeClr val="tx1"/>
                          </a:solidFill>
                        </a:rPr>
                        <a:t>No hablan español</a:t>
                      </a:r>
                    </a:p>
                  </a:txBody>
                  <a:tcPr>
                    <a:solidFill>
                      <a:schemeClr val="accent1"/>
                    </a:solidFill>
                  </a:tcPr>
                </a:tc>
                <a:tc>
                  <a:txBody>
                    <a:bodyPr/>
                    <a:lstStyle/>
                    <a:p>
                      <a:pPr algn="ctr"/>
                      <a:r>
                        <a:rPr lang="es-AR" sz="1600" b="1" dirty="0">
                          <a:solidFill>
                            <a:schemeClr val="tx1"/>
                          </a:solidFill>
                        </a:rPr>
                        <a:t>Hablan</a:t>
                      </a:r>
                      <a:r>
                        <a:rPr lang="es-AR" sz="1600" b="1" baseline="0" dirty="0">
                          <a:solidFill>
                            <a:schemeClr val="tx1"/>
                          </a:solidFill>
                        </a:rPr>
                        <a:t> español</a:t>
                      </a:r>
                      <a:endParaRPr lang="es-AR" sz="1600" b="1" dirty="0">
                        <a:solidFill>
                          <a:schemeClr val="tx1"/>
                        </a:solidFill>
                      </a:endParaRPr>
                    </a:p>
                  </a:txBody>
                  <a:tcPr>
                    <a:solidFill>
                      <a:schemeClr val="accent1"/>
                    </a:solidFill>
                  </a:tcPr>
                </a:tc>
                <a:tc>
                  <a:txBody>
                    <a:bodyPr/>
                    <a:lstStyle/>
                    <a:p>
                      <a:pPr algn="ctr"/>
                      <a:r>
                        <a:rPr lang="es-AR" sz="1600" b="1" dirty="0">
                          <a:solidFill>
                            <a:schemeClr val="tx1"/>
                          </a:solidFill>
                        </a:rPr>
                        <a:t>No hablan español</a:t>
                      </a:r>
                    </a:p>
                  </a:txBody>
                  <a:tcPr>
                    <a:solidFill>
                      <a:schemeClr val="accent1"/>
                    </a:solidFill>
                  </a:tcPr>
                </a:tc>
                <a:extLst>
                  <a:ext uri="{0D108BD9-81ED-4DB2-BD59-A6C34878D82A}">
                    <a16:rowId xmlns:a16="http://schemas.microsoft.com/office/drawing/2014/main" val="10001"/>
                  </a:ext>
                </a:extLst>
              </a:tr>
              <a:tr h="343923">
                <a:tc>
                  <a:txBody>
                    <a:bodyPr/>
                    <a:lstStyle/>
                    <a:p>
                      <a:r>
                        <a:rPr lang="es-AR" sz="1600" b="1" dirty="0">
                          <a:solidFill>
                            <a:schemeClr val="tx1"/>
                          </a:solidFill>
                        </a:rPr>
                        <a:t>Enero</a:t>
                      </a:r>
                    </a:p>
                  </a:txBody>
                  <a:tcPr>
                    <a:solidFill>
                      <a:schemeClr val="accent1"/>
                    </a:solidFill>
                  </a:tcPr>
                </a:tc>
                <a:tc>
                  <a:txBody>
                    <a:bodyPr/>
                    <a:lstStyle/>
                    <a:p>
                      <a:r>
                        <a:rPr lang="es-AR" sz="1600" dirty="0">
                          <a:solidFill>
                            <a:schemeClr val="tx1"/>
                          </a:solidFill>
                        </a:rPr>
                        <a:t>10</a:t>
                      </a:r>
                    </a:p>
                  </a:txBody>
                  <a:tcPr/>
                </a:tc>
                <a:tc>
                  <a:txBody>
                    <a:bodyPr/>
                    <a:lstStyle/>
                    <a:p>
                      <a:r>
                        <a:rPr lang="es-AR" sz="1600" dirty="0">
                          <a:solidFill>
                            <a:schemeClr val="tx1"/>
                          </a:solidFill>
                        </a:rPr>
                        <a:t>0</a:t>
                      </a:r>
                    </a:p>
                  </a:txBody>
                  <a:tcPr/>
                </a:tc>
                <a:tc>
                  <a:txBody>
                    <a:bodyPr/>
                    <a:lstStyle/>
                    <a:p>
                      <a:r>
                        <a:rPr lang="es-AR" sz="1600" dirty="0">
                          <a:solidFill>
                            <a:schemeClr val="tx1"/>
                          </a:solidFill>
                        </a:rPr>
                        <a:t>15</a:t>
                      </a:r>
                    </a:p>
                  </a:txBody>
                  <a:tcPr/>
                </a:tc>
                <a:tc>
                  <a:txBody>
                    <a:bodyPr/>
                    <a:lstStyle/>
                    <a:p>
                      <a:r>
                        <a:rPr lang="es-AR" sz="1600" dirty="0">
                          <a:solidFill>
                            <a:schemeClr val="tx1"/>
                          </a:solidFill>
                        </a:rPr>
                        <a:t>5</a:t>
                      </a:r>
                    </a:p>
                  </a:txBody>
                  <a:tcPr/>
                </a:tc>
                <a:extLst>
                  <a:ext uri="{0D108BD9-81ED-4DB2-BD59-A6C34878D82A}">
                    <a16:rowId xmlns:a16="http://schemas.microsoft.com/office/drawing/2014/main" val="10002"/>
                  </a:ext>
                </a:extLst>
              </a:tr>
              <a:tr h="343923">
                <a:tc>
                  <a:txBody>
                    <a:bodyPr/>
                    <a:lstStyle/>
                    <a:p>
                      <a:r>
                        <a:rPr lang="es-AR" sz="1600" b="1" dirty="0">
                          <a:solidFill>
                            <a:schemeClr val="tx1"/>
                          </a:solidFill>
                        </a:rPr>
                        <a:t>Febrero</a:t>
                      </a:r>
                    </a:p>
                  </a:txBody>
                  <a:tcPr>
                    <a:solidFill>
                      <a:schemeClr val="accent1"/>
                    </a:solidFill>
                  </a:tcPr>
                </a:tc>
                <a:tc>
                  <a:txBody>
                    <a:bodyPr/>
                    <a:lstStyle/>
                    <a:p>
                      <a:r>
                        <a:rPr lang="es-AR" sz="1600" dirty="0">
                          <a:solidFill>
                            <a:schemeClr val="tx1"/>
                          </a:solidFill>
                        </a:rPr>
                        <a:t>11</a:t>
                      </a:r>
                    </a:p>
                  </a:txBody>
                  <a:tcPr/>
                </a:tc>
                <a:tc>
                  <a:txBody>
                    <a:bodyPr/>
                    <a:lstStyle/>
                    <a:p>
                      <a:r>
                        <a:rPr lang="es-AR" sz="1600" dirty="0">
                          <a:solidFill>
                            <a:schemeClr val="tx1"/>
                          </a:solidFill>
                        </a:rPr>
                        <a:t>0</a:t>
                      </a:r>
                    </a:p>
                  </a:txBody>
                  <a:tcPr/>
                </a:tc>
                <a:tc>
                  <a:txBody>
                    <a:bodyPr/>
                    <a:lstStyle/>
                    <a:p>
                      <a:r>
                        <a:rPr lang="es-AR" sz="1600" dirty="0">
                          <a:solidFill>
                            <a:schemeClr val="tx1"/>
                          </a:solidFill>
                        </a:rPr>
                        <a:t>20</a:t>
                      </a:r>
                    </a:p>
                  </a:txBody>
                  <a:tcPr/>
                </a:tc>
                <a:tc>
                  <a:txBody>
                    <a:bodyPr/>
                    <a:lstStyle/>
                    <a:p>
                      <a:r>
                        <a:rPr lang="es-AR" sz="1600" dirty="0">
                          <a:solidFill>
                            <a:schemeClr val="tx1"/>
                          </a:solidFill>
                        </a:rPr>
                        <a:t>2</a:t>
                      </a:r>
                    </a:p>
                  </a:txBody>
                  <a:tcPr/>
                </a:tc>
                <a:extLst>
                  <a:ext uri="{0D108BD9-81ED-4DB2-BD59-A6C34878D82A}">
                    <a16:rowId xmlns:a16="http://schemas.microsoft.com/office/drawing/2014/main" val="10003"/>
                  </a:ext>
                </a:extLst>
              </a:tr>
            </a:tbl>
          </a:graphicData>
        </a:graphic>
      </p:graphicFrame>
      <p:sp>
        <p:nvSpPr>
          <p:cNvPr id="7" name="2 Marcador de contenido"/>
          <p:cNvSpPr txBox="1">
            <a:spLocks/>
          </p:cNvSpPr>
          <p:nvPr/>
        </p:nvSpPr>
        <p:spPr bwMode="auto">
          <a:xfrm>
            <a:off x="1854831" y="5733256"/>
            <a:ext cx="2265982" cy="4320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20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000">
                <a:solidFill>
                  <a:schemeClr val="tx1"/>
                </a:solidFill>
                <a:latin typeface="+mn-lt"/>
                <a:cs typeface="+mn-cs"/>
              </a:defRPr>
            </a:lvl2pPr>
            <a:lvl3pPr marL="1143000" indent="-228600" algn="l" rtl="0" eaLnBrk="0" fontAlgn="base" hangingPunct="0">
              <a:spcBef>
                <a:spcPct val="20000"/>
              </a:spcBef>
              <a:spcAft>
                <a:spcPct val="0"/>
              </a:spcAft>
              <a:buChar char="•"/>
              <a:defRPr sz="2000">
                <a:solidFill>
                  <a:schemeClr val="tx1"/>
                </a:solidFill>
                <a:latin typeface="+mn-lt"/>
                <a:cs typeface="+mn-cs"/>
              </a:defRPr>
            </a:lvl3pPr>
            <a:lvl4pPr marL="1600200" indent="-228600" algn="l" rtl="0" eaLnBrk="0" fontAlgn="base" hangingPunct="0">
              <a:spcBef>
                <a:spcPct val="20000"/>
              </a:spcBef>
              <a:spcAft>
                <a:spcPct val="0"/>
              </a:spcAft>
              <a:buChar char="–"/>
              <a:defRPr sz="2000">
                <a:solidFill>
                  <a:schemeClr val="tx1"/>
                </a:solidFill>
                <a:latin typeface="+mn-lt"/>
                <a:cs typeface="+mn-cs"/>
              </a:defRPr>
            </a:lvl4pPr>
            <a:lvl5pPr marL="2057400" indent="-228600" algn="l" rtl="0" eaLnBrk="0" fontAlgn="base" hangingPunct="0">
              <a:spcBef>
                <a:spcPct val="20000"/>
              </a:spcBef>
              <a:spcAft>
                <a:spcPct val="0"/>
              </a:spcAft>
              <a:buChar char="»"/>
              <a:defRPr sz="2000">
                <a:solidFill>
                  <a:schemeClr val="tx1"/>
                </a:solidFill>
                <a:latin typeface="+mn-lt"/>
                <a:cs typeface="+mn-cs"/>
              </a:defRPr>
            </a:lvl5pPr>
            <a:lvl6pPr marL="2514600" indent="-228600" algn="l" rtl="0" fontAlgn="base">
              <a:spcBef>
                <a:spcPct val="20000"/>
              </a:spcBef>
              <a:spcAft>
                <a:spcPct val="0"/>
              </a:spcAft>
              <a:buChar char="»"/>
              <a:defRPr sz="2000">
                <a:solidFill>
                  <a:schemeClr val="tx1"/>
                </a:solidFill>
                <a:latin typeface="+mn-lt"/>
                <a:cs typeface="+mn-cs"/>
              </a:defRPr>
            </a:lvl6pPr>
            <a:lvl7pPr marL="2971800" indent="-228600" algn="l" rtl="0" fontAlgn="base">
              <a:spcBef>
                <a:spcPct val="20000"/>
              </a:spcBef>
              <a:spcAft>
                <a:spcPct val="0"/>
              </a:spcAft>
              <a:buChar char="»"/>
              <a:defRPr sz="2000">
                <a:solidFill>
                  <a:schemeClr val="tx1"/>
                </a:solidFill>
                <a:latin typeface="+mn-lt"/>
                <a:cs typeface="+mn-cs"/>
              </a:defRPr>
            </a:lvl7pPr>
            <a:lvl8pPr marL="3429000" indent="-228600" algn="l" rtl="0" fontAlgn="base">
              <a:spcBef>
                <a:spcPct val="20000"/>
              </a:spcBef>
              <a:spcAft>
                <a:spcPct val="0"/>
              </a:spcAft>
              <a:buChar char="»"/>
              <a:defRPr sz="2000">
                <a:solidFill>
                  <a:schemeClr val="tx1"/>
                </a:solidFill>
                <a:latin typeface="+mn-lt"/>
                <a:cs typeface="+mn-cs"/>
              </a:defRPr>
            </a:lvl8pPr>
            <a:lvl9pPr marL="3886200" indent="-228600" algn="l" rtl="0" fontAlgn="base">
              <a:spcBef>
                <a:spcPct val="20000"/>
              </a:spcBef>
              <a:spcAft>
                <a:spcPct val="0"/>
              </a:spcAft>
              <a:buChar char="»"/>
              <a:defRPr sz="2000">
                <a:solidFill>
                  <a:schemeClr val="tx1"/>
                </a:solidFill>
                <a:latin typeface="+mn-lt"/>
                <a:cs typeface="+mn-cs"/>
              </a:defRPr>
            </a:lvl9pPr>
          </a:lstStyle>
          <a:p>
            <a:pPr marL="114300" indent="0" algn="just">
              <a:lnSpc>
                <a:spcPct val="90000"/>
              </a:lnSpc>
              <a:buNone/>
            </a:pPr>
            <a:r>
              <a:rPr lang="es-AR" b="1" dirty="0">
                <a:solidFill>
                  <a:srgbClr val="FF0000"/>
                </a:solidFill>
              </a:rPr>
              <a:t>NO ACCESIBLE</a:t>
            </a:r>
            <a:endParaRPr lang="es-AR" b="1" kern="0" dirty="0">
              <a:solidFill>
                <a:srgbClr val="FF0000"/>
              </a:solidFill>
            </a:endParaRPr>
          </a:p>
        </p:txBody>
      </p:sp>
      <p:graphicFrame>
        <p:nvGraphicFramePr>
          <p:cNvPr id="8" name="5 Tabla"/>
          <p:cNvGraphicFramePr>
            <a:graphicFrameLocks noGrp="1"/>
          </p:cNvGraphicFramePr>
          <p:nvPr>
            <p:extLst>
              <p:ext uri="{D42A27DB-BD31-4B8C-83A1-F6EECF244321}">
                <p14:modId xmlns:p14="http://schemas.microsoft.com/office/powerpoint/2010/main" val="3376320872"/>
              </p:ext>
            </p:extLst>
          </p:nvPr>
        </p:nvGraphicFramePr>
        <p:xfrm>
          <a:off x="5844950" y="476672"/>
          <a:ext cx="3293035" cy="6278880"/>
        </p:xfrm>
        <a:graphic>
          <a:graphicData uri="http://schemas.openxmlformats.org/drawingml/2006/table">
            <a:tbl>
              <a:tblPr firstRow="1" bandRow="1">
                <a:tableStyleId>{5C22544A-7EE6-4342-B048-85BDC9FD1C3A}</a:tableStyleId>
              </a:tblPr>
              <a:tblGrid>
                <a:gridCol w="3293035">
                  <a:extLst>
                    <a:ext uri="{9D8B030D-6E8A-4147-A177-3AD203B41FA5}">
                      <a16:colId xmlns:a16="http://schemas.microsoft.com/office/drawing/2014/main" val="20000"/>
                    </a:ext>
                  </a:extLst>
                </a:gridCol>
              </a:tblGrid>
              <a:tr h="260786">
                <a:tc>
                  <a:txBody>
                    <a:bodyPr/>
                    <a:lstStyle/>
                    <a:p>
                      <a:pPr algn="ctr"/>
                      <a:r>
                        <a:rPr lang="es-AR" sz="1600" dirty="0">
                          <a:solidFill>
                            <a:schemeClr val="tx1"/>
                          </a:solidFill>
                        </a:rPr>
                        <a:t>Visitantes de rrrr.com por países</a:t>
                      </a:r>
                    </a:p>
                  </a:txBody>
                  <a:tcPr>
                    <a:solidFill>
                      <a:schemeClr val="bg1"/>
                    </a:solidFill>
                  </a:tcPr>
                </a:tc>
                <a:extLst>
                  <a:ext uri="{0D108BD9-81ED-4DB2-BD59-A6C34878D82A}">
                    <a16:rowId xmlns:a16="http://schemas.microsoft.com/office/drawing/2014/main" val="10000"/>
                  </a:ext>
                </a:extLst>
              </a:tr>
              <a:tr h="260786">
                <a:tc>
                  <a:txBody>
                    <a:bodyPr/>
                    <a:lstStyle/>
                    <a:p>
                      <a:pPr algn="ctr"/>
                      <a:r>
                        <a:rPr lang="es-AR" sz="1600" b="1" dirty="0">
                          <a:solidFill>
                            <a:schemeClr val="tx1"/>
                          </a:solidFill>
                        </a:rPr>
                        <a:t>MES</a:t>
                      </a:r>
                    </a:p>
                  </a:txBody>
                  <a:tcPr>
                    <a:solidFill>
                      <a:schemeClr val="accent1"/>
                    </a:solidFill>
                  </a:tcPr>
                </a:tc>
                <a:extLst>
                  <a:ext uri="{0D108BD9-81ED-4DB2-BD59-A6C34878D82A}">
                    <a16:rowId xmlns:a16="http://schemas.microsoft.com/office/drawing/2014/main" val="10001"/>
                  </a:ext>
                </a:extLst>
              </a:tr>
              <a:tr h="260786">
                <a:tc>
                  <a:txBody>
                    <a:bodyPr/>
                    <a:lstStyle/>
                    <a:p>
                      <a:pPr algn="ctr"/>
                      <a:r>
                        <a:rPr lang="es-AR" sz="1600" b="1" dirty="0">
                          <a:solidFill>
                            <a:schemeClr val="tx1"/>
                          </a:solidFill>
                        </a:rPr>
                        <a:t>ARGENTINA</a:t>
                      </a:r>
                    </a:p>
                  </a:txBody>
                  <a:tcPr>
                    <a:solidFill>
                      <a:schemeClr val="accent1"/>
                    </a:solidFill>
                  </a:tcPr>
                </a:tc>
                <a:extLst>
                  <a:ext uri="{0D108BD9-81ED-4DB2-BD59-A6C34878D82A}">
                    <a16:rowId xmlns:a16="http://schemas.microsoft.com/office/drawing/2014/main" val="10002"/>
                  </a:ext>
                </a:extLst>
              </a:tr>
              <a:tr h="260786">
                <a:tc>
                  <a:txBody>
                    <a:bodyPr/>
                    <a:lstStyle/>
                    <a:p>
                      <a:pPr algn="ctr"/>
                      <a:r>
                        <a:rPr lang="es-AR" sz="1600" b="1" dirty="0">
                          <a:solidFill>
                            <a:schemeClr val="tx1"/>
                          </a:solidFill>
                        </a:rPr>
                        <a:t>CHILE</a:t>
                      </a:r>
                    </a:p>
                  </a:txBody>
                  <a:tcPr>
                    <a:solidFill>
                      <a:schemeClr val="accent1"/>
                    </a:solidFill>
                  </a:tcPr>
                </a:tc>
                <a:extLst>
                  <a:ext uri="{0D108BD9-81ED-4DB2-BD59-A6C34878D82A}">
                    <a16:rowId xmlns:a16="http://schemas.microsoft.com/office/drawing/2014/main" val="10003"/>
                  </a:ext>
                </a:extLst>
              </a:tr>
              <a:tr h="260786">
                <a:tc>
                  <a:txBody>
                    <a:bodyPr/>
                    <a:lstStyle/>
                    <a:p>
                      <a:pPr algn="ctr"/>
                      <a:r>
                        <a:rPr lang="es-AR" sz="1600" b="1" dirty="0">
                          <a:solidFill>
                            <a:schemeClr val="tx1"/>
                          </a:solidFill>
                        </a:rPr>
                        <a:t>Hablan español</a:t>
                      </a:r>
                    </a:p>
                  </a:txBody>
                  <a:tcPr>
                    <a:solidFill>
                      <a:schemeClr val="accent1"/>
                    </a:solidFill>
                  </a:tcPr>
                </a:tc>
                <a:extLst>
                  <a:ext uri="{0D108BD9-81ED-4DB2-BD59-A6C34878D82A}">
                    <a16:rowId xmlns:a16="http://schemas.microsoft.com/office/drawing/2014/main" val="10004"/>
                  </a:ext>
                </a:extLst>
              </a:tr>
              <a:tr h="260786">
                <a:tc>
                  <a:txBody>
                    <a:bodyPr/>
                    <a:lstStyle/>
                    <a:p>
                      <a:pPr algn="ctr"/>
                      <a:r>
                        <a:rPr lang="es-AR" sz="1600" b="1" dirty="0">
                          <a:solidFill>
                            <a:schemeClr val="tx1"/>
                          </a:solidFill>
                        </a:rPr>
                        <a:t>No hablan español</a:t>
                      </a:r>
                    </a:p>
                  </a:txBody>
                  <a:tcPr>
                    <a:solidFill>
                      <a:schemeClr val="accent1"/>
                    </a:solidFill>
                  </a:tcPr>
                </a:tc>
                <a:extLst>
                  <a:ext uri="{0D108BD9-81ED-4DB2-BD59-A6C34878D82A}">
                    <a16:rowId xmlns:a16="http://schemas.microsoft.com/office/drawing/2014/main" val="10005"/>
                  </a:ext>
                </a:extLst>
              </a:tr>
              <a:tr h="260786">
                <a:tc>
                  <a:txBody>
                    <a:bodyPr/>
                    <a:lstStyle/>
                    <a:p>
                      <a:pPr algn="ctr"/>
                      <a:r>
                        <a:rPr lang="es-AR" sz="1600" b="1" dirty="0">
                          <a:solidFill>
                            <a:schemeClr val="tx1"/>
                          </a:solidFill>
                        </a:rPr>
                        <a:t>Hablan español</a:t>
                      </a:r>
                    </a:p>
                  </a:txBody>
                  <a:tcPr>
                    <a:solidFill>
                      <a:schemeClr val="accent1"/>
                    </a:solidFill>
                  </a:tcPr>
                </a:tc>
                <a:extLst>
                  <a:ext uri="{0D108BD9-81ED-4DB2-BD59-A6C34878D82A}">
                    <a16:rowId xmlns:a16="http://schemas.microsoft.com/office/drawing/2014/main" val="10006"/>
                  </a:ext>
                </a:extLst>
              </a:tr>
              <a:tr h="260786">
                <a:tc>
                  <a:txBody>
                    <a:bodyPr/>
                    <a:lstStyle/>
                    <a:p>
                      <a:pPr algn="ctr"/>
                      <a:r>
                        <a:rPr lang="es-AR" sz="1600" b="1" dirty="0">
                          <a:solidFill>
                            <a:schemeClr val="tx1"/>
                          </a:solidFill>
                        </a:rPr>
                        <a:t>No hablan español</a:t>
                      </a:r>
                    </a:p>
                  </a:txBody>
                  <a:tcPr>
                    <a:solidFill>
                      <a:schemeClr val="accent1"/>
                    </a:solidFill>
                  </a:tcPr>
                </a:tc>
                <a:extLst>
                  <a:ext uri="{0D108BD9-81ED-4DB2-BD59-A6C34878D82A}">
                    <a16:rowId xmlns:a16="http://schemas.microsoft.com/office/drawing/2014/main" val="10007"/>
                  </a:ext>
                </a:extLst>
              </a:tr>
              <a:tr h="260786">
                <a:tc>
                  <a:txBody>
                    <a:bodyPr/>
                    <a:lstStyle/>
                    <a:p>
                      <a:pPr algn="ctr"/>
                      <a:r>
                        <a:rPr lang="es-AR" sz="1600" b="1" dirty="0">
                          <a:solidFill>
                            <a:schemeClr val="tx1"/>
                          </a:solidFill>
                        </a:rPr>
                        <a:t>Enero</a:t>
                      </a:r>
                    </a:p>
                  </a:txBody>
                  <a:tcPr>
                    <a:solidFill>
                      <a:schemeClr val="accent1"/>
                    </a:solidFill>
                  </a:tcPr>
                </a:tc>
                <a:extLst>
                  <a:ext uri="{0D108BD9-81ED-4DB2-BD59-A6C34878D82A}">
                    <a16:rowId xmlns:a16="http://schemas.microsoft.com/office/drawing/2014/main" val="10008"/>
                  </a:ext>
                </a:extLst>
              </a:tr>
              <a:tr h="260786">
                <a:tc>
                  <a:txBody>
                    <a:bodyPr/>
                    <a:lstStyle/>
                    <a:p>
                      <a:pPr algn="ctr"/>
                      <a:r>
                        <a:rPr lang="es-AR" sz="1600" dirty="0"/>
                        <a:t>10</a:t>
                      </a:r>
                    </a:p>
                  </a:txBody>
                  <a:tcPr>
                    <a:solidFill>
                      <a:schemeClr val="accent2">
                        <a:lumMod val="20000"/>
                        <a:lumOff val="80000"/>
                      </a:schemeClr>
                    </a:solidFill>
                  </a:tcPr>
                </a:tc>
                <a:extLst>
                  <a:ext uri="{0D108BD9-81ED-4DB2-BD59-A6C34878D82A}">
                    <a16:rowId xmlns:a16="http://schemas.microsoft.com/office/drawing/2014/main" val="10009"/>
                  </a:ext>
                </a:extLst>
              </a:tr>
              <a:tr h="260786">
                <a:tc>
                  <a:txBody>
                    <a:bodyPr/>
                    <a:lstStyle/>
                    <a:p>
                      <a:pPr algn="ctr"/>
                      <a:r>
                        <a:rPr lang="es-AR" sz="1600" dirty="0"/>
                        <a:t>0</a:t>
                      </a:r>
                    </a:p>
                  </a:txBody>
                  <a:tcPr>
                    <a:solidFill>
                      <a:schemeClr val="accent2">
                        <a:lumMod val="20000"/>
                        <a:lumOff val="80000"/>
                      </a:schemeClr>
                    </a:solidFill>
                  </a:tcPr>
                </a:tc>
                <a:extLst>
                  <a:ext uri="{0D108BD9-81ED-4DB2-BD59-A6C34878D82A}">
                    <a16:rowId xmlns:a16="http://schemas.microsoft.com/office/drawing/2014/main" val="10010"/>
                  </a:ext>
                </a:extLst>
              </a:tr>
              <a:tr h="260786">
                <a:tc>
                  <a:txBody>
                    <a:bodyPr/>
                    <a:lstStyle/>
                    <a:p>
                      <a:pPr algn="ctr"/>
                      <a:r>
                        <a:rPr lang="es-AR" sz="1600" dirty="0"/>
                        <a:t>15</a:t>
                      </a:r>
                    </a:p>
                  </a:txBody>
                  <a:tcPr>
                    <a:solidFill>
                      <a:schemeClr val="accent2">
                        <a:lumMod val="20000"/>
                        <a:lumOff val="80000"/>
                      </a:schemeClr>
                    </a:solidFill>
                  </a:tcPr>
                </a:tc>
                <a:extLst>
                  <a:ext uri="{0D108BD9-81ED-4DB2-BD59-A6C34878D82A}">
                    <a16:rowId xmlns:a16="http://schemas.microsoft.com/office/drawing/2014/main" val="10011"/>
                  </a:ext>
                </a:extLst>
              </a:tr>
              <a:tr h="260786">
                <a:tc>
                  <a:txBody>
                    <a:bodyPr/>
                    <a:lstStyle/>
                    <a:p>
                      <a:pPr algn="ctr"/>
                      <a:r>
                        <a:rPr lang="es-AR" sz="1600" dirty="0"/>
                        <a:t>5</a:t>
                      </a:r>
                    </a:p>
                  </a:txBody>
                  <a:tcPr>
                    <a:solidFill>
                      <a:schemeClr val="accent2">
                        <a:lumMod val="20000"/>
                        <a:lumOff val="80000"/>
                      </a:schemeClr>
                    </a:solidFill>
                  </a:tcPr>
                </a:tc>
                <a:extLst>
                  <a:ext uri="{0D108BD9-81ED-4DB2-BD59-A6C34878D82A}">
                    <a16:rowId xmlns:a16="http://schemas.microsoft.com/office/drawing/2014/main" val="10012"/>
                  </a:ext>
                </a:extLst>
              </a:tr>
              <a:tr h="260786">
                <a:tc>
                  <a:txBody>
                    <a:bodyPr/>
                    <a:lstStyle/>
                    <a:p>
                      <a:pPr algn="ctr"/>
                      <a:r>
                        <a:rPr lang="es-AR" sz="1600" b="1" dirty="0"/>
                        <a:t>Febrero</a:t>
                      </a:r>
                    </a:p>
                  </a:txBody>
                  <a:tcPr>
                    <a:solidFill>
                      <a:schemeClr val="accent1"/>
                    </a:solidFill>
                  </a:tcPr>
                </a:tc>
                <a:extLst>
                  <a:ext uri="{0D108BD9-81ED-4DB2-BD59-A6C34878D82A}">
                    <a16:rowId xmlns:a16="http://schemas.microsoft.com/office/drawing/2014/main" val="10013"/>
                  </a:ext>
                </a:extLst>
              </a:tr>
              <a:tr h="260786">
                <a:tc>
                  <a:txBody>
                    <a:bodyPr/>
                    <a:lstStyle/>
                    <a:p>
                      <a:pPr algn="ctr"/>
                      <a:r>
                        <a:rPr lang="es-AR" sz="1600" dirty="0"/>
                        <a:t>11</a:t>
                      </a:r>
                    </a:p>
                  </a:txBody>
                  <a:tcPr>
                    <a:solidFill>
                      <a:schemeClr val="accent2">
                        <a:lumMod val="20000"/>
                        <a:lumOff val="80000"/>
                      </a:schemeClr>
                    </a:solidFill>
                  </a:tcPr>
                </a:tc>
                <a:extLst>
                  <a:ext uri="{0D108BD9-81ED-4DB2-BD59-A6C34878D82A}">
                    <a16:rowId xmlns:a16="http://schemas.microsoft.com/office/drawing/2014/main" val="10014"/>
                  </a:ext>
                </a:extLst>
              </a:tr>
              <a:tr h="260786">
                <a:tc>
                  <a:txBody>
                    <a:bodyPr/>
                    <a:lstStyle/>
                    <a:p>
                      <a:pPr algn="ctr"/>
                      <a:r>
                        <a:rPr lang="es-AR" sz="1600" dirty="0"/>
                        <a:t>0</a:t>
                      </a:r>
                    </a:p>
                  </a:txBody>
                  <a:tcPr>
                    <a:solidFill>
                      <a:schemeClr val="accent2">
                        <a:lumMod val="20000"/>
                        <a:lumOff val="80000"/>
                      </a:schemeClr>
                    </a:solidFill>
                  </a:tcPr>
                </a:tc>
                <a:extLst>
                  <a:ext uri="{0D108BD9-81ED-4DB2-BD59-A6C34878D82A}">
                    <a16:rowId xmlns:a16="http://schemas.microsoft.com/office/drawing/2014/main" val="10015"/>
                  </a:ext>
                </a:extLst>
              </a:tr>
              <a:tr h="260786">
                <a:tc>
                  <a:txBody>
                    <a:bodyPr/>
                    <a:lstStyle/>
                    <a:p>
                      <a:pPr algn="ctr"/>
                      <a:r>
                        <a:rPr lang="es-AR" sz="1600" dirty="0"/>
                        <a:t>20</a:t>
                      </a:r>
                    </a:p>
                  </a:txBody>
                  <a:tcPr>
                    <a:solidFill>
                      <a:schemeClr val="accent2">
                        <a:lumMod val="20000"/>
                        <a:lumOff val="80000"/>
                      </a:schemeClr>
                    </a:solidFill>
                  </a:tcPr>
                </a:tc>
                <a:extLst>
                  <a:ext uri="{0D108BD9-81ED-4DB2-BD59-A6C34878D82A}">
                    <a16:rowId xmlns:a16="http://schemas.microsoft.com/office/drawing/2014/main" val="10016"/>
                  </a:ext>
                </a:extLst>
              </a:tr>
              <a:tr h="260786">
                <a:tc>
                  <a:txBody>
                    <a:bodyPr/>
                    <a:lstStyle/>
                    <a:p>
                      <a:pPr algn="ctr"/>
                      <a:r>
                        <a:rPr lang="es-AR" sz="1600" dirty="0"/>
                        <a:t>2</a:t>
                      </a:r>
                    </a:p>
                  </a:txBody>
                  <a:tcPr>
                    <a:solidFill>
                      <a:schemeClr val="accent2">
                        <a:lumMod val="20000"/>
                        <a:lumOff val="80000"/>
                      </a:schemeClr>
                    </a:solidFill>
                  </a:tcPr>
                </a:tc>
                <a:extLst>
                  <a:ext uri="{0D108BD9-81ED-4DB2-BD59-A6C34878D82A}">
                    <a16:rowId xmlns:a16="http://schemas.microsoft.com/office/drawing/2014/main" val="10017"/>
                  </a:ext>
                </a:extLst>
              </a:tr>
            </a:tbl>
          </a:graphicData>
        </a:graphic>
      </p:graphicFrame>
      <p:pic>
        <p:nvPicPr>
          <p:cNvPr id="9" name="Picture 2"/>
          <p:cNvPicPr>
            <a:picLocks noChangeAspect="1" noChangeArrowheads="1"/>
          </p:cNvPicPr>
          <p:nvPr/>
        </p:nvPicPr>
        <p:blipFill>
          <a:blip r:embed="rId3" cstate="print"/>
          <a:srcRect/>
          <a:stretch>
            <a:fillRect/>
          </a:stretch>
        </p:blipFill>
        <p:spPr bwMode="auto">
          <a:xfrm>
            <a:off x="5456003" y="4149037"/>
            <a:ext cx="398333" cy="413178"/>
          </a:xfrm>
          <a:prstGeom prst="rect">
            <a:avLst/>
          </a:prstGeom>
          <a:noFill/>
          <a:ln w="9525">
            <a:noFill/>
            <a:miter lim="800000"/>
            <a:headEnd/>
            <a:tailEnd/>
          </a:ln>
          <a:effectLst/>
        </p:spPr>
      </p:pic>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84</a:t>
            </a:fld>
            <a:endParaRPr lang="es-ES" altLang="es-AR"/>
          </a:p>
        </p:txBody>
      </p:sp>
    </p:spTree>
    <p:extLst>
      <p:ext uri="{BB962C8B-B14F-4D97-AF65-F5344CB8AC3E}">
        <p14:creationId xmlns:p14="http://schemas.microsoft.com/office/powerpoint/2010/main" val="148033917"/>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1 Título"/>
          <p:cNvSpPr>
            <a:spLocks noGrp="1"/>
          </p:cNvSpPr>
          <p:nvPr>
            <p:ph type="title"/>
          </p:nvPr>
        </p:nvSpPr>
        <p:spPr>
          <a:xfrm>
            <a:off x="457200" y="274638"/>
            <a:ext cx="8229600" cy="654050"/>
          </a:xfrm>
        </p:spPr>
        <p:txBody>
          <a:bodyPr/>
          <a:lstStyle/>
          <a:p>
            <a:r>
              <a:rPr lang="es-AR" altLang="es-AR" b="1"/>
              <a:t>Contenido accesible</a:t>
            </a:r>
          </a:p>
        </p:txBody>
      </p:sp>
      <p:sp>
        <p:nvSpPr>
          <p:cNvPr id="57347" name="2 Marcador de contenido"/>
          <p:cNvSpPr>
            <a:spLocks noGrp="1"/>
          </p:cNvSpPr>
          <p:nvPr>
            <p:ph idx="1"/>
          </p:nvPr>
        </p:nvSpPr>
        <p:spPr>
          <a:xfrm>
            <a:off x="430213" y="1916113"/>
            <a:ext cx="4933872" cy="1440879"/>
          </a:xfrm>
        </p:spPr>
        <p:txBody>
          <a:bodyPr/>
          <a:lstStyle/>
          <a:p>
            <a:pPr>
              <a:lnSpc>
                <a:spcPct val="90000"/>
              </a:lnSpc>
            </a:pPr>
            <a:r>
              <a:rPr lang="es-AR" dirty="0"/>
              <a:t>Tablas</a:t>
            </a:r>
          </a:p>
          <a:p>
            <a:pPr marL="0" indent="0">
              <a:lnSpc>
                <a:spcPct val="90000"/>
              </a:lnSpc>
              <a:buNone/>
            </a:pPr>
            <a:endParaRPr lang="es-AR" dirty="0"/>
          </a:p>
          <a:p>
            <a:pPr lvl="1" algn="just">
              <a:lnSpc>
                <a:spcPct val="90000"/>
              </a:lnSpc>
            </a:pPr>
            <a:r>
              <a:rPr lang="es-AR" dirty="0"/>
              <a:t>¿Cómo se leen las tablas?</a:t>
            </a:r>
          </a:p>
          <a:p>
            <a:pPr lvl="1">
              <a:lnSpc>
                <a:spcPct val="90000"/>
              </a:lnSpc>
              <a:buNone/>
            </a:pPr>
            <a:r>
              <a:rPr lang="es-AR" i="1" dirty="0"/>
              <a:t>Visitantes de rrrr.com por países</a:t>
            </a:r>
          </a:p>
          <a:p>
            <a:pPr lvl="2" algn="just">
              <a:lnSpc>
                <a:spcPct val="90000"/>
              </a:lnSpc>
              <a:buNone/>
            </a:pPr>
            <a:endParaRPr lang="es-AR" dirty="0"/>
          </a:p>
        </p:txBody>
      </p:sp>
      <p:graphicFrame>
        <p:nvGraphicFramePr>
          <p:cNvPr id="6" name="3 Tabla"/>
          <p:cNvGraphicFramePr>
            <a:graphicFrameLocks noGrp="1"/>
          </p:cNvGraphicFramePr>
          <p:nvPr/>
        </p:nvGraphicFramePr>
        <p:xfrm>
          <a:off x="611560" y="3403225"/>
          <a:ext cx="4752525" cy="1904803"/>
        </p:xfrm>
        <a:graphic>
          <a:graphicData uri="http://schemas.openxmlformats.org/drawingml/2006/table">
            <a:tbl>
              <a:tblPr firstRow="1" bandRow="1">
                <a:tableStyleId>{5C22544A-7EE6-4342-B048-85BDC9FD1C3A}</a:tableStyleId>
              </a:tblPr>
              <a:tblGrid>
                <a:gridCol w="950505">
                  <a:extLst>
                    <a:ext uri="{9D8B030D-6E8A-4147-A177-3AD203B41FA5}">
                      <a16:colId xmlns:a16="http://schemas.microsoft.com/office/drawing/2014/main" val="20000"/>
                    </a:ext>
                  </a:extLst>
                </a:gridCol>
                <a:gridCol w="950505">
                  <a:extLst>
                    <a:ext uri="{9D8B030D-6E8A-4147-A177-3AD203B41FA5}">
                      <a16:colId xmlns:a16="http://schemas.microsoft.com/office/drawing/2014/main" val="20001"/>
                    </a:ext>
                  </a:extLst>
                </a:gridCol>
                <a:gridCol w="950505">
                  <a:extLst>
                    <a:ext uri="{9D8B030D-6E8A-4147-A177-3AD203B41FA5}">
                      <a16:colId xmlns:a16="http://schemas.microsoft.com/office/drawing/2014/main" val="20002"/>
                    </a:ext>
                  </a:extLst>
                </a:gridCol>
                <a:gridCol w="950505">
                  <a:extLst>
                    <a:ext uri="{9D8B030D-6E8A-4147-A177-3AD203B41FA5}">
                      <a16:colId xmlns:a16="http://schemas.microsoft.com/office/drawing/2014/main" val="20003"/>
                    </a:ext>
                  </a:extLst>
                </a:gridCol>
                <a:gridCol w="950505">
                  <a:extLst>
                    <a:ext uri="{9D8B030D-6E8A-4147-A177-3AD203B41FA5}">
                      <a16:colId xmlns:a16="http://schemas.microsoft.com/office/drawing/2014/main" val="20004"/>
                    </a:ext>
                  </a:extLst>
                </a:gridCol>
              </a:tblGrid>
              <a:tr h="343923">
                <a:tc rowSpan="2">
                  <a:txBody>
                    <a:bodyPr/>
                    <a:lstStyle/>
                    <a:p>
                      <a:pPr algn="ctr"/>
                      <a:r>
                        <a:rPr lang="es-AR" sz="1600" dirty="0">
                          <a:solidFill>
                            <a:schemeClr val="tx1"/>
                          </a:solidFill>
                        </a:rPr>
                        <a:t>MES</a:t>
                      </a:r>
                    </a:p>
                  </a:txBody>
                  <a:tcPr anchor="ctr"/>
                </a:tc>
                <a:tc gridSpan="2">
                  <a:txBody>
                    <a:bodyPr/>
                    <a:lstStyle/>
                    <a:p>
                      <a:pPr algn="ctr"/>
                      <a:r>
                        <a:rPr lang="es-AR" sz="1600" dirty="0">
                          <a:solidFill>
                            <a:schemeClr val="tx1"/>
                          </a:solidFill>
                        </a:rPr>
                        <a:t>ARGENTINA</a:t>
                      </a:r>
                    </a:p>
                  </a:txBody>
                  <a:tcPr/>
                </a:tc>
                <a:tc hMerge="1">
                  <a:txBody>
                    <a:bodyPr/>
                    <a:lstStyle/>
                    <a:p>
                      <a:endParaRPr lang="es-AR" dirty="0"/>
                    </a:p>
                  </a:txBody>
                  <a:tcPr/>
                </a:tc>
                <a:tc gridSpan="2">
                  <a:txBody>
                    <a:bodyPr/>
                    <a:lstStyle/>
                    <a:p>
                      <a:pPr algn="ctr"/>
                      <a:r>
                        <a:rPr lang="es-AR" sz="1600" dirty="0">
                          <a:solidFill>
                            <a:schemeClr val="tx1"/>
                          </a:solidFill>
                        </a:rPr>
                        <a:t>CHILE</a:t>
                      </a:r>
                    </a:p>
                  </a:txBody>
                  <a:tcPr/>
                </a:tc>
                <a:tc hMerge="1">
                  <a:txBody>
                    <a:bodyPr/>
                    <a:lstStyle/>
                    <a:p>
                      <a:endParaRPr lang="es-AR" dirty="0"/>
                    </a:p>
                  </a:txBody>
                  <a:tcPr/>
                </a:tc>
                <a:extLst>
                  <a:ext uri="{0D108BD9-81ED-4DB2-BD59-A6C34878D82A}">
                    <a16:rowId xmlns:a16="http://schemas.microsoft.com/office/drawing/2014/main" val="10000"/>
                  </a:ext>
                </a:extLst>
              </a:tr>
              <a:tr h="873034">
                <a:tc vMerge="1">
                  <a:txBody>
                    <a:bodyPr/>
                    <a:lstStyle/>
                    <a:p>
                      <a:endParaRPr lang="es-AR" dirty="0"/>
                    </a:p>
                  </a:txBody>
                  <a:tcPr/>
                </a:tc>
                <a:tc>
                  <a:txBody>
                    <a:bodyPr/>
                    <a:lstStyle/>
                    <a:p>
                      <a:pPr algn="ctr"/>
                      <a:r>
                        <a:rPr lang="es-AR" sz="1600" b="1" dirty="0">
                          <a:solidFill>
                            <a:schemeClr val="tx1"/>
                          </a:solidFill>
                        </a:rPr>
                        <a:t>Hablan español</a:t>
                      </a:r>
                    </a:p>
                  </a:txBody>
                  <a:tcPr>
                    <a:solidFill>
                      <a:schemeClr val="accent1"/>
                    </a:solidFill>
                  </a:tcPr>
                </a:tc>
                <a:tc>
                  <a:txBody>
                    <a:bodyPr/>
                    <a:lstStyle/>
                    <a:p>
                      <a:pPr algn="ctr"/>
                      <a:r>
                        <a:rPr lang="es-AR" sz="1600" b="1" dirty="0">
                          <a:solidFill>
                            <a:schemeClr val="tx1"/>
                          </a:solidFill>
                        </a:rPr>
                        <a:t>No hablan español</a:t>
                      </a:r>
                    </a:p>
                  </a:txBody>
                  <a:tcPr>
                    <a:solidFill>
                      <a:schemeClr val="accent1"/>
                    </a:solidFill>
                  </a:tcPr>
                </a:tc>
                <a:tc>
                  <a:txBody>
                    <a:bodyPr/>
                    <a:lstStyle/>
                    <a:p>
                      <a:pPr algn="ctr"/>
                      <a:r>
                        <a:rPr lang="es-AR" sz="1600" b="1" dirty="0">
                          <a:solidFill>
                            <a:schemeClr val="tx1"/>
                          </a:solidFill>
                        </a:rPr>
                        <a:t>Hablan</a:t>
                      </a:r>
                      <a:r>
                        <a:rPr lang="es-AR" sz="1600" b="1" baseline="0" dirty="0">
                          <a:solidFill>
                            <a:schemeClr val="tx1"/>
                          </a:solidFill>
                        </a:rPr>
                        <a:t> español</a:t>
                      </a:r>
                      <a:endParaRPr lang="es-AR" sz="1600" b="1" dirty="0">
                        <a:solidFill>
                          <a:schemeClr val="tx1"/>
                        </a:solidFill>
                      </a:endParaRPr>
                    </a:p>
                  </a:txBody>
                  <a:tcPr>
                    <a:solidFill>
                      <a:schemeClr val="accent1"/>
                    </a:solidFill>
                  </a:tcPr>
                </a:tc>
                <a:tc>
                  <a:txBody>
                    <a:bodyPr/>
                    <a:lstStyle/>
                    <a:p>
                      <a:pPr algn="ctr"/>
                      <a:r>
                        <a:rPr lang="es-AR" sz="1600" b="1" dirty="0">
                          <a:solidFill>
                            <a:schemeClr val="tx1"/>
                          </a:solidFill>
                        </a:rPr>
                        <a:t>No hablan español</a:t>
                      </a:r>
                    </a:p>
                  </a:txBody>
                  <a:tcPr>
                    <a:solidFill>
                      <a:schemeClr val="accent1"/>
                    </a:solidFill>
                  </a:tcPr>
                </a:tc>
                <a:extLst>
                  <a:ext uri="{0D108BD9-81ED-4DB2-BD59-A6C34878D82A}">
                    <a16:rowId xmlns:a16="http://schemas.microsoft.com/office/drawing/2014/main" val="10001"/>
                  </a:ext>
                </a:extLst>
              </a:tr>
              <a:tr h="343923">
                <a:tc>
                  <a:txBody>
                    <a:bodyPr/>
                    <a:lstStyle/>
                    <a:p>
                      <a:r>
                        <a:rPr lang="es-AR" sz="1600" b="1" dirty="0">
                          <a:solidFill>
                            <a:schemeClr val="tx1"/>
                          </a:solidFill>
                        </a:rPr>
                        <a:t>Enero</a:t>
                      </a:r>
                    </a:p>
                  </a:txBody>
                  <a:tcPr>
                    <a:solidFill>
                      <a:schemeClr val="accent1"/>
                    </a:solidFill>
                  </a:tcPr>
                </a:tc>
                <a:tc>
                  <a:txBody>
                    <a:bodyPr/>
                    <a:lstStyle/>
                    <a:p>
                      <a:r>
                        <a:rPr lang="es-AR" sz="1600" dirty="0">
                          <a:solidFill>
                            <a:schemeClr val="tx1"/>
                          </a:solidFill>
                        </a:rPr>
                        <a:t>10</a:t>
                      </a:r>
                    </a:p>
                  </a:txBody>
                  <a:tcPr/>
                </a:tc>
                <a:tc>
                  <a:txBody>
                    <a:bodyPr/>
                    <a:lstStyle/>
                    <a:p>
                      <a:r>
                        <a:rPr lang="es-AR" sz="1600" dirty="0">
                          <a:solidFill>
                            <a:schemeClr val="tx1"/>
                          </a:solidFill>
                        </a:rPr>
                        <a:t>0</a:t>
                      </a:r>
                    </a:p>
                  </a:txBody>
                  <a:tcPr/>
                </a:tc>
                <a:tc>
                  <a:txBody>
                    <a:bodyPr/>
                    <a:lstStyle/>
                    <a:p>
                      <a:r>
                        <a:rPr lang="es-AR" sz="1600" dirty="0">
                          <a:solidFill>
                            <a:schemeClr val="tx1"/>
                          </a:solidFill>
                        </a:rPr>
                        <a:t>15</a:t>
                      </a:r>
                    </a:p>
                  </a:txBody>
                  <a:tcPr/>
                </a:tc>
                <a:tc>
                  <a:txBody>
                    <a:bodyPr/>
                    <a:lstStyle/>
                    <a:p>
                      <a:r>
                        <a:rPr lang="es-AR" sz="1600" dirty="0">
                          <a:solidFill>
                            <a:schemeClr val="tx1"/>
                          </a:solidFill>
                        </a:rPr>
                        <a:t>5</a:t>
                      </a:r>
                    </a:p>
                  </a:txBody>
                  <a:tcPr/>
                </a:tc>
                <a:extLst>
                  <a:ext uri="{0D108BD9-81ED-4DB2-BD59-A6C34878D82A}">
                    <a16:rowId xmlns:a16="http://schemas.microsoft.com/office/drawing/2014/main" val="10002"/>
                  </a:ext>
                </a:extLst>
              </a:tr>
              <a:tr h="343923">
                <a:tc>
                  <a:txBody>
                    <a:bodyPr/>
                    <a:lstStyle/>
                    <a:p>
                      <a:r>
                        <a:rPr lang="es-AR" sz="1600" b="1" dirty="0">
                          <a:solidFill>
                            <a:schemeClr val="tx1"/>
                          </a:solidFill>
                        </a:rPr>
                        <a:t>Febrero</a:t>
                      </a:r>
                    </a:p>
                  </a:txBody>
                  <a:tcPr>
                    <a:solidFill>
                      <a:schemeClr val="accent1"/>
                    </a:solidFill>
                  </a:tcPr>
                </a:tc>
                <a:tc>
                  <a:txBody>
                    <a:bodyPr/>
                    <a:lstStyle/>
                    <a:p>
                      <a:r>
                        <a:rPr lang="es-AR" sz="1600" dirty="0">
                          <a:solidFill>
                            <a:schemeClr val="tx1"/>
                          </a:solidFill>
                        </a:rPr>
                        <a:t>11</a:t>
                      </a:r>
                    </a:p>
                  </a:txBody>
                  <a:tcPr/>
                </a:tc>
                <a:tc>
                  <a:txBody>
                    <a:bodyPr/>
                    <a:lstStyle/>
                    <a:p>
                      <a:r>
                        <a:rPr lang="es-AR" sz="1600" dirty="0">
                          <a:solidFill>
                            <a:schemeClr val="tx1"/>
                          </a:solidFill>
                        </a:rPr>
                        <a:t>0</a:t>
                      </a:r>
                    </a:p>
                  </a:txBody>
                  <a:tcPr/>
                </a:tc>
                <a:tc>
                  <a:txBody>
                    <a:bodyPr/>
                    <a:lstStyle/>
                    <a:p>
                      <a:r>
                        <a:rPr lang="es-AR" sz="1600" dirty="0">
                          <a:solidFill>
                            <a:schemeClr val="tx1"/>
                          </a:solidFill>
                        </a:rPr>
                        <a:t>20</a:t>
                      </a:r>
                    </a:p>
                  </a:txBody>
                  <a:tcPr/>
                </a:tc>
                <a:tc>
                  <a:txBody>
                    <a:bodyPr/>
                    <a:lstStyle/>
                    <a:p>
                      <a:r>
                        <a:rPr lang="es-AR" sz="1600" dirty="0">
                          <a:solidFill>
                            <a:schemeClr val="tx1"/>
                          </a:solidFill>
                        </a:rPr>
                        <a:t>2</a:t>
                      </a:r>
                    </a:p>
                  </a:txBody>
                  <a:tcPr/>
                </a:tc>
                <a:extLst>
                  <a:ext uri="{0D108BD9-81ED-4DB2-BD59-A6C34878D82A}">
                    <a16:rowId xmlns:a16="http://schemas.microsoft.com/office/drawing/2014/main" val="10003"/>
                  </a:ext>
                </a:extLst>
              </a:tr>
            </a:tbl>
          </a:graphicData>
        </a:graphic>
      </p:graphicFrame>
      <p:sp>
        <p:nvSpPr>
          <p:cNvPr id="7" name="2 Marcador de contenido"/>
          <p:cNvSpPr txBox="1">
            <a:spLocks/>
          </p:cNvSpPr>
          <p:nvPr/>
        </p:nvSpPr>
        <p:spPr bwMode="auto">
          <a:xfrm>
            <a:off x="1854831" y="5733256"/>
            <a:ext cx="2265982" cy="4320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20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000">
                <a:solidFill>
                  <a:schemeClr val="tx1"/>
                </a:solidFill>
                <a:latin typeface="+mn-lt"/>
                <a:cs typeface="+mn-cs"/>
              </a:defRPr>
            </a:lvl2pPr>
            <a:lvl3pPr marL="1143000" indent="-228600" algn="l" rtl="0" eaLnBrk="0" fontAlgn="base" hangingPunct="0">
              <a:spcBef>
                <a:spcPct val="20000"/>
              </a:spcBef>
              <a:spcAft>
                <a:spcPct val="0"/>
              </a:spcAft>
              <a:buChar char="•"/>
              <a:defRPr sz="2000">
                <a:solidFill>
                  <a:schemeClr val="tx1"/>
                </a:solidFill>
                <a:latin typeface="+mn-lt"/>
                <a:cs typeface="+mn-cs"/>
              </a:defRPr>
            </a:lvl3pPr>
            <a:lvl4pPr marL="1600200" indent="-228600" algn="l" rtl="0" eaLnBrk="0" fontAlgn="base" hangingPunct="0">
              <a:spcBef>
                <a:spcPct val="20000"/>
              </a:spcBef>
              <a:spcAft>
                <a:spcPct val="0"/>
              </a:spcAft>
              <a:buChar char="–"/>
              <a:defRPr sz="2000">
                <a:solidFill>
                  <a:schemeClr val="tx1"/>
                </a:solidFill>
                <a:latin typeface="+mn-lt"/>
                <a:cs typeface="+mn-cs"/>
              </a:defRPr>
            </a:lvl4pPr>
            <a:lvl5pPr marL="2057400" indent="-228600" algn="l" rtl="0" eaLnBrk="0" fontAlgn="base" hangingPunct="0">
              <a:spcBef>
                <a:spcPct val="20000"/>
              </a:spcBef>
              <a:spcAft>
                <a:spcPct val="0"/>
              </a:spcAft>
              <a:buChar char="»"/>
              <a:defRPr sz="2000">
                <a:solidFill>
                  <a:schemeClr val="tx1"/>
                </a:solidFill>
                <a:latin typeface="+mn-lt"/>
                <a:cs typeface="+mn-cs"/>
              </a:defRPr>
            </a:lvl5pPr>
            <a:lvl6pPr marL="2514600" indent="-228600" algn="l" rtl="0" fontAlgn="base">
              <a:spcBef>
                <a:spcPct val="20000"/>
              </a:spcBef>
              <a:spcAft>
                <a:spcPct val="0"/>
              </a:spcAft>
              <a:buChar char="»"/>
              <a:defRPr sz="2000">
                <a:solidFill>
                  <a:schemeClr val="tx1"/>
                </a:solidFill>
                <a:latin typeface="+mn-lt"/>
                <a:cs typeface="+mn-cs"/>
              </a:defRPr>
            </a:lvl6pPr>
            <a:lvl7pPr marL="2971800" indent="-228600" algn="l" rtl="0" fontAlgn="base">
              <a:spcBef>
                <a:spcPct val="20000"/>
              </a:spcBef>
              <a:spcAft>
                <a:spcPct val="0"/>
              </a:spcAft>
              <a:buChar char="»"/>
              <a:defRPr sz="2000">
                <a:solidFill>
                  <a:schemeClr val="tx1"/>
                </a:solidFill>
                <a:latin typeface="+mn-lt"/>
                <a:cs typeface="+mn-cs"/>
              </a:defRPr>
            </a:lvl7pPr>
            <a:lvl8pPr marL="3429000" indent="-228600" algn="l" rtl="0" fontAlgn="base">
              <a:spcBef>
                <a:spcPct val="20000"/>
              </a:spcBef>
              <a:spcAft>
                <a:spcPct val="0"/>
              </a:spcAft>
              <a:buChar char="»"/>
              <a:defRPr sz="2000">
                <a:solidFill>
                  <a:schemeClr val="tx1"/>
                </a:solidFill>
                <a:latin typeface="+mn-lt"/>
                <a:cs typeface="+mn-cs"/>
              </a:defRPr>
            </a:lvl8pPr>
            <a:lvl9pPr marL="3886200" indent="-228600" algn="l" rtl="0" fontAlgn="base">
              <a:spcBef>
                <a:spcPct val="20000"/>
              </a:spcBef>
              <a:spcAft>
                <a:spcPct val="0"/>
              </a:spcAft>
              <a:buChar char="»"/>
              <a:defRPr sz="2000">
                <a:solidFill>
                  <a:schemeClr val="tx1"/>
                </a:solidFill>
                <a:latin typeface="+mn-lt"/>
                <a:cs typeface="+mn-cs"/>
              </a:defRPr>
            </a:lvl9pPr>
          </a:lstStyle>
          <a:p>
            <a:pPr marL="114300" indent="0" algn="just">
              <a:lnSpc>
                <a:spcPct val="90000"/>
              </a:lnSpc>
              <a:buNone/>
            </a:pPr>
            <a:r>
              <a:rPr lang="es-AR" b="1" dirty="0">
                <a:solidFill>
                  <a:srgbClr val="00B050"/>
                </a:solidFill>
              </a:rPr>
              <a:t>ACCESIBLE</a:t>
            </a:r>
            <a:endParaRPr lang="es-AR" b="1" kern="0" dirty="0">
              <a:solidFill>
                <a:srgbClr val="00B050"/>
              </a:solidFill>
            </a:endParaRPr>
          </a:p>
        </p:txBody>
      </p:sp>
      <p:pic>
        <p:nvPicPr>
          <p:cNvPr id="9" name="Picture 2"/>
          <p:cNvPicPr>
            <a:picLocks noChangeAspect="1" noChangeArrowheads="1"/>
          </p:cNvPicPr>
          <p:nvPr/>
        </p:nvPicPr>
        <p:blipFill>
          <a:blip r:embed="rId3" cstate="print"/>
          <a:srcRect/>
          <a:stretch>
            <a:fillRect/>
          </a:stretch>
        </p:blipFill>
        <p:spPr bwMode="auto">
          <a:xfrm>
            <a:off x="5456003" y="4149037"/>
            <a:ext cx="398333" cy="413178"/>
          </a:xfrm>
          <a:prstGeom prst="rect">
            <a:avLst/>
          </a:prstGeom>
          <a:noFill/>
          <a:ln w="9525">
            <a:noFill/>
            <a:miter lim="800000"/>
            <a:headEnd/>
            <a:tailEnd/>
          </a:ln>
          <a:effectLst/>
        </p:spPr>
      </p:pic>
      <p:graphicFrame>
        <p:nvGraphicFramePr>
          <p:cNvPr id="10" name="5 Tabla"/>
          <p:cNvGraphicFramePr>
            <a:graphicFrameLocks noGrp="1"/>
          </p:cNvGraphicFramePr>
          <p:nvPr>
            <p:extLst>
              <p:ext uri="{D42A27DB-BD31-4B8C-83A1-F6EECF244321}">
                <p14:modId xmlns:p14="http://schemas.microsoft.com/office/powerpoint/2010/main" val="1699124093"/>
              </p:ext>
            </p:extLst>
          </p:nvPr>
        </p:nvGraphicFramePr>
        <p:xfrm>
          <a:off x="5854336" y="709381"/>
          <a:ext cx="3293035" cy="5887970"/>
        </p:xfrm>
        <a:graphic>
          <a:graphicData uri="http://schemas.openxmlformats.org/drawingml/2006/table">
            <a:tbl>
              <a:tblPr firstRow="1" bandRow="1">
                <a:tableStyleId>{5C22544A-7EE6-4342-B048-85BDC9FD1C3A}</a:tableStyleId>
              </a:tblPr>
              <a:tblGrid>
                <a:gridCol w="3293035">
                  <a:extLst>
                    <a:ext uri="{9D8B030D-6E8A-4147-A177-3AD203B41FA5}">
                      <a16:colId xmlns:a16="http://schemas.microsoft.com/office/drawing/2014/main" val="20000"/>
                    </a:ext>
                  </a:extLst>
                </a:gridCol>
              </a:tblGrid>
              <a:tr h="756555">
                <a:tc>
                  <a:txBody>
                    <a:bodyPr/>
                    <a:lstStyle/>
                    <a:p>
                      <a:pPr algn="l">
                        <a:buFont typeface="Arial" pitchFamily="34" charset="0"/>
                        <a:buChar char="•"/>
                      </a:pPr>
                      <a:r>
                        <a:rPr lang="es-AR" sz="2000" dirty="0">
                          <a:solidFill>
                            <a:schemeClr val="tx1"/>
                          </a:solidFill>
                        </a:rPr>
                        <a:t> </a:t>
                      </a:r>
                      <a:r>
                        <a:rPr lang="es-AR" sz="2000" dirty="0" err="1">
                          <a:solidFill>
                            <a:schemeClr val="tx1"/>
                          </a:solidFill>
                        </a:rPr>
                        <a:t>Caption</a:t>
                      </a:r>
                      <a:r>
                        <a:rPr lang="es-AR" sz="2000" dirty="0">
                          <a:solidFill>
                            <a:schemeClr val="tx1"/>
                          </a:solidFill>
                        </a:rPr>
                        <a:t>: </a:t>
                      </a:r>
                      <a:r>
                        <a:rPr lang="es-AR" sz="2000" b="0" dirty="0">
                          <a:solidFill>
                            <a:schemeClr val="tx1"/>
                          </a:solidFill>
                        </a:rPr>
                        <a:t>Visitantes</a:t>
                      </a:r>
                      <a:r>
                        <a:rPr lang="es-AR" sz="2000" b="0" baseline="0" dirty="0">
                          <a:solidFill>
                            <a:schemeClr val="tx1"/>
                          </a:solidFill>
                        </a:rPr>
                        <a:t> de rrrr.com por países.</a:t>
                      </a:r>
                      <a:endParaRPr lang="es-AR" sz="2000" b="0" dirty="0">
                        <a:solidFill>
                          <a:schemeClr val="tx1"/>
                        </a:solidFill>
                      </a:endParaRPr>
                    </a:p>
                  </a:txBody>
                  <a:tcPr>
                    <a:solidFill>
                      <a:schemeClr val="bg1"/>
                    </a:solidFill>
                  </a:tcPr>
                </a:tc>
                <a:extLst>
                  <a:ext uri="{0D108BD9-81ED-4DB2-BD59-A6C34878D82A}">
                    <a16:rowId xmlns:a16="http://schemas.microsoft.com/office/drawing/2014/main" val="10000"/>
                  </a:ext>
                </a:extLst>
              </a:tr>
              <a:tr h="2401239">
                <a:tc>
                  <a:txBody>
                    <a:bodyPr/>
                    <a:lstStyle/>
                    <a:p>
                      <a:pPr algn="l">
                        <a:buFont typeface="Arial" pitchFamily="34" charset="0"/>
                        <a:buChar char="•"/>
                      </a:pPr>
                      <a:r>
                        <a:rPr lang="es-AR" sz="2000" b="1" dirty="0">
                          <a:solidFill>
                            <a:schemeClr val="tx1"/>
                          </a:solidFill>
                        </a:rPr>
                        <a:t> </a:t>
                      </a:r>
                      <a:r>
                        <a:rPr lang="es-AR" sz="2000" b="1" dirty="0" err="1">
                          <a:solidFill>
                            <a:schemeClr val="tx1"/>
                          </a:solidFill>
                        </a:rPr>
                        <a:t>Summary</a:t>
                      </a:r>
                      <a:r>
                        <a:rPr lang="es-AR" sz="2000" dirty="0">
                          <a:solidFill>
                            <a:schemeClr val="tx1"/>
                          </a:solidFill>
                        </a:rPr>
                        <a:t>:</a:t>
                      </a:r>
                      <a:r>
                        <a:rPr lang="es-AR" sz="2000" baseline="0" dirty="0">
                          <a:solidFill>
                            <a:schemeClr val="tx1"/>
                          </a:solidFill>
                        </a:rPr>
                        <a:t> Visitantes que hemos tenido en rrrr.com clasificados por países y meses. De cada país se indica que número de usuarios hablan español y cuales no.</a:t>
                      </a:r>
                      <a:endParaRPr lang="es-AR" sz="2000" dirty="0">
                        <a:solidFill>
                          <a:schemeClr val="tx1"/>
                        </a:solidFill>
                      </a:endParaRPr>
                    </a:p>
                  </a:txBody>
                  <a:tcPr>
                    <a:solidFill>
                      <a:schemeClr val="bg1"/>
                    </a:solidFill>
                  </a:tcPr>
                </a:tc>
                <a:extLst>
                  <a:ext uri="{0D108BD9-81ED-4DB2-BD59-A6C34878D82A}">
                    <a16:rowId xmlns:a16="http://schemas.microsoft.com/office/drawing/2014/main" val="10001"/>
                  </a:ext>
                </a:extLst>
              </a:tr>
              <a:tr h="2730176">
                <a:tc>
                  <a:txBody>
                    <a:bodyPr/>
                    <a:lstStyle/>
                    <a:p>
                      <a:pPr algn="l">
                        <a:buFont typeface="Arial" pitchFamily="34" charset="0"/>
                        <a:buChar char="•"/>
                      </a:pPr>
                      <a:r>
                        <a:rPr lang="es-AR" sz="2000" baseline="0" dirty="0">
                          <a:solidFill>
                            <a:schemeClr val="tx1"/>
                          </a:solidFill>
                        </a:rPr>
                        <a:t> Argentina, si, Enero=10, Argentina, no, Enero=0, Chile, si, Enero=15, Chile, no, Enero=5, Argentina, si, Febrero=11, Argentina, no, Febrero=0, Chile, si, Febrero=20, Chile, no, Febrero=2</a:t>
                      </a:r>
                      <a:endParaRPr lang="es-AR" sz="2000" dirty="0">
                        <a:solidFill>
                          <a:schemeClr val="tx1"/>
                        </a:solidFill>
                      </a:endParaRPr>
                    </a:p>
                  </a:txBody>
                  <a:tcPr>
                    <a:solidFill>
                      <a:schemeClr val="bg1"/>
                    </a:solidFill>
                  </a:tcPr>
                </a:tc>
                <a:extLst>
                  <a:ext uri="{0D108BD9-81ED-4DB2-BD59-A6C34878D82A}">
                    <a16:rowId xmlns:a16="http://schemas.microsoft.com/office/drawing/2014/main" val="10002"/>
                  </a:ext>
                </a:extLst>
              </a:tr>
            </a:tbl>
          </a:graphicData>
        </a:graphic>
      </p:graphicFrame>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85</a:t>
            </a:fld>
            <a:endParaRPr lang="es-ES" altLang="es-AR"/>
          </a:p>
        </p:txBody>
      </p:sp>
    </p:spTree>
    <p:extLst>
      <p:ext uri="{BB962C8B-B14F-4D97-AF65-F5344CB8AC3E}">
        <p14:creationId xmlns:p14="http://schemas.microsoft.com/office/powerpoint/2010/main" val="459757753"/>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1 Título"/>
          <p:cNvSpPr>
            <a:spLocks noGrp="1"/>
          </p:cNvSpPr>
          <p:nvPr>
            <p:ph type="title"/>
          </p:nvPr>
        </p:nvSpPr>
        <p:spPr>
          <a:xfrm>
            <a:off x="457200" y="274638"/>
            <a:ext cx="8229600" cy="654050"/>
          </a:xfrm>
        </p:spPr>
        <p:txBody>
          <a:bodyPr/>
          <a:lstStyle/>
          <a:p>
            <a:r>
              <a:rPr lang="es-AR" altLang="es-AR" b="1"/>
              <a:t>Contenido accesible</a:t>
            </a:r>
          </a:p>
        </p:txBody>
      </p:sp>
      <p:sp>
        <p:nvSpPr>
          <p:cNvPr id="57347" name="2 Marcador de contenido"/>
          <p:cNvSpPr>
            <a:spLocks noGrp="1"/>
          </p:cNvSpPr>
          <p:nvPr>
            <p:ph idx="1"/>
          </p:nvPr>
        </p:nvSpPr>
        <p:spPr>
          <a:xfrm>
            <a:off x="430213" y="1916113"/>
            <a:ext cx="8229600" cy="4393207"/>
          </a:xfrm>
        </p:spPr>
        <p:txBody>
          <a:bodyPr/>
          <a:lstStyle/>
          <a:p>
            <a:pPr>
              <a:lnSpc>
                <a:spcPct val="90000"/>
              </a:lnSpc>
            </a:pPr>
            <a:r>
              <a:rPr lang="es-AR" dirty="0"/>
              <a:t>Tablas</a:t>
            </a:r>
          </a:p>
          <a:p>
            <a:pPr lvl="1" algn="just">
              <a:lnSpc>
                <a:spcPct val="90000"/>
              </a:lnSpc>
            </a:pPr>
            <a:r>
              <a:rPr lang="es-AR" dirty="0"/>
              <a:t>¿Cómo se hacen las tablas accesibles?</a:t>
            </a:r>
          </a:p>
          <a:p>
            <a:pPr lvl="2" algn="just">
              <a:lnSpc>
                <a:spcPct val="90000"/>
              </a:lnSpc>
            </a:pPr>
            <a:r>
              <a:rPr lang="es-AR" b="1" dirty="0"/>
              <a:t>1.3.1 Información y relaciones. </a:t>
            </a:r>
            <a:r>
              <a:rPr lang="es-AR" dirty="0"/>
              <a:t>Técnicas suficientes:</a:t>
            </a:r>
          </a:p>
          <a:p>
            <a:pPr lvl="3"/>
            <a:r>
              <a:rPr lang="es-AR" b="1" dirty="0"/>
              <a:t>H51</a:t>
            </a:r>
            <a:r>
              <a:rPr lang="es-AR" dirty="0"/>
              <a:t> Usar tablas para presentar información tabular.</a:t>
            </a:r>
          </a:p>
          <a:p>
            <a:pPr lvl="3"/>
            <a:r>
              <a:rPr lang="es-AR" b="1" dirty="0"/>
              <a:t>H39</a:t>
            </a:r>
            <a:r>
              <a:rPr lang="es-AR" dirty="0"/>
              <a:t> Usar elementos </a:t>
            </a:r>
            <a:r>
              <a:rPr lang="es-AR" b="1" dirty="0" err="1"/>
              <a:t>caption</a:t>
            </a:r>
            <a:r>
              <a:rPr lang="es-AR" dirty="0"/>
              <a:t> para asociar títulos de tabla con las tabla de datos.</a:t>
            </a:r>
          </a:p>
          <a:p>
            <a:pPr lvl="3"/>
            <a:r>
              <a:rPr lang="es-AR" b="1" dirty="0"/>
              <a:t>H73</a:t>
            </a:r>
            <a:r>
              <a:rPr lang="es-AR" dirty="0"/>
              <a:t> Usar el atributo </a:t>
            </a:r>
            <a:r>
              <a:rPr lang="es-AR" b="1" dirty="0" err="1"/>
              <a:t>summary</a:t>
            </a:r>
            <a:r>
              <a:rPr lang="es-AR" dirty="0"/>
              <a:t> del elemento </a:t>
            </a:r>
            <a:r>
              <a:rPr lang="es-AR" b="1" dirty="0" err="1"/>
              <a:t>table</a:t>
            </a:r>
            <a:r>
              <a:rPr lang="es-AR" dirty="0"/>
              <a:t> para proporcionar un resumen a la tabla de datos.</a:t>
            </a:r>
          </a:p>
          <a:p>
            <a:pPr lvl="3"/>
            <a:r>
              <a:rPr lang="es-AR" b="1" dirty="0"/>
              <a:t>H63</a:t>
            </a:r>
            <a:r>
              <a:rPr lang="es-AR" dirty="0"/>
              <a:t> Usar el atributo </a:t>
            </a:r>
            <a:r>
              <a:rPr lang="es-AR" b="1" dirty="0" err="1"/>
              <a:t>scope</a:t>
            </a:r>
            <a:r>
              <a:rPr lang="es-AR" dirty="0"/>
              <a:t> para asociar celdas de encabezado y celdas de datos en las tablas de datos.</a:t>
            </a:r>
          </a:p>
          <a:p>
            <a:pPr lvl="3"/>
            <a:r>
              <a:rPr lang="es-AR" b="1" dirty="0"/>
              <a:t>H43</a:t>
            </a:r>
            <a:r>
              <a:rPr lang="es-AR" dirty="0"/>
              <a:t> Usar el atributo </a:t>
            </a:r>
            <a:r>
              <a:rPr lang="es-AR" b="1" dirty="0"/>
              <a:t>id</a:t>
            </a:r>
            <a:r>
              <a:rPr lang="es-AR" dirty="0"/>
              <a:t> y </a:t>
            </a:r>
            <a:r>
              <a:rPr lang="es-AR" b="1" dirty="0" err="1"/>
              <a:t>headers</a:t>
            </a:r>
            <a:r>
              <a:rPr lang="es-AR" dirty="0"/>
              <a:t> para asociar las celdas de datos con las celdas de encabezado en las tablas de datos.</a:t>
            </a:r>
            <a:endParaRPr lang="es-AR" b="1" dirty="0">
              <a:solidFill>
                <a:srgbClr val="00B050"/>
              </a:solidFill>
            </a:endParaRPr>
          </a:p>
          <a:p>
            <a:pPr lvl="2" algn="just">
              <a:lnSpc>
                <a:spcPct val="90000"/>
              </a:lnSpc>
            </a:pPr>
            <a:endParaRPr lang="es-AR" dirty="0"/>
          </a:p>
        </p:txBody>
      </p:sp>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86</a:t>
            </a:fld>
            <a:endParaRPr lang="es-ES" altLang="es-AR"/>
          </a:p>
        </p:txBody>
      </p:sp>
    </p:spTree>
    <p:extLst>
      <p:ext uri="{BB962C8B-B14F-4D97-AF65-F5344CB8AC3E}">
        <p14:creationId xmlns:p14="http://schemas.microsoft.com/office/powerpoint/2010/main" val="1207067200"/>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1 Título"/>
          <p:cNvSpPr>
            <a:spLocks noGrp="1"/>
          </p:cNvSpPr>
          <p:nvPr>
            <p:ph type="title"/>
          </p:nvPr>
        </p:nvSpPr>
        <p:spPr>
          <a:xfrm>
            <a:off x="457200" y="274638"/>
            <a:ext cx="8229600" cy="654050"/>
          </a:xfrm>
        </p:spPr>
        <p:txBody>
          <a:bodyPr/>
          <a:lstStyle/>
          <a:p>
            <a:r>
              <a:rPr lang="es-AR" altLang="es-AR" b="1"/>
              <a:t>Contenido accesible</a:t>
            </a:r>
          </a:p>
        </p:txBody>
      </p:sp>
      <p:sp>
        <p:nvSpPr>
          <p:cNvPr id="57347" name="2 Marcador de contenido"/>
          <p:cNvSpPr>
            <a:spLocks noGrp="1"/>
          </p:cNvSpPr>
          <p:nvPr>
            <p:ph idx="1"/>
          </p:nvPr>
        </p:nvSpPr>
        <p:spPr>
          <a:xfrm>
            <a:off x="430213" y="1916113"/>
            <a:ext cx="8229600" cy="4393207"/>
          </a:xfrm>
        </p:spPr>
        <p:txBody>
          <a:bodyPr/>
          <a:lstStyle/>
          <a:p>
            <a:pPr>
              <a:lnSpc>
                <a:spcPct val="90000"/>
              </a:lnSpc>
            </a:pPr>
            <a:r>
              <a:rPr lang="es-AR" dirty="0"/>
              <a:t>Tablas</a:t>
            </a:r>
          </a:p>
          <a:p>
            <a:pPr lvl="1" algn="just">
              <a:lnSpc>
                <a:spcPct val="90000"/>
              </a:lnSpc>
            </a:pPr>
            <a:endParaRPr lang="es-AR" dirty="0"/>
          </a:p>
          <a:p>
            <a:pPr lvl="1"/>
            <a:r>
              <a:rPr lang="es-AR" b="1" dirty="0"/>
              <a:t>H51</a:t>
            </a:r>
            <a:r>
              <a:rPr lang="es-AR" dirty="0"/>
              <a:t> Usar tablas para presentar información tabular.</a:t>
            </a:r>
          </a:p>
          <a:p>
            <a:pPr lvl="1"/>
            <a:endParaRPr lang="es-AR" dirty="0"/>
          </a:p>
          <a:p>
            <a:pPr lvl="2"/>
            <a:r>
              <a:rPr lang="es-AR" dirty="0"/>
              <a:t>¿Cómo se cumple la técnica?</a:t>
            </a:r>
          </a:p>
          <a:p>
            <a:pPr lvl="2"/>
            <a:endParaRPr lang="es-AR" dirty="0"/>
          </a:p>
          <a:p>
            <a:pPr lvl="3"/>
            <a:r>
              <a:rPr lang="es-AR" dirty="0"/>
              <a:t>Detectando la presencia de información tabular.</a:t>
            </a:r>
          </a:p>
          <a:p>
            <a:pPr lvl="3"/>
            <a:endParaRPr lang="es-AR" dirty="0"/>
          </a:p>
          <a:p>
            <a:pPr lvl="3"/>
            <a:r>
              <a:rPr lang="es-AR" dirty="0"/>
              <a:t>Y cada vez que exista información tabular:</a:t>
            </a:r>
          </a:p>
          <a:p>
            <a:pPr lvl="4"/>
            <a:r>
              <a:rPr lang="es-AR" dirty="0"/>
              <a:t>Comprobar  de que los elementos </a:t>
            </a:r>
            <a:r>
              <a:rPr lang="es-AR" b="1" dirty="0" err="1"/>
              <a:t>table</a:t>
            </a:r>
            <a:r>
              <a:rPr lang="es-AR" dirty="0"/>
              <a:t>, </a:t>
            </a:r>
            <a:r>
              <a:rPr lang="es-AR" b="1" dirty="0" err="1"/>
              <a:t>tr</a:t>
            </a:r>
            <a:r>
              <a:rPr lang="es-AR" dirty="0"/>
              <a:t>, </a:t>
            </a:r>
            <a:r>
              <a:rPr lang="es-AR" b="1" dirty="0" err="1"/>
              <a:t>th</a:t>
            </a:r>
            <a:r>
              <a:rPr lang="es-AR" dirty="0"/>
              <a:t> y </a:t>
            </a:r>
            <a:r>
              <a:rPr lang="es-AR" b="1" dirty="0" err="1"/>
              <a:t>td</a:t>
            </a:r>
            <a:r>
              <a:rPr lang="es-AR" dirty="0"/>
              <a:t> son usados.</a:t>
            </a:r>
          </a:p>
        </p:txBody>
      </p:sp>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87</a:t>
            </a:fld>
            <a:endParaRPr lang="es-ES" altLang="es-AR"/>
          </a:p>
        </p:txBody>
      </p:sp>
    </p:spTree>
    <p:extLst>
      <p:ext uri="{BB962C8B-B14F-4D97-AF65-F5344CB8AC3E}">
        <p14:creationId xmlns:p14="http://schemas.microsoft.com/office/powerpoint/2010/main" val="3652139999"/>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1 Título"/>
          <p:cNvSpPr>
            <a:spLocks noGrp="1"/>
          </p:cNvSpPr>
          <p:nvPr>
            <p:ph type="title"/>
          </p:nvPr>
        </p:nvSpPr>
        <p:spPr>
          <a:xfrm>
            <a:off x="457200" y="274638"/>
            <a:ext cx="8229600" cy="654050"/>
          </a:xfrm>
        </p:spPr>
        <p:txBody>
          <a:bodyPr/>
          <a:lstStyle/>
          <a:p>
            <a:r>
              <a:rPr lang="es-AR" altLang="es-AR" b="1"/>
              <a:t>Contenido accesible</a:t>
            </a:r>
          </a:p>
        </p:txBody>
      </p:sp>
      <p:sp>
        <p:nvSpPr>
          <p:cNvPr id="57347" name="2 Marcador de contenido"/>
          <p:cNvSpPr>
            <a:spLocks noGrp="1"/>
          </p:cNvSpPr>
          <p:nvPr>
            <p:ph idx="1"/>
          </p:nvPr>
        </p:nvSpPr>
        <p:spPr>
          <a:xfrm>
            <a:off x="430213" y="1916113"/>
            <a:ext cx="3277691" cy="1800919"/>
          </a:xfrm>
        </p:spPr>
        <p:txBody>
          <a:bodyPr/>
          <a:lstStyle/>
          <a:p>
            <a:pPr>
              <a:lnSpc>
                <a:spcPct val="90000"/>
              </a:lnSpc>
            </a:pPr>
            <a:r>
              <a:rPr lang="es-AR" dirty="0"/>
              <a:t>Tablas</a:t>
            </a:r>
          </a:p>
          <a:p>
            <a:pPr lvl="1" algn="just">
              <a:lnSpc>
                <a:spcPct val="90000"/>
              </a:lnSpc>
            </a:pPr>
            <a:endParaRPr lang="es-AR" dirty="0"/>
          </a:p>
          <a:p>
            <a:pPr lvl="1"/>
            <a:r>
              <a:rPr lang="es-AR" b="1" dirty="0"/>
              <a:t>H51</a:t>
            </a:r>
            <a:r>
              <a:rPr lang="es-AR" dirty="0"/>
              <a:t> Usar tablas para presentar información tabular.</a:t>
            </a:r>
          </a:p>
          <a:p>
            <a:pPr marL="457200" lvl="1" indent="0">
              <a:buNone/>
            </a:pPr>
            <a:endParaRPr lang="es-AR" dirty="0"/>
          </a:p>
        </p:txBody>
      </p:sp>
      <p:graphicFrame>
        <p:nvGraphicFramePr>
          <p:cNvPr id="5" name="5 Tabla"/>
          <p:cNvGraphicFramePr>
            <a:graphicFrameLocks noGrp="1"/>
          </p:cNvGraphicFramePr>
          <p:nvPr>
            <p:extLst>
              <p:ext uri="{D42A27DB-BD31-4B8C-83A1-F6EECF244321}">
                <p14:modId xmlns:p14="http://schemas.microsoft.com/office/powerpoint/2010/main" val="244533167"/>
              </p:ext>
            </p:extLst>
          </p:nvPr>
        </p:nvGraphicFramePr>
        <p:xfrm>
          <a:off x="827584" y="4056385"/>
          <a:ext cx="2880320" cy="2122376"/>
        </p:xfrm>
        <a:graphic>
          <a:graphicData uri="http://schemas.openxmlformats.org/drawingml/2006/table">
            <a:tbl>
              <a:tblPr firstRow="1" bandRow="1">
                <a:tableStyleId>{5C22544A-7EE6-4342-B048-85BDC9FD1C3A}</a:tableStyleId>
              </a:tblPr>
              <a:tblGrid>
                <a:gridCol w="720079">
                  <a:extLst>
                    <a:ext uri="{9D8B030D-6E8A-4147-A177-3AD203B41FA5}">
                      <a16:colId xmlns:a16="http://schemas.microsoft.com/office/drawing/2014/main" val="20000"/>
                    </a:ext>
                  </a:extLst>
                </a:gridCol>
                <a:gridCol w="1080120">
                  <a:extLst>
                    <a:ext uri="{9D8B030D-6E8A-4147-A177-3AD203B41FA5}">
                      <a16:colId xmlns:a16="http://schemas.microsoft.com/office/drawing/2014/main" val="20001"/>
                    </a:ext>
                  </a:extLst>
                </a:gridCol>
                <a:gridCol w="1080121">
                  <a:extLst>
                    <a:ext uri="{9D8B030D-6E8A-4147-A177-3AD203B41FA5}">
                      <a16:colId xmlns:a16="http://schemas.microsoft.com/office/drawing/2014/main" val="20002"/>
                    </a:ext>
                  </a:extLst>
                </a:gridCol>
              </a:tblGrid>
              <a:tr h="467642">
                <a:tc>
                  <a:txBody>
                    <a:bodyPr/>
                    <a:lstStyle/>
                    <a:p>
                      <a:pPr algn="ctr"/>
                      <a:endParaRPr lang="es-AR" sz="2000" b="0" dirty="0"/>
                    </a:p>
                  </a:txBody>
                  <a:tcPr>
                    <a:solidFill>
                      <a:schemeClr val="bg1"/>
                    </a:solidFill>
                  </a:tcPr>
                </a:tc>
                <a:tc>
                  <a:txBody>
                    <a:bodyPr/>
                    <a:lstStyle/>
                    <a:p>
                      <a:pPr algn="ctr"/>
                      <a:r>
                        <a:rPr lang="es-AR" sz="2000" b="1" dirty="0">
                          <a:solidFill>
                            <a:schemeClr val="tx1"/>
                          </a:solidFill>
                        </a:rPr>
                        <a:t>Lunes</a:t>
                      </a:r>
                    </a:p>
                  </a:txBody>
                  <a:tcPr/>
                </a:tc>
                <a:tc>
                  <a:txBody>
                    <a:bodyPr/>
                    <a:lstStyle/>
                    <a:p>
                      <a:pPr algn="ctr"/>
                      <a:r>
                        <a:rPr lang="es-AR" sz="2000" b="1" dirty="0">
                          <a:solidFill>
                            <a:schemeClr val="tx1"/>
                          </a:solidFill>
                        </a:rPr>
                        <a:t>Martes</a:t>
                      </a:r>
                    </a:p>
                  </a:txBody>
                  <a:tcPr/>
                </a:tc>
                <a:extLst>
                  <a:ext uri="{0D108BD9-81ED-4DB2-BD59-A6C34878D82A}">
                    <a16:rowId xmlns:a16="http://schemas.microsoft.com/office/drawing/2014/main" val="10000"/>
                  </a:ext>
                </a:extLst>
              </a:tr>
              <a:tr h="827367">
                <a:tc>
                  <a:txBody>
                    <a:bodyPr/>
                    <a:lstStyle/>
                    <a:p>
                      <a:pPr algn="ctr"/>
                      <a:r>
                        <a:rPr lang="es-AR" sz="2000" b="1" dirty="0">
                          <a:solidFill>
                            <a:schemeClr val="tx1"/>
                          </a:solidFill>
                        </a:rPr>
                        <a:t>8:00</a:t>
                      </a:r>
                    </a:p>
                  </a:txBody>
                  <a:tcPr>
                    <a:solidFill>
                      <a:schemeClr val="accent1"/>
                    </a:solidFill>
                  </a:tcPr>
                </a:tc>
                <a:tc>
                  <a:txBody>
                    <a:bodyPr/>
                    <a:lstStyle/>
                    <a:p>
                      <a:pPr algn="ctr"/>
                      <a:r>
                        <a:rPr lang="es-AR" sz="2000" b="0" dirty="0"/>
                        <a:t>TAW</a:t>
                      </a:r>
                    </a:p>
                  </a:txBody>
                  <a:tcPr/>
                </a:tc>
                <a:tc>
                  <a:txBody>
                    <a:bodyPr/>
                    <a:lstStyle/>
                    <a:p>
                      <a:pPr algn="ctr"/>
                      <a:r>
                        <a:rPr lang="es-AR" sz="2000" b="0" dirty="0"/>
                        <a:t>ARWeb</a:t>
                      </a:r>
                    </a:p>
                  </a:txBody>
                  <a:tcPr/>
                </a:tc>
                <a:extLst>
                  <a:ext uri="{0D108BD9-81ED-4DB2-BD59-A6C34878D82A}">
                    <a16:rowId xmlns:a16="http://schemas.microsoft.com/office/drawing/2014/main" val="10001"/>
                  </a:ext>
                </a:extLst>
              </a:tr>
              <a:tr h="827367">
                <a:tc>
                  <a:txBody>
                    <a:bodyPr/>
                    <a:lstStyle/>
                    <a:p>
                      <a:pPr algn="ctr"/>
                      <a:r>
                        <a:rPr lang="es-AR" sz="2000" b="1" dirty="0">
                          <a:solidFill>
                            <a:schemeClr val="tx1"/>
                          </a:solidFill>
                        </a:rPr>
                        <a:t>9:00</a:t>
                      </a:r>
                    </a:p>
                  </a:txBody>
                  <a:tcPr>
                    <a:solidFill>
                      <a:schemeClr val="accent1"/>
                    </a:solidFill>
                  </a:tcPr>
                </a:tc>
                <a:tc>
                  <a:txBody>
                    <a:bodyPr/>
                    <a:lstStyle/>
                    <a:p>
                      <a:pPr algn="ctr"/>
                      <a:r>
                        <a:rPr lang="es-AR" sz="2000" b="0" dirty="0"/>
                        <a:t>ARWeb</a:t>
                      </a:r>
                    </a:p>
                  </a:txBody>
                  <a:tcPr/>
                </a:tc>
                <a:tc>
                  <a:txBody>
                    <a:bodyPr/>
                    <a:lstStyle/>
                    <a:p>
                      <a:pPr algn="ctr"/>
                      <a:r>
                        <a:rPr lang="es-AR" sz="2000" b="0" dirty="0"/>
                        <a:t>ARWeb</a:t>
                      </a:r>
                    </a:p>
                  </a:txBody>
                  <a:tcPr/>
                </a:tc>
                <a:extLst>
                  <a:ext uri="{0D108BD9-81ED-4DB2-BD59-A6C34878D82A}">
                    <a16:rowId xmlns:a16="http://schemas.microsoft.com/office/drawing/2014/main" val="10002"/>
                  </a:ext>
                </a:extLst>
              </a:tr>
            </a:tbl>
          </a:graphicData>
        </a:graphic>
      </p:graphicFrame>
      <p:sp>
        <p:nvSpPr>
          <p:cNvPr id="6" name="CuadroTexto 8"/>
          <p:cNvSpPr txBox="1"/>
          <p:nvPr/>
        </p:nvSpPr>
        <p:spPr>
          <a:xfrm>
            <a:off x="4572000" y="1394117"/>
            <a:ext cx="3816424" cy="5324535"/>
          </a:xfrm>
          <a:prstGeom prst="rect">
            <a:avLst/>
          </a:prstGeom>
          <a:noFill/>
          <a:ln>
            <a:solidFill>
              <a:schemeClr val="accent1">
                <a:shade val="50000"/>
              </a:schemeClr>
            </a:solidFill>
          </a:ln>
        </p:spPr>
        <p:txBody>
          <a:bodyPr wrap="square" rtlCol="0">
            <a:spAutoFit/>
          </a:bodyPr>
          <a:lstStyle/>
          <a:p>
            <a:r>
              <a:rPr lang="es-AR" sz="2000" b="1" dirty="0">
                <a:solidFill>
                  <a:srgbClr val="0070C0"/>
                </a:solidFill>
              </a:rPr>
              <a:t>&lt;</a:t>
            </a:r>
            <a:r>
              <a:rPr lang="es-AR" sz="2000" b="1" dirty="0" err="1">
                <a:solidFill>
                  <a:srgbClr val="0070C0"/>
                </a:solidFill>
              </a:rPr>
              <a:t>table</a:t>
            </a:r>
            <a:r>
              <a:rPr lang="es-AR" sz="2000" b="1" dirty="0">
                <a:solidFill>
                  <a:srgbClr val="0070C0"/>
                </a:solidFill>
              </a:rPr>
              <a:t>&gt;</a:t>
            </a:r>
          </a:p>
          <a:p>
            <a:r>
              <a:rPr lang="es-AR" sz="2000" b="1" dirty="0">
                <a:solidFill>
                  <a:srgbClr val="0070C0"/>
                </a:solidFill>
              </a:rPr>
              <a:t>&lt;</a:t>
            </a:r>
            <a:r>
              <a:rPr lang="es-AR" sz="2000" b="1" dirty="0" err="1">
                <a:solidFill>
                  <a:srgbClr val="0070C0"/>
                </a:solidFill>
              </a:rPr>
              <a:t>tr</a:t>
            </a:r>
            <a:r>
              <a:rPr lang="es-AR" sz="2000" b="1" dirty="0">
                <a:solidFill>
                  <a:srgbClr val="0070C0"/>
                </a:solidFill>
              </a:rPr>
              <a:t>&gt;</a:t>
            </a:r>
          </a:p>
          <a:p>
            <a:r>
              <a:rPr lang="es-AR" sz="2000" b="1" dirty="0"/>
              <a:t>            </a:t>
            </a:r>
            <a:r>
              <a:rPr lang="es-AR" sz="2000" b="1" dirty="0">
                <a:solidFill>
                  <a:srgbClr val="0070C0"/>
                </a:solidFill>
              </a:rPr>
              <a:t>&lt;</a:t>
            </a:r>
            <a:r>
              <a:rPr lang="es-AR" sz="2000" b="1" dirty="0" err="1">
                <a:solidFill>
                  <a:srgbClr val="0070C0"/>
                </a:solidFill>
              </a:rPr>
              <a:t>td</a:t>
            </a:r>
            <a:r>
              <a:rPr lang="es-AR" sz="2000" b="1" dirty="0">
                <a:solidFill>
                  <a:srgbClr val="0070C0"/>
                </a:solidFill>
              </a:rPr>
              <a:t>&gt;  &lt;/</a:t>
            </a:r>
            <a:r>
              <a:rPr lang="es-AR" sz="2000" b="1" dirty="0" err="1">
                <a:solidFill>
                  <a:srgbClr val="0070C0"/>
                </a:solidFill>
              </a:rPr>
              <a:t>td</a:t>
            </a:r>
            <a:r>
              <a:rPr lang="es-AR" sz="2000" b="1" dirty="0">
                <a:solidFill>
                  <a:srgbClr val="0070C0"/>
                </a:solidFill>
              </a:rPr>
              <a:t>&gt;</a:t>
            </a:r>
            <a:r>
              <a:rPr lang="es-AR" sz="2000" b="1" dirty="0"/>
              <a:t>	</a:t>
            </a:r>
          </a:p>
          <a:p>
            <a:r>
              <a:rPr lang="es-AR" sz="2000" b="1" dirty="0"/>
              <a:t>            </a:t>
            </a:r>
            <a:r>
              <a:rPr lang="es-AR" sz="2000" b="1" dirty="0">
                <a:solidFill>
                  <a:srgbClr val="0070C0"/>
                </a:solidFill>
              </a:rPr>
              <a:t>&lt;</a:t>
            </a:r>
            <a:r>
              <a:rPr lang="es-AR" sz="2000" b="1" dirty="0" err="1">
                <a:solidFill>
                  <a:srgbClr val="0070C0"/>
                </a:solidFill>
              </a:rPr>
              <a:t>th</a:t>
            </a:r>
            <a:r>
              <a:rPr lang="es-AR" sz="2000" b="1" dirty="0">
                <a:solidFill>
                  <a:srgbClr val="0070C0"/>
                </a:solidFill>
              </a:rPr>
              <a:t>&gt; </a:t>
            </a:r>
            <a:r>
              <a:rPr lang="es-AR" sz="2000" b="1" dirty="0"/>
              <a:t>Lunes  </a:t>
            </a:r>
            <a:r>
              <a:rPr lang="es-AR" sz="2000" b="1" dirty="0">
                <a:solidFill>
                  <a:srgbClr val="0070C0"/>
                </a:solidFill>
              </a:rPr>
              <a:t>&lt;/</a:t>
            </a:r>
            <a:r>
              <a:rPr lang="es-AR" sz="2000" b="1" dirty="0" err="1">
                <a:solidFill>
                  <a:srgbClr val="0070C0"/>
                </a:solidFill>
              </a:rPr>
              <a:t>th</a:t>
            </a:r>
            <a:r>
              <a:rPr lang="es-AR" sz="2000" b="1" dirty="0">
                <a:solidFill>
                  <a:srgbClr val="0070C0"/>
                </a:solidFill>
              </a:rPr>
              <a:t>&gt; </a:t>
            </a:r>
          </a:p>
          <a:p>
            <a:r>
              <a:rPr lang="es-AR" sz="2000" b="1" dirty="0"/>
              <a:t>            </a:t>
            </a:r>
            <a:r>
              <a:rPr lang="es-AR" sz="2000" b="1" dirty="0">
                <a:solidFill>
                  <a:srgbClr val="0070C0"/>
                </a:solidFill>
              </a:rPr>
              <a:t>&lt;</a:t>
            </a:r>
            <a:r>
              <a:rPr lang="es-AR" sz="2000" b="1" dirty="0" err="1">
                <a:solidFill>
                  <a:srgbClr val="0070C0"/>
                </a:solidFill>
              </a:rPr>
              <a:t>th</a:t>
            </a:r>
            <a:r>
              <a:rPr lang="es-AR" sz="2000" b="1" dirty="0">
                <a:solidFill>
                  <a:srgbClr val="0070C0"/>
                </a:solidFill>
              </a:rPr>
              <a:t>&gt; </a:t>
            </a:r>
            <a:r>
              <a:rPr lang="es-AR" sz="2000" b="1" dirty="0"/>
              <a:t>Martes </a:t>
            </a:r>
            <a:r>
              <a:rPr lang="es-AR" sz="2000" b="1" dirty="0">
                <a:solidFill>
                  <a:srgbClr val="0070C0"/>
                </a:solidFill>
              </a:rPr>
              <a:t>&lt;/</a:t>
            </a:r>
            <a:r>
              <a:rPr lang="es-AR" sz="2000" b="1" dirty="0" err="1">
                <a:solidFill>
                  <a:srgbClr val="0070C0"/>
                </a:solidFill>
              </a:rPr>
              <a:t>th</a:t>
            </a:r>
            <a:r>
              <a:rPr lang="es-AR" sz="2000" b="1" dirty="0">
                <a:solidFill>
                  <a:srgbClr val="0070C0"/>
                </a:solidFill>
              </a:rPr>
              <a:t>&gt;</a:t>
            </a:r>
          </a:p>
          <a:p>
            <a:r>
              <a:rPr lang="es-AR" sz="2000" b="1" dirty="0">
                <a:solidFill>
                  <a:srgbClr val="0070C0"/>
                </a:solidFill>
              </a:rPr>
              <a:t>&lt;/</a:t>
            </a:r>
            <a:r>
              <a:rPr lang="es-AR" sz="2000" b="1" dirty="0" err="1">
                <a:solidFill>
                  <a:srgbClr val="0070C0"/>
                </a:solidFill>
              </a:rPr>
              <a:t>tr</a:t>
            </a:r>
            <a:r>
              <a:rPr lang="es-AR" sz="2000" b="1" dirty="0">
                <a:solidFill>
                  <a:srgbClr val="0070C0"/>
                </a:solidFill>
              </a:rPr>
              <a:t>&gt;</a:t>
            </a:r>
          </a:p>
          <a:p>
            <a:r>
              <a:rPr lang="es-AR" sz="2000" b="1" dirty="0">
                <a:solidFill>
                  <a:srgbClr val="0070C0"/>
                </a:solidFill>
              </a:rPr>
              <a:t>&lt;</a:t>
            </a:r>
            <a:r>
              <a:rPr lang="es-AR" sz="2000" b="1" dirty="0" err="1">
                <a:solidFill>
                  <a:srgbClr val="0070C0"/>
                </a:solidFill>
              </a:rPr>
              <a:t>tr</a:t>
            </a:r>
            <a:r>
              <a:rPr lang="es-AR" sz="2000" b="1" dirty="0">
                <a:solidFill>
                  <a:srgbClr val="0070C0"/>
                </a:solidFill>
              </a:rPr>
              <a:t>&gt;</a:t>
            </a:r>
          </a:p>
          <a:p>
            <a:r>
              <a:rPr lang="es-AR" sz="2000" b="1" dirty="0"/>
              <a:t>	</a:t>
            </a:r>
            <a:r>
              <a:rPr lang="es-AR" sz="2000" b="1" dirty="0">
                <a:solidFill>
                  <a:srgbClr val="0070C0"/>
                </a:solidFill>
              </a:rPr>
              <a:t>&lt;</a:t>
            </a:r>
            <a:r>
              <a:rPr lang="es-AR" sz="2000" b="1" dirty="0" err="1">
                <a:solidFill>
                  <a:srgbClr val="0070C0"/>
                </a:solidFill>
              </a:rPr>
              <a:t>th</a:t>
            </a:r>
            <a:r>
              <a:rPr lang="es-AR" sz="2000" b="1" dirty="0">
                <a:solidFill>
                  <a:srgbClr val="0070C0"/>
                </a:solidFill>
              </a:rPr>
              <a:t>&gt; </a:t>
            </a:r>
            <a:r>
              <a:rPr lang="es-AR" sz="2000" b="1" dirty="0"/>
              <a:t>8:00 </a:t>
            </a:r>
            <a:r>
              <a:rPr lang="es-AR" sz="2000" b="1" dirty="0">
                <a:solidFill>
                  <a:srgbClr val="0070C0"/>
                </a:solidFill>
              </a:rPr>
              <a:t>&lt;/</a:t>
            </a:r>
            <a:r>
              <a:rPr lang="es-AR" sz="2000" b="1" dirty="0" err="1">
                <a:solidFill>
                  <a:srgbClr val="0070C0"/>
                </a:solidFill>
              </a:rPr>
              <a:t>th</a:t>
            </a:r>
            <a:r>
              <a:rPr lang="es-AR" sz="2000" b="1" dirty="0">
                <a:solidFill>
                  <a:srgbClr val="0070C0"/>
                </a:solidFill>
              </a:rPr>
              <a:t>&gt;   </a:t>
            </a:r>
            <a:r>
              <a:rPr lang="es-AR" sz="2000" b="1" dirty="0"/>
              <a:t>	</a:t>
            </a:r>
            <a:r>
              <a:rPr lang="es-AR" sz="2000" b="1" dirty="0">
                <a:solidFill>
                  <a:srgbClr val="0070C0"/>
                </a:solidFill>
              </a:rPr>
              <a:t>&lt;</a:t>
            </a:r>
            <a:r>
              <a:rPr lang="es-AR" sz="2000" b="1" dirty="0" err="1">
                <a:solidFill>
                  <a:srgbClr val="0070C0"/>
                </a:solidFill>
              </a:rPr>
              <a:t>td</a:t>
            </a:r>
            <a:r>
              <a:rPr lang="es-AR" sz="2000" b="1" dirty="0">
                <a:solidFill>
                  <a:srgbClr val="0070C0"/>
                </a:solidFill>
              </a:rPr>
              <a:t>&gt;</a:t>
            </a:r>
            <a:r>
              <a:rPr lang="es-AR" sz="2000" b="1" dirty="0"/>
              <a:t>TAW </a:t>
            </a:r>
            <a:r>
              <a:rPr lang="es-AR" sz="2000" b="1" dirty="0">
                <a:solidFill>
                  <a:srgbClr val="0070C0"/>
                </a:solidFill>
              </a:rPr>
              <a:t>&lt;/</a:t>
            </a:r>
            <a:r>
              <a:rPr lang="es-AR" sz="2000" b="1" dirty="0" err="1">
                <a:solidFill>
                  <a:srgbClr val="0070C0"/>
                </a:solidFill>
              </a:rPr>
              <a:t>td</a:t>
            </a:r>
            <a:r>
              <a:rPr lang="es-AR" sz="2000" b="1" dirty="0">
                <a:solidFill>
                  <a:srgbClr val="0070C0"/>
                </a:solidFill>
              </a:rPr>
              <a:t>&gt;  </a:t>
            </a:r>
          </a:p>
          <a:p>
            <a:r>
              <a:rPr lang="es-AR" sz="2000" b="1" dirty="0"/>
              <a:t>	</a:t>
            </a:r>
            <a:r>
              <a:rPr lang="es-AR" sz="2000" b="1" dirty="0">
                <a:solidFill>
                  <a:srgbClr val="0070C0"/>
                </a:solidFill>
              </a:rPr>
              <a:t>&lt;</a:t>
            </a:r>
            <a:r>
              <a:rPr lang="es-AR" sz="2000" b="1" dirty="0" err="1">
                <a:solidFill>
                  <a:srgbClr val="0070C0"/>
                </a:solidFill>
              </a:rPr>
              <a:t>td</a:t>
            </a:r>
            <a:r>
              <a:rPr lang="es-AR" sz="2000" b="1" dirty="0">
                <a:solidFill>
                  <a:srgbClr val="0070C0"/>
                </a:solidFill>
              </a:rPr>
              <a:t>&gt;</a:t>
            </a:r>
            <a:r>
              <a:rPr lang="es-AR" sz="2000" b="1" dirty="0"/>
              <a:t> ARWeb </a:t>
            </a:r>
            <a:r>
              <a:rPr lang="es-AR" sz="2000" b="1" dirty="0">
                <a:solidFill>
                  <a:srgbClr val="0070C0"/>
                </a:solidFill>
              </a:rPr>
              <a:t>&lt;/</a:t>
            </a:r>
            <a:r>
              <a:rPr lang="es-AR" sz="2000" b="1" dirty="0" err="1">
                <a:solidFill>
                  <a:srgbClr val="0070C0"/>
                </a:solidFill>
              </a:rPr>
              <a:t>td</a:t>
            </a:r>
            <a:r>
              <a:rPr lang="es-AR" sz="2000" b="1" dirty="0">
                <a:solidFill>
                  <a:srgbClr val="0070C0"/>
                </a:solidFill>
              </a:rPr>
              <a:t>&gt; </a:t>
            </a:r>
          </a:p>
          <a:p>
            <a:r>
              <a:rPr lang="es-AR" sz="2000" b="1" dirty="0">
                <a:solidFill>
                  <a:srgbClr val="0070C0"/>
                </a:solidFill>
              </a:rPr>
              <a:t>&lt;/</a:t>
            </a:r>
            <a:r>
              <a:rPr lang="es-AR" sz="2000" b="1" dirty="0" err="1">
                <a:solidFill>
                  <a:srgbClr val="0070C0"/>
                </a:solidFill>
              </a:rPr>
              <a:t>tr</a:t>
            </a:r>
            <a:r>
              <a:rPr lang="es-AR" sz="2000" b="1" dirty="0">
                <a:solidFill>
                  <a:srgbClr val="0070C0"/>
                </a:solidFill>
              </a:rPr>
              <a:t>&gt;</a:t>
            </a:r>
          </a:p>
          <a:p>
            <a:r>
              <a:rPr lang="es-AR" sz="2000" b="1" dirty="0">
                <a:solidFill>
                  <a:srgbClr val="0070C0"/>
                </a:solidFill>
              </a:rPr>
              <a:t>&lt;</a:t>
            </a:r>
            <a:r>
              <a:rPr lang="es-AR" sz="2000" b="1" dirty="0" err="1">
                <a:solidFill>
                  <a:srgbClr val="0070C0"/>
                </a:solidFill>
              </a:rPr>
              <a:t>tr</a:t>
            </a:r>
            <a:r>
              <a:rPr lang="es-AR" sz="2000" b="1" dirty="0">
                <a:solidFill>
                  <a:srgbClr val="0070C0"/>
                </a:solidFill>
              </a:rPr>
              <a:t>&gt; </a:t>
            </a:r>
          </a:p>
          <a:p>
            <a:r>
              <a:rPr lang="es-AR" sz="2000" b="1" dirty="0">
                <a:solidFill>
                  <a:srgbClr val="0070C0"/>
                </a:solidFill>
              </a:rPr>
              <a:t>	&lt;</a:t>
            </a:r>
            <a:r>
              <a:rPr lang="es-AR" sz="2000" b="1" dirty="0" err="1">
                <a:solidFill>
                  <a:srgbClr val="0070C0"/>
                </a:solidFill>
              </a:rPr>
              <a:t>th</a:t>
            </a:r>
            <a:r>
              <a:rPr lang="es-AR" sz="2000" b="1" dirty="0">
                <a:solidFill>
                  <a:srgbClr val="0070C0"/>
                </a:solidFill>
              </a:rPr>
              <a:t>&gt; </a:t>
            </a:r>
            <a:r>
              <a:rPr lang="es-AR" sz="2000" b="1" dirty="0"/>
              <a:t>9:00 </a:t>
            </a:r>
            <a:r>
              <a:rPr lang="es-AR" sz="2000" b="1" dirty="0">
                <a:solidFill>
                  <a:srgbClr val="0070C0"/>
                </a:solidFill>
              </a:rPr>
              <a:t>&lt;/</a:t>
            </a:r>
            <a:r>
              <a:rPr lang="es-AR" sz="2000" b="1" dirty="0" err="1">
                <a:solidFill>
                  <a:srgbClr val="0070C0"/>
                </a:solidFill>
              </a:rPr>
              <a:t>th</a:t>
            </a:r>
            <a:r>
              <a:rPr lang="es-AR" sz="2000" b="1" dirty="0">
                <a:solidFill>
                  <a:srgbClr val="0070C0"/>
                </a:solidFill>
              </a:rPr>
              <a:t>&gt;  </a:t>
            </a:r>
          </a:p>
          <a:p>
            <a:r>
              <a:rPr lang="es-AR" sz="2000" b="1" dirty="0"/>
              <a:t>	</a:t>
            </a:r>
            <a:r>
              <a:rPr lang="es-AR" sz="2000" b="1" dirty="0">
                <a:solidFill>
                  <a:srgbClr val="0070C0"/>
                </a:solidFill>
              </a:rPr>
              <a:t>&lt;</a:t>
            </a:r>
            <a:r>
              <a:rPr lang="es-AR" sz="2000" b="1" dirty="0" err="1">
                <a:solidFill>
                  <a:srgbClr val="0070C0"/>
                </a:solidFill>
              </a:rPr>
              <a:t>td</a:t>
            </a:r>
            <a:r>
              <a:rPr lang="es-AR" sz="2000" b="1" dirty="0">
                <a:solidFill>
                  <a:srgbClr val="0070C0"/>
                </a:solidFill>
              </a:rPr>
              <a:t>&gt; </a:t>
            </a:r>
            <a:r>
              <a:rPr lang="es-AR" sz="2000" b="1" dirty="0"/>
              <a:t>ARWeb </a:t>
            </a:r>
            <a:r>
              <a:rPr lang="es-AR" sz="2000" b="1" dirty="0">
                <a:solidFill>
                  <a:srgbClr val="0070C0"/>
                </a:solidFill>
              </a:rPr>
              <a:t>&lt;/</a:t>
            </a:r>
            <a:r>
              <a:rPr lang="es-AR" sz="2000" b="1" dirty="0" err="1">
                <a:solidFill>
                  <a:srgbClr val="0070C0"/>
                </a:solidFill>
              </a:rPr>
              <a:t>td</a:t>
            </a:r>
            <a:r>
              <a:rPr lang="es-AR" sz="2000" b="1" dirty="0">
                <a:solidFill>
                  <a:srgbClr val="0070C0"/>
                </a:solidFill>
              </a:rPr>
              <a:t>&gt;  </a:t>
            </a:r>
          </a:p>
          <a:p>
            <a:r>
              <a:rPr lang="es-AR" sz="2000" b="1" dirty="0"/>
              <a:t>	</a:t>
            </a:r>
            <a:r>
              <a:rPr lang="es-AR" sz="2000" b="1" dirty="0">
                <a:solidFill>
                  <a:srgbClr val="0070C0"/>
                </a:solidFill>
              </a:rPr>
              <a:t>&lt;</a:t>
            </a:r>
            <a:r>
              <a:rPr lang="es-AR" sz="2000" b="1" dirty="0" err="1">
                <a:solidFill>
                  <a:srgbClr val="0070C0"/>
                </a:solidFill>
              </a:rPr>
              <a:t>td</a:t>
            </a:r>
            <a:r>
              <a:rPr lang="es-AR" sz="2000" b="1" dirty="0">
                <a:solidFill>
                  <a:srgbClr val="0070C0"/>
                </a:solidFill>
              </a:rPr>
              <a:t>&gt; </a:t>
            </a:r>
            <a:r>
              <a:rPr lang="es-AR" sz="2000" b="1" dirty="0"/>
              <a:t>ARWeb </a:t>
            </a:r>
            <a:r>
              <a:rPr lang="es-AR" sz="2000" b="1" dirty="0">
                <a:solidFill>
                  <a:srgbClr val="0070C0"/>
                </a:solidFill>
              </a:rPr>
              <a:t>&lt;/</a:t>
            </a:r>
            <a:r>
              <a:rPr lang="es-AR" sz="2000" b="1" dirty="0" err="1">
                <a:solidFill>
                  <a:srgbClr val="0070C0"/>
                </a:solidFill>
              </a:rPr>
              <a:t>td</a:t>
            </a:r>
            <a:r>
              <a:rPr lang="es-AR" sz="2000" b="1" dirty="0">
                <a:solidFill>
                  <a:srgbClr val="0070C0"/>
                </a:solidFill>
              </a:rPr>
              <a:t>&gt; </a:t>
            </a:r>
          </a:p>
          <a:p>
            <a:r>
              <a:rPr lang="es-AR" sz="2000" b="1" dirty="0">
                <a:solidFill>
                  <a:srgbClr val="0070C0"/>
                </a:solidFill>
              </a:rPr>
              <a:t>&lt;/</a:t>
            </a:r>
            <a:r>
              <a:rPr lang="es-AR" sz="2000" b="1" dirty="0" err="1">
                <a:solidFill>
                  <a:srgbClr val="0070C0"/>
                </a:solidFill>
              </a:rPr>
              <a:t>tr</a:t>
            </a:r>
            <a:r>
              <a:rPr lang="es-AR" sz="2000" b="1" dirty="0">
                <a:solidFill>
                  <a:srgbClr val="0070C0"/>
                </a:solidFill>
              </a:rPr>
              <a:t>&gt;</a:t>
            </a:r>
          </a:p>
          <a:p>
            <a:r>
              <a:rPr lang="es-AR" sz="2000" b="1" dirty="0">
                <a:solidFill>
                  <a:srgbClr val="0070C0"/>
                </a:solidFill>
              </a:rPr>
              <a:t>&lt;/</a:t>
            </a:r>
            <a:r>
              <a:rPr lang="es-AR" sz="2000" b="1" dirty="0" err="1">
                <a:solidFill>
                  <a:srgbClr val="0070C0"/>
                </a:solidFill>
              </a:rPr>
              <a:t>table</a:t>
            </a:r>
            <a:r>
              <a:rPr lang="es-AR" sz="2000" b="1" dirty="0">
                <a:solidFill>
                  <a:srgbClr val="0070C0"/>
                </a:solidFill>
              </a:rPr>
              <a:t>&gt;</a:t>
            </a:r>
          </a:p>
        </p:txBody>
      </p:sp>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88</a:t>
            </a:fld>
            <a:endParaRPr lang="es-ES" altLang="es-AR"/>
          </a:p>
        </p:txBody>
      </p:sp>
    </p:spTree>
    <p:extLst>
      <p:ext uri="{BB962C8B-B14F-4D97-AF65-F5344CB8AC3E}">
        <p14:creationId xmlns:p14="http://schemas.microsoft.com/office/powerpoint/2010/main" val="3003422490"/>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1 Título"/>
          <p:cNvSpPr>
            <a:spLocks noGrp="1"/>
          </p:cNvSpPr>
          <p:nvPr>
            <p:ph type="title"/>
          </p:nvPr>
        </p:nvSpPr>
        <p:spPr>
          <a:xfrm>
            <a:off x="457200" y="274638"/>
            <a:ext cx="8229600" cy="654050"/>
          </a:xfrm>
        </p:spPr>
        <p:txBody>
          <a:bodyPr/>
          <a:lstStyle/>
          <a:p>
            <a:r>
              <a:rPr lang="es-AR" altLang="es-AR" b="1"/>
              <a:t>Contenido accesible</a:t>
            </a:r>
          </a:p>
        </p:txBody>
      </p:sp>
      <p:sp>
        <p:nvSpPr>
          <p:cNvPr id="57347" name="2 Marcador de contenido"/>
          <p:cNvSpPr>
            <a:spLocks noGrp="1"/>
          </p:cNvSpPr>
          <p:nvPr>
            <p:ph idx="1"/>
          </p:nvPr>
        </p:nvSpPr>
        <p:spPr>
          <a:xfrm>
            <a:off x="430213" y="1916113"/>
            <a:ext cx="8229600" cy="4393207"/>
          </a:xfrm>
        </p:spPr>
        <p:txBody>
          <a:bodyPr/>
          <a:lstStyle/>
          <a:p>
            <a:pPr>
              <a:lnSpc>
                <a:spcPct val="90000"/>
              </a:lnSpc>
            </a:pPr>
            <a:r>
              <a:rPr lang="es-AR" dirty="0"/>
              <a:t>Tablas</a:t>
            </a:r>
          </a:p>
          <a:p>
            <a:pPr lvl="1" algn="just">
              <a:lnSpc>
                <a:spcPct val="90000"/>
              </a:lnSpc>
            </a:pPr>
            <a:endParaRPr lang="es-AR" dirty="0"/>
          </a:p>
          <a:p>
            <a:pPr lvl="1"/>
            <a:r>
              <a:rPr lang="es-AR" b="1" dirty="0"/>
              <a:t>H39</a:t>
            </a:r>
            <a:r>
              <a:rPr lang="es-AR" dirty="0"/>
              <a:t> Usar elementos </a:t>
            </a:r>
            <a:r>
              <a:rPr lang="es-AR" b="1" dirty="0" err="1"/>
              <a:t>caption</a:t>
            </a:r>
            <a:r>
              <a:rPr lang="es-AR" dirty="0"/>
              <a:t> para asociar la tabla de datos con su título.</a:t>
            </a:r>
          </a:p>
          <a:p>
            <a:pPr lvl="2"/>
            <a:r>
              <a:rPr lang="es-AR" dirty="0"/>
              <a:t>El elemento </a:t>
            </a:r>
            <a:r>
              <a:rPr lang="es-AR" b="1" dirty="0" err="1"/>
              <a:t>caption</a:t>
            </a:r>
            <a:r>
              <a:rPr lang="es-AR" dirty="0"/>
              <a:t> permite a los lectores de pantalla saltar directamente a los títulos de las tablas y poder ojear el documento más fácilmente.</a:t>
            </a:r>
          </a:p>
          <a:p>
            <a:pPr lvl="2"/>
            <a:r>
              <a:rPr lang="es-AR" dirty="0"/>
              <a:t>¿Cómo se cumple la técnica?</a:t>
            </a:r>
          </a:p>
          <a:p>
            <a:pPr lvl="3"/>
            <a:r>
              <a:rPr lang="es-AR" dirty="0"/>
              <a:t>Detectar si una tabla es de datos o de maquetación.</a:t>
            </a:r>
          </a:p>
          <a:p>
            <a:pPr lvl="4"/>
            <a:r>
              <a:rPr lang="es-AR" dirty="0"/>
              <a:t>Si es una tabla de maquetación no usar </a:t>
            </a:r>
            <a:r>
              <a:rPr lang="es-AR" b="1" dirty="0" err="1"/>
              <a:t>caption</a:t>
            </a:r>
            <a:r>
              <a:rPr lang="es-AR" dirty="0"/>
              <a:t>.</a:t>
            </a:r>
          </a:p>
          <a:p>
            <a:pPr lvl="4"/>
            <a:r>
              <a:rPr lang="es-AR" dirty="0"/>
              <a:t>Si es una tabla de datos verificar que </a:t>
            </a:r>
            <a:r>
              <a:rPr lang="es-AR" b="1" dirty="0" err="1"/>
              <a:t>caption</a:t>
            </a:r>
            <a:r>
              <a:rPr lang="es-AR" dirty="0"/>
              <a:t> identifica el contenido de la tabla.</a:t>
            </a:r>
          </a:p>
        </p:txBody>
      </p:sp>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89</a:t>
            </a:fld>
            <a:endParaRPr lang="es-ES" altLang="es-AR"/>
          </a:p>
        </p:txBody>
      </p:sp>
    </p:spTree>
    <p:extLst>
      <p:ext uri="{BB962C8B-B14F-4D97-AF65-F5344CB8AC3E}">
        <p14:creationId xmlns:p14="http://schemas.microsoft.com/office/powerpoint/2010/main" val="1652097338"/>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1 Título"/>
          <p:cNvSpPr>
            <a:spLocks noGrp="1"/>
          </p:cNvSpPr>
          <p:nvPr>
            <p:ph type="title"/>
          </p:nvPr>
        </p:nvSpPr>
        <p:spPr>
          <a:xfrm>
            <a:off x="457200" y="274638"/>
            <a:ext cx="8229600" cy="654050"/>
          </a:xfrm>
        </p:spPr>
        <p:txBody>
          <a:bodyPr/>
          <a:lstStyle/>
          <a:p>
            <a:r>
              <a:rPr lang="es-AR" altLang="es-AR" b="1"/>
              <a:t>Contenido accesible</a:t>
            </a:r>
          </a:p>
        </p:txBody>
      </p:sp>
      <p:sp>
        <p:nvSpPr>
          <p:cNvPr id="57347" name="2 Marcador de contenido"/>
          <p:cNvSpPr>
            <a:spLocks noGrp="1"/>
          </p:cNvSpPr>
          <p:nvPr>
            <p:ph idx="1"/>
          </p:nvPr>
        </p:nvSpPr>
        <p:spPr>
          <a:xfrm>
            <a:off x="465268" y="1632526"/>
            <a:ext cx="3277691" cy="1944935"/>
          </a:xfrm>
        </p:spPr>
        <p:txBody>
          <a:bodyPr/>
          <a:lstStyle/>
          <a:p>
            <a:pPr>
              <a:lnSpc>
                <a:spcPct val="90000"/>
              </a:lnSpc>
            </a:pPr>
            <a:r>
              <a:rPr lang="es-AR" dirty="0"/>
              <a:t>Tablas</a:t>
            </a:r>
          </a:p>
          <a:p>
            <a:pPr lvl="1" algn="just">
              <a:lnSpc>
                <a:spcPct val="90000"/>
              </a:lnSpc>
            </a:pPr>
            <a:endParaRPr lang="es-AR" dirty="0"/>
          </a:p>
          <a:p>
            <a:pPr lvl="1"/>
            <a:r>
              <a:rPr lang="es-AR" b="1" dirty="0"/>
              <a:t>H39</a:t>
            </a:r>
            <a:r>
              <a:rPr lang="es-AR" dirty="0"/>
              <a:t> Usar elementos </a:t>
            </a:r>
            <a:r>
              <a:rPr lang="es-AR" b="1" dirty="0" err="1"/>
              <a:t>caption</a:t>
            </a:r>
            <a:r>
              <a:rPr lang="es-AR" dirty="0"/>
              <a:t> para asociar la tabla de datos con su título.</a:t>
            </a:r>
          </a:p>
        </p:txBody>
      </p:sp>
      <p:graphicFrame>
        <p:nvGraphicFramePr>
          <p:cNvPr id="5" name="5 Tabla"/>
          <p:cNvGraphicFramePr>
            <a:graphicFrameLocks noGrp="1"/>
          </p:cNvGraphicFramePr>
          <p:nvPr>
            <p:extLst>
              <p:ext uri="{D42A27DB-BD31-4B8C-83A1-F6EECF244321}">
                <p14:modId xmlns:p14="http://schemas.microsoft.com/office/powerpoint/2010/main" val="1767058508"/>
              </p:ext>
            </p:extLst>
          </p:nvPr>
        </p:nvGraphicFramePr>
        <p:xfrm>
          <a:off x="831032" y="4596276"/>
          <a:ext cx="2880320" cy="2122376"/>
        </p:xfrm>
        <a:graphic>
          <a:graphicData uri="http://schemas.openxmlformats.org/drawingml/2006/table">
            <a:tbl>
              <a:tblPr firstRow="1" bandRow="1">
                <a:tableStyleId>{5C22544A-7EE6-4342-B048-85BDC9FD1C3A}</a:tableStyleId>
              </a:tblPr>
              <a:tblGrid>
                <a:gridCol w="720079">
                  <a:extLst>
                    <a:ext uri="{9D8B030D-6E8A-4147-A177-3AD203B41FA5}">
                      <a16:colId xmlns:a16="http://schemas.microsoft.com/office/drawing/2014/main" val="20000"/>
                    </a:ext>
                  </a:extLst>
                </a:gridCol>
                <a:gridCol w="1080120">
                  <a:extLst>
                    <a:ext uri="{9D8B030D-6E8A-4147-A177-3AD203B41FA5}">
                      <a16:colId xmlns:a16="http://schemas.microsoft.com/office/drawing/2014/main" val="20001"/>
                    </a:ext>
                  </a:extLst>
                </a:gridCol>
                <a:gridCol w="1080121">
                  <a:extLst>
                    <a:ext uri="{9D8B030D-6E8A-4147-A177-3AD203B41FA5}">
                      <a16:colId xmlns:a16="http://schemas.microsoft.com/office/drawing/2014/main" val="20002"/>
                    </a:ext>
                  </a:extLst>
                </a:gridCol>
              </a:tblGrid>
              <a:tr h="467642">
                <a:tc>
                  <a:txBody>
                    <a:bodyPr/>
                    <a:lstStyle/>
                    <a:p>
                      <a:pPr algn="ctr"/>
                      <a:endParaRPr lang="es-AR" sz="2000" b="0" dirty="0"/>
                    </a:p>
                  </a:txBody>
                  <a:tcPr>
                    <a:solidFill>
                      <a:schemeClr val="bg1"/>
                    </a:solidFill>
                  </a:tcPr>
                </a:tc>
                <a:tc>
                  <a:txBody>
                    <a:bodyPr/>
                    <a:lstStyle/>
                    <a:p>
                      <a:pPr algn="ctr"/>
                      <a:r>
                        <a:rPr lang="es-AR" sz="2000" b="1" dirty="0">
                          <a:solidFill>
                            <a:schemeClr val="tx1"/>
                          </a:solidFill>
                        </a:rPr>
                        <a:t>Lunes</a:t>
                      </a:r>
                    </a:p>
                  </a:txBody>
                  <a:tcPr/>
                </a:tc>
                <a:tc>
                  <a:txBody>
                    <a:bodyPr/>
                    <a:lstStyle/>
                    <a:p>
                      <a:pPr algn="ctr"/>
                      <a:r>
                        <a:rPr lang="es-AR" sz="2000" b="1" dirty="0">
                          <a:solidFill>
                            <a:schemeClr val="tx1"/>
                          </a:solidFill>
                        </a:rPr>
                        <a:t>Martes</a:t>
                      </a:r>
                    </a:p>
                  </a:txBody>
                  <a:tcPr/>
                </a:tc>
                <a:extLst>
                  <a:ext uri="{0D108BD9-81ED-4DB2-BD59-A6C34878D82A}">
                    <a16:rowId xmlns:a16="http://schemas.microsoft.com/office/drawing/2014/main" val="10000"/>
                  </a:ext>
                </a:extLst>
              </a:tr>
              <a:tr h="827367">
                <a:tc>
                  <a:txBody>
                    <a:bodyPr/>
                    <a:lstStyle/>
                    <a:p>
                      <a:pPr algn="ctr"/>
                      <a:r>
                        <a:rPr lang="es-AR" sz="2000" b="1" dirty="0">
                          <a:solidFill>
                            <a:schemeClr val="tx1"/>
                          </a:solidFill>
                        </a:rPr>
                        <a:t>8:00</a:t>
                      </a:r>
                    </a:p>
                  </a:txBody>
                  <a:tcPr>
                    <a:solidFill>
                      <a:schemeClr val="accent1"/>
                    </a:solidFill>
                  </a:tcPr>
                </a:tc>
                <a:tc>
                  <a:txBody>
                    <a:bodyPr/>
                    <a:lstStyle/>
                    <a:p>
                      <a:pPr algn="ctr"/>
                      <a:r>
                        <a:rPr lang="es-AR" sz="2000" b="0" dirty="0"/>
                        <a:t>TAW</a:t>
                      </a:r>
                    </a:p>
                  </a:txBody>
                  <a:tcPr/>
                </a:tc>
                <a:tc>
                  <a:txBody>
                    <a:bodyPr/>
                    <a:lstStyle/>
                    <a:p>
                      <a:pPr algn="ctr"/>
                      <a:r>
                        <a:rPr lang="es-AR" sz="2000" b="0" dirty="0"/>
                        <a:t>ARWeb</a:t>
                      </a:r>
                    </a:p>
                  </a:txBody>
                  <a:tcPr/>
                </a:tc>
                <a:extLst>
                  <a:ext uri="{0D108BD9-81ED-4DB2-BD59-A6C34878D82A}">
                    <a16:rowId xmlns:a16="http://schemas.microsoft.com/office/drawing/2014/main" val="10001"/>
                  </a:ext>
                </a:extLst>
              </a:tr>
              <a:tr h="827367">
                <a:tc>
                  <a:txBody>
                    <a:bodyPr/>
                    <a:lstStyle/>
                    <a:p>
                      <a:pPr algn="ctr"/>
                      <a:r>
                        <a:rPr lang="es-AR" sz="2000" b="1" dirty="0">
                          <a:solidFill>
                            <a:schemeClr val="tx1"/>
                          </a:solidFill>
                        </a:rPr>
                        <a:t>9:00</a:t>
                      </a:r>
                    </a:p>
                  </a:txBody>
                  <a:tcPr>
                    <a:solidFill>
                      <a:schemeClr val="accent1"/>
                    </a:solidFill>
                  </a:tcPr>
                </a:tc>
                <a:tc>
                  <a:txBody>
                    <a:bodyPr/>
                    <a:lstStyle/>
                    <a:p>
                      <a:pPr algn="ctr"/>
                      <a:r>
                        <a:rPr lang="es-AR" sz="2000" b="0" dirty="0"/>
                        <a:t>ARWeb</a:t>
                      </a:r>
                    </a:p>
                  </a:txBody>
                  <a:tcPr/>
                </a:tc>
                <a:tc>
                  <a:txBody>
                    <a:bodyPr/>
                    <a:lstStyle/>
                    <a:p>
                      <a:pPr algn="ctr"/>
                      <a:r>
                        <a:rPr lang="es-AR" sz="2000" b="0" dirty="0"/>
                        <a:t>ARWeb</a:t>
                      </a:r>
                    </a:p>
                  </a:txBody>
                  <a:tcPr/>
                </a:tc>
                <a:extLst>
                  <a:ext uri="{0D108BD9-81ED-4DB2-BD59-A6C34878D82A}">
                    <a16:rowId xmlns:a16="http://schemas.microsoft.com/office/drawing/2014/main" val="10002"/>
                  </a:ext>
                </a:extLst>
              </a:tr>
            </a:tbl>
          </a:graphicData>
        </a:graphic>
      </p:graphicFrame>
      <p:sp>
        <p:nvSpPr>
          <p:cNvPr id="6" name="CuadroTexto 8"/>
          <p:cNvSpPr txBox="1"/>
          <p:nvPr/>
        </p:nvSpPr>
        <p:spPr>
          <a:xfrm>
            <a:off x="4716016" y="2009671"/>
            <a:ext cx="3312368" cy="4708981"/>
          </a:xfrm>
          <a:prstGeom prst="rect">
            <a:avLst/>
          </a:prstGeom>
          <a:noFill/>
          <a:ln>
            <a:solidFill>
              <a:schemeClr val="accent1">
                <a:shade val="50000"/>
              </a:schemeClr>
            </a:solidFill>
          </a:ln>
        </p:spPr>
        <p:txBody>
          <a:bodyPr wrap="square" rtlCol="0">
            <a:spAutoFit/>
          </a:bodyPr>
          <a:lstStyle/>
          <a:p>
            <a:r>
              <a:rPr lang="es-AR" sz="2000" b="1" dirty="0"/>
              <a:t>&lt;</a:t>
            </a:r>
            <a:r>
              <a:rPr lang="es-AR" sz="2000" b="1" dirty="0" err="1"/>
              <a:t>table</a:t>
            </a:r>
            <a:r>
              <a:rPr lang="es-AR" sz="2000" b="1" dirty="0"/>
              <a:t>&gt;</a:t>
            </a:r>
          </a:p>
          <a:p>
            <a:r>
              <a:rPr lang="es-AR" sz="2000" b="1" dirty="0">
                <a:solidFill>
                  <a:srgbClr val="0070C0"/>
                </a:solidFill>
              </a:rPr>
              <a:t>&lt;</a:t>
            </a:r>
            <a:r>
              <a:rPr lang="es-AR" sz="2000" b="1" dirty="0" err="1">
                <a:solidFill>
                  <a:srgbClr val="0070C0"/>
                </a:solidFill>
              </a:rPr>
              <a:t>caption</a:t>
            </a:r>
            <a:r>
              <a:rPr lang="es-AR" sz="2000" b="1" dirty="0">
                <a:solidFill>
                  <a:srgbClr val="0070C0"/>
                </a:solidFill>
              </a:rPr>
              <a:t>&gt; </a:t>
            </a:r>
            <a:r>
              <a:rPr lang="es-AR" sz="2000" b="1" dirty="0"/>
              <a:t>Horario de Herramientas </a:t>
            </a:r>
            <a:r>
              <a:rPr lang="es-AR" sz="2000" b="1" dirty="0">
                <a:solidFill>
                  <a:srgbClr val="0070C0"/>
                </a:solidFill>
              </a:rPr>
              <a:t>&lt;/</a:t>
            </a:r>
            <a:r>
              <a:rPr lang="es-AR" sz="2000" b="1" dirty="0" err="1">
                <a:solidFill>
                  <a:srgbClr val="0070C0"/>
                </a:solidFill>
              </a:rPr>
              <a:t>caption</a:t>
            </a:r>
            <a:r>
              <a:rPr lang="es-AR" sz="2000" b="1" dirty="0">
                <a:solidFill>
                  <a:srgbClr val="0070C0"/>
                </a:solidFill>
              </a:rPr>
              <a:t>&gt;</a:t>
            </a:r>
          </a:p>
          <a:p>
            <a:r>
              <a:rPr lang="es-AR" sz="2000" b="1" dirty="0"/>
              <a:t>&lt;</a:t>
            </a:r>
            <a:r>
              <a:rPr lang="es-AR" sz="2000" b="1" dirty="0" err="1"/>
              <a:t>tr</a:t>
            </a:r>
            <a:r>
              <a:rPr lang="es-AR" sz="2000" b="1" dirty="0"/>
              <a:t>&gt;</a:t>
            </a:r>
          </a:p>
          <a:p>
            <a:r>
              <a:rPr lang="es-AR" sz="2000" b="1" dirty="0"/>
              <a:t>            &lt;</a:t>
            </a:r>
            <a:r>
              <a:rPr lang="es-AR" sz="2000" b="1" dirty="0" err="1"/>
              <a:t>td</a:t>
            </a:r>
            <a:r>
              <a:rPr lang="es-AR" sz="2000" b="1" dirty="0"/>
              <a:t>&gt;  &lt;/</a:t>
            </a:r>
            <a:r>
              <a:rPr lang="es-AR" sz="2000" b="1" dirty="0" err="1"/>
              <a:t>td</a:t>
            </a:r>
            <a:r>
              <a:rPr lang="es-AR" sz="2000" b="1" dirty="0"/>
              <a:t>&gt;	</a:t>
            </a:r>
          </a:p>
          <a:p>
            <a:r>
              <a:rPr lang="es-AR" sz="2000" b="1" dirty="0"/>
              <a:t>            &lt;</a:t>
            </a:r>
            <a:r>
              <a:rPr lang="es-AR" sz="2000" b="1" dirty="0" err="1"/>
              <a:t>th</a:t>
            </a:r>
            <a:r>
              <a:rPr lang="es-AR" sz="2000" b="1" dirty="0"/>
              <a:t>&gt; Lunes  &lt;/</a:t>
            </a:r>
            <a:r>
              <a:rPr lang="es-AR" sz="2000" b="1" dirty="0" err="1"/>
              <a:t>th</a:t>
            </a:r>
            <a:r>
              <a:rPr lang="es-AR" sz="2000" b="1" dirty="0"/>
              <a:t>&gt; </a:t>
            </a:r>
          </a:p>
          <a:p>
            <a:r>
              <a:rPr lang="es-AR" sz="2000" b="1" dirty="0"/>
              <a:t>            &lt;</a:t>
            </a:r>
            <a:r>
              <a:rPr lang="es-AR" sz="2000" b="1" dirty="0" err="1"/>
              <a:t>th</a:t>
            </a:r>
            <a:r>
              <a:rPr lang="es-AR" sz="2000" b="1" dirty="0"/>
              <a:t>&gt; Martes &lt;/</a:t>
            </a:r>
            <a:r>
              <a:rPr lang="es-AR" sz="2000" b="1" dirty="0" err="1"/>
              <a:t>th</a:t>
            </a:r>
            <a:r>
              <a:rPr lang="es-AR" sz="2000" b="1" dirty="0"/>
              <a:t>&gt;</a:t>
            </a:r>
          </a:p>
          <a:p>
            <a:r>
              <a:rPr lang="es-AR" sz="2000" b="1" dirty="0"/>
              <a:t>&lt;/</a:t>
            </a:r>
            <a:r>
              <a:rPr lang="es-AR" sz="2000" b="1" dirty="0" err="1"/>
              <a:t>tr</a:t>
            </a:r>
            <a:r>
              <a:rPr lang="es-AR" sz="2000" b="1" dirty="0"/>
              <a:t>&gt;</a:t>
            </a:r>
          </a:p>
          <a:p>
            <a:r>
              <a:rPr lang="es-AR" sz="2000" b="1" dirty="0"/>
              <a:t>&lt;</a:t>
            </a:r>
            <a:r>
              <a:rPr lang="es-AR" sz="2000" b="1" dirty="0" err="1"/>
              <a:t>tr</a:t>
            </a:r>
            <a:r>
              <a:rPr lang="es-AR" sz="2000" b="1" dirty="0"/>
              <a:t>&gt;</a:t>
            </a:r>
          </a:p>
          <a:p>
            <a:r>
              <a:rPr lang="es-AR" sz="2000" b="1" dirty="0"/>
              <a:t>	&lt;</a:t>
            </a:r>
            <a:r>
              <a:rPr lang="es-AR" sz="2000" b="1" dirty="0" err="1"/>
              <a:t>th</a:t>
            </a:r>
            <a:r>
              <a:rPr lang="es-AR" sz="2000" b="1" dirty="0"/>
              <a:t>&gt; 8:00 &lt;/</a:t>
            </a:r>
            <a:r>
              <a:rPr lang="es-AR" sz="2000" b="1" dirty="0" err="1"/>
              <a:t>th</a:t>
            </a:r>
            <a:r>
              <a:rPr lang="es-AR" sz="2000" b="1" dirty="0"/>
              <a:t>&gt;   	&lt;</a:t>
            </a:r>
            <a:r>
              <a:rPr lang="es-AR" sz="2000" b="1" dirty="0" err="1"/>
              <a:t>td</a:t>
            </a:r>
            <a:r>
              <a:rPr lang="es-AR" sz="2000" b="1" dirty="0"/>
              <a:t>&gt;TAW &lt;/</a:t>
            </a:r>
            <a:r>
              <a:rPr lang="es-AR" sz="2000" b="1" dirty="0" err="1"/>
              <a:t>td</a:t>
            </a:r>
            <a:r>
              <a:rPr lang="es-AR" sz="2000" b="1" dirty="0"/>
              <a:t>&gt;  </a:t>
            </a:r>
          </a:p>
          <a:p>
            <a:r>
              <a:rPr lang="es-AR" sz="2000" b="1" dirty="0"/>
              <a:t>	&lt;</a:t>
            </a:r>
            <a:r>
              <a:rPr lang="es-AR" sz="2000" b="1" dirty="0" err="1"/>
              <a:t>td</a:t>
            </a:r>
            <a:r>
              <a:rPr lang="es-AR" sz="2000" b="1" dirty="0"/>
              <a:t>&gt; ARWeb &lt;/</a:t>
            </a:r>
            <a:r>
              <a:rPr lang="es-AR" sz="2000" b="1" dirty="0" err="1"/>
              <a:t>td</a:t>
            </a:r>
            <a:r>
              <a:rPr lang="es-AR" sz="2000" b="1" dirty="0"/>
              <a:t>&gt; </a:t>
            </a:r>
          </a:p>
          <a:p>
            <a:r>
              <a:rPr lang="es-AR" sz="2000" b="1" dirty="0"/>
              <a:t>&lt;/</a:t>
            </a:r>
            <a:r>
              <a:rPr lang="es-AR" sz="2000" b="1" dirty="0" err="1"/>
              <a:t>tr</a:t>
            </a:r>
            <a:r>
              <a:rPr lang="es-AR" sz="2000" b="1" dirty="0"/>
              <a:t>&gt;</a:t>
            </a:r>
          </a:p>
          <a:p>
            <a:r>
              <a:rPr lang="es-AR" sz="2000" b="1" dirty="0"/>
              <a:t>…</a:t>
            </a:r>
          </a:p>
          <a:p>
            <a:r>
              <a:rPr lang="es-AR" sz="2000" b="1" dirty="0"/>
              <a:t>&lt;/</a:t>
            </a:r>
            <a:r>
              <a:rPr lang="es-AR" sz="2000" b="1" dirty="0" err="1"/>
              <a:t>table</a:t>
            </a:r>
            <a:r>
              <a:rPr lang="es-AR" sz="2000" b="1" dirty="0"/>
              <a:t>&gt;</a:t>
            </a:r>
          </a:p>
        </p:txBody>
      </p:sp>
      <p:sp>
        <p:nvSpPr>
          <p:cNvPr id="7" name="2 Marcador de contenido"/>
          <p:cNvSpPr txBox="1">
            <a:spLocks/>
          </p:cNvSpPr>
          <p:nvPr/>
        </p:nvSpPr>
        <p:spPr bwMode="auto">
          <a:xfrm>
            <a:off x="683568" y="4056384"/>
            <a:ext cx="3168351" cy="447196"/>
          </a:xfrm>
          <a:prstGeom prst="rect">
            <a:avLst/>
          </a:prstGeom>
          <a:solidFill>
            <a:srgbClr val="00B0F0"/>
          </a:solidFill>
          <a:ln>
            <a:noFill/>
          </a:ln>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20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000">
                <a:solidFill>
                  <a:schemeClr val="tx1"/>
                </a:solidFill>
                <a:latin typeface="+mn-lt"/>
                <a:cs typeface="+mn-cs"/>
              </a:defRPr>
            </a:lvl2pPr>
            <a:lvl3pPr marL="1143000" indent="-228600" algn="l" rtl="0" eaLnBrk="0" fontAlgn="base" hangingPunct="0">
              <a:spcBef>
                <a:spcPct val="20000"/>
              </a:spcBef>
              <a:spcAft>
                <a:spcPct val="0"/>
              </a:spcAft>
              <a:buChar char="•"/>
              <a:defRPr sz="2000">
                <a:solidFill>
                  <a:schemeClr val="tx1"/>
                </a:solidFill>
                <a:latin typeface="+mn-lt"/>
                <a:cs typeface="+mn-cs"/>
              </a:defRPr>
            </a:lvl3pPr>
            <a:lvl4pPr marL="1600200" indent="-228600" algn="l" rtl="0" eaLnBrk="0" fontAlgn="base" hangingPunct="0">
              <a:spcBef>
                <a:spcPct val="20000"/>
              </a:spcBef>
              <a:spcAft>
                <a:spcPct val="0"/>
              </a:spcAft>
              <a:buChar char="–"/>
              <a:defRPr sz="2000">
                <a:solidFill>
                  <a:schemeClr val="tx1"/>
                </a:solidFill>
                <a:latin typeface="+mn-lt"/>
                <a:cs typeface="+mn-cs"/>
              </a:defRPr>
            </a:lvl4pPr>
            <a:lvl5pPr marL="2057400" indent="-228600" algn="l" rtl="0" eaLnBrk="0" fontAlgn="base" hangingPunct="0">
              <a:spcBef>
                <a:spcPct val="20000"/>
              </a:spcBef>
              <a:spcAft>
                <a:spcPct val="0"/>
              </a:spcAft>
              <a:buChar char="»"/>
              <a:defRPr sz="2000">
                <a:solidFill>
                  <a:schemeClr val="tx1"/>
                </a:solidFill>
                <a:latin typeface="+mn-lt"/>
                <a:cs typeface="+mn-cs"/>
              </a:defRPr>
            </a:lvl5pPr>
            <a:lvl6pPr marL="2514600" indent="-228600" algn="l" rtl="0" fontAlgn="base">
              <a:spcBef>
                <a:spcPct val="20000"/>
              </a:spcBef>
              <a:spcAft>
                <a:spcPct val="0"/>
              </a:spcAft>
              <a:buChar char="»"/>
              <a:defRPr sz="2000">
                <a:solidFill>
                  <a:schemeClr val="tx1"/>
                </a:solidFill>
                <a:latin typeface="+mn-lt"/>
                <a:cs typeface="+mn-cs"/>
              </a:defRPr>
            </a:lvl6pPr>
            <a:lvl7pPr marL="2971800" indent="-228600" algn="l" rtl="0" fontAlgn="base">
              <a:spcBef>
                <a:spcPct val="20000"/>
              </a:spcBef>
              <a:spcAft>
                <a:spcPct val="0"/>
              </a:spcAft>
              <a:buChar char="»"/>
              <a:defRPr sz="2000">
                <a:solidFill>
                  <a:schemeClr val="tx1"/>
                </a:solidFill>
                <a:latin typeface="+mn-lt"/>
                <a:cs typeface="+mn-cs"/>
              </a:defRPr>
            </a:lvl7pPr>
            <a:lvl8pPr marL="3429000" indent="-228600" algn="l" rtl="0" fontAlgn="base">
              <a:spcBef>
                <a:spcPct val="20000"/>
              </a:spcBef>
              <a:spcAft>
                <a:spcPct val="0"/>
              </a:spcAft>
              <a:buChar char="»"/>
              <a:defRPr sz="2000">
                <a:solidFill>
                  <a:schemeClr val="tx1"/>
                </a:solidFill>
                <a:latin typeface="+mn-lt"/>
                <a:cs typeface="+mn-cs"/>
              </a:defRPr>
            </a:lvl8pPr>
            <a:lvl9pPr marL="3886200" indent="-228600" algn="l" rtl="0" fontAlgn="base">
              <a:spcBef>
                <a:spcPct val="20000"/>
              </a:spcBef>
              <a:spcAft>
                <a:spcPct val="0"/>
              </a:spcAft>
              <a:buChar char="»"/>
              <a:defRPr sz="2000">
                <a:solidFill>
                  <a:schemeClr val="tx1"/>
                </a:solidFill>
                <a:latin typeface="+mn-lt"/>
                <a:cs typeface="+mn-cs"/>
              </a:defRPr>
            </a:lvl9pPr>
          </a:lstStyle>
          <a:p>
            <a:pPr marL="0" indent="0" algn="ctr">
              <a:lnSpc>
                <a:spcPct val="90000"/>
              </a:lnSpc>
              <a:buNone/>
            </a:pPr>
            <a:r>
              <a:rPr lang="es-AR" b="1" kern="0" dirty="0"/>
              <a:t>Horario de Herramientas</a:t>
            </a:r>
          </a:p>
        </p:txBody>
      </p:sp>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90</a:t>
            </a:fld>
            <a:endParaRPr lang="es-ES" altLang="es-AR"/>
          </a:p>
        </p:txBody>
      </p:sp>
    </p:spTree>
    <p:extLst>
      <p:ext uri="{BB962C8B-B14F-4D97-AF65-F5344CB8AC3E}">
        <p14:creationId xmlns:p14="http://schemas.microsoft.com/office/powerpoint/2010/main" val="3405383128"/>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1 Título"/>
          <p:cNvSpPr>
            <a:spLocks noGrp="1"/>
          </p:cNvSpPr>
          <p:nvPr>
            <p:ph type="title"/>
          </p:nvPr>
        </p:nvSpPr>
        <p:spPr>
          <a:xfrm>
            <a:off x="457200" y="274638"/>
            <a:ext cx="8229600" cy="654050"/>
          </a:xfrm>
        </p:spPr>
        <p:txBody>
          <a:bodyPr/>
          <a:lstStyle/>
          <a:p>
            <a:r>
              <a:rPr lang="es-AR" altLang="es-AR" b="1"/>
              <a:t>Contenido accesible</a:t>
            </a:r>
          </a:p>
        </p:txBody>
      </p:sp>
      <p:sp>
        <p:nvSpPr>
          <p:cNvPr id="57347" name="2 Marcador de contenido"/>
          <p:cNvSpPr>
            <a:spLocks noGrp="1"/>
          </p:cNvSpPr>
          <p:nvPr>
            <p:ph idx="1"/>
          </p:nvPr>
        </p:nvSpPr>
        <p:spPr>
          <a:xfrm>
            <a:off x="430213" y="1916113"/>
            <a:ext cx="8229600" cy="4393207"/>
          </a:xfrm>
        </p:spPr>
        <p:txBody>
          <a:bodyPr/>
          <a:lstStyle/>
          <a:p>
            <a:pPr>
              <a:lnSpc>
                <a:spcPct val="90000"/>
              </a:lnSpc>
            </a:pPr>
            <a:r>
              <a:rPr lang="es-AR" dirty="0"/>
              <a:t>Tablas</a:t>
            </a:r>
          </a:p>
          <a:p>
            <a:pPr lvl="1" algn="just">
              <a:lnSpc>
                <a:spcPct val="90000"/>
              </a:lnSpc>
            </a:pPr>
            <a:endParaRPr lang="es-AR" dirty="0"/>
          </a:p>
          <a:p>
            <a:pPr lvl="1"/>
            <a:r>
              <a:rPr lang="es-AR" b="1" dirty="0"/>
              <a:t>H73</a:t>
            </a:r>
            <a:r>
              <a:rPr lang="es-AR" dirty="0"/>
              <a:t> Usar el atributo </a:t>
            </a:r>
            <a:r>
              <a:rPr lang="es-AR" b="1" dirty="0" err="1"/>
              <a:t>summary</a:t>
            </a:r>
            <a:r>
              <a:rPr lang="es-AR" dirty="0"/>
              <a:t> para dar una visión general a la tabla de datos.</a:t>
            </a:r>
          </a:p>
          <a:p>
            <a:pPr lvl="2"/>
            <a:r>
              <a:rPr lang="es-AR" dirty="0"/>
              <a:t>El atributo </a:t>
            </a:r>
            <a:r>
              <a:rPr lang="es-AR" b="1" dirty="0" err="1"/>
              <a:t>summary</a:t>
            </a:r>
            <a:r>
              <a:rPr lang="es-AR" dirty="0"/>
              <a:t> proporciona una breve descripción de cómo se organizan los datos de la tabla.</a:t>
            </a:r>
          </a:p>
          <a:p>
            <a:pPr lvl="2"/>
            <a:r>
              <a:rPr lang="es-AR" dirty="0"/>
              <a:t>¿Cómo se cumple la técnica?</a:t>
            </a:r>
          </a:p>
          <a:p>
            <a:pPr lvl="3"/>
            <a:r>
              <a:rPr lang="es-AR" dirty="0"/>
              <a:t>En las tablas de maquetación no se debe incluir el atributo </a:t>
            </a:r>
            <a:r>
              <a:rPr lang="es-AR" b="1" dirty="0" err="1"/>
              <a:t>summary</a:t>
            </a:r>
            <a:r>
              <a:rPr lang="es-AR" dirty="0"/>
              <a:t>.</a:t>
            </a:r>
          </a:p>
          <a:p>
            <a:pPr lvl="3"/>
            <a:r>
              <a:rPr lang="es-AR" dirty="0"/>
              <a:t>El elemento </a:t>
            </a:r>
            <a:r>
              <a:rPr lang="es-AR" b="1" dirty="0" err="1"/>
              <a:t>caption</a:t>
            </a:r>
            <a:r>
              <a:rPr lang="es-AR" dirty="0"/>
              <a:t> y el atributo </a:t>
            </a:r>
            <a:r>
              <a:rPr lang="es-AR" b="1" dirty="0" err="1"/>
              <a:t>summary</a:t>
            </a:r>
            <a:r>
              <a:rPr lang="es-AR" dirty="0"/>
              <a:t> se pueden usar conjuntamente y no deben tener el mismo contenido.</a:t>
            </a:r>
          </a:p>
          <a:p>
            <a:pPr lvl="1" algn="just">
              <a:lnSpc>
                <a:spcPct val="90000"/>
              </a:lnSpc>
            </a:pPr>
            <a:endParaRPr lang="es-AR" dirty="0"/>
          </a:p>
        </p:txBody>
      </p:sp>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91</a:t>
            </a:fld>
            <a:endParaRPr lang="es-ES" altLang="es-AR"/>
          </a:p>
        </p:txBody>
      </p:sp>
    </p:spTree>
    <p:extLst>
      <p:ext uri="{BB962C8B-B14F-4D97-AF65-F5344CB8AC3E}">
        <p14:creationId xmlns:p14="http://schemas.microsoft.com/office/powerpoint/2010/main" val="2169018273"/>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1 Título"/>
          <p:cNvSpPr>
            <a:spLocks noGrp="1"/>
          </p:cNvSpPr>
          <p:nvPr>
            <p:ph type="title"/>
          </p:nvPr>
        </p:nvSpPr>
        <p:spPr>
          <a:xfrm>
            <a:off x="457200" y="274638"/>
            <a:ext cx="8229600" cy="654050"/>
          </a:xfrm>
        </p:spPr>
        <p:txBody>
          <a:bodyPr/>
          <a:lstStyle/>
          <a:p>
            <a:r>
              <a:rPr lang="es-AR" altLang="es-AR" b="1" dirty="0"/>
              <a:t>Contenido accesible</a:t>
            </a:r>
          </a:p>
        </p:txBody>
      </p:sp>
      <p:sp>
        <p:nvSpPr>
          <p:cNvPr id="57347" name="2 Marcador de contenido"/>
          <p:cNvSpPr>
            <a:spLocks noGrp="1"/>
          </p:cNvSpPr>
          <p:nvPr>
            <p:ph idx="1"/>
          </p:nvPr>
        </p:nvSpPr>
        <p:spPr>
          <a:xfrm>
            <a:off x="415846" y="1632526"/>
            <a:ext cx="3277691" cy="1944935"/>
          </a:xfrm>
        </p:spPr>
        <p:txBody>
          <a:bodyPr/>
          <a:lstStyle/>
          <a:p>
            <a:pPr>
              <a:lnSpc>
                <a:spcPct val="90000"/>
              </a:lnSpc>
            </a:pPr>
            <a:r>
              <a:rPr lang="es-AR" dirty="0"/>
              <a:t>Tablas</a:t>
            </a:r>
          </a:p>
          <a:p>
            <a:pPr lvl="1" algn="just">
              <a:lnSpc>
                <a:spcPct val="90000"/>
              </a:lnSpc>
            </a:pPr>
            <a:endParaRPr lang="es-AR" dirty="0"/>
          </a:p>
          <a:p>
            <a:pPr lvl="1"/>
            <a:r>
              <a:rPr lang="es-AR" b="1" dirty="0"/>
              <a:t>H73</a:t>
            </a:r>
            <a:r>
              <a:rPr lang="es-AR" dirty="0"/>
              <a:t> Usar el atributo </a:t>
            </a:r>
            <a:r>
              <a:rPr lang="es-AR" b="1" dirty="0" err="1"/>
              <a:t>summary</a:t>
            </a:r>
            <a:r>
              <a:rPr lang="es-AR" dirty="0"/>
              <a:t> para dar una visión general a la tabla de datos.</a:t>
            </a:r>
          </a:p>
        </p:txBody>
      </p:sp>
      <p:graphicFrame>
        <p:nvGraphicFramePr>
          <p:cNvPr id="5" name="5 Tabla"/>
          <p:cNvGraphicFramePr>
            <a:graphicFrameLocks noGrp="1"/>
          </p:cNvGraphicFramePr>
          <p:nvPr/>
        </p:nvGraphicFramePr>
        <p:xfrm>
          <a:off x="831032" y="4596276"/>
          <a:ext cx="2880320" cy="2122376"/>
        </p:xfrm>
        <a:graphic>
          <a:graphicData uri="http://schemas.openxmlformats.org/drawingml/2006/table">
            <a:tbl>
              <a:tblPr firstRow="1" bandRow="1">
                <a:tableStyleId>{5C22544A-7EE6-4342-B048-85BDC9FD1C3A}</a:tableStyleId>
              </a:tblPr>
              <a:tblGrid>
                <a:gridCol w="720079">
                  <a:extLst>
                    <a:ext uri="{9D8B030D-6E8A-4147-A177-3AD203B41FA5}">
                      <a16:colId xmlns:a16="http://schemas.microsoft.com/office/drawing/2014/main" val="20000"/>
                    </a:ext>
                  </a:extLst>
                </a:gridCol>
                <a:gridCol w="1080120">
                  <a:extLst>
                    <a:ext uri="{9D8B030D-6E8A-4147-A177-3AD203B41FA5}">
                      <a16:colId xmlns:a16="http://schemas.microsoft.com/office/drawing/2014/main" val="20001"/>
                    </a:ext>
                  </a:extLst>
                </a:gridCol>
                <a:gridCol w="1080121">
                  <a:extLst>
                    <a:ext uri="{9D8B030D-6E8A-4147-A177-3AD203B41FA5}">
                      <a16:colId xmlns:a16="http://schemas.microsoft.com/office/drawing/2014/main" val="20002"/>
                    </a:ext>
                  </a:extLst>
                </a:gridCol>
              </a:tblGrid>
              <a:tr h="467642">
                <a:tc>
                  <a:txBody>
                    <a:bodyPr/>
                    <a:lstStyle/>
                    <a:p>
                      <a:pPr algn="ctr"/>
                      <a:endParaRPr lang="es-AR" sz="2000" b="0" dirty="0"/>
                    </a:p>
                  </a:txBody>
                  <a:tcPr>
                    <a:solidFill>
                      <a:schemeClr val="bg1"/>
                    </a:solidFill>
                  </a:tcPr>
                </a:tc>
                <a:tc>
                  <a:txBody>
                    <a:bodyPr/>
                    <a:lstStyle/>
                    <a:p>
                      <a:pPr algn="ctr"/>
                      <a:r>
                        <a:rPr lang="es-AR" sz="2000" b="1" dirty="0">
                          <a:solidFill>
                            <a:schemeClr val="tx1"/>
                          </a:solidFill>
                        </a:rPr>
                        <a:t>Lunes</a:t>
                      </a:r>
                    </a:p>
                  </a:txBody>
                  <a:tcPr/>
                </a:tc>
                <a:tc>
                  <a:txBody>
                    <a:bodyPr/>
                    <a:lstStyle/>
                    <a:p>
                      <a:pPr algn="ctr"/>
                      <a:r>
                        <a:rPr lang="es-AR" sz="2000" b="1" dirty="0">
                          <a:solidFill>
                            <a:schemeClr val="tx1"/>
                          </a:solidFill>
                        </a:rPr>
                        <a:t>Martes</a:t>
                      </a:r>
                    </a:p>
                  </a:txBody>
                  <a:tcPr/>
                </a:tc>
                <a:extLst>
                  <a:ext uri="{0D108BD9-81ED-4DB2-BD59-A6C34878D82A}">
                    <a16:rowId xmlns:a16="http://schemas.microsoft.com/office/drawing/2014/main" val="10000"/>
                  </a:ext>
                </a:extLst>
              </a:tr>
              <a:tr h="827367">
                <a:tc>
                  <a:txBody>
                    <a:bodyPr/>
                    <a:lstStyle/>
                    <a:p>
                      <a:pPr algn="ctr"/>
                      <a:r>
                        <a:rPr lang="es-AR" sz="2000" b="1" dirty="0">
                          <a:solidFill>
                            <a:schemeClr val="tx1"/>
                          </a:solidFill>
                        </a:rPr>
                        <a:t>8:00</a:t>
                      </a:r>
                    </a:p>
                  </a:txBody>
                  <a:tcPr>
                    <a:solidFill>
                      <a:schemeClr val="accent1"/>
                    </a:solidFill>
                  </a:tcPr>
                </a:tc>
                <a:tc>
                  <a:txBody>
                    <a:bodyPr/>
                    <a:lstStyle/>
                    <a:p>
                      <a:pPr algn="ctr"/>
                      <a:r>
                        <a:rPr lang="es-AR" sz="2000" b="0" dirty="0"/>
                        <a:t>TAW</a:t>
                      </a:r>
                    </a:p>
                  </a:txBody>
                  <a:tcPr/>
                </a:tc>
                <a:tc>
                  <a:txBody>
                    <a:bodyPr/>
                    <a:lstStyle/>
                    <a:p>
                      <a:pPr algn="ctr"/>
                      <a:r>
                        <a:rPr lang="es-AR" sz="2000" b="0" dirty="0"/>
                        <a:t>ARWeb</a:t>
                      </a:r>
                    </a:p>
                  </a:txBody>
                  <a:tcPr/>
                </a:tc>
                <a:extLst>
                  <a:ext uri="{0D108BD9-81ED-4DB2-BD59-A6C34878D82A}">
                    <a16:rowId xmlns:a16="http://schemas.microsoft.com/office/drawing/2014/main" val="10001"/>
                  </a:ext>
                </a:extLst>
              </a:tr>
              <a:tr h="827367">
                <a:tc>
                  <a:txBody>
                    <a:bodyPr/>
                    <a:lstStyle/>
                    <a:p>
                      <a:pPr algn="ctr"/>
                      <a:r>
                        <a:rPr lang="es-AR" sz="2000" b="1" dirty="0">
                          <a:solidFill>
                            <a:schemeClr val="tx1"/>
                          </a:solidFill>
                        </a:rPr>
                        <a:t>9:00</a:t>
                      </a:r>
                    </a:p>
                  </a:txBody>
                  <a:tcPr>
                    <a:solidFill>
                      <a:schemeClr val="accent1"/>
                    </a:solidFill>
                  </a:tcPr>
                </a:tc>
                <a:tc>
                  <a:txBody>
                    <a:bodyPr/>
                    <a:lstStyle/>
                    <a:p>
                      <a:pPr algn="ctr"/>
                      <a:r>
                        <a:rPr lang="es-AR" sz="2000" b="0" dirty="0"/>
                        <a:t>ARWeb</a:t>
                      </a:r>
                    </a:p>
                  </a:txBody>
                  <a:tcPr/>
                </a:tc>
                <a:tc>
                  <a:txBody>
                    <a:bodyPr/>
                    <a:lstStyle/>
                    <a:p>
                      <a:pPr algn="ctr"/>
                      <a:r>
                        <a:rPr lang="es-AR" sz="2000" b="0" dirty="0"/>
                        <a:t>ARWeb</a:t>
                      </a:r>
                    </a:p>
                  </a:txBody>
                  <a:tcPr/>
                </a:tc>
                <a:extLst>
                  <a:ext uri="{0D108BD9-81ED-4DB2-BD59-A6C34878D82A}">
                    <a16:rowId xmlns:a16="http://schemas.microsoft.com/office/drawing/2014/main" val="10002"/>
                  </a:ext>
                </a:extLst>
              </a:tr>
            </a:tbl>
          </a:graphicData>
        </a:graphic>
      </p:graphicFrame>
      <p:sp>
        <p:nvSpPr>
          <p:cNvPr id="6" name="CuadroTexto 8"/>
          <p:cNvSpPr txBox="1"/>
          <p:nvPr/>
        </p:nvSpPr>
        <p:spPr>
          <a:xfrm>
            <a:off x="3926495" y="2009671"/>
            <a:ext cx="4790514" cy="4708981"/>
          </a:xfrm>
          <a:prstGeom prst="rect">
            <a:avLst/>
          </a:prstGeom>
          <a:noFill/>
          <a:ln>
            <a:solidFill>
              <a:schemeClr val="accent1">
                <a:shade val="50000"/>
              </a:schemeClr>
            </a:solidFill>
          </a:ln>
        </p:spPr>
        <p:txBody>
          <a:bodyPr wrap="square" rtlCol="0">
            <a:spAutoFit/>
          </a:bodyPr>
          <a:lstStyle/>
          <a:p>
            <a:r>
              <a:rPr lang="es-AR" sz="2000" b="1" dirty="0"/>
              <a:t>&lt;</a:t>
            </a:r>
            <a:r>
              <a:rPr lang="es-AR" sz="2000" b="1" dirty="0" err="1"/>
              <a:t>table</a:t>
            </a:r>
            <a:r>
              <a:rPr lang="es-AR" sz="2000" b="1" dirty="0"/>
              <a:t> </a:t>
            </a:r>
            <a:r>
              <a:rPr lang="es-AR" sz="2000" b="1" dirty="0" err="1">
                <a:solidFill>
                  <a:srgbClr val="0070C0"/>
                </a:solidFill>
              </a:rPr>
              <a:t>summary</a:t>
            </a:r>
            <a:r>
              <a:rPr lang="es-AR" sz="2000" b="1" dirty="0"/>
              <a:t>=“El horario de Herramientas, de lunes y martes, comienza a las 8:00 de la mañana y finaliza a las 10:00 de la mañana. Para cada día y franja horaria se especifica la herramienta.”&gt;</a:t>
            </a:r>
          </a:p>
          <a:p>
            <a:r>
              <a:rPr lang="es-AR" sz="2000" b="1" dirty="0">
                <a:solidFill>
                  <a:srgbClr val="0070C0"/>
                </a:solidFill>
              </a:rPr>
              <a:t>&lt;</a:t>
            </a:r>
            <a:r>
              <a:rPr lang="es-AR" sz="2000" b="1" dirty="0" err="1">
                <a:solidFill>
                  <a:srgbClr val="0070C0"/>
                </a:solidFill>
              </a:rPr>
              <a:t>caption</a:t>
            </a:r>
            <a:r>
              <a:rPr lang="es-AR" sz="2000" b="1" dirty="0">
                <a:solidFill>
                  <a:srgbClr val="0070C0"/>
                </a:solidFill>
              </a:rPr>
              <a:t>&gt; </a:t>
            </a:r>
            <a:r>
              <a:rPr lang="es-AR" sz="2000" b="1" dirty="0"/>
              <a:t>Horario de Herramientas </a:t>
            </a:r>
            <a:r>
              <a:rPr lang="es-AR" sz="2000" b="1" dirty="0">
                <a:solidFill>
                  <a:srgbClr val="0070C0"/>
                </a:solidFill>
              </a:rPr>
              <a:t>&lt;/</a:t>
            </a:r>
            <a:r>
              <a:rPr lang="es-AR" sz="2000" b="1" dirty="0" err="1">
                <a:solidFill>
                  <a:srgbClr val="0070C0"/>
                </a:solidFill>
              </a:rPr>
              <a:t>caption</a:t>
            </a:r>
            <a:r>
              <a:rPr lang="es-AR" sz="2000" b="1" dirty="0">
                <a:solidFill>
                  <a:srgbClr val="0070C0"/>
                </a:solidFill>
              </a:rPr>
              <a:t>&gt;</a:t>
            </a:r>
          </a:p>
          <a:p>
            <a:r>
              <a:rPr lang="es-AR" sz="2000" b="1" dirty="0"/>
              <a:t>&lt;</a:t>
            </a:r>
            <a:r>
              <a:rPr lang="es-AR" sz="2000" b="1" dirty="0" err="1"/>
              <a:t>tr</a:t>
            </a:r>
            <a:r>
              <a:rPr lang="es-AR" sz="2000" b="1" dirty="0"/>
              <a:t>&gt;</a:t>
            </a:r>
          </a:p>
          <a:p>
            <a:r>
              <a:rPr lang="es-AR" sz="2000" b="1" dirty="0"/>
              <a:t>            &lt;</a:t>
            </a:r>
            <a:r>
              <a:rPr lang="es-AR" sz="2000" b="1" dirty="0" err="1"/>
              <a:t>td</a:t>
            </a:r>
            <a:r>
              <a:rPr lang="es-AR" sz="2000" b="1" dirty="0"/>
              <a:t>&gt;  &lt;/</a:t>
            </a:r>
            <a:r>
              <a:rPr lang="es-AR" sz="2000" b="1" dirty="0" err="1"/>
              <a:t>td</a:t>
            </a:r>
            <a:r>
              <a:rPr lang="es-AR" sz="2000" b="1" dirty="0"/>
              <a:t>&gt;	</a:t>
            </a:r>
          </a:p>
          <a:p>
            <a:r>
              <a:rPr lang="es-AR" sz="2000" b="1" dirty="0"/>
              <a:t>            &lt;</a:t>
            </a:r>
            <a:r>
              <a:rPr lang="es-AR" sz="2000" b="1" dirty="0" err="1"/>
              <a:t>th</a:t>
            </a:r>
            <a:r>
              <a:rPr lang="es-AR" sz="2000" b="1" dirty="0"/>
              <a:t>&gt; Lunes  &lt;/</a:t>
            </a:r>
            <a:r>
              <a:rPr lang="es-AR" sz="2000" b="1" dirty="0" err="1"/>
              <a:t>th</a:t>
            </a:r>
            <a:r>
              <a:rPr lang="es-AR" sz="2000" b="1" dirty="0"/>
              <a:t>&gt; </a:t>
            </a:r>
          </a:p>
          <a:p>
            <a:r>
              <a:rPr lang="es-AR" sz="2000" b="1" dirty="0"/>
              <a:t>            &lt;</a:t>
            </a:r>
            <a:r>
              <a:rPr lang="es-AR" sz="2000" b="1" dirty="0" err="1"/>
              <a:t>th</a:t>
            </a:r>
            <a:r>
              <a:rPr lang="es-AR" sz="2000" b="1" dirty="0"/>
              <a:t>&gt; Martes &lt;/</a:t>
            </a:r>
            <a:r>
              <a:rPr lang="es-AR" sz="2000" b="1" dirty="0" err="1"/>
              <a:t>th</a:t>
            </a:r>
            <a:r>
              <a:rPr lang="es-AR" sz="2000" b="1" dirty="0"/>
              <a:t>&gt;</a:t>
            </a:r>
          </a:p>
          <a:p>
            <a:r>
              <a:rPr lang="es-AR" sz="2000" b="1" dirty="0"/>
              <a:t>&lt;/</a:t>
            </a:r>
            <a:r>
              <a:rPr lang="es-AR" sz="2000" b="1" dirty="0" err="1"/>
              <a:t>tr</a:t>
            </a:r>
            <a:r>
              <a:rPr lang="es-AR" sz="2000" b="1" dirty="0"/>
              <a:t>&gt;</a:t>
            </a:r>
          </a:p>
          <a:p>
            <a:r>
              <a:rPr lang="es-AR" sz="2000" b="1" dirty="0"/>
              <a:t>…</a:t>
            </a:r>
          </a:p>
          <a:p>
            <a:r>
              <a:rPr lang="es-AR" sz="2000" b="1" dirty="0"/>
              <a:t>&lt;/</a:t>
            </a:r>
            <a:r>
              <a:rPr lang="es-AR" sz="2000" b="1" dirty="0" err="1"/>
              <a:t>table</a:t>
            </a:r>
            <a:r>
              <a:rPr lang="es-AR" sz="2000" b="1" dirty="0"/>
              <a:t>&gt;</a:t>
            </a:r>
          </a:p>
        </p:txBody>
      </p:sp>
      <p:sp>
        <p:nvSpPr>
          <p:cNvPr id="7" name="2 Marcador de contenido"/>
          <p:cNvSpPr txBox="1">
            <a:spLocks/>
          </p:cNvSpPr>
          <p:nvPr/>
        </p:nvSpPr>
        <p:spPr bwMode="auto">
          <a:xfrm>
            <a:off x="683568" y="4056384"/>
            <a:ext cx="3168351" cy="447196"/>
          </a:xfrm>
          <a:prstGeom prst="rect">
            <a:avLst/>
          </a:prstGeom>
          <a:solidFill>
            <a:srgbClr val="00B0F0"/>
          </a:solidFill>
          <a:ln>
            <a:noFill/>
          </a:ln>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20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000">
                <a:solidFill>
                  <a:schemeClr val="tx1"/>
                </a:solidFill>
                <a:latin typeface="+mn-lt"/>
                <a:cs typeface="+mn-cs"/>
              </a:defRPr>
            </a:lvl2pPr>
            <a:lvl3pPr marL="1143000" indent="-228600" algn="l" rtl="0" eaLnBrk="0" fontAlgn="base" hangingPunct="0">
              <a:spcBef>
                <a:spcPct val="20000"/>
              </a:spcBef>
              <a:spcAft>
                <a:spcPct val="0"/>
              </a:spcAft>
              <a:buChar char="•"/>
              <a:defRPr sz="2000">
                <a:solidFill>
                  <a:schemeClr val="tx1"/>
                </a:solidFill>
                <a:latin typeface="+mn-lt"/>
                <a:cs typeface="+mn-cs"/>
              </a:defRPr>
            </a:lvl3pPr>
            <a:lvl4pPr marL="1600200" indent="-228600" algn="l" rtl="0" eaLnBrk="0" fontAlgn="base" hangingPunct="0">
              <a:spcBef>
                <a:spcPct val="20000"/>
              </a:spcBef>
              <a:spcAft>
                <a:spcPct val="0"/>
              </a:spcAft>
              <a:buChar char="–"/>
              <a:defRPr sz="2000">
                <a:solidFill>
                  <a:schemeClr val="tx1"/>
                </a:solidFill>
                <a:latin typeface="+mn-lt"/>
                <a:cs typeface="+mn-cs"/>
              </a:defRPr>
            </a:lvl4pPr>
            <a:lvl5pPr marL="2057400" indent="-228600" algn="l" rtl="0" eaLnBrk="0" fontAlgn="base" hangingPunct="0">
              <a:spcBef>
                <a:spcPct val="20000"/>
              </a:spcBef>
              <a:spcAft>
                <a:spcPct val="0"/>
              </a:spcAft>
              <a:buChar char="»"/>
              <a:defRPr sz="2000">
                <a:solidFill>
                  <a:schemeClr val="tx1"/>
                </a:solidFill>
                <a:latin typeface="+mn-lt"/>
                <a:cs typeface="+mn-cs"/>
              </a:defRPr>
            </a:lvl5pPr>
            <a:lvl6pPr marL="2514600" indent="-228600" algn="l" rtl="0" fontAlgn="base">
              <a:spcBef>
                <a:spcPct val="20000"/>
              </a:spcBef>
              <a:spcAft>
                <a:spcPct val="0"/>
              </a:spcAft>
              <a:buChar char="»"/>
              <a:defRPr sz="2000">
                <a:solidFill>
                  <a:schemeClr val="tx1"/>
                </a:solidFill>
                <a:latin typeface="+mn-lt"/>
                <a:cs typeface="+mn-cs"/>
              </a:defRPr>
            </a:lvl6pPr>
            <a:lvl7pPr marL="2971800" indent="-228600" algn="l" rtl="0" fontAlgn="base">
              <a:spcBef>
                <a:spcPct val="20000"/>
              </a:spcBef>
              <a:spcAft>
                <a:spcPct val="0"/>
              </a:spcAft>
              <a:buChar char="»"/>
              <a:defRPr sz="2000">
                <a:solidFill>
                  <a:schemeClr val="tx1"/>
                </a:solidFill>
                <a:latin typeface="+mn-lt"/>
                <a:cs typeface="+mn-cs"/>
              </a:defRPr>
            </a:lvl7pPr>
            <a:lvl8pPr marL="3429000" indent="-228600" algn="l" rtl="0" fontAlgn="base">
              <a:spcBef>
                <a:spcPct val="20000"/>
              </a:spcBef>
              <a:spcAft>
                <a:spcPct val="0"/>
              </a:spcAft>
              <a:buChar char="»"/>
              <a:defRPr sz="2000">
                <a:solidFill>
                  <a:schemeClr val="tx1"/>
                </a:solidFill>
                <a:latin typeface="+mn-lt"/>
                <a:cs typeface="+mn-cs"/>
              </a:defRPr>
            </a:lvl8pPr>
            <a:lvl9pPr marL="3886200" indent="-228600" algn="l" rtl="0" fontAlgn="base">
              <a:spcBef>
                <a:spcPct val="20000"/>
              </a:spcBef>
              <a:spcAft>
                <a:spcPct val="0"/>
              </a:spcAft>
              <a:buChar char="»"/>
              <a:defRPr sz="2000">
                <a:solidFill>
                  <a:schemeClr val="tx1"/>
                </a:solidFill>
                <a:latin typeface="+mn-lt"/>
                <a:cs typeface="+mn-cs"/>
              </a:defRPr>
            </a:lvl9pPr>
          </a:lstStyle>
          <a:p>
            <a:pPr marL="0" indent="0" algn="ctr">
              <a:lnSpc>
                <a:spcPct val="90000"/>
              </a:lnSpc>
              <a:buNone/>
            </a:pPr>
            <a:r>
              <a:rPr lang="es-AR" b="1" kern="0" dirty="0"/>
              <a:t>Horario de Herramientas</a:t>
            </a:r>
          </a:p>
        </p:txBody>
      </p:sp>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92</a:t>
            </a:fld>
            <a:endParaRPr lang="es-ES" altLang="es-AR"/>
          </a:p>
        </p:txBody>
      </p:sp>
    </p:spTree>
    <p:extLst>
      <p:ext uri="{BB962C8B-B14F-4D97-AF65-F5344CB8AC3E}">
        <p14:creationId xmlns:p14="http://schemas.microsoft.com/office/powerpoint/2010/main" val="3458759230"/>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1 Título"/>
          <p:cNvSpPr>
            <a:spLocks noGrp="1"/>
          </p:cNvSpPr>
          <p:nvPr>
            <p:ph type="title"/>
          </p:nvPr>
        </p:nvSpPr>
        <p:spPr>
          <a:xfrm>
            <a:off x="457200" y="274638"/>
            <a:ext cx="8229600" cy="654050"/>
          </a:xfrm>
        </p:spPr>
        <p:txBody>
          <a:bodyPr/>
          <a:lstStyle/>
          <a:p>
            <a:r>
              <a:rPr lang="es-AR" altLang="es-AR" b="1"/>
              <a:t>Contenido accesible</a:t>
            </a:r>
          </a:p>
        </p:txBody>
      </p:sp>
      <p:sp>
        <p:nvSpPr>
          <p:cNvPr id="57347" name="2 Marcador de contenido"/>
          <p:cNvSpPr>
            <a:spLocks noGrp="1"/>
          </p:cNvSpPr>
          <p:nvPr>
            <p:ph idx="1"/>
          </p:nvPr>
        </p:nvSpPr>
        <p:spPr>
          <a:xfrm>
            <a:off x="430213" y="1916113"/>
            <a:ext cx="8229600" cy="4393207"/>
          </a:xfrm>
        </p:spPr>
        <p:txBody>
          <a:bodyPr/>
          <a:lstStyle/>
          <a:p>
            <a:pPr>
              <a:lnSpc>
                <a:spcPct val="90000"/>
              </a:lnSpc>
            </a:pPr>
            <a:r>
              <a:rPr lang="es-AR" dirty="0"/>
              <a:t>Tablas</a:t>
            </a:r>
          </a:p>
          <a:p>
            <a:pPr lvl="1" algn="just">
              <a:lnSpc>
                <a:spcPct val="90000"/>
              </a:lnSpc>
            </a:pPr>
            <a:endParaRPr lang="es-AR" dirty="0"/>
          </a:p>
          <a:p>
            <a:pPr lvl="1"/>
            <a:r>
              <a:rPr lang="es-AR" b="1" dirty="0"/>
              <a:t>H63</a:t>
            </a:r>
            <a:r>
              <a:rPr lang="es-AR" dirty="0"/>
              <a:t> Usar el atributo </a:t>
            </a:r>
            <a:r>
              <a:rPr lang="es-AR" b="1" dirty="0" err="1"/>
              <a:t>scope</a:t>
            </a:r>
            <a:r>
              <a:rPr lang="es-AR" dirty="0"/>
              <a:t> para asociar celdas de encabezado y celdas de datos en las tablas de datos.</a:t>
            </a:r>
          </a:p>
          <a:p>
            <a:pPr lvl="1"/>
            <a:endParaRPr lang="es-AR" dirty="0"/>
          </a:p>
          <a:p>
            <a:pPr lvl="2"/>
            <a:r>
              <a:rPr lang="es-AR" dirty="0"/>
              <a:t>Atributo </a:t>
            </a:r>
            <a:r>
              <a:rPr lang="es-AR" b="1" dirty="0" err="1"/>
              <a:t>scope</a:t>
            </a:r>
            <a:r>
              <a:rPr lang="es-AR" dirty="0"/>
              <a:t> indica el ámbito sobre el que actúa el encabezado:</a:t>
            </a:r>
          </a:p>
          <a:p>
            <a:pPr lvl="2"/>
            <a:endParaRPr lang="es-AR" dirty="0"/>
          </a:p>
          <a:p>
            <a:pPr lvl="3"/>
            <a:r>
              <a:rPr lang="es-AR" dirty="0"/>
              <a:t>Con el valor </a:t>
            </a:r>
            <a:r>
              <a:rPr lang="es-AR" dirty="0" err="1"/>
              <a:t>row</a:t>
            </a:r>
            <a:r>
              <a:rPr lang="es-AR" dirty="0"/>
              <a:t> para encabezados de fila.</a:t>
            </a:r>
          </a:p>
          <a:p>
            <a:pPr lvl="3"/>
            <a:endParaRPr lang="es-AR" dirty="0"/>
          </a:p>
          <a:p>
            <a:pPr lvl="3"/>
            <a:r>
              <a:rPr lang="es-AR" dirty="0"/>
              <a:t>Con el valor col para encabezados de columna.</a:t>
            </a:r>
          </a:p>
          <a:p>
            <a:pPr lvl="1" algn="just">
              <a:lnSpc>
                <a:spcPct val="90000"/>
              </a:lnSpc>
            </a:pPr>
            <a:endParaRPr lang="es-AR" dirty="0"/>
          </a:p>
        </p:txBody>
      </p:sp>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93</a:t>
            </a:fld>
            <a:endParaRPr lang="es-ES" altLang="es-AR"/>
          </a:p>
        </p:txBody>
      </p:sp>
    </p:spTree>
    <p:extLst>
      <p:ext uri="{BB962C8B-B14F-4D97-AF65-F5344CB8AC3E}">
        <p14:creationId xmlns:p14="http://schemas.microsoft.com/office/powerpoint/2010/main" val="420892438"/>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1 Título"/>
          <p:cNvSpPr>
            <a:spLocks noGrp="1"/>
          </p:cNvSpPr>
          <p:nvPr>
            <p:ph type="title"/>
          </p:nvPr>
        </p:nvSpPr>
        <p:spPr>
          <a:xfrm>
            <a:off x="457200" y="274638"/>
            <a:ext cx="8229600" cy="654050"/>
          </a:xfrm>
        </p:spPr>
        <p:txBody>
          <a:bodyPr/>
          <a:lstStyle/>
          <a:p>
            <a:r>
              <a:rPr lang="es-AR" altLang="es-AR" b="1" dirty="0"/>
              <a:t>Contenido accesible</a:t>
            </a:r>
          </a:p>
        </p:txBody>
      </p:sp>
      <p:sp>
        <p:nvSpPr>
          <p:cNvPr id="57347" name="2 Marcador de contenido"/>
          <p:cNvSpPr>
            <a:spLocks noGrp="1"/>
          </p:cNvSpPr>
          <p:nvPr>
            <p:ph idx="1"/>
          </p:nvPr>
        </p:nvSpPr>
        <p:spPr>
          <a:xfrm>
            <a:off x="457200" y="1632526"/>
            <a:ext cx="3394719" cy="2228522"/>
          </a:xfrm>
        </p:spPr>
        <p:txBody>
          <a:bodyPr/>
          <a:lstStyle/>
          <a:p>
            <a:pPr>
              <a:lnSpc>
                <a:spcPct val="90000"/>
              </a:lnSpc>
            </a:pPr>
            <a:r>
              <a:rPr lang="es-AR" dirty="0"/>
              <a:t>Tablas</a:t>
            </a:r>
          </a:p>
          <a:p>
            <a:pPr lvl="1"/>
            <a:r>
              <a:rPr lang="es-AR" b="1" dirty="0"/>
              <a:t>H63</a:t>
            </a:r>
            <a:r>
              <a:rPr lang="es-AR" dirty="0"/>
              <a:t> Usar el atributo </a:t>
            </a:r>
            <a:r>
              <a:rPr lang="es-AR" b="1" dirty="0" err="1"/>
              <a:t>scope</a:t>
            </a:r>
            <a:r>
              <a:rPr lang="es-AR" dirty="0"/>
              <a:t> para asociar celdas de encabezado y celdas de datos en las tablas de datos.</a:t>
            </a:r>
          </a:p>
        </p:txBody>
      </p:sp>
      <p:graphicFrame>
        <p:nvGraphicFramePr>
          <p:cNvPr id="5" name="5 Tabla"/>
          <p:cNvGraphicFramePr>
            <a:graphicFrameLocks noGrp="1"/>
          </p:cNvGraphicFramePr>
          <p:nvPr/>
        </p:nvGraphicFramePr>
        <p:xfrm>
          <a:off x="831032" y="4596276"/>
          <a:ext cx="2880320" cy="2122376"/>
        </p:xfrm>
        <a:graphic>
          <a:graphicData uri="http://schemas.openxmlformats.org/drawingml/2006/table">
            <a:tbl>
              <a:tblPr firstRow="1" bandRow="1">
                <a:tableStyleId>{5C22544A-7EE6-4342-B048-85BDC9FD1C3A}</a:tableStyleId>
              </a:tblPr>
              <a:tblGrid>
                <a:gridCol w="720079">
                  <a:extLst>
                    <a:ext uri="{9D8B030D-6E8A-4147-A177-3AD203B41FA5}">
                      <a16:colId xmlns:a16="http://schemas.microsoft.com/office/drawing/2014/main" val="20000"/>
                    </a:ext>
                  </a:extLst>
                </a:gridCol>
                <a:gridCol w="1080120">
                  <a:extLst>
                    <a:ext uri="{9D8B030D-6E8A-4147-A177-3AD203B41FA5}">
                      <a16:colId xmlns:a16="http://schemas.microsoft.com/office/drawing/2014/main" val="20001"/>
                    </a:ext>
                  </a:extLst>
                </a:gridCol>
                <a:gridCol w="1080121">
                  <a:extLst>
                    <a:ext uri="{9D8B030D-6E8A-4147-A177-3AD203B41FA5}">
                      <a16:colId xmlns:a16="http://schemas.microsoft.com/office/drawing/2014/main" val="20002"/>
                    </a:ext>
                  </a:extLst>
                </a:gridCol>
              </a:tblGrid>
              <a:tr h="467642">
                <a:tc>
                  <a:txBody>
                    <a:bodyPr/>
                    <a:lstStyle/>
                    <a:p>
                      <a:pPr algn="ctr"/>
                      <a:endParaRPr lang="es-AR" sz="2000" b="0" dirty="0"/>
                    </a:p>
                  </a:txBody>
                  <a:tcPr>
                    <a:solidFill>
                      <a:schemeClr val="bg1"/>
                    </a:solidFill>
                  </a:tcPr>
                </a:tc>
                <a:tc>
                  <a:txBody>
                    <a:bodyPr/>
                    <a:lstStyle/>
                    <a:p>
                      <a:pPr algn="ctr"/>
                      <a:r>
                        <a:rPr lang="es-AR" sz="2000" b="1" dirty="0">
                          <a:solidFill>
                            <a:schemeClr val="tx1"/>
                          </a:solidFill>
                        </a:rPr>
                        <a:t>Lunes</a:t>
                      </a:r>
                    </a:p>
                  </a:txBody>
                  <a:tcPr/>
                </a:tc>
                <a:tc>
                  <a:txBody>
                    <a:bodyPr/>
                    <a:lstStyle/>
                    <a:p>
                      <a:pPr algn="ctr"/>
                      <a:r>
                        <a:rPr lang="es-AR" sz="2000" b="1" dirty="0">
                          <a:solidFill>
                            <a:schemeClr val="tx1"/>
                          </a:solidFill>
                        </a:rPr>
                        <a:t>Martes</a:t>
                      </a:r>
                    </a:p>
                  </a:txBody>
                  <a:tcPr/>
                </a:tc>
                <a:extLst>
                  <a:ext uri="{0D108BD9-81ED-4DB2-BD59-A6C34878D82A}">
                    <a16:rowId xmlns:a16="http://schemas.microsoft.com/office/drawing/2014/main" val="10000"/>
                  </a:ext>
                </a:extLst>
              </a:tr>
              <a:tr h="827367">
                <a:tc>
                  <a:txBody>
                    <a:bodyPr/>
                    <a:lstStyle/>
                    <a:p>
                      <a:pPr algn="ctr"/>
                      <a:r>
                        <a:rPr lang="es-AR" sz="2000" b="1" dirty="0">
                          <a:solidFill>
                            <a:schemeClr val="tx1"/>
                          </a:solidFill>
                        </a:rPr>
                        <a:t>8:00</a:t>
                      </a:r>
                    </a:p>
                  </a:txBody>
                  <a:tcPr>
                    <a:solidFill>
                      <a:schemeClr val="accent1"/>
                    </a:solidFill>
                  </a:tcPr>
                </a:tc>
                <a:tc>
                  <a:txBody>
                    <a:bodyPr/>
                    <a:lstStyle/>
                    <a:p>
                      <a:pPr algn="ctr"/>
                      <a:r>
                        <a:rPr lang="es-AR" sz="2000" b="0" dirty="0"/>
                        <a:t>TAW</a:t>
                      </a:r>
                    </a:p>
                  </a:txBody>
                  <a:tcPr/>
                </a:tc>
                <a:tc>
                  <a:txBody>
                    <a:bodyPr/>
                    <a:lstStyle/>
                    <a:p>
                      <a:pPr algn="ctr"/>
                      <a:r>
                        <a:rPr lang="es-AR" sz="2000" b="0" dirty="0"/>
                        <a:t>ARWeb</a:t>
                      </a:r>
                    </a:p>
                  </a:txBody>
                  <a:tcPr/>
                </a:tc>
                <a:extLst>
                  <a:ext uri="{0D108BD9-81ED-4DB2-BD59-A6C34878D82A}">
                    <a16:rowId xmlns:a16="http://schemas.microsoft.com/office/drawing/2014/main" val="10001"/>
                  </a:ext>
                </a:extLst>
              </a:tr>
              <a:tr h="827367">
                <a:tc>
                  <a:txBody>
                    <a:bodyPr/>
                    <a:lstStyle/>
                    <a:p>
                      <a:pPr algn="ctr"/>
                      <a:r>
                        <a:rPr lang="es-AR" sz="2000" b="1" dirty="0">
                          <a:solidFill>
                            <a:schemeClr val="tx1"/>
                          </a:solidFill>
                        </a:rPr>
                        <a:t>9:00</a:t>
                      </a:r>
                    </a:p>
                  </a:txBody>
                  <a:tcPr>
                    <a:solidFill>
                      <a:schemeClr val="accent1"/>
                    </a:solidFill>
                  </a:tcPr>
                </a:tc>
                <a:tc>
                  <a:txBody>
                    <a:bodyPr/>
                    <a:lstStyle/>
                    <a:p>
                      <a:pPr algn="ctr"/>
                      <a:r>
                        <a:rPr lang="es-AR" sz="2000" b="0" dirty="0"/>
                        <a:t>ARWeb</a:t>
                      </a:r>
                    </a:p>
                  </a:txBody>
                  <a:tcPr/>
                </a:tc>
                <a:tc>
                  <a:txBody>
                    <a:bodyPr/>
                    <a:lstStyle/>
                    <a:p>
                      <a:pPr algn="ctr"/>
                      <a:r>
                        <a:rPr lang="es-AR" sz="2000" b="0" dirty="0"/>
                        <a:t>ARWeb</a:t>
                      </a:r>
                    </a:p>
                  </a:txBody>
                  <a:tcPr/>
                </a:tc>
                <a:extLst>
                  <a:ext uri="{0D108BD9-81ED-4DB2-BD59-A6C34878D82A}">
                    <a16:rowId xmlns:a16="http://schemas.microsoft.com/office/drawing/2014/main" val="10002"/>
                  </a:ext>
                </a:extLst>
              </a:tr>
            </a:tbl>
          </a:graphicData>
        </a:graphic>
      </p:graphicFrame>
      <p:sp>
        <p:nvSpPr>
          <p:cNvPr id="7" name="2 Marcador de contenido"/>
          <p:cNvSpPr txBox="1">
            <a:spLocks/>
          </p:cNvSpPr>
          <p:nvPr/>
        </p:nvSpPr>
        <p:spPr bwMode="auto">
          <a:xfrm>
            <a:off x="683568" y="4056384"/>
            <a:ext cx="3168351" cy="447196"/>
          </a:xfrm>
          <a:prstGeom prst="rect">
            <a:avLst/>
          </a:prstGeom>
          <a:solidFill>
            <a:srgbClr val="00B0F0"/>
          </a:solidFill>
          <a:ln>
            <a:noFill/>
          </a:ln>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20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000">
                <a:solidFill>
                  <a:schemeClr val="tx1"/>
                </a:solidFill>
                <a:latin typeface="+mn-lt"/>
                <a:cs typeface="+mn-cs"/>
              </a:defRPr>
            </a:lvl2pPr>
            <a:lvl3pPr marL="1143000" indent="-228600" algn="l" rtl="0" eaLnBrk="0" fontAlgn="base" hangingPunct="0">
              <a:spcBef>
                <a:spcPct val="20000"/>
              </a:spcBef>
              <a:spcAft>
                <a:spcPct val="0"/>
              </a:spcAft>
              <a:buChar char="•"/>
              <a:defRPr sz="2000">
                <a:solidFill>
                  <a:schemeClr val="tx1"/>
                </a:solidFill>
                <a:latin typeface="+mn-lt"/>
                <a:cs typeface="+mn-cs"/>
              </a:defRPr>
            </a:lvl3pPr>
            <a:lvl4pPr marL="1600200" indent="-228600" algn="l" rtl="0" eaLnBrk="0" fontAlgn="base" hangingPunct="0">
              <a:spcBef>
                <a:spcPct val="20000"/>
              </a:spcBef>
              <a:spcAft>
                <a:spcPct val="0"/>
              </a:spcAft>
              <a:buChar char="–"/>
              <a:defRPr sz="2000">
                <a:solidFill>
                  <a:schemeClr val="tx1"/>
                </a:solidFill>
                <a:latin typeface="+mn-lt"/>
                <a:cs typeface="+mn-cs"/>
              </a:defRPr>
            </a:lvl4pPr>
            <a:lvl5pPr marL="2057400" indent="-228600" algn="l" rtl="0" eaLnBrk="0" fontAlgn="base" hangingPunct="0">
              <a:spcBef>
                <a:spcPct val="20000"/>
              </a:spcBef>
              <a:spcAft>
                <a:spcPct val="0"/>
              </a:spcAft>
              <a:buChar char="»"/>
              <a:defRPr sz="2000">
                <a:solidFill>
                  <a:schemeClr val="tx1"/>
                </a:solidFill>
                <a:latin typeface="+mn-lt"/>
                <a:cs typeface="+mn-cs"/>
              </a:defRPr>
            </a:lvl5pPr>
            <a:lvl6pPr marL="2514600" indent="-228600" algn="l" rtl="0" fontAlgn="base">
              <a:spcBef>
                <a:spcPct val="20000"/>
              </a:spcBef>
              <a:spcAft>
                <a:spcPct val="0"/>
              </a:spcAft>
              <a:buChar char="»"/>
              <a:defRPr sz="2000">
                <a:solidFill>
                  <a:schemeClr val="tx1"/>
                </a:solidFill>
                <a:latin typeface="+mn-lt"/>
                <a:cs typeface="+mn-cs"/>
              </a:defRPr>
            </a:lvl6pPr>
            <a:lvl7pPr marL="2971800" indent="-228600" algn="l" rtl="0" fontAlgn="base">
              <a:spcBef>
                <a:spcPct val="20000"/>
              </a:spcBef>
              <a:spcAft>
                <a:spcPct val="0"/>
              </a:spcAft>
              <a:buChar char="»"/>
              <a:defRPr sz="2000">
                <a:solidFill>
                  <a:schemeClr val="tx1"/>
                </a:solidFill>
                <a:latin typeface="+mn-lt"/>
                <a:cs typeface="+mn-cs"/>
              </a:defRPr>
            </a:lvl7pPr>
            <a:lvl8pPr marL="3429000" indent="-228600" algn="l" rtl="0" fontAlgn="base">
              <a:spcBef>
                <a:spcPct val="20000"/>
              </a:spcBef>
              <a:spcAft>
                <a:spcPct val="0"/>
              </a:spcAft>
              <a:buChar char="»"/>
              <a:defRPr sz="2000">
                <a:solidFill>
                  <a:schemeClr val="tx1"/>
                </a:solidFill>
                <a:latin typeface="+mn-lt"/>
                <a:cs typeface="+mn-cs"/>
              </a:defRPr>
            </a:lvl8pPr>
            <a:lvl9pPr marL="3886200" indent="-228600" algn="l" rtl="0" fontAlgn="base">
              <a:spcBef>
                <a:spcPct val="20000"/>
              </a:spcBef>
              <a:spcAft>
                <a:spcPct val="0"/>
              </a:spcAft>
              <a:buChar char="»"/>
              <a:defRPr sz="2000">
                <a:solidFill>
                  <a:schemeClr val="tx1"/>
                </a:solidFill>
                <a:latin typeface="+mn-lt"/>
                <a:cs typeface="+mn-cs"/>
              </a:defRPr>
            </a:lvl9pPr>
          </a:lstStyle>
          <a:p>
            <a:pPr marL="0" indent="0" algn="ctr">
              <a:lnSpc>
                <a:spcPct val="90000"/>
              </a:lnSpc>
              <a:buNone/>
            </a:pPr>
            <a:r>
              <a:rPr lang="es-AR" b="1" kern="0" dirty="0"/>
              <a:t>Horario de Herramientas</a:t>
            </a:r>
          </a:p>
        </p:txBody>
      </p:sp>
      <p:sp>
        <p:nvSpPr>
          <p:cNvPr id="8" name="CuadroTexto 8"/>
          <p:cNvSpPr txBox="1"/>
          <p:nvPr/>
        </p:nvSpPr>
        <p:spPr>
          <a:xfrm>
            <a:off x="4427984" y="2009671"/>
            <a:ext cx="4464496" cy="4708981"/>
          </a:xfrm>
          <a:prstGeom prst="rect">
            <a:avLst/>
          </a:prstGeom>
          <a:noFill/>
          <a:ln>
            <a:solidFill>
              <a:schemeClr val="accent1">
                <a:shade val="50000"/>
              </a:schemeClr>
            </a:solidFill>
          </a:ln>
        </p:spPr>
        <p:txBody>
          <a:bodyPr wrap="square" rtlCol="0">
            <a:spAutoFit/>
          </a:bodyPr>
          <a:lstStyle/>
          <a:p>
            <a:r>
              <a:rPr lang="es-AR" sz="2000" b="1" dirty="0"/>
              <a:t>&lt;</a:t>
            </a:r>
            <a:r>
              <a:rPr lang="es-AR" sz="2000" b="1" dirty="0" err="1"/>
              <a:t>table</a:t>
            </a:r>
            <a:r>
              <a:rPr lang="es-AR" sz="2000" b="1" dirty="0"/>
              <a:t>&gt;</a:t>
            </a:r>
          </a:p>
          <a:p>
            <a:r>
              <a:rPr lang="es-AR" sz="2000" b="1" dirty="0">
                <a:solidFill>
                  <a:srgbClr val="0070C0"/>
                </a:solidFill>
              </a:rPr>
              <a:t>&lt;</a:t>
            </a:r>
            <a:r>
              <a:rPr lang="es-AR" sz="2000" b="1" dirty="0" err="1">
                <a:solidFill>
                  <a:srgbClr val="0070C0"/>
                </a:solidFill>
              </a:rPr>
              <a:t>caption</a:t>
            </a:r>
            <a:r>
              <a:rPr lang="es-AR" sz="2000" b="1" dirty="0">
                <a:solidFill>
                  <a:srgbClr val="0070C0"/>
                </a:solidFill>
              </a:rPr>
              <a:t>&gt; </a:t>
            </a:r>
            <a:r>
              <a:rPr lang="es-AR" sz="2000" b="1" dirty="0"/>
              <a:t>Horario de Herramientas </a:t>
            </a:r>
            <a:r>
              <a:rPr lang="es-AR" sz="2000" b="1" dirty="0">
                <a:solidFill>
                  <a:srgbClr val="0070C0"/>
                </a:solidFill>
              </a:rPr>
              <a:t>&lt;/</a:t>
            </a:r>
            <a:r>
              <a:rPr lang="es-AR" sz="2000" b="1" dirty="0" err="1">
                <a:solidFill>
                  <a:srgbClr val="0070C0"/>
                </a:solidFill>
              </a:rPr>
              <a:t>caption</a:t>
            </a:r>
            <a:r>
              <a:rPr lang="es-AR" sz="2000" b="1" dirty="0">
                <a:solidFill>
                  <a:srgbClr val="0070C0"/>
                </a:solidFill>
              </a:rPr>
              <a:t>&gt;</a:t>
            </a:r>
          </a:p>
          <a:p>
            <a:r>
              <a:rPr lang="es-AR" sz="2000" b="1" dirty="0"/>
              <a:t>&lt;</a:t>
            </a:r>
            <a:r>
              <a:rPr lang="es-AR" sz="2000" b="1" dirty="0" err="1"/>
              <a:t>tr</a:t>
            </a:r>
            <a:r>
              <a:rPr lang="es-AR" sz="2000" b="1" dirty="0"/>
              <a:t>&gt;</a:t>
            </a:r>
          </a:p>
          <a:p>
            <a:r>
              <a:rPr lang="es-AR" sz="2000" b="1" dirty="0"/>
              <a:t>        &lt;</a:t>
            </a:r>
            <a:r>
              <a:rPr lang="es-AR" sz="2000" b="1" dirty="0" err="1"/>
              <a:t>td</a:t>
            </a:r>
            <a:r>
              <a:rPr lang="es-AR" sz="2000" b="1" dirty="0"/>
              <a:t>&gt;  &lt;/</a:t>
            </a:r>
            <a:r>
              <a:rPr lang="es-AR" sz="2000" b="1" dirty="0" err="1"/>
              <a:t>td</a:t>
            </a:r>
            <a:r>
              <a:rPr lang="es-AR" sz="2000" b="1" dirty="0"/>
              <a:t>&gt;	</a:t>
            </a:r>
          </a:p>
          <a:p>
            <a:r>
              <a:rPr lang="es-AR" sz="2000" b="1" dirty="0"/>
              <a:t>        &lt;</a:t>
            </a:r>
            <a:r>
              <a:rPr lang="es-AR" sz="2000" b="1" dirty="0" err="1"/>
              <a:t>th</a:t>
            </a:r>
            <a:r>
              <a:rPr lang="es-AR" sz="2000" b="1" dirty="0"/>
              <a:t> </a:t>
            </a:r>
            <a:r>
              <a:rPr lang="es-AR" sz="2000" b="1" dirty="0" err="1">
                <a:solidFill>
                  <a:srgbClr val="0070C0"/>
                </a:solidFill>
              </a:rPr>
              <a:t>scope</a:t>
            </a:r>
            <a:r>
              <a:rPr lang="es-AR" sz="2000" b="1" dirty="0">
                <a:solidFill>
                  <a:srgbClr val="0070C0"/>
                </a:solidFill>
              </a:rPr>
              <a:t>=“col”</a:t>
            </a:r>
            <a:r>
              <a:rPr lang="es-AR" sz="2000" b="1" dirty="0"/>
              <a:t>&gt; Lunes  &lt;/</a:t>
            </a:r>
            <a:r>
              <a:rPr lang="es-AR" sz="2000" b="1" dirty="0" err="1"/>
              <a:t>th</a:t>
            </a:r>
            <a:r>
              <a:rPr lang="es-AR" sz="2000" b="1" dirty="0"/>
              <a:t>&gt; </a:t>
            </a:r>
          </a:p>
          <a:p>
            <a:r>
              <a:rPr lang="es-AR" sz="2000" b="1" dirty="0"/>
              <a:t>        &lt;</a:t>
            </a:r>
            <a:r>
              <a:rPr lang="es-AR" sz="2000" b="1" dirty="0" err="1"/>
              <a:t>th</a:t>
            </a:r>
            <a:r>
              <a:rPr lang="es-AR" sz="2000" b="1" dirty="0"/>
              <a:t> </a:t>
            </a:r>
            <a:r>
              <a:rPr lang="es-AR" sz="2000" b="1" dirty="0" err="1">
                <a:solidFill>
                  <a:srgbClr val="0070C0"/>
                </a:solidFill>
              </a:rPr>
              <a:t>scope</a:t>
            </a:r>
            <a:r>
              <a:rPr lang="es-AR" sz="2000" b="1" dirty="0">
                <a:solidFill>
                  <a:srgbClr val="0070C0"/>
                </a:solidFill>
              </a:rPr>
              <a:t>=“col”</a:t>
            </a:r>
            <a:r>
              <a:rPr lang="es-AR" sz="2000" b="1" dirty="0"/>
              <a:t>&gt; Martes &lt;/</a:t>
            </a:r>
            <a:r>
              <a:rPr lang="es-AR" sz="2000" b="1" dirty="0" err="1"/>
              <a:t>th</a:t>
            </a:r>
            <a:r>
              <a:rPr lang="es-AR" sz="2000" b="1" dirty="0"/>
              <a:t>&gt;</a:t>
            </a:r>
          </a:p>
          <a:p>
            <a:r>
              <a:rPr lang="es-AR" sz="2000" b="1" dirty="0"/>
              <a:t>&lt;/</a:t>
            </a:r>
            <a:r>
              <a:rPr lang="es-AR" sz="2000" b="1" dirty="0" err="1"/>
              <a:t>tr</a:t>
            </a:r>
            <a:r>
              <a:rPr lang="es-AR" sz="2000" b="1" dirty="0"/>
              <a:t>&gt;</a:t>
            </a:r>
          </a:p>
          <a:p>
            <a:r>
              <a:rPr lang="es-AR" sz="2000" b="1" dirty="0"/>
              <a:t>&lt;</a:t>
            </a:r>
            <a:r>
              <a:rPr lang="es-AR" sz="2000" b="1" dirty="0" err="1"/>
              <a:t>tr</a:t>
            </a:r>
            <a:r>
              <a:rPr lang="es-AR" sz="2000" b="1" dirty="0"/>
              <a:t>&gt;</a:t>
            </a:r>
          </a:p>
          <a:p>
            <a:r>
              <a:rPr lang="es-AR" sz="2000" b="1" dirty="0"/>
              <a:t>        &lt;</a:t>
            </a:r>
            <a:r>
              <a:rPr lang="es-AR" sz="2000" b="1" dirty="0" err="1"/>
              <a:t>th</a:t>
            </a:r>
            <a:r>
              <a:rPr lang="es-AR" sz="2000" b="1" dirty="0"/>
              <a:t> </a:t>
            </a:r>
            <a:r>
              <a:rPr lang="es-AR" sz="2000" b="1" dirty="0" err="1">
                <a:solidFill>
                  <a:srgbClr val="0070C0"/>
                </a:solidFill>
              </a:rPr>
              <a:t>scope</a:t>
            </a:r>
            <a:r>
              <a:rPr lang="es-AR" sz="2000" b="1" dirty="0">
                <a:solidFill>
                  <a:srgbClr val="0070C0"/>
                </a:solidFill>
              </a:rPr>
              <a:t>=“</a:t>
            </a:r>
            <a:r>
              <a:rPr lang="es-AR" sz="2000" b="1" dirty="0" err="1">
                <a:solidFill>
                  <a:srgbClr val="0070C0"/>
                </a:solidFill>
              </a:rPr>
              <a:t>row</a:t>
            </a:r>
            <a:r>
              <a:rPr lang="es-AR" sz="2000" b="1" dirty="0">
                <a:solidFill>
                  <a:srgbClr val="0070C0"/>
                </a:solidFill>
              </a:rPr>
              <a:t>”</a:t>
            </a:r>
            <a:r>
              <a:rPr lang="es-AR" sz="2000" b="1" dirty="0"/>
              <a:t>&gt; 8:00 &lt;/</a:t>
            </a:r>
            <a:r>
              <a:rPr lang="es-AR" sz="2000" b="1" dirty="0" err="1"/>
              <a:t>th</a:t>
            </a:r>
            <a:r>
              <a:rPr lang="es-AR" sz="2000" b="1" dirty="0"/>
              <a:t>&gt;               </a:t>
            </a:r>
          </a:p>
          <a:p>
            <a:r>
              <a:rPr lang="es-AR" sz="2000" b="1" dirty="0"/>
              <a:t>        &lt;</a:t>
            </a:r>
            <a:r>
              <a:rPr lang="es-AR" sz="2000" b="1" dirty="0" err="1"/>
              <a:t>td</a:t>
            </a:r>
            <a:r>
              <a:rPr lang="es-AR" sz="2000" b="1" dirty="0"/>
              <a:t>&gt;TAW &lt;/</a:t>
            </a:r>
            <a:r>
              <a:rPr lang="es-AR" sz="2000" b="1" dirty="0" err="1"/>
              <a:t>td</a:t>
            </a:r>
            <a:r>
              <a:rPr lang="es-AR" sz="2000" b="1" dirty="0"/>
              <a:t>&gt;  </a:t>
            </a:r>
          </a:p>
          <a:p>
            <a:r>
              <a:rPr lang="es-AR" sz="2000" b="1" dirty="0"/>
              <a:t>        &lt;</a:t>
            </a:r>
            <a:r>
              <a:rPr lang="es-AR" sz="2000" b="1" dirty="0" err="1"/>
              <a:t>td</a:t>
            </a:r>
            <a:r>
              <a:rPr lang="es-AR" sz="2000" b="1" dirty="0"/>
              <a:t>&gt; ARWeb &lt;/</a:t>
            </a:r>
            <a:r>
              <a:rPr lang="es-AR" sz="2000" b="1" dirty="0" err="1"/>
              <a:t>td</a:t>
            </a:r>
            <a:r>
              <a:rPr lang="es-AR" sz="2000" b="1" dirty="0"/>
              <a:t>&gt; </a:t>
            </a:r>
          </a:p>
          <a:p>
            <a:r>
              <a:rPr lang="es-AR" sz="2000" b="1" dirty="0"/>
              <a:t>&lt;/</a:t>
            </a:r>
            <a:r>
              <a:rPr lang="es-AR" sz="2000" b="1" dirty="0" err="1"/>
              <a:t>tr</a:t>
            </a:r>
            <a:r>
              <a:rPr lang="es-AR" sz="2000" b="1" dirty="0"/>
              <a:t>&gt;</a:t>
            </a:r>
          </a:p>
          <a:p>
            <a:r>
              <a:rPr lang="es-AR" sz="2000" b="1" dirty="0"/>
              <a:t>…</a:t>
            </a:r>
          </a:p>
          <a:p>
            <a:r>
              <a:rPr lang="es-AR" sz="2000" b="1" dirty="0"/>
              <a:t>&lt;/</a:t>
            </a:r>
            <a:r>
              <a:rPr lang="es-AR" sz="2000" b="1" dirty="0" err="1"/>
              <a:t>table</a:t>
            </a:r>
            <a:r>
              <a:rPr lang="es-AR" sz="2000" b="1" dirty="0"/>
              <a:t>&gt;</a:t>
            </a:r>
          </a:p>
        </p:txBody>
      </p:sp>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94</a:t>
            </a:fld>
            <a:endParaRPr lang="es-ES" altLang="es-AR"/>
          </a:p>
        </p:txBody>
      </p:sp>
    </p:spTree>
    <p:extLst>
      <p:ext uri="{BB962C8B-B14F-4D97-AF65-F5344CB8AC3E}">
        <p14:creationId xmlns:p14="http://schemas.microsoft.com/office/powerpoint/2010/main" val="837384917"/>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1 Título"/>
          <p:cNvSpPr>
            <a:spLocks noGrp="1"/>
          </p:cNvSpPr>
          <p:nvPr>
            <p:ph type="title"/>
          </p:nvPr>
        </p:nvSpPr>
        <p:spPr>
          <a:xfrm>
            <a:off x="457200" y="274638"/>
            <a:ext cx="8229600" cy="654050"/>
          </a:xfrm>
        </p:spPr>
        <p:txBody>
          <a:bodyPr/>
          <a:lstStyle/>
          <a:p>
            <a:r>
              <a:rPr lang="es-AR" altLang="es-AR" b="1"/>
              <a:t>Contenido accesible</a:t>
            </a:r>
          </a:p>
        </p:txBody>
      </p:sp>
      <p:sp>
        <p:nvSpPr>
          <p:cNvPr id="57347" name="2 Marcador de contenido"/>
          <p:cNvSpPr>
            <a:spLocks noGrp="1"/>
          </p:cNvSpPr>
          <p:nvPr>
            <p:ph idx="1"/>
          </p:nvPr>
        </p:nvSpPr>
        <p:spPr>
          <a:xfrm>
            <a:off x="430213" y="1916113"/>
            <a:ext cx="8229600" cy="4393207"/>
          </a:xfrm>
        </p:spPr>
        <p:txBody>
          <a:bodyPr/>
          <a:lstStyle/>
          <a:p>
            <a:pPr>
              <a:lnSpc>
                <a:spcPct val="90000"/>
              </a:lnSpc>
            </a:pPr>
            <a:r>
              <a:rPr lang="es-AR" dirty="0"/>
              <a:t>Tablas</a:t>
            </a:r>
          </a:p>
          <a:p>
            <a:pPr lvl="1" algn="just">
              <a:lnSpc>
                <a:spcPct val="90000"/>
              </a:lnSpc>
            </a:pPr>
            <a:endParaRPr lang="es-AR" dirty="0"/>
          </a:p>
          <a:p>
            <a:pPr lvl="1"/>
            <a:r>
              <a:rPr lang="es-AR" b="1" dirty="0"/>
              <a:t>H43</a:t>
            </a:r>
            <a:r>
              <a:rPr lang="es-AR" dirty="0"/>
              <a:t> Usar el atributo </a:t>
            </a:r>
            <a:r>
              <a:rPr lang="es-AR" b="1" dirty="0"/>
              <a:t>id</a:t>
            </a:r>
            <a:r>
              <a:rPr lang="es-AR" dirty="0"/>
              <a:t> y </a:t>
            </a:r>
            <a:r>
              <a:rPr lang="es-AR" b="1" dirty="0" err="1"/>
              <a:t>headers</a:t>
            </a:r>
            <a:r>
              <a:rPr lang="es-AR" dirty="0"/>
              <a:t> para asociar las celdas de datos con las celdas de encabezado en las tablas de datos.</a:t>
            </a:r>
          </a:p>
          <a:p>
            <a:pPr marL="457200" lvl="1" indent="0">
              <a:buNone/>
            </a:pPr>
            <a:endParaRPr lang="es-AR" dirty="0"/>
          </a:p>
          <a:p>
            <a:pPr lvl="2"/>
            <a:r>
              <a:rPr lang="es-AR" dirty="0"/>
              <a:t>Atributos </a:t>
            </a:r>
            <a:r>
              <a:rPr lang="es-AR" b="1" dirty="0"/>
              <a:t>id</a:t>
            </a:r>
            <a:r>
              <a:rPr lang="es-AR" dirty="0"/>
              <a:t> y </a:t>
            </a:r>
            <a:r>
              <a:rPr lang="es-AR" b="1" dirty="0" err="1"/>
              <a:t>headers</a:t>
            </a:r>
            <a:r>
              <a:rPr lang="es-AR" dirty="0"/>
              <a:t>:</a:t>
            </a:r>
          </a:p>
          <a:p>
            <a:pPr lvl="2"/>
            <a:endParaRPr lang="es-AR" dirty="0"/>
          </a:p>
          <a:p>
            <a:pPr lvl="3"/>
            <a:r>
              <a:rPr lang="es-AR" b="1" dirty="0"/>
              <a:t>id</a:t>
            </a:r>
            <a:r>
              <a:rPr lang="es-AR" dirty="0"/>
              <a:t> se utiliza en las celdas de encabezado </a:t>
            </a:r>
            <a:r>
              <a:rPr lang="es-AR" b="1" dirty="0"/>
              <a:t>&lt;</a:t>
            </a:r>
            <a:r>
              <a:rPr lang="es-AR" b="1" dirty="0" err="1"/>
              <a:t>th</a:t>
            </a:r>
            <a:r>
              <a:rPr lang="es-AR" b="1" dirty="0"/>
              <a:t>&gt;</a:t>
            </a:r>
            <a:r>
              <a:rPr lang="es-AR" dirty="0"/>
              <a:t>, para proporcionar un identificador único.</a:t>
            </a:r>
          </a:p>
          <a:p>
            <a:pPr lvl="3"/>
            <a:endParaRPr lang="es-AR" dirty="0"/>
          </a:p>
          <a:p>
            <a:pPr lvl="3"/>
            <a:r>
              <a:rPr lang="es-AR" b="1" dirty="0" err="1"/>
              <a:t>headers</a:t>
            </a:r>
            <a:r>
              <a:rPr lang="es-AR" dirty="0"/>
              <a:t>,  se usa en las celdas de datos </a:t>
            </a:r>
            <a:r>
              <a:rPr lang="es-AR" b="1" dirty="0"/>
              <a:t>&lt;</a:t>
            </a:r>
            <a:r>
              <a:rPr lang="es-AR" b="1" dirty="0" err="1"/>
              <a:t>td</a:t>
            </a:r>
            <a:r>
              <a:rPr lang="es-AR" b="1" dirty="0"/>
              <a:t>&gt; </a:t>
            </a:r>
            <a:r>
              <a:rPr lang="es-AR" dirty="0"/>
              <a:t>con el valor de los id correspondientes.</a:t>
            </a:r>
          </a:p>
          <a:p>
            <a:pPr lvl="1" algn="just">
              <a:lnSpc>
                <a:spcPct val="90000"/>
              </a:lnSpc>
            </a:pPr>
            <a:endParaRPr lang="es-AR" dirty="0"/>
          </a:p>
        </p:txBody>
      </p:sp>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95</a:t>
            </a:fld>
            <a:endParaRPr lang="es-ES" altLang="es-AR"/>
          </a:p>
        </p:txBody>
      </p:sp>
    </p:spTree>
    <p:extLst>
      <p:ext uri="{BB962C8B-B14F-4D97-AF65-F5344CB8AC3E}">
        <p14:creationId xmlns:p14="http://schemas.microsoft.com/office/powerpoint/2010/main" val="2338237501"/>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1 Título"/>
          <p:cNvSpPr>
            <a:spLocks noGrp="1"/>
          </p:cNvSpPr>
          <p:nvPr>
            <p:ph type="title"/>
          </p:nvPr>
        </p:nvSpPr>
        <p:spPr>
          <a:xfrm>
            <a:off x="457200" y="274638"/>
            <a:ext cx="8229600" cy="654050"/>
          </a:xfrm>
        </p:spPr>
        <p:txBody>
          <a:bodyPr/>
          <a:lstStyle/>
          <a:p>
            <a:r>
              <a:rPr lang="es-AR" altLang="es-AR" b="1" dirty="0"/>
              <a:t>Contenido accesible</a:t>
            </a:r>
          </a:p>
        </p:txBody>
      </p:sp>
      <p:sp>
        <p:nvSpPr>
          <p:cNvPr id="57347" name="2 Marcador de contenido"/>
          <p:cNvSpPr>
            <a:spLocks noGrp="1"/>
          </p:cNvSpPr>
          <p:nvPr>
            <p:ph idx="1"/>
          </p:nvPr>
        </p:nvSpPr>
        <p:spPr>
          <a:xfrm>
            <a:off x="457200" y="1412776"/>
            <a:ext cx="3394719" cy="2550912"/>
          </a:xfrm>
        </p:spPr>
        <p:txBody>
          <a:bodyPr/>
          <a:lstStyle/>
          <a:p>
            <a:pPr>
              <a:lnSpc>
                <a:spcPct val="90000"/>
              </a:lnSpc>
            </a:pPr>
            <a:r>
              <a:rPr lang="es-AR" dirty="0"/>
              <a:t>Tablas</a:t>
            </a:r>
          </a:p>
          <a:p>
            <a:pPr lvl="1"/>
            <a:r>
              <a:rPr lang="es-AR" b="1" dirty="0"/>
              <a:t>H43</a:t>
            </a:r>
            <a:r>
              <a:rPr lang="es-AR" dirty="0"/>
              <a:t> Usar el atributo </a:t>
            </a:r>
            <a:r>
              <a:rPr lang="es-AR" b="1" dirty="0"/>
              <a:t>id</a:t>
            </a:r>
            <a:r>
              <a:rPr lang="es-AR" dirty="0"/>
              <a:t> y </a:t>
            </a:r>
            <a:r>
              <a:rPr lang="es-AR" b="1" dirty="0" err="1"/>
              <a:t>headers</a:t>
            </a:r>
            <a:r>
              <a:rPr lang="es-AR" dirty="0"/>
              <a:t> para asociar las celdas de datos con las celdas de encabezado en las tablas de datos.</a:t>
            </a:r>
          </a:p>
        </p:txBody>
      </p:sp>
      <p:graphicFrame>
        <p:nvGraphicFramePr>
          <p:cNvPr id="5" name="5 Tabla"/>
          <p:cNvGraphicFramePr>
            <a:graphicFrameLocks noGrp="1"/>
          </p:cNvGraphicFramePr>
          <p:nvPr/>
        </p:nvGraphicFramePr>
        <p:xfrm>
          <a:off x="831032" y="4596276"/>
          <a:ext cx="2880320" cy="2122376"/>
        </p:xfrm>
        <a:graphic>
          <a:graphicData uri="http://schemas.openxmlformats.org/drawingml/2006/table">
            <a:tbl>
              <a:tblPr firstRow="1" bandRow="1">
                <a:tableStyleId>{5C22544A-7EE6-4342-B048-85BDC9FD1C3A}</a:tableStyleId>
              </a:tblPr>
              <a:tblGrid>
                <a:gridCol w="720079">
                  <a:extLst>
                    <a:ext uri="{9D8B030D-6E8A-4147-A177-3AD203B41FA5}">
                      <a16:colId xmlns:a16="http://schemas.microsoft.com/office/drawing/2014/main" val="20000"/>
                    </a:ext>
                  </a:extLst>
                </a:gridCol>
                <a:gridCol w="1080120">
                  <a:extLst>
                    <a:ext uri="{9D8B030D-6E8A-4147-A177-3AD203B41FA5}">
                      <a16:colId xmlns:a16="http://schemas.microsoft.com/office/drawing/2014/main" val="20001"/>
                    </a:ext>
                  </a:extLst>
                </a:gridCol>
                <a:gridCol w="1080121">
                  <a:extLst>
                    <a:ext uri="{9D8B030D-6E8A-4147-A177-3AD203B41FA5}">
                      <a16:colId xmlns:a16="http://schemas.microsoft.com/office/drawing/2014/main" val="20002"/>
                    </a:ext>
                  </a:extLst>
                </a:gridCol>
              </a:tblGrid>
              <a:tr h="467642">
                <a:tc>
                  <a:txBody>
                    <a:bodyPr/>
                    <a:lstStyle/>
                    <a:p>
                      <a:pPr algn="ctr"/>
                      <a:endParaRPr lang="es-AR" sz="2000" b="0" dirty="0"/>
                    </a:p>
                  </a:txBody>
                  <a:tcPr>
                    <a:solidFill>
                      <a:schemeClr val="bg1"/>
                    </a:solidFill>
                  </a:tcPr>
                </a:tc>
                <a:tc>
                  <a:txBody>
                    <a:bodyPr/>
                    <a:lstStyle/>
                    <a:p>
                      <a:pPr algn="ctr"/>
                      <a:r>
                        <a:rPr lang="es-AR" sz="2000" b="1" dirty="0">
                          <a:solidFill>
                            <a:schemeClr val="tx1"/>
                          </a:solidFill>
                        </a:rPr>
                        <a:t>Lunes</a:t>
                      </a:r>
                    </a:p>
                  </a:txBody>
                  <a:tcPr/>
                </a:tc>
                <a:tc>
                  <a:txBody>
                    <a:bodyPr/>
                    <a:lstStyle/>
                    <a:p>
                      <a:pPr algn="ctr"/>
                      <a:r>
                        <a:rPr lang="es-AR" sz="2000" b="1" dirty="0">
                          <a:solidFill>
                            <a:schemeClr val="tx1"/>
                          </a:solidFill>
                        </a:rPr>
                        <a:t>Martes</a:t>
                      </a:r>
                    </a:p>
                  </a:txBody>
                  <a:tcPr/>
                </a:tc>
                <a:extLst>
                  <a:ext uri="{0D108BD9-81ED-4DB2-BD59-A6C34878D82A}">
                    <a16:rowId xmlns:a16="http://schemas.microsoft.com/office/drawing/2014/main" val="10000"/>
                  </a:ext>
                </a:extLst>
              </a:tr>
              <a:tr h="827367">
                <a:tc>
                  <a:txBody>
                    <a:bodyPr/>
                    <a:lstStyle/>
                    <a:p>
                      <a:pPr algn="ctr"/>
                      <a:r>
                        <a:rPr lang="es-AR" sz="2000" b="1" dirty="0">
                          <a:solidFill>
                            <a:schemeClr val="tx1"/>
                          </a:solidFill>
                        </a:rPr>
                        <a:t>8:00</a:t>
                      </a:r>
                    </a:p>
                  </a:txBody>
                  <a:tcPr>
                    <a:solidFill>
                      <a:schemeClr val="accent1"/>
                    </a:solidFill>
                  </a:tcPr>
                </a:tc>
                <a:tc>
                  <a:txBody>
                    <a:bodyPr/>
                    <a:lstStyle/>
                    <a:p>
                      <a:pPr algn="ctr"/>
                      <a:r>
                        <a:rPr lang="es-AR" sz="2000" b="0" dirty="0"/>
                        <a:t>TAW</a:t>
                      </a:r>
                    </a:p>
                  </a:txBody>
                  <a:tcPr/>
                </a:tc>
                <a:tc>
                  <a:txBody>
                    <a:bodyPr/>
                    <a:lstStyle/>
                    <a:p>
                      <a:pPr algn="ctr"/>
                      <a:r>
                        <a:rPr lang="es-AR" sz="2000" b="0" dirty="0"/>
                        <a:t>ARWeb</a:t>
                      </a:r>
                    </a:p>
                  </a:txBody>
                  <a:tcPr/>
                </a:tc>
                <a:extLst>
                  <a:ext uri="{0D108BD9-81ED-4DB2-BD59-A6C34878D82A}">
                    <a16:rowId xmlns:a16="http://schemas.microsoft.com/office/drawing/2014/main" val="10001"/>
                  </a:ext>
                </a:extLst>
              </a:tr>
              <a:tr h="827367">
                <a:tc>
                  <a:txBody>
                    <a:bodyPr/>
                    <a:lstStyle/>
                    <a:p>
                      <a:pPr algn="ctr"/>
                      <a:r>
                        <a:rPr lang="es-AR" sz="2000" b="1" dirty="0">
                          <a:solidFill>
                            <a:schemeClr val="tx1"/>
                          </a:solidFill>
                        </a:rPr>
                        <a:t>9:00</a:t>
                      </a:r>
                    </a:p>
                  </a:txBody>
                  <a:tcPr>
                    <a:solidFill>
                      <a:schemeClr val="accent1"/>
                    </a:solidFill>
                  </a:tcPr>
                </a:tc>
                <a:tc>
                  <a:txBody>
                    <a:bodyPr/>
                    <a:lstStyle/>
                    <a:p>
                      <a:pPr algn="ctr"/>
                      <a:r>
                        <a:rPr lang="es-AR" sz="2000" b="0" dirty="0"/>
                        <a:t>ARWeb</a:t>
                      </a:r>
                    </a:p>
                  </a:txBody>
                  <a:tcPr/>
                </a:tc>
                <a:tc>
                  <a:txBody>
                    <a:bodyPr/>
                    <a:lstStyle/>
                    <a:p>
                      <a:pPr algn="ctr"/>
                      <a:r>
                        <a:rPr lang="es-AR" sz="2000" b="0" dirty="0"/>
                        <a:t>ARWeb</a:t>
                      </a:r>
                    </a:p>
                  </a:txBody>
                  <a:tcPr/>
                </a:tc>
                <a:extLst>
                  <a:ext uri="{0D108BD9-81ED-4DB2-BD59-A6C34878D82A}">
                    <a16:rowId xmlns:a16="http://schemas.microsoft.com/office/drawing/2014/main" val="10002"/>
                  </a:ext>
                </a:extLst>
              </a:tr>
            </a:tbl>
          </a:graphicData>
        </a:graphic>
      </p:graphicFrame>
      <p:sp>
        <p:nvSpPr>
          <p:cNvPr id="7" name="2 Marcador de contenido"/>
          <p:cNvSpPr txBox="1">
            <a:spLocks/>
          </p:cNvSpPr>
          <p:nvPr/>
        </p:nvSpPr>
        <p:spPr bwMode="auto">
          <a:xfrm>
            <a:off x="683568" y="4056384"/>
            <a:ext cx="3168351" cy="447196"/>
          </a:xfrm>
          <a:prstGeom prst="rect">
            <a:avLst/>
          </a:prstGeom>
          <a:solidFill>
            <a:srgbClr val="00B0F0"/>
          </a:solidFill>
          <a:ln>
            <a:noFill/>
          </a:ln>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20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000">
                <a:solidFill>
                  <a:schemeClr val="tx1"/>
                </a:solidFill>
                <a:latin typeface="+mn-lt"/>
                <a:cs typeface="+mn-cs"/>
              </a:defRPr>
            </a:lvl2pPr>
            <a:lvl3pPr marL="1143000" indent="-228600" algn="l" rtl="0" eaLnBrk="0" fontAlgn="base" hangingPunct="0">
              <a:spcBef>
                <a:spcPct val="20000"/>
              </a:spcBef>
              <a:spcAft>
                <a:spcPct val="0"/>
              </a:spcAft>
              <a:buChar char="•"/>
              <a:defRPr sz="2000">
                <a:solidFill>
                  <a:schemeClr val="tx1"/>
                </a:solidFill>
                <a:latin typeface="+mn-lt"/>
                <a:cs typeface="+mn-cs"/>
              </a:defRPr>
            </a:lvl3pPr>
            <a:lvl4pPr marL="1600200" indent="-228600" algn="l" rtl="0" eaLnBrk="0" fontAlgn="base" hangingPunct="0">
              <a:spcBef>
                <a:spcPct val="20000"/>
              </a:spcBef>
              <a:spcAft>
                <a:spcPct val="0"/>
              </a:spcAft>
              <a:buChar char="–"/>
              <a:defRPr sz="2000">
                <a:solidFill>
                  <a:schemeClr val="tx1"/>
                </a:solidFill>
                <a:latin typeface="+mn-lt"/>
                <a:cs typeface="+mn-cs"/>
              </a:defRPr>
            </a:lvl4pPr>
            <a:lvl5pPr marL="2057400" indent="-228600" algn="l" rtl="0" eaLnBrk="0" fontAlgn="base" hangingPunct="0">
              <a:spcBef>
                <a:spcPct val="20000"/>
              </a:spcBef>
              <a:spcAft>
                <a:spcPct val="0"/>
              </a:spcAft>
              <a:buChar char="»"/>
              <a:defRPr sz="2000">
                <a:solidFill>
                  <a:schemeClr val="tx1"/>
                </a:solidFill>
                <a:latin typeface="+mn-lt"/>
                <a:cs typeface="+mn-cs"/>
              </a:defRPr>
            </a:lvl5pPr>
            <a:lvl6pPr marL="2514600" indent="-228600" algn="l" rtl="0" fontAlgn="base">
              <a:spcBef>
                <a:spcPct val="20000"/>
              </a:spcBef>
              <a:spcAft>
                <a:spcPct val="0"/>
              </a:spcAft>
              <a:buChar char="»"/>
              <a:defRPr sz="2000">
                <a:solidFill>
                  <a:schemeClr val="tx1"/>
                </a:solidFill>
                <a:latin typeface="+mn-lt"/>
                <a:cs typeface="+mn-cs"/>
              </a:defRPr>
            </a:lvl6pPr>
            <a:lvl7pPr marL="2971800" indent="-228600" algn="l" rtl="0" fontAlgn="base">
              <a:spcBef>
                <a:spcPct val="20000"/>
              </a:spcBef>
              <a:spcAft>
                <a:spcPct val="0"/>
              </a:spcAft>
              <a:buChar char="»"/>
              <a:defRPr sz="2000">
                <a:solidFill>
                  <a:schemeClr val="tx1"/>
                </a:solidFill>
                <a:latin typeface="+mn-lt"/>
                <a:cs typeface="+mn-cs"/>
              </a:defRPr>
            </a:lvl7pPr>
            <a:lvl8pPr marL="3429000" indent="-228600" algn="l" rtl="0" fontAlgn="base">
              <a:spcBef>
                <a:spcPct val="20000"/>
              </a:spcBef>
              <a:spcAft>
                <a:spcPct val="0"/>
              </a:spcAft>
              <a:buChar char="»"/>
              <a:defRPr sz="2000">
                <a:solidFill>
                  <a:schemeClr val="tx1"/>
                </a:solidFill>
                <a:latin typeface="+mn-lt"/>
                <a:cs typeface="+mn-cs"/>
              </a:defRPr>
            </a:lvl8pPr>
            <a:lvl9pPr marL="3886200" indent="-228600" algn="l" rtl="0" fontAlgn="base">
              <a:spcBef>
                <a:spcPct val="20000"/>
              </a:spcBef>
              <a:spcAft>
                <a:spcPct val="0"/>
              </a:spcAft>
              <a:buChar char="»"/>
              <a:defRPr sz="2000">
                <a:solidFill>
                  <a:schemeClr val="tx1"/>
                </a:solidFill>
                <a:latin typeface="+mn-lt"/>
                <a:cs typeface="+mn-cs"/>
              </a:defRPr>
            </a:lvl9pPr>
          </a:lstStyle>
          <a:p>
            <a:pPr marL="0" indent="0" algn="ctr">
              <a:lnSpc>
                <a:spcPct val="90000"/>
              </a:lnSpc>
              <a:buNone/>
            </a:pPr>
            <a:r>
              <a:rPr lang="es-AR" b="1" kern="0" dirty="0"/>
              <a:t>Horario de Herramientas</a:t>
            </a:r>
          </a:p>
        </p:txBody>
      </p:sp>
      <p:sp>
        <p:nvSpPr>
          <p:cNvPr id="8" name="CuadroTexto 8"/>
          <p:cNvSpPr txBox="1"/>
          <p:nvPr/>
        </p:nvSpPr>
        <p:spPr>
          <a:xfrm>
            <a:off x="3890347" y="1412776"/>
            <a:ext cx="4824536" cy="5324535"/>
          </a:xfrm>
          <a:prstGeom prst="rect">
            <a:avLst/>
          </a:prstGeom>
          <a:noFill/>
          <a:ln>
            <a:solidFill>
              <a:schemeClr val="accent1">
                <a:shade val="50000"/>
              </a:schemeClr>
            </a:solidFill>
          </a:ln>
        </p:spPr>
        <p:txBody>
          <a:bodyPr wrap="square" rtlCol="0">
            <a:spAutoFit/>
          </a:bodyPr>
          <a:lstStyle/>
          <a:p>
            <a:r>
              <a:rPr lang="es-AR" sz="2000" b="1" dirty="0"/>
              <a:t>&lt;</a:t>
            </a:r>
            <a:r>
              <a:rPr lang="es-AR" sz="2000" b="1" dirty="0" err="1"/>
              <a:t>table</a:t>
            </a:r>
            <a:r>
              <a:rPr lang="es-AR" sz="2000" b="1" dirty="0"/>
              <a:t>&gt;</a:t>
            </a:r>
          </a:p>
          <a:p>
            <a:r>
              <a:rPr lang="es-AR" sz="2000" b="1" dirty="0"/>
              <a:t>&lt;</a:t>
            </a:r>
            <a:r>
              <a:rPr lang="es-AR" sz="2000" b="1" dirty="0" err="1"/>
              <a:t>tr</a:t>
            </a:r>
            <a:r>
              <a:rPr lang="es-AR" sz="2000" b="1" dirty="0"/>
              <a:t>&gt;</a:t>
            </a:r>
          </a:p>
          <a:p>
            <a:r>
              <a:rPr lang="es-AR" sz="2000" b="1" dirty="0"/>
              <a:t>        &lt;</a:t>
            </a:r>
            <a:r>
              <a:rPr lang="es-AR" sz="2000" b="1" dirty="0" err="1"/>
              <a:t>td</a:t>
            </a:r>
            <a:r>
              <a:rPr lang="es-AR" sz="2000" b="1" dirty="0"/>
              <a:t>&gt;  &lt;/</a:t>
            </a:r>
            <a:r>
              <a:rPr lang="es-AR" sz="2000" b="1" dirty="0" err="1"/>
              <a:t>td</a:t>
            </a:r>
            <a:r>
              <a:rPr lang="es-AR" sz="2000" b="1" dirty="0"/>
              <a:t>&gt;	</a:t>
            </a:r>
          </a:p>
          <a:p>
            <a:r>
              <a:rPr lang="es-AR" sz="2000" b="1" dirty="0"/>
              <a:t>        &lt;</a:t>
            </a:r>
            <a:r>
              <a:rPr lang="es-AR" sz="2000" b="1" dirty="0" err="1"/>
              <a:t>th</a:t>
            </a:r>
            <a:r>
              <a:rPr lang="es-AR" sz="2000" b="1" dirty="0"/>
              <a:t> </a:t>
            </a:r>
            <a:r>
              <a:rPr lang="es-AR" sz="2000" b="1" dirty="0">
                <a:solidFill>
                  <a:srgbClr val="0070C0"/>
                </a:solidFill>
              </a:rPr>
              <a:t>id=“L”</a:t>
            </a:r>
            <a:r>
              <a:rPr lang="es-AR" sz="2000" b="1" dirty="0"/>
              <a:t>&gt; Lunes  &lt;/</a:t>
            </a:r>
            <a:r>
              <a:rPr lang="es-AR" sz="2000" b="1" dirty="0" err="1"/>
              <a:t>th</a:t>
            </a:r>
            <a:r>
              <a:rPr lang="es-AR" sz="2000" b="1" dirty="0"/>
              <a:t>&gt; </a:t>
            </a:r>
          </a:p>
          <a:p>
            <a:r>
              <a:rPr lang="es-AR" sz="2000" b="1" dirty="0"/>
              <a:t>        &lt;</a:t>
            </a:r>
            <a:r>
              <a:rPr lang="es-AR" sz="2000" b="1" dirty="0" err="1"/>
              <a:t>th</a:t>
            </a:r>
            <a:r>
              <a:rPr lang="es-AR" sz="2000" b="1" dirty="0"/>
              <a:t> </a:t>
            </a:r>
            <a:r>
              <a:rPr lang="es-AR" sz="2000" b="1" dirty="0">
                <a:solidFill>
                  <a:srgbClr val="0070C0"/>
                </a:solidFill>
              </a:rPr>
              <a:t>id=“M”</a:t>
            </a:r>
            <a:r>
              <a:rPr lang="es-AR" sz="2000" b="1" dirty="0"/>
              <a:t>&gt; Martes &lt;/</a:t>
            </a:r>
            <a:r>
              <a:rPr lang="es-AR" sz="2000" b="1" dirty="0" err="1"/>
              <a:t>th</a:t>
            </a:r>
            <a:r>
              <a:rPr lang="es-AR" sz="2000" b="1" dirty="0"/>
              <a:t>&gt;</a:t>
            </a:r>
          </a:p>
          <a:p>
            <a:r>
              <a:rPr lang="es-AR" sz="2000" b="1" dirty="0"/>
              <a:t>&lt;/</a:t>
            </a:r>
            <a:r>
              <a:rPr lang="es-AR" sz="2000" b="1" dirty="0" err="1"/>
              <a:t>tr</a:t>
            </a:r>
            <a:r>
              <a:rPr lang="es-AR" sz="2000" b="1" dirty="0"/>
              <a:t>&gt;</a:t>
            </a:r>
          </a:p>
          <a:p>
            <a:r>
              <a:rPr lang="es-AR" sz="2000" b="1" dirty="0"/>
              <a:t>&lt;</a:t>
            </a:r>
            <a:r>
              <a:rPr lang="es-AR" sz="2000" b="1" dirty="0" err="1"/>
              <a:t>tr</a:t>
            </a:r>
            <a:r>
              <a:rPr lang="es-AR" sz="2000" b="1" dirty="0"/>
              <a:t>&gt;</a:t>
            </a:r>
          </a:p>
          <a:p>
            <a:r>
              <a:rPr lang="es-AR" sz="2000" b="1" dirty="0"/>
              <a:t>        &lt;</a:t>
            </a:r>
            <a:r>
              <a:rPr lang="es-AR" sz="2000" b="1" dirty="0" err="1"/>
              <a:t>th</a:t>
            </a:r>
            <a:r>
              <a:rPr lang="es-AR" sz="2000" b="1" dirty="0"/>
              <a:t> </a:t>
            </a:r>
            <a:r>
              <a:rPr lang="es-AR" sz="2000" b="1" dirty="0">
                <a:solidFill>
                  <a:srgbClr val="0070C0"/>
                </a:solidFill>
              </a:rPr>
              <a:t>id=“8”</a:t>
            </a:r>
            <a:r>
              <a:rPr lang="es-AR" sz="2000" b="1" dirty="0"/>
              <a:t>&gt; 8:00 &lt;/</a:t>
            </a:r>
            <a:r>
              <a:rPr lang="es-AR" sz="2000" b="1" dirty="0" err="1"/>
              <a:t>th</a:t>
            </a:r>
            <a:r>
              <a:rPr lang="es-AR" sz="2000" b="1" dirty="0"/>
              <a:t>&gt;               </a:t>
            </a:r>
          </a:p>
          <a:p>
            <a:r>
              <a:rPr lang="es-AR" sz="2000" b="1" dirty="0"/>
              <a:t>        &lt;</a:t>
            </a:r>
            <a:r>
              <a:rPr lang="es-AR" sz="2000" b="1" dirty="0" err="1"/>
              <a:t>td</a:t>
            </a:r>
            <a:r>
              <a:rPr lang="es-AR" sz="2000" b="1" dirty="0"/>
              <a:t> </a:t>
            </a:r>
            <a:r>
              <a:rPr lang="es-AR" sz="2000" b="1" dirty="0" err="1">
                <a:solidFill>
                  <a:srgbClr val="0070C0"/>
                </a:solidFill>
              </a:rPr>
              <a:t>header</a:t>
            </a:r>
            <a:r>
              <a:rPr lang="es-AR" sz="2000" b="1" dirty="0">
                <a:solidFill>
                  <a:srgbClr val="0070C0"/>
                </a:solidFill>
              </a:rPr>
              <a:t>=“8_L”</a:t>
            </a:r>
            <a:r>
              <a:rPr lang="es-AR" sz="2000" b="1" dirty="0"/>
              <a:t>&gt;TAW &lt;/</a:t>
            </a:r>
            <a:r>
              <a:rPr lang="es-AR" sz="2000" b="1" dirty="0" err="1"/>
              <a:t>td</a:t>
            </a:r>
            <a:r>
              <a:rPr lang="es-AR" sz="2000" b="1" dirty="0"/>
              <a:t>&gt;  </a:t>
            </a:r>
          </a:p>
          <a:p>
            <a:r>
              <a:rPr lang="es-AR" sz="2000" b="1" dirty="0"/>
              <a:t>        &lt;</a:t>
            </a:r>
            <a:r>
              <a:rPr lang="es-AR" sz="2000" b="1" dirty="0" err="1"/>
              <a:t>td</a:t>
            </a:r>
            <a:r>
              <a:rPr lang="es-AR" sz="2000" b="1" dirty="0"/>
              <a:t> </a:t>
            </a:r>
            <a:r>
              <a:rPr lang="es-AR" sz="2000" b="1" dirty="0" err="1">
                <a:solidFill>
                  <a:srgbClr val="0070C0"/>
                </a:solidFill>
              </a:rPr>
              <a:t>header</a:t>
            </a:r>
            <a:r>
              <a:rPr lang="es-AR" sz="2000" b="1" dirty="0">
                <a:solidFill>
                  <a:srgbClr val="0070C0"/>
                </a:solidFill>
              </a:rPr>
              <a:t>=“8_M”</a:t>
            </a:r>
            <a:r>
              <a:rPr lang="es-AR" sz="2000" b="1" dirty="0"/>
              <a:t>&gt; ARWeb &lt;/</a:t>
            </a:r>
            <a:r>
              <a:rPr lang="es-AR" sz="2000" b="1" dirty="0" err="1"/>
              <a:t>td</a:t>
            </a:r>
            <a:r>
              <a:rPr lang="es-AR" sz="2000" b="1" dirty="0"/>
              <a:t>&gt; </a:t>
            </a:r>
          </a:p>
          <a:p>
            <a:r>
              <a:rPr lang="es-AR" sz="2000" b="1" dirty="0"/>
              <a:t>&lt;/</a:t>
            </a:r>
            <a:r>
              <a:rPr lang="es-AR" sz="2000" b="1" dirty="0" err="1"/>
              <a:t>tr</a:t>
            </a:r>
            <a:r>
              <a:rPr lang="es-AR" sz="2000" b="1" dirty="0"/>
              <a:t>&gt;</a:t>
            </a:r>
          </a:p>
          <a:p>
            <a:r>
              <a:rPr lang="es-AR" sz="2000" b="1" dirty="0"/>
              <a:t>&lt;</a:t>
            </a:r>
            <a:r>
              <a:rPr lang="es-AR" sz="2000" b="1" dirty="0" err="1"/>
              <a:t>tr</a:t>
            </a:r>
            <a:r>
              <a:rPr lang="es-AR" sz="2000" b="1" dirty="0"/>
              <a:t>&gt;</a:t>
            </a:r>
          </a:p>
          <a:p>
            <a:r>
              <a:rPr lang="es-AR" sz="2000" b="1" dirty="0"/>
              <a:t>        &lt;</a:t>
            </a:r>
            <a:r>
              <a:rPr lang="es-AR" sz="2000" b="1" dirty="0" err="1"/>
              <a:t>th</a:t>
            </a:r>
            <a:r>
              <a:rPr lang="es-AR" sz="2000" b="1" dirty="0"/>
              <a:t> </a:t>
            </a:r>
            <a:r>
              <a:rPr lang="es-AR" sz="2000" b="1" dirty="0">
                <a:solidFill>
                  <a:srgbClr val="0070C0"/>
                </a:solidFill>
              </a:rPr>
              <a:t>id=“9”</a:t>
            </a:r>
            <a:r>
              <a:rPr lang="es-AR" sz="2000" b="1" dirty="0"/>
              <a:t>&gt; 9:00 &lt;/</a:t>
            </a:r>
            <a:r>
              <a:rPr lang="es-AR" sz="2000" b="1" dirty="0" err="1"/>
              <a:t>th</a:t>
            </a:r>
            <a:r>
              <a:rPr lang="es-AR" sz="2000" b="1" dirty="0"/>
              <a:t>&gt;               </a:t>
            </a:r>
          </a:p>
          <a:p>
            <a:r>
              <a:rPr lang="es-AR" sz="2000" b="1" dirty="0"/>
              <a:t>        &lt;</a:t>
            </a:r>
            <a:r>
              <a:rPr lang="es-AR" sz="2000" b="1" dirty="0" err="1"/>
              <a:t>td</a:t>
            </a:r>
            <a:r>
              <a:rPr lang="es-AR" sz="2000" b="1" dirty="0"/>
              <a:t> </a:t>
            </a:r>
            <a:r>
              <a:rPr lang="es-AR" sz="2000" b="1" dirty="0" err="1">
                <a:solidFill>
                  <a:srgbClr val="0070C0"/>
                </a:solidFill>
              </a:rPr>
              <a:t>header</a:t>
            </a:r>
            <a:r>
              <a:rPr lang="es-AR" sz="2000" b="1" dirty="0">
                <a:solidFill>
                  <a:srgbClr val="0070C0"/>
                </a:solidFill>
              </a:rPr>
              <a:t>=“9_L”</a:t>
            </a:r>
            <a:r>
              <a:rPr lang="es-AR" sz="2000" b="1" dirty="0"/>
              <a:t>&gt; ARWeb  &lt;/</a:t>
            </a:r>
            <a:r>
              <a:rPr lang="es-AR" sz="2000" b="1" dirty="0" err="1"/>
              <a:t>td</a:t>
            </a:r>
            <a:r>
              <a:rPr lang="es-AR" sz="2000" b="1" dirty="0"/>
              <a:t>&gt;  </a:t>
            </a:r>
          </a:p>
          <a:p>
            <a:r>
              <a:rPr lang="es-AR" sz="2000" b="1" dirty="0"/>
              <a:t>        &lt;</a:t>
            </a:r>
            <a:r>
              <a:rPr lang="es-AR" sz="2000" b="1" dirty="0" err="1"/>
              <a:t>td</a:t>
            </a:r>
            <a:r>
              <a:rPr lang="es-AR" sz="2000" b="1" dirty="0"/>
              <a:t> </a:t>
            </a:r>
            <a:r>
              <a:rPr lang="es-AR" sz="2000" b="1" dirty="0" err="1">
                <a:solidFill>
                  <a:srgbClr val="0070C0"/>
                </a:solidFill>
              </a:rPr>
              <a:t>header</a:t>
            </a:r>
            <a:r>
              <a:rPr lang="es-AR" sz="2000" b="1" dirty="0">
                <a:solidFill>
                  <a:srgbClr val="0070C0"/>
                </a:solidFill>
              </a:rPr>
              <a:t>=“9_M”</a:t>
            </a:r>
            <a:r>
              <a:rPr lang="es-AR" sz="2000" b="1" dirty="0"/>
              <a:t>&gt; ARWeb &lt;/</a:t>
            </a:r>
            <a:r>
              <a:rPr lang="es-AR" sz="2000" b="1" dirty="0" err="1"/>
              <a:t>td</a:t>
            </a:r>
            <a:r>
              <a:rPr lang="es-AR" sz="2000" b="1" dirty="0"/>
              <a:t>&gt; </a:t>
            </a:r>
          </a:p>
          <a:p>
            <a:r>
              <a:rPr lang="es-AR" sz="2000" b="1" dirty="0"/>
              <a:t>&lt;/</a:t>
            </a:r>
            <a:r>
              <a:rPr lang="es-AR" sz="2000" b="1" dirty="0" err="1"/>
              <a:t>tr</a:t>
            </a:r>
            <a:r>
              <a:rPr lang="es-AR" sz="2000" b="1" dirty="0"/>
              <a:t>&gt;</a:t>
            </a:r>
          </a:p>
          <a:p>
            <a:r>
              <a:rPr lang="es-AR" sz="2000" b="1" dirty="0"/>
              <a:t>&lt;/</a:t>
            </a:r>
            <a:r>
              <a:rPr lang="es-AR" sz="2000" b="1" dirty="0" err="1"/>
              <a:t>table</a:t>
            </a:r>
            <a:r>
              <a:rPr lang="es-AR" sz="2000" b="1" dirty="0"/>
              <a:t>&gt;</a:t>
            </a:r>
          </a:p>
        </p:txBody>
      </p:sp>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96</a:t>
            </a:fld>
            <a:endParaRPr lang="es-ES" altLang="es-AR"/>
          </a:p>
        </p:txBody>
      </p:sp>
    </p:spTree>
    <p:extLst>
      <p:ext uri="{BB962C8B-B14F-4D97-AF65-F5344CB8AC3E}">
        <p14:creationId xmlns:p14="http://schemas.microsoft.com/office/powerpoint/2010/main" val="1782329706"/>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1 Título"/>
          <p:cNvSpPr>
            <a:spLocks noGrp="1"/>
          </p:cNvSpPr>
          <p:nvPr>
            <p:ph type="title"/>
          </p:nvPr>
        </p:nvSpPr>
        <p:spPr>
          <a:xfrm>
            <a:off x="457200" y="274638"/>
            <a:ext cx="8229600" cy="654050"/>
          </a:xfrm>
        </p:spPr>
        <p:txBody>
          <a:bodyPr/>
          <a:lstStyle/>
          <a:p>
            <a:r>
              <a:rPr lang="es-AR" altLang="es-AR" b="1"/>
              <a:t>Contenido accesible</a:t>
            </a:r>
          </a:p>
        </p:txBody>
      </p:sp>
      <p:sp>
        <p:nvSpPr>
          <p:cNvPr id="57347" name="2 Marcador de contenido"/>
          <p:cNvSpPr>
            <a:spLocks noGrp="1"/>
          </p:cNvSpPr>
          <p:nvPr>
            <p:ph idx="1"/>
          </p:nvPr>
        </p:nvSpPr>
        <p:spPr>
          <a:xfrm>
            <a:off x="430213" y="1916113"/>
            <a:ext cx="8229600" cy="4393207"/>
          </a:xfrm>
        </p:spPr>
        <p:txBody>
          <a:bodyPr/>
          <a:lstStyle/>
          <a:p>
            <a:pPr>
              <a:lnSpc>
                <a:spcPct val="90000"/>
              </a:lnSpc>
            </a:pPr>
            <a:r>
              <a:rPr lang="es-AR" dirty="0"/>
              <a:t>Tablas</a:t>
            </a:r>
          </a:p>
          <a:p>
            <a:pPr lvl="1" algn="just">
              <a:lnSpc>
                <a:spcPct val="90000"/>
              </a:lnSpc>
            </a:pPr>
            <a:endParaRPr lang="es-AR" dirty="0"/>
          </a:p>
          <a:p>
            <a:pPr lvl="1"/>
            <a:r>
              <a:rPr lang="es-AR" b="1" dirty="0"/>
              <a:t>H63 y H43</a:t>
            </a:r>
            <a:r>
              <a:rPr lang="es-AR" dirty="0"/>
              <a:t> Asociar las celdas de encabezado y las celdas de datos…</a:t>
            </a:r>
          </a:p>
          <a:p>
            <a:pPr lvl="1"/>
            <a:r>
              <a:rPr lang="es-AR" dirty="0"/>
              <a:t>¿Cómo se cumplen estas técnicas?</a:t>
            </a:r>
          </a:p>
          <a:p>
            <a:pPr lvl="2"/>
            <a:r>
              <a:rPr lang="es-AR" dirty="0"/>
              <a:t>En las tablas de maquetación no se deben incluir los atributos </a:t>
            </a:r>
            <a:r>
              <a:rPr lang="es-AR" b="1" dirty="0" err="1"/>
              <a:t>scope</a:t>
            </a:r>
            <a:r>
              <a:rPr lang="es-AR" b="1" dirty="0"/>
              <a:t>, id y </a:t>
            </a:r>
            <a:r>
              <a:rPr lang="es-AR" b="1" dirty="0" err="1"/>
              <a:t>headers</a:t>
            </a:r>
            <a:r>
              <a:rPr lang="es-AR" dirty="0"/>
              <a:t>.</a:t>
            </a:r>
          </a:p>
          <a:p>
            <a:pPr lvl="2"/>
            <a:r>
              <a:rPr lang="es-AR" dirty="0"/>
              <a:t>Para las tablas de datos comprobar que si una celda tiene asociado más de un encabezado se utiliza alguna de estas dos técnicas.</a:t>
            </a:r>
          </a:p>
          <a:p>
            <a:pPr lvl="2"/>
            <a:r>
              <a:rPr lang="es-AR" dirty="0"/>
              <a:t>Recordar que el atributo </a:t>
            </a:r>
            <a:r>
              <a:rPr lang="es-AR" b="1" dirty="0"/>
              <a:t>id</a:t>
            </a:r>
            <a:r>
              <a:rPr lang="es-AR" dirty="0"/>
              <a:t> ha de ser único.</a:t>
            </a:r>
          </a:p>
        </p:txBody>
      </p:sp>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97</a:t>
            </a:fld>
            <a:endParaRPr lang="es-ES" altLang="es-AR"/>
          </a:p>
        </p:txBody>
      </p:sp>
    </p:spTree>
    <p:extLst>
      <p:ext uri="{BB962C8B-B14F-4D97-AF65-F5344CB8AC3E}">
        <p14:creationId xmlns:p14="http://schemas.microsoft.com/office/powerpoint/2010/main" val="406140241"/>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1 Título"/>
          <p:cNvSpPr>
            <a:spLocks noGrp="1"/>
          </p:cNvSpPr>
          <p:nvPr>
            <p:ph type="title"/>
          </p:nvPr>
        </p:nvSpPr>
        <p:spPr>
          <a:xfrm>
            <a:off x="457200" y="274638"/>
            <a:ext cx="8229600" cy="654050"/>
          </a:xfrm>
        </p:spPr>
        <p:txBody>
          <a:bodyPr/>
          <a:lstStyle/>
          <a:p>
            <a:r>
              <a:rPr lang="es-AR" altLang="es-AR" b="1"/>
              <a:t>Contenido accesible</a:t>
            </a:r>
          </a:p>
        </p:txBody>
      </p:sp>
      <p:sp>
        <p:nvSpPr>
          <p:cNvPr id="57347" name="2 Marcador de contenido"/>
          <p:cNvSpPr>
            <a:spLocks noGrp="1"/>
          </p:cNvSpPr>
          <p:nvPr>
            <p:ph idx="1"/>
          </p:nvPr>
        </p:nvSpPr>
        <p:spPr>
          <a:xfrm>
            <a:off x="430213" y="1916113"/>
            <a:ext cx="8229600" cy="1368871"/>
          </a:xfrm>
        </p:spPr>
        <p:txBody>
          <a:bodyPr/>
          <a:lstStyle/>
          <a:p>
            <a:pPr>
              <a:lnSpc>
                <a:spcPct val="90000"/>
              </a:lnSpc>
            </a:pPr>
            <a:r>
              <a:rPr lang="es-AR" dirty="0"/>
              <a:t>Tablas</a:t>
            </a:r>
          </a:p>
          <a:p>
            <a:pPr lvl="1" algn="just">
              <a:lnSpc>
                <a:spcPct val="90000"/>
              </a:lnSpc>
            </a:pPr>
            <a:endParaRPr lang="es-AR" dirty="0"/>
          </a:p>
          <a:p>
            <a:pPr lvl="1"/>
            <a:r>
              <a:rPr lang="es-AR" b="1" dirty="0"/>
              <a:t>H63 y H43</a:t>
            </a:r>
            <a:r>
              <a:rPr lang="es-AR" dirty="0"/>
              <a:t> Asociar las celdas de encabezado y las celdas de datos…</a:t>
            </a:r>
          </a:p>
        </p:txBody>
      </p:sp>
      <p:sp>
        <p:nvSpPr>
          <p:cNvPr id="4" name="10 CuadroTexto"/>
          <p:cNvSpPr txBox="1"/>
          <p:nvPr/>
        </p:nvSpPr>
        <p:spPr>
          <a:xfrm>
            <a:off x="948634" y="3463251"/>
            <a:ext cx="2946400" cy="400110"/>
          </a:xfrm>
          <a:prstGeom prst="rect">
            <a:avLst/>
          </a:prstGeom>
          <a:noFill/>
        </p:spPr>
        <p:txBody>
          <a:bodyPr wrap="square" rtlCol="0">
            <a:spAutoFit/>
          </a:bodyPr>
          <a:lstStyle/>
          <a:p>
            <a:r>
              <a:rPr lang="es-AR" sz="2000" b="1" dirty="0"/>
              <a:t>Tabla de datos simple:</a:t>
            </a:r>
          </a:p>
        </p:txBody>
      </p:sp>
      <p:sp>
        <p:nvSpPr>
          <p:cNvPr id="5" name="11 CuadroTexto"/>
          <p:cNvSpPr txBox="1"/>
          <p:nvPr/>
        </p:nvSpPr>
        <p:spPr>
          <a:xfrm>
            <a:off x="4806180" y="3429000"/>
            <a:ext cx="3693886" cy="400110"/>
          </a:xfrm>
          <a:prstGeom prst="rect">
            <a:avLst/>
          </a:prstGeom>
          <a:noFill/>
        </p:spPr>
        <p:txBody>
          <a:bodyPr wrap="square" rtlCol="0">
            <a:spAutoFit/>
          </a:bodyPr>
          <a:lstStyle/>
          <a:p>
            <a:r>
              <a:rPr lang="es-AR" sz="2000" b="1" dirty="0"/>
              <a:t>Tabla de datos compleja:</a:t>
            </a:r>
          </a:p>
        </p:txBody>
      </p:sp>
      <p:sp>
        <p:nvSpPr>
          <p:cNvPr id="6" name="12 CuadroTexto"/>
          <p:cNvSpPr txBox="1"/>
          <p:nvPr/>
        </p:nvSpPr>
        <p:spPr>
          <a:xfrm>
            <a:off x="947239" y="3829110"/>
            <a:ext cx="3331038" cy="1938992"/>
          </a:xfrm>
          <a:prstGeom prst="rect">
            <a:avLst/>
          </a:prstGeom>
          <a:noFill/>
        </p:spPr>
        <p:txBody>
          <a:bodyPr wrap="square" rtlCol="0">
            <a:spAutoFit/>
          </a:bodyPr>
          <a:lstStyle/>
          <a:p>
            <a:r>
              <a:rPr lang="es-AR" sz="2000" dirty="0"/>
              <a:t>Cuando una celda de datos sólo se relaciona con  un encabezado o de fila o de columna, es suficiente el uso de </a:t>
            </a:r>
            <a:r>
              <a:rPr lang="es-AR" sz="2000" dirty="0" err="1"/>
              <a:t>th</a:t>
            </a:r>
            <a:r>
              <a:rPr lang="es-AR" sz="2000" dirty="0"/>
              <a:t> para identificarlos.</a:t>
            </a:r>
          </a:p>
        </p:txBody>
      </p:sp>
      <p:sp>
        <p:nvSpPr>
          <p:cNvPr id="7" name="13 CuadroTexto"/>
          <p:cNvSpPr txBox="1"/>
          <p:nvPr/>
        </p:nvSpPr>
        <p:spPr>
          <a:xfrm>
            <a:off x="4819013" y="3813630"/>
            <a:ext cx="2946400" cy="1938992"/>
          </a:xfrm>
          <a:prstGeom prst="rect">
            <a:avLst/>
          </a:prstGeom>
          <a:noFill/>
        </p:spPr>
        <p:txBody>
          <a:bodyPr wrap="square" rtlCol="0">
            <a:spAutoFit/>
          </a:bodyPr>
          <a:lstStyle/>
          <a:p>
            <a:r>
              <a:rPr lang="es-AR" sz="2000" dirty="0"/>
              <a:t>Cuando una celda de datos se relaciona con más de un encabezado e fila y/o columna, establecer dicha asociación.</a:t>
            </a:r>
          </a:p>
        </p:txBody>
      </p:sp>
      <p:sp>
        <p:nvSpPr>
          <p:cNvPr id="8" name="14 CuadroTexto"/>
          <p:cNvSpPr txBox="1"/>
          <p:nvPr/>
        </p:nvSpPr>
        <p:spPr>
          <a:xfrm>
            <a:off x="947239" y="6159065"/>
            <a:ext cx="3331038" cy="400110"/>
          </a:xfrm>
          <a:prstGeom prst="rect">
            <a:avLst/>
          </a:prstGeom>
          <a:solidFill>
            <a:schemeClr val="bg1">
              <a:lumMod val="85000"/>
            </a:schemeClr>
          </a:solidFill>
        </p:spPr>
        <p:txBody>
          <a:bodyPr wrap="square" rtlCol="0">
            <a:spAutoFit/>
          </a:bodyPr>
          <a:lstStyle/>
          <a:p>
            <a:pPr algn="ctr"/>
            <a:r>
              <a:rPr lang="es-AR" sz="2000" dirty="0"/>
              <a:t>Implementar</a:t>
            </a:r>
            <a:r>
              <a:rPr lang="es-AR" sz="2000" b="1" dirty="0"/>
              <a:t>: H51</a:t>
            </a:r>
          </a:p>
        </p:txBody>
      </p:sp>
      <p:sp>
        <p:nvSpPr>
          <p:cNvPr id="9" name="15 CuadroTexto"/>
          <p:cNvSpPr txBox="1"/>
          <p:nvPr/>
        </p:nvSpPr>
        <p:spPr>
          <a:xfrm>
            <a:off x="4806180" y="6159065"/>
            <a:ext cx="3331038" cy="400110"/>
          </a:xfrm>
          <a:prstGeom prst="rect">
            <a:avLst/>
          </a:prstGeom>
          <a:solidFill>
            <a:schemeClr val="bg1">
              <a:lumMod val="85000"/>
            </a:schemeClr>
          </a:solidFill>
        </p:spPr>
        <p:txBody>
          <a:bodyPr wrap="square" rtlCol="0">
            <a:spAutoFit/>
          </a:bodyPr>
          <a:lstStyle/>
          <a:p>
            <a:pPr algn="ctr"/>
            <a:r>
              <a:rPr lang="es-AR" sz="2000" dirty="0"/>
              <a:t>Implementar</a:t>
            </a:r>
            <a:r>
              <a:rPr lang="es-AR" sz="2000" b="1" dirty="0"/>
              <a:t>: H63 o H43</a:t>
            </a:r>
          </a:p>
        </p:txBody>
      </p:sp>
      <p:sp>
        <p:nvSpPr>
          <p:cNvPr id="10" name="16 Flecha abajo"/>
          <p:cNvSpPr/>
          <p:nvPr/>
        </p:nvSpPr>
        <p:spPr>
          <a:xfrm>
            <a:off x="2051720" y="5768102"/>
            <a:ext cx="740229" cy="261257"/>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sz="2000"/>
          </a:p>
        </p:txBody>
      </p:sp>
      <p:sp>
        <p:nvSpPr>
          <p:cNvPr id="11" name="17 Flecha abajo"/>
          <p:cNvSpPr/>
          <p:nvPr/>
        </p:nvSpPr>
        <p:spPr>
          <a:xfrm>
            <a:off x="5922098" y="5772982"/>
            <a:ext cx="740229" cy="261257"/>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sz="2000"/>
          </a:p>
        </p:txBody>
      </p:sp>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98</a:t>
            </a:fld>
            <a:endParaRPr lang="es-ES" altLang="es-AR"/>
          </a:p>
        </p:txBody>
      </p:sp>
    </p:spTree>
    <p:extLst>
      <p:ext uri="{BB962C8B-B14F-4D97-AF65-F5344CB8AC3E}">
        <p14:creationId xmlns:p14="http://schemas.microsoft.com/office/powerpoint/2010/main" val="4105344525"/>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1 Título"/>
          <p:cNvSpPr>
            <a:spLocks noGrp="1"/>
          </p:cNvSpPr>
          <p:nvPr>
            <p:ph type="title"/>
          </p:nvPr>
        </p:nvSpPr>
        <p:spPr>
          <a:xfrm>
            <a:off x="457200" y="274638"/>
            <a:ext cx="8229600" cy="654050"/>
          </a:xfrm>
        </p:spPr>
        <p:txBody>
          <a:bodyPr/>
          <a:lstStyle/>
          <a:p>
            <a:r>
              <a:rPr lang="es-AR" altLang="es-AR" b="1"/>
              <a:t>Contenido accesible</a:t>
            </a:r>
          </a:p>
        </p:txBody>
      </p:sp>
      <p:sp>
        <p:nvSpPr>
          <p:cNvPr id="57347" name="2 Marcador de contenido"/>
          <p:cNvSpPr>
            <a:spLocks noGrp="1"/>
          </p:cNvSpPr>
          <p:nvPr>
            <p:ph idx="1"/>
          </p:nvPr>
        </p:nvSpPr>
        <p:spPr>
          <a:xfrm>
            <a:off x="430213" y="1916113"/>
            <a:ext cx="8229600" cy="4393207"/>
          </a:xfrm>
        </p:spPr>
        <p:txBody>
          <a:bodyPr/>
          <a:lstStyle/>
          <a:p>
            <a:pPr>
              <a:lnSpc>
                <a:spcPct val="90000"/>
              </a:lnSpc>
            </a:pPr>
            <a:r>
              <a:rPr lang="es-AR" dirty="0"/>
              <a:t>Formularios</a:t>
            </a:r>
          </a:p>
          <a:p>
            <a:pPr lvl="1" algn="just">
              <a:lnSpc>
                <a:spcPct val="90000"/>
              </a:lnSpc>
            </a:pPr>
            <a:endParaRPr lang="es-AR" dirty="0"/>
          </a:p>
          <a:p>
            <a:pPr lvl="1">
              <a:lnSpc>
                <a:spcPct val="80000"/>
              </a:lnSpc>
            </a:pPr>
            <a:r>
              <a:rPr lang="es-AR" dirty="0"/>
              <a:t>Como etiquetar correctamente los controles del formulario</a:t>
            </a:r>
          </a:p>
          <a:p>
            <a:pPr lvl="1">
              <a:lnSpc>
                <a:spcPct val="80000"/>
              </a:lnSpc>
            </a:pPr>
            <a:endParaRPr lang="es-AR" dirty="0"/>
          </a:p>
          <a:p>
            <a:pPr lvl="2">
              <a:lnSpc>
                <a:spcPct val="80000"/>
              </a:lnSpc>
            </a:pPr>
            <a:r>
              <a:rPr lang="es-AR" b="1" dirty="0"/>
              <a:t>H44 </a:t>
            </a:r>
            <a:r>
              <a:rPr lang="es-ES" dirty="0"/>
              <a:t>Utilizando elementos </a:t>
            </a:r>
            <a:r>
              <a:rPr lang="es-ES" b="1" dirty="0" err="1"/>
              <a:t>label</a:t>
            </a:r>
            <a:r>
              <a:rPr lang="es-ES" dirty="0"/>
              <a:t> para asociar etiquetas de texto con los controles de formulario.</a:t>
            </a:r>
            <a:r>
              <a:rPr lang="es-AR" dirty="0"/>
              <a:t> </a:t>
            </a:r>
          </a:p>
          <a:p>
            <a:pPr lvl="2">
              <a:lnSpc>
                <a:spcPct val="80000"/>
              </a:lnSpc>
            </a:pPr>
            <a:endParaRPr lang="es-AR" dirty="0"/>
          </a:p>
          <a:p>
            <a:pPr lvl="2">
              <a:lnSpc>
                <a:spcPct val="80000"/>
              </a:lnSpc>
            </a:pPr>
            <a:r>
              <a:rPr lang="es-AR" dirty="0"/>
              <a:t>Elemento </a:t>
            </a:r>
            <a:r>
              <a:rPr lang="es-AR" b="1" dirty="0"/>
              <a:t>LABEL</a:t>
            </a:r>
          </a:p>
          <a:p>
            <a:pPr lvl="3">
              <a:lnSpc>
                <a:spcPct val="80000"/>
              </a:lnSpc>
            </a:pPr>
            <a:r>
              <a:rPr lang="es-AR" dirty="0"/>
              <a:t>Permite indicar semánticamente que texto funciona como etiqueta de un campo de formulario. Debe ser único en la página.</a:t>
            </a:r>
          </a:p>
        </p:txBody>
      </p:sp>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99</a:t>
            </a:fld>
            <a:endParaRPr lang="es-ES" altLang="es-AR"/>
          </a:p>
        </p:txBody>
      </p:sp>
    </p:spTree>
    <p:extLst>
      <p:ext uri="{BB962C8B-B14F-4D97-AF65-F5344CB8AC3E}">
        <p14:creationId xmlns:p14="http://schemas.microsoft.com/office/powerpoint/2010/main" val="1757138532"/>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1 Título"/>
          <p:cNvSpPr>
            <a:spLocks noGrp="1"/>
          </p:cNvSpPr>
          <p:nvPr>
            <p:ph type="title"/>
          </p:nvPr>
        </p:nvSpPr>
        <p:spPr>
          <a:xfrm>
            <a:off x="457200" y="274638"/>
            <a:ext cx="8229600" cy="654050"/>
          </a:xfrm>
        </p:spPr>
        <p:txBody>
          <a:bodyPr/>
          <a:lstStyle/>
          <a:p>
            <a:r>
              <a:rPr lang="es-AR" altLang="es-AR" b="1"/>
              <a:t>Contenido accesible</a:t>
            </a:r>
          </a:p>
        </p:txBody>
      </p:sp>
      <p:sp>
        <p:nvSpPr>
          <p:cNvPr id="57347" name="2 Marcador de contenido"/>
          <p:cNvSpPr>
            <a:spLocks noGrp="1"/>
          </p:cNvSpPr>
          <p:nvPr>
            <p:ph idx="1"/>
          </p:nvPr>
        </p:nvSpPr>
        <p:spPr>
          <a:xfrm>
            <a:off x="430213" y="1916113"/>
            <a:ext cx="8229600" cy="4393207"/>
          </a:xfrm>
        </p:spPr>
        <p:txBody>
          <a:bodyPr/>
          <a:lstStyle/>
          <a:p>
            <a:pPr>
              <a:lnSpc>
                <a:spcPct val="90000"/>
              </a:lnSpc>
            </a:pPr>
            <a:r>
              <a:rPr lang="es-AR" dirty="0"/>
              <a:t>Formularios</a:t>
            </a:r>
          </a:p>
          <a:p>
            <a:pPr lvl="1" algn="just">
              <a:lnSpc>
                <a:spcPct val="90000"/>
              </a:lnSpc>
            </a:pPr>
            <a:endParaRPr lang="es-AR" dirty="0"/>
          </a:p>
          <a:p>
            <a:pPr lvl="1">
              <a:lnSpc>
                <a:spcPct val="80000"/>
              </a:lnSpc>
            </a:pPr>
            <a:r>
              <a:rPr lang="es-AR" dirty="0"/>
              <a:t>Como etiquetar correctamente los controles del formulario</a:t>
            </a:r>
          </a:p>
          <a:p>
            <a:pPr lvl="2">
              <a:lnSpc>
                <a:spcPct val="80000"/>
              </a:lnSpc>
            </a:pPr>
            <a:endParaRPr lang="es-AR" dirty="0"/>
          </a:p>
          <a:p>
            <a:pPr lvl="2">
              <a:lnSpc>
                <a:spcPct val="80000"/>
              </a:lnSpc>
            </a:pPr>
            <a:r>
              <a:rPr lang="es-AR" dirty="0"/>
              <a:t>Debe usarse con los elementos:</a:t>
            </a:r>
          </a:p>
          <a:p>
            <a:pPr lvl="3">
              <a:lnSpc>
                <a:spcPct val="80000"/>
              </a:lnSpc>
            </a:pPr>
            <a:r>
              <a:rPr lang="es-AR" b="1" dirty="0"/>
              <a:t>&lt;</a:t>
            </a:r>
            <a:r>
              <a:rPr lang="es-AR" b="1" dirty="0" err="1"/>
              <a:t>textarea</a:t>
            </a:r>
            <a:r>
              <a:rPr lang="es-AR" b="1" dirty="0"/>
              <a:t>&gt;</a:t>
            </a:r>
          </a:p>
          <a:p>
            <a:pPr lvl="3">
              <a:lnSpc>
                <a:spcPct val="80000"/>
              </a:lnSpc>
            </a:pPr>
            <a:r>
              <a:rPr lang="es-AR" b="1" dirty="0"/>
              <a:t>&lt;</a:t>
            </a:r>
            <a:r>
              <a:rPr lang="es-AR" b="1" dirty="0" err="1"/>
              <a:t>select</a:t>
            </a:r>
            <a:r>
              <a:rPr lang="es-AR" b="1" dirty="0"/>
              <a:t>&gt;</a:t>
            </a:r>
          </a:p>
          <a:p>
            <a:pPr lvl="3">
              <a:lnSpc>
                <a:spcPct val="80000"/>
              </a:lnSpc>
            </a:pPr>
            <a:r>
              <a:rPr lang="es-AR" dirty="0"/>
              <a:t>&lt;</a:t>
            </a:r>
            <a:r>
              <a:rPr lang="es-AR" b="1" dirty="0"/>
              <a:t>input</a:t>
            </a:r>
            <a:r>
              <a:rPr lang="es-AR" dirty="0"/>
              <a:t> </a:t>
            </a:r>
            <a:r>
              <a:rPr lang="es-AR" b="1" dirty="0" err="1"/>
              <a:t>type</a:t>
            </a:r>
            <a:r>
              <a:rPr lang="es-AR" dirty="0"/>
              <a:t>= [“</a:t>
            </a:r>
            <a:r>
              <a:rPr lang="es-AR" b="1" dirty="0" err="1"/>
              <a:t>text</a:t>
            </a:r>
            <a:r>
              <a:rPr lang="es-AR" dirty="0"/>
              <a:t>” | “</a:t>
            </a:r>
            <a:r>
              <a:rPr lang="es-AR" b="1" dirty="0" err="1"/>
              <a:t>checkbox</a:t>
            </a:r>
            <a:r>
              <a:rPr lang="es-AR" dirty="0"/>
              <a:t>” | “</a:t>
            </a:r>
            <a:r>
              <a:rPr lang="es-AR" b="1" dirty="0"/>
              <a:t>radio</a:t>
            </a:r>
            <a:r>
              <a:rPr lang="es-AR" dirty="0"/>
              <a:t>” | “</a:t>
            </a:r>
            <a:r>
              <a:rPr lang="es-AR" b="1" dirty="0"/>
              <a:t>file</a:t>
            </a:r>
            <a:r>
              <a:rPr lang="es-AR" dirty="0"/>
              <a:t>” | “</a:t>
            </a:r>
            <a:r>
              <a:rPr lang="es-AR" b="1" dirty="0" err="1"/>
              <a:t>password</a:t>
            </a:r>
            <a:r>
              <a:rPr lang="es-AR" dirty="0"/>
              <a:t>”]&gt;</a:t>
            </a:r>
          </a:p>
          <a:p>
            <a:pPr lvl="1" algn="just">
              <a:lnSpc>
                <a:spcPct val="90000"/>
              </a:lnSpc>
            </a:pPr>
            <a:endParaRPr lang="es-AR" dirty="0"/>
          </a:p>
        </p:txBody>
      </p:sp>
      <p:pic>
        <p:nvPicPr>
          <p:cNvPr id="4" name="Picture 4"/>
          <p:cNvPicPr>
            <a:picLocks noChangeAspect="1" noChangeArrowheads="1"/>
          </p:cNvPicPr>
          <p:nvPr/>
        </p:nvPicPr>
        <p:blipFill rotWithShape="1">
          <a:blip r:embed="rId3" cstate="print"/>
          <a:srcRect l="11506" t="58901" r="53129" b="34071"/>
          <a:stretch/>
        </p:blipFill>
        <p:spPr bwMode="auto">
          <a:xfrm>
            <a:off x="2195736" y="4869160"/>
            <a:ext cx="5318305" cy="792088"/>
          </a:xfrm>
          <a:prstGeom prst="rect">
            <a:avLst/>
          </a:prstGeom>
          <a:noFill/>
          <a:ln w="9525" algn="ctr">
            <a:noFill/>
            <a:miter lim="800000"/>
            <a:headEnd/>
            <a:tailEnd/>
          </a:ln>
        </p:spPr>
      </p:pic>
      <p:sp>
        <p:nvSpPr>
          <p:cNvPr id="5" name="CuadroTexto 8"/>
          <p:cNvSpPr txBox="1"/>
          <p:nvPr/>
        </p:nvSpPr>
        <p:spPr>
          <a:xfrm>
            <a:off x="1609356" y="5589240"/>
            <a:ext cx="6491064" cy="707886"/>
          </a:xfrm>
          <a:prstGeom prst="rect">
            <a:avLst/>
          </a:prstGeom>
          <a:noFill/>
          <a:ln>
            <a:solidFill>
              <a:schemeClr val="accent1">
                <a:shade val="50000"/>
              </a:schemeClr>
            </a:solidFill>
          </a:ln>
        </p:spPr>
        <p:txBody>
          <a:bodyPr wrap="square" rtlCol="0">
            <a:spAutoFit/>
          </a:bodyPr>
          <a:lstStyle/>
          <a:p>
            <a:r>
              <a:rPr lang="es-AR" sz="2000" b="1" dirty="0"/>
              <a:t>&lt;</a:t>
            </a:r>
            <a:r>
              <a:rPr lang="es-AR" sz="2000" b="1" dirty="0" err="1"/>
              <a:t>label</a:t>
            </a:r>
            <a:r>
              <a:rPr lang="es-AR" sz="2000" b="1" dirty="0"/>
              <a:t> </a:t>
            </a:r>
            <a:r>
              <a:rPr lang="es-AR" sz="2000" b="1" dirty="0" err="1">
                <a:solidFill>
                  <a:srgbClr val="0070C0"/>
                </a:solidFill>
              </a:rPr>
              <a:t>for</a:t>
            </a:r>
            <a:r>
              <a:rPr lang="es-AR" sz="2000" b="1" dirty="0">
                <a:solidFill>
                  <a:srgbClr val="0070C0"/>
                </a:solidFill>
              </a:rPr>
              <a:t>=“nombre”</a:t>
            </a:r>
            <a:r>
              <a:rPr lang="es-AR" sz="2000" b="1" dirty="0"/>
              <a:t>&gt; Nombre: &lt;/</a:t>
            </a:r>
            <a:r>
              <a:rPr lang="es-AR" sz="2000" b="1" dirty="0" err="1"/>
              <a:t>label</a:t>
            </a:r>
            <a:r>
              <a:rPr lang="es-AR" sz="2000" b="1" dirty="0"/>
              <a:t>&gt;</a:t>
            </a:r>
          </a:p>
          <a:p>
            <a:r>
              <a:rPr lang="es-AR" sz="2000" b="1" dirty="0"/>
              <a:t>&lt;input </a:t>
            </a:r>
            <a:r>
              <a:rPr lang="es-AR" sz="2000" b="1" dirty="0" err="1"/>
              <a:t>type</a:t>
            </a:r>
            <a:r>
              <a:rPr lang="es-AR" sz="2000" b="1" dirty="0"/>
              <a:t>=“</a:t>
            </a:r>
            <a:r>
              <a:rPr lang="es-AR" sz="2000" b="1" dirty="0" err="1"/>
              <a:t>text</a:t>
            </a:r>
            <a:r>
              <a:rPr lang="es-AR" sz="2000" b="1" dirty="0"/>
              <a:t>” </a:t>
            </a:r>
            <a:r>
              <a:rPr lang="es-AR" sz="2000" b="1" dirty="0" err="1"/>
              <a:t>name</a:t>
            </a:r>
            <a:r>
              <a:rPr lang="es-AR" sz="2000" b="1" dirty="0"/>
              <a:t>=“nombre” </a:t>
            </a:r>
            <a:r>
              <a:rPr lang="es-AR" sz="2000" b="1" dirty="0">
                <a:solidFill>
                  <a:srgbClr val="0070C0"/>
                </a:solidFill>
              </a:rPr>
              <a:t>id=“nombre”</a:t>
            </a:r>
            <a:r>
              <a:rPr lang="es-AR" sz="2000" b="1" dirty="0"/>
              <a:t> /&gt;</a:t>
            </a:r>
          </a:p>
        </p:txBody>
      </p:sp>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100</a:t>
            </a:fld>
            <a:endParaRPr lang="es-ES" altLang="es-AR"/>
          </a:p>
        </p:txBody>
      </p:sp>
    </p:spTree>
    <p:extLst>
      <p:ext uri="{BB962C8B-B14F-4D97-AF65-F5344CB8AC3E}">
        <p14:creationId xmlns:p14="http://schemas.microsoft.com/office/powerpoint/2010/main" val="363101060"/>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1 Título"/>
          <p:cNvSpPr>
            <a:spLocks noGrp="1"/>
          </p:cNvSpPr>
          <p:nvPr>
            <p:ph type="title"/>
          </p:nvPr>
        </p:nvSpPr>
        <p:spPr>
          <a:xfrm>
            <a:off x="457200" y="274638"/>
            <a:ext cx="8229600" cy="654050"/>
          </a:xfrm>
        </p:spPr>
        <p:txBody>
          <a:bodyPr/>
          <a:lstStyle/>
          <a:p>
            <a:r>
              <a:rPr lang="es-AR" altLang="es-AR" b="1"/>
              <a:t>Contenido accesible</a:t>
            </a:r>
          </a:p>
        </p:txBody>
      </p:sp>
      <p:sp>
        <p:nvSpPr>
          <p:cNvPr id="57347" name="2 Marcador de contenido"/>
          <p:cNvSpPr>
            <a:spLocks noGrp="1"/>
          </p:cNvSpPr>
          <p:nvPr>
            <p:ph idx="1"/>
          </p:nvPr>
        </p:nvSpPr>
        <p:spPr>
          <a:xfrm>
            <a:off x="430213" y="1916113"/>
            <a:ext cx="8229600" cy="4393207"/>
          </a:xfrm>
        </p:spPr>
        <p:txBody>
          <a:bodyPr/>
          <a:lstStyle/>
          <a:p>
            <a:pPr>
              <a:lnSpc>
                <a:spcPct val="90000"/>
              </a:lnSpc>
            </a:pPr>
            <a:r>
              <a:rPr lang="es-AR" dirty="0"/>
              <a:t>Formularios</a:t>
            </a:r>
          </a:p>
          <a:p>
            <a:pPr lvl="1" algn="just">
              <a:lnSpc>
                <a:spcPct val="90000"/>
              </a:lnSpc>
            </a:pPr>
            <a:endParaRPr lang="es-AR" dirty="0"/>
          </a:p>
          <a:p>
            <a:pPr lvl="1">
              <a:lnSpc>
                <a:spcPct val="80000"/>
              </a:lnSpc>
            </a:pPr>
            <a:r>
              <a:rPr lang="es-AR" dirty="0"/>
              <a:t>No deben usarse con:</a:t>
            </a:r>
          </a:p>
          <a:p>
            <a:pPr lvl="2">
              <a:lnSpc>
                <a:spcPct val="80000"/>
              </a:lnSpc>
            </a:pPr>
            <a:r>
              <a:rPr lang="es-AR" b="1" dirty="0"/>
              <a:t>H36 </a:t>
            </a:r>
            <a:r>
              <a:rPr lang="es-AR" dirty="0"/>
              <a:t>Utilizando atributos </a:t>
            </a:r>
            <a:r>
              <a:rPr lang="es-AR" b="1" dirty="0" err="1"/>
              <a:t>alt</a:t>
            </a:r>
            <a:r>
              <a:rPr lang="es-AR" dirty="0"/>
              <a:t> tanto en imágenes como en botones de envío.</a:t>
            </a:r>
          </a:p>
          <a:p>
            <a:pPr lvl="2">
              <a:lnSpc>
                <a:spcPct val="80000"/>
              </a:lnSpc>
            </a:pPr>
            <a:r>
              <a:rPr lang="es-AR" dirty="0"/>
              <a:t>&lt;</a:t>
            </a:r>
            <a:r>
              <a:rPr lang="es-AR" b="1" dirty="0"/>
              <a:t>input </a:t>
            </a:r>
            <a:r>
              <a:rPr lang="es-AR" b="1" dirty="0" err="1"/>
              <a:t>type</a:t>
            </a:r>
            <a:r>
              <a:rPr lang="es-AR" dirty="0"/>
              <a:t>=“</a:t>
            </a:r>
            <a:r>
              <a:rPr lang="es-AR" b="1" dirty="0" err="1"/>
              <a:t>image</a:t>
            </a:r>
            <a:r>
              <a:rPr lang="es-AR" dirty="0"/>
              <a:t>”&gt;</a:t>
            </a:r>
          </a:p>
          <a:p>
            <a:pPr lvl="3">
              <a:lnSpc>
                <a:spcPct val="80000"/>
              </a:lnSpc>
            </a:pPr>
            <a:r>
              <a:rPr lang="es-AR" dirty="0"/>
              <a:t>&lt;input </a:t>
            </a:r>
            <a:r>
              <a:rPr lang="es-AR" dirty="0" err="1"/>
              <a:t>type</a:t>
            </a:r>
            <a:r>
              <a:rPr lang="es-AR" dirty="0"/>
              <a:t>=“</a:t>
            </a:r>
            <a:r>
              <a:rPr lang="es-AR" dirty="0" err="1"/>
              <a:t>image</a:t>
            </a:r>
            <a:r>
              <a:rPr lang="es-AR" dirty="0"/>
              <a:t>” </a:t>
            </a:r>
            <a:r>
              <a:rPr lang="es-AR" dirty="0" err="1"/>
              <a:t>name</a:t>
            </a:r>
            <a:r>
              <a:rPr lang="es-AR" dirty="0"/>
              <a:t>=“enviar” </a:t>
            </a:r>
            <a:r>
              <a:rPr lang="es-AR" dirty="0" err="1"/>
              <a:t>src</a:t>
            </a:r>
            <a:r>
              <a:rPr lang="es-AR" dirty="0"/>
              <a:t>=“boton.gif” </a:t>
            </a:r>
            <a:r>
              <a:rPr lang="es-AR" b="1" dirty="0" err="1"/>
              <a:t>alt</a:t>
            </a:r>
            <a:r>
              <a:rPr lang="es-AR" b="1" dirty="0"/>
              <a:t>=“Enviar”</a:t>
            </a:r>
            <a:r>
              <a:rPr lang="es-AR" dirty="0"/>
              <a:t> /&gt;</a:t>
            </a:r>
          </a:p>
          <a:p>
            <a:pPr lvl="2">
              <a:lnSpc>
                <a:spcPct val="80000"/>
              </a:lnSpc>
            </a:pPr>
            <a:r>
              <a:rPr lang="es-AR" dirty="0"/>
              <a:t>&lt;</a:t>
            </a:r>
            <a:r>
              <a:rPr lang="es-AR" b="1" dirty="0"/>
              <a:t>input</a:t>
            </a:r>
            <a:r>
              <a:rPr lang="es-AR" dirty="0"/>
              <a:t> </a:t>
            </a:r>
            <a:r>
              <a:rPr lang="es-AR" b="1" dirty="0" err="1"/>
              <a:t>type</a:t>
            </a:r>
            <a:r>
              <a:rPr lang="es-AR" dirty="0"/>
              <a:t>=[“</a:t>
            </a:r>
            <a:r>
              <a:rPr lang="es-AR" b="1" dirty="0" err="1"/>
              <a:t>submit</a:t>
            </a:r>
            <a:r>
              <a:rPr lang="es-AR" dirty="0"/>
              <a:t>” | “</a:t>
            </a:r>
            <a:r>
              <a:rPr lang="es-AR" b="1" dirty="0" err="1"/>
              <a:t>reset</a:t>
            </a:r>
            <a:r>
              <a:rPr lang="es-AR" dirty="0"/>
              <a:t>”]&gt;</a:t>
            </a:r>
          </a:p>
          <a:p>
            <a:pPr lvl="3">
              <a:lnSpc>
                <a:spcPct val="80000"/>
              </a:lnSpc>
            </a:pPr>
            <a:r>
              <a:rPr lang="es-AR" dirty="0"/>
              <a:t>&lt;input </a:t>
            </a:r>
            <a:r>
              <a:rPr lang="es-AR" dirty="0" err="1"/>
              <a:t>type</a:t>
            </a:r>
            <a:r>
              <a:rPr lang="es-AR" dirty="0"/>
              <a:t>=“</a:t>
            </a:r>
            <a:r>
              <a:rPr lang="es-AR" dirty="0" err="1"/>
              <a:t>submit</a:t>
            </a:r>
            <a:r>
              <a:rPr lang="es-AR" dirty="0"/>
              <a:t>” </a:t>
            </a:r>
            <a:r>
              <a:rPr lang="es-AR" dirty="0" err="1"/>
              <a:t>name</a:t>
            </a:r>
            <a:r>
              <a:rPr lang="es-AR" dirty="0"/>
              <a:t>=“enviar” </a:t>
            </a:r>
            <a:r>
              <a:rPr lang="es-AR" b="1" dirty="0" err="1"/>
              <a:t>value</a:t>
            </a:r>
            <a:r>
              <a:rPr lang="es-AR" b="1" dirty="0"/>
              <a:t>=“Enviar”</a:t>
            </a:r>
            <a:r>
              <a:rPr lang="es-AR" dirty="0"/>
              <a:t> /&gt;</a:t>
            </a:r>
          </a:p>
          <a:p>
            <a:pPr lvl="2">
              <a:lnSpc>
                <a:spcPct val="80000"/>
              </a:lnSpc>
            </a:pPr>
            <a:r>
              <a:rPr lang="es-AR" dirty="0"/>
              <a:t>&lt;</a:t>
            </a:r>
            <a:r>
              <a:rPr lang="es-AR" b="1" dirty="0"/>
              <a:t>input</a:t>
            </a:r>
            <a:r>
              <a:rPr lang="es-AR" dirty="0"/>
              <a:t> </a:t>
            </a:r>
            <a:r>
              <a:rPr lang="es-AR" b="1" dirty="0" err="1"/>
              <a:t>type</a:t>
            </a:r>
            <a:r>
              <a:rPr lang="es-AR" dirty="0"/>
              <a:t>=[“</a:t>
            </a:r>
            <a:r>
              <a:rPr lang="es-AR" b="1" dirty="0" err="1"/>
              <a:t>hidden</a:t>
            </a:r>
            <a:r>
              <a:rPr lang="es-AR" dirty="0"/>
              <a:t>”]&gt;</a:t>
            </a:r>
          </a:p>
          <a:p>
            <a:pPr lvl="3">
              <a:lnSpc>
                <a:spcPct val="80000"/>
              </a:lnSpc>
            </a:pPr>
            <a:r>
              <a:rPr lang="es-AR" dirty="0"/>
              <a:t>No se etiqueta.</a:t>
            </a:r>
          </a:p>
          <a:p>
            <a:pPr lvl="2">
              <a:lnSpc>
                <a:spcPct val="80000"/>
              </a:lnSpc>
            </a:pPr>
            <a:r>
              <a:rPr lang="es-AR" dirty="0"/>
              <a:t>&lt;</a:t>
            </a:r>
            <a:r>
              <a:rPr lang="es-AR" b="1" dirty="0" err="1"/>
              <a:t>button</a:t>
            </a:r>
            <a:r>
              <a:rPr lang="es-AR" dirty="0"/>
              <a:t>&gt;</a:t>
            </a:r>
          </a:p>
          <a:p>
            <a:pPr lvl="3">
              <a:lnSpc>
                <a:spcPct val="80000"/>
              </a:lnSpc>
            </a:pPr>
            <a:r>
              <a:rPr lang="es-AR" dirty="0"/>
              <a:t>&lt;</a:t>
            </a:r>
            <a:r>
              <a:rPr lang="es-AR" dirty="0" err="1"/>
              <a:t>button</a:t>
            </a:r>
            <a:r>
              <a:rPr lang="es-AR" dirty="0"/>
              <a:t> </a:t>
            </a:r>
            <a:r>
              <a:rPr lang="es-AR" dirty="0" err="1"/>
              <a:t>type</a:t>
            </a:r>
            <a:r>
              <a:rPr lang="es-AR" dirty="0"/>
              <a:t>=“</a:t>
            </a:r>
            <a:r>
              <a:rPr lang="es-AR" dirty="0" err="1"/>
              <a:t>submit</a:t>
            </a:r>
            <a:r>
              <a:rPr lang="es-AR" dirty="0"/>
              <a:t>” </a:t>
            </a:r>
            <a:r>
              <a:rPr lang="es-AR" dirty="0" err="1"/>
              <a:t>name</a:t>
            </a:r>
            <a:r>
              <a:rPr lang="es-AR" dirty="0"/>
              <a:t>=“enviar”&gt;</a:t>
            </a:r>
            <a:r>
              <a:rPr lang="es-AR" b="1" dirty="0"/>
              <a:t>Enviar</a:t>
            </a:r>
            <a:r>
              <a:rPr lang="es-AR" dirty="0"/>
              <a:t>&lt;/</a:t>
            </a:r>
            <a:r>
              <a:rPr lang="es-AR" dirty="0" err="1"/>
              <a:t>button</a:t>
            </a:r>
            <a:r>
              <a:rPr lang="es-AR" dirty="0"/>
              <a:t>&gt;</a:t>
            </a:r>
          </a:p>
          <a:p>
            <a:pPr lvl="1" algn="just">
              <a:lnSpc>
                <a:spcPct val="90000"/>
              </a:lnSpc>
            </a:pPr>
            <a:endParaRPr lang="es-AR" dirty="0"/>
          </a:p>
        </p:txBody>
      </p:sp>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101</a:t>
            </a:fld>
            <a:endParaRPr lang="es-ES" altLang="es-AR"/>
          </a:p>
        </p:txBody>
      </p:sp>
    </p:spTree>
    <p:extLst>
      <p:ext uri="{BB962C8B-B14F-4D97-AF65-F5344CB8AC3E}">
        <p14:creationId xmlns:p14="http://schemas.microsoft.com/office/powerpoint/2010/main" val="1472527486"/>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1 Título"/>
          <p:cNvSpPr>
            <a:spLocks noGrp="1"/>
          </p:cNvSpPr>
          <p:nvPr>
            <p:ph type="title"/>
          </p:nvPr>
        </p:nvSpPr>
        <p:spPr>
          <a:xfrm>
            <a:off x="457200" y="274638"/>
            <a:ext cx="8229600" cy="654050"/>
          </a:xfrm>
        </p:spPr>
        <p:txBody>
          <a:bodyPr/>
          <a:lstStyle/>
          <a:p>
            <a:r>
              <a:rPr lang="es-AR" altLang="es-AR" b="1"/>
              <a:t>Contenido accesible</a:t>
            </a:r>
          </a:p>
        </p:txBody>
      </p:sp>
      <p:sp>
        <p:nvSpPr>
          <p:cNvPr id="57347" name="2 Marcador de contenido"/>
          <p:cNvSpPr>
            <a:spLocks noGrp="1"/>
          </p:cNvSpPr>
          <p:nvPr>
            <p:ph idx="1"/>
          </p:nvPr>
        </p:nvSpPr>
        <p:spPr>
          <a:xfrm>
            <a:off x="430213" y="1916113"/>
            <a:ext cx="8229600" cy="4393207"/>
          </a:xfrm>
        </p:spPr>
        <p:txBody>
          <a:bodyPr/>
          <a:lstStyle/>
          <a:p>
            <a:pPr>
              <a:lnSpc>
                <a:spcPct val="90000"/>
              </a:lnSpc>
            </a:pPr>
            <a:r>
              <a:rPr lang="es-AR" dirty="0"/>
              <a:t>Formularios</a:t>
            </a:r>
          </a:p>
          <a:p>
            <a:pPr algn="just">
              <a:lnSpc>
                <a:spcPct val="90000"/>
              </a:lnSpc>
            </a:pPr>
            <a:endParaRPr lang="es-AR" dirty="0"/>
          </a:p>
          <a:p>
            <a:pPr lvl="1"/>
            <a:r>
              <a:rPr lang="es-AR" dirty="0"/>
              <a:t>¿Dónde se </a:t>
            </a:r>
            <a:r>
              <a:rPr lang="es-AR" dirty="0" err="1"/>
              <a:t>situa</a:t>
            </a:r>
            <a:r>
              <a:rPr lang="es-AR" dirty="0"/>
              <a:t> la etiqueta respecto al campo?</a:t>
            </a:r>
          </a:p>
          <a:p>
            <a:pPr lvl="1"/>
            <a:r>
              <a:rPr lang="es-AR" dirty="0"/>
              <a:t>Técnica G162</a:t>
            </a:r>
          </a:p>
          <a:p>
            <a:pPr lvl="2"/>
            <a:r>
              <a:rPr lang="es-AR" dirty="0"/>
              <a:t>Antes del campo:</a:t>
            </a:r>
          </a:p>
          <a:p>
            <a:pPr lvl="3"/>
            <a:r>
              <a:rPr lang="es-AR" dirty="0"/>
              <a:t>&lt;</a:t>
            </a:r>
            <a:r>
              <a:rPr lang="es-AR" dirty="0" err="1"/>
              <a:t>textarea</a:t>
            </a:r>
            <a:r>
              <a:rPr lang="es-AR" dirty="0"/>
              <a:t>&gt;</a:t>
            </a:r>
          </a:p>
          <a:p>
            <a:pPr lvl="3"/>
            <a:r>
              <a:rPr lang="es-AR" dirty="0"/>
              <a:t>&lt;</a:t>
            </a:r>
            <a:r>
              <a:rPr lang="es-AR" dirty="0" err="1"/>
              <a:t>select</a:t>
            </a:r>
            <a:r>
              <a:rPr lang="es-AR" dirty="0"/>
              <a:t>&gt;</a:t>
            </a:r>
          </a:p>
          <a:p>
            <a:pPr lvl="3"/>
            <a:r>
              <a:rPr lang="es-AR" dirty="0"/>
              <a:t>&lt;input </a:t>
            </a:r>
            <a:r>
              <a:rPr lang="es-AR" dirty="0" err="1"/>
              <a:t>type</a:t>
            </a:r>
            <a:r>
              <a:rPr lang="es-AR" dirty="0"/>
              <a:t>=[“</a:t>
            </a:r>
            <a:r>
              <a:rPr lang="es-AR" dirty="0" err="1"/>
              <a:t>text</a:t>
            </a:r>
            <a:r>
              <a:rPr lang="es-AR" dirty="0"/>
              <a:t>” | “file” | “</a:t>
            </a:r>
            <a:r>
              <a:rPr lang="es-AR" dirty="0" err="1"/>
              <a:t>password</a:t>
            </a:r>
            <a:r>
              <a:rPr lang="es-AR" dirty="0"/>
              <a:t>”]&gt;</a:t>
            </a:r>
          </a:p>
          <a:p>
            <a:pPr lvl="2"/>
            <a:r>
              <a:rPr lang="es-AR" dirty="0"/>
              <a:t>Después del campo:</a:t>
            </a:r>
          </a:p>
          <a:p>
            <a:pPr lvl="3"/>
            <a:r>
              <a:rPr lang="es-AR" dirty="0"/>
              <a:t>&lt;input </a:t>
            </a:r>
            <a:r>
              <a:rPr lang="es-AR" dirty="0" err="1"/>
              <a:t>type</a:t>
            </a:r>
            <a:r>
              <a:rPr lang="es-AR" dirty="0"/>
              <a:t>=“radio”&gt;</a:t>
            </a:r>
          </a:p>
          <a:p>
            <a:pPr lvl="3"/>
            <a:r>
              <a:rPr lang="es-AR" dirty="0"/>
              <a:t>&lt;input </a:t>
            </a:r>
            <a:r>
              <a:rPr lang="es-AR" dirty="0" err="1"/>
              <a:t>type</a:t>
            </a:r>
            <a:r>
              <a:rPr lang="es-AR" dirty="0"/>
              <a:t>=“</a:t>
            </a:r>
            <a:r>
              <a:rPr lang="es-AR" dirty="0" err="1"/>
              <a:t>checkbox</a:t>
            </a:r>
            <a:r>
              <a:rPr lang="es-AR" dirty="0"/>
              <a:t>”&gt;</a:t>
            </a:r>
          </a:p>
          <a:p>
            <a:pPr lvl="1" algn="just">
              <a:lnSpc>
                <a:spcPct val="90000"/>
              </a:lnSpc>
            </a:pPr>
            <a:endParaRPr lang="es-AR" dirty="0"/>
          </a:p>
        </p:txBody>
      </p:sp>
      <p:pic>
        <p:nvPicPr>
          <p:cNvPr id="4" name="Picture 5"/>
          <p:cNvPicPr>
            <a:picLocks noChangeAspect="1" noChangeArrowheads="1"/>
          </p:cNvPicPr>
          <p:nvPr/>
        </p:nvPicPr>
        <p:blipFill>
          <a:blip r:embed="rId3" cstate="print"/>
          <a:srcRect l="9229" t="58073" r="71582" b="33072"/>
          <a:stretch>
            <a:fillRect/>
          </a:stretch>
        </p:blipFill>
        <p:spPr bwMode="auto">
          <a:xfrm>
            <a:off x="4932040" y="3068960"/>
            <a:ext cx="4104456" cy="1420371"/>
          </a:xfrm>
          <a:prstGeom prst="rect">
            <a:avLst/>
          </a:prstGeom>
          <a:noFill/>
          <a:ln w="9525" algn="ctr">
            <a:noFill/>
            <a:miter lim="800000"/>
            <a:headEnd/>
            <a:tailEnd/>
          </a:ln>
        </p:spPr>
      </p:pic>
      <p:pic>
        <p:nvPicPr>
          <p:cNvPr id="5" name="Picture 6"/>
          <p:cNvPicPr>
            <a:picLocks noChangeAspect="1" noChangeArrowheads="1"/>
          </p:cNvPicPr>
          <p:nvPr/>
        </p:nvPicPr>
        <p:blipFill>
          <a:blip r:embed="rId4" cstate="print"/>
          <a:srcRect l="9229" t="44270" r="71582" b="46875"/>
          <a:stretch>
            <a:fillRect/>
          </a:stretch>
        </p:blipFill>
        <p:spPr bwMode="auto">
          <a:xfrm>
            <a:off x="4932040" y="4797151"/>
            <a:ext cx="4104456" cy="1420371"/>
          </a:xfrm>
          <a:prstGeom prst="rect">
            <a:avLst/>
          </a:prstGeom>
          <a:noFill/>
          <a:ln w="9525" algn="ctr">
            <a:noFill/>
            <a:miter lim="800000"/>
            <a:headEnd/>
            <a:tailEnd/>
          </a:ln>
        </p:spPr>
      </p:pic>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102</a:t>
            </a:fld>
            <a:endParaRPr lang="es-ES" altLang="es-AR"/>
          </a:p>
        </p:txBody>
      </p:sp>
    </p:spTree>
    <p:extLst>
      <p:ext uri="{BB962C8B-B14F-4D97-AF65-F5344CB8AC3E}">
        <p14:creationId xmlns:p14="http://schemas.microsoft.com/office/powerpoint/2010/main" val="832714210"/>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1 Título"/>
          <p:cNvSpPr>
            <a:spLocks noGrp="1"/>
          </p:cNvSpPr>
          <p:nvPr>
            <p:ph type="title"/>
          </p:nvPr>
        </p:nvSpPr>
        <p:spPr>
          <a:xfrm>
            <a:off x="457200" y="274638"/>
            <a:ext cx="8229600" cy="654050"/>
          </a:xfrm>
        </p:spPr>
        <p:txBody>
          <a:bodyPr/>
          <a:lstStyle/>
          <a:p>
            <a:r>
              <a:rPr lang="es-AR" altLang="es-AR" b="1"/>
              <a:t>Contenido accesible</a:t>
            </a:r>
          </a:p>
        </p:txBody>
      </p:sp>
      <p:sp>
        <p:nvSpPr>
          <p:cNvPr id="57347" name="2 Marcador de contenido"/>
          <p:cNvSpPr>
            <a:spLocks noGrp="1"/>
          </p:cNvSpPr>
          <p:nvPr>
            <p:ph idx="1"/>
          </p:nvPr>
        </p:nvSpPr>
        <p:spPr>
          <a:xfrm>
            <a:off x="430213" y="1916113"/>
            <a:ext cx="8229600" cy="1368871"/>
          </a:xfrm>
        </p:spPr>
        <p:txBody>
          <a:bodyPr/>
          <a:lstStyle/>
          <a:p>
            <a:pPr>
              <a:lnSpc>
                <a:spcPct val="90000"/>
              </a:lnSpc>
            </a:pPr>
            <a:r>
              <a:rPr lang="es-AR" dirty="0"/>
              <a:t>Formularios</a:t>
            </a:r>
          </a:p>
          <a:p>
            <a:pPr algn="just">
              <a:lnSpc>
                <a:spcPct val="90000"/>
              </a:lnSpc>
            </a:pPr>
            <a:endParaRPr lang="es-AR" dirty="0"/>
          </a:p>
          <a:p>
            <a:pPr lvl="1" algn="just">
              <a:lnSpc>
                <a:spcPct val="90000"/>
              </a:lnSpc>
            </a:pPr>
            <a:r>
              <a:rPr lang="es-AR" dirty="0"/>
              <a:t>Si no se puede usar LABEL, usar atributo TITLE para etiquetar (Técnica H65 y G167)</a:t>
            </a:r>
          </a:p>
          <a:p>
            <a:pPr lvl="1" algn="just">
              <a:lnSpc>
                <a:spcPct val="90000"/>
              </a:lnSpc>
            </a:pPr>
            <a:endParaRPr lang="es-AR" dirty="0"/>
          </a:p>
          <a:p>
            <a:pPr lvl="1" algn="just">
              <a:lnSpc>
                <a:spcPct val="90000"/>
              </a:lnSpc>
            </a:pPr>
            <a:endParaRPr lang="es-AR" dirty="0"/>
          </a:p>
          <a:p>
            <a:pPr lvl="1" algn="just">
              <a:lnSpc>
                <a:spcPct val="90000"/>
              </a:lnSpc>
            </a:pPr>
            <a:endParaRPr lang="es-AR" dirty="0"/>
          </a:p>
        </p:txBody>
      </p:sp>
      <p:pic>
        <p:nvPicPr>
          <p:cNvPr id="6" name="Picture 8"/>
          <p:cNvPicPr>
            <a:picLocks noChangeAspect="1" noChangeArrowheads="1"/>
          </p:cNvPicPr>
          <p:nvPr/>
        </p:nvPicPr>
        <p:blipFill rotWithShape="1">
          <a:blip r:embed="rId3" cstate="print"/>
          <a:srcRect l="1310" t="38089" r="75118" b="58732"/>
          <a:stretch/>
        </p:blipFill>
        <p:spPr bwMode="auto">
          <a:xfrm>
            <a:off x="2437612" y="3681028"/>
            <a:ext cx="4268775" cy="432048"/>
          </a:xfrm>
          <a:prstGeom prst="rect">
            <a:avLst/>
          </a:prstGeom>
          <a:noFill/>
          <a:ln w="9525" algn="ctr">
            <a:noFill/>
            <a:miter lim="800000"/>
            <a:headEnd/>
            <a:tailEnd/>
          </a:ln>
        </p:spPr>
      </p:pic>
      <p:sp>
        <p:nvSpPr>
          <p:cNvPr id="8" name="CuadroTexto 8"/>
          <p:cNvSpPr txBox="1"/>
          <p:nvPr/>
        </p:nvSpPr>
        <p:spPr>
          <a:xfrm>
            <a:off x="1353455" y="4509120"/>
            <a:ext cx="7333345" cy="1015663"/>
          </a:xfrm>
          <a:prstGeom prst="rect">
            <a:avLst/>
          </a:prstGeom>
          <a:noFill/>
          <a:ln>
            <a:solidFill>
              <a:schemeClr val="accent1">
                <a:shade val="50000"/>
              </a:schemeClr>
            </a:solidFill>
          </a:ln>
        </p:spPr>
        <p:txBody>
          <a:bodyPr wrap="square" rtlCol="0">
            <a:spAutoFit/>
          </a:bodyPr>
          <a:lstStyle/>
          <a:p>
            <a:r>
              <a:rPr lang="es-AR" sz="2000" b="1" dirty="0"/>
              <a:t>&lt;input </a:t>
            </a:r>
            <a:r>
              <a:rPr lang="es-AR" sz="2000" b="1" dirty="0" err="1"/>
              <a:t>type</a:t>
            </a:r>
            <a:r>
              <a:rPr lang="es-AR" sz="2000" b="1" dirty="0"/>
              <a:t>=“</a:t>
            </a:r>
            <a:r>
              <a:rPr lang="es-AR" sz="2000" b="1" dirty="0" err="1"/>
              <a:t>text</a:t>
            </a:r>
            <a:r>
              <a:rPr lang="es-AR" sz="2000" b="1" dirty="0"/>
              <a:t>” </a:t>
            </a:r>
            <a:r>
              <a:rPr lang="es-AR" sz="2000" b="1" dirty="0" err="1"/>
              <a:t>name</a:t>
            </a:r>
            <a:r>
              <a:rPr lang="es-AR" sz="2000" b="1" dirty="0"/>
              <a:t>=“buscar” </a:t>
            </a:r>
            <a:r>
              <a:rPr lang="es-AR" sz="2000" b="1" dirty="0" err="1">
                <a:solidFill>
                  <a:srgbClr val="0070C0"/>
                </a:solidFill>
              </a:rPr>
              <a:t>title</a:t>
            </a:r>
            <a:r>
              <a:rPr lang="es-AR" sz="2000" b="1" dirty="0">
                <a:solidFill>
                  <a:srgbClr val="0070C0"/>
                </a:solidFill>
              </a:rPr>
              <a:t>=“Escribe aquí lo que quieres buscar”</a:t>
            </a:r>
            <a:r>
              <a:rPr lang="es-AR" sz="2000" b="1" dirty="0"/>
              <a:t> /&gt;</a:t>
            </a:r>
          </a:p>
          <a:p>
            <a:r>
              <a:rPr lang="es-AR" sz="2000" b="1" dirty="0"/>
              <a:t>&lt;input </a:t>
            </a:r>
            <a:r>
              <a:rPr lang="es-AR" sz="2000" b="1" dirty="0" err="1"/>
              <a:t>type</a:t>
            </a:r>
            <a:r>
              <a:rPr lang="es-AR" sz="2000" b="1" dirty="0"/>
              <a:t>=“</a:t>
            </a:r>
            <a:r>
              <a:rPr lang="es-AR" sz="2000" b="1" dirty="0" err="1"/>
              <a:t>submit</a:t>
            </a:r>
            <a:r>
              <a:rPr lang="es-AR" sz="2000" b="1" dirty="0"/>
              <a:t>” </a:t>
            </a:r>
            <a:r>
              <a:rPr lang="es-AR" sz="2000" b="1" dirty="0" err="1">
                <a:solidFill>
                  <a:srgbClr val="0070C0"/>
                </a:solidFill>
              </a:rPr>
              <a:t>value</a:t>
            </a:r>
            <a:r>
              <a:rPr lang="es-AR" sz="2000" b="1" dirty="0">
                <a:solidFill>
                  <a:srgbClr val="0070C0"/>
                </a:solidFill>
              </a:rPr>
              <a:t>=“Buscar”</a:t>
            </a:r>
            <a:r>
              <a:rPr lang="es-AR" sz="2000" b="1" dirty="0"/>
              <a:t> /&gt;</a:t>
            </a:r>
          </a:p>
        </p:txBody>
      </p:sp>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103</a:t>
            </a:fld>
            <a:endParaRPr lang="es-ES" altLang="es-AR"/>
          </a:p>
        </p:txBody>
      </p:sp>
    </p:spTree>
    <p:extLst>
      <p:ext uri="{BB962C8B-B14F-4D97-AF65-F5344CB8AC3E}">
        <p14:creationId xmlns:p14="http://schemas.microsoft.com/office/powerpoint/2010/main" val="1341230702"/>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1 Título"/>
          <p:cNvSpPr>
            <a:spLocks noGrp="1"/>
          </p:cNvSpPr>
          <p:nvPr>
            <p:ph type="title"/>
          </p:nvPr>
        </p:nvSpPr>
        <p:spPr>
          <a:xfrm>
            <a:off x="457200" y="274638"/>
            <a:ext cx="8229600" cy="654050"/>
          </a:xfrm>
        </p:spPr>
        <p:txBody>
          <a:bodyPr/>
          <a:lstStyle/>
          <a:p>
            <a:r>
              <a:rPr lang="es-AR" altLang="es-AR" b="1"/>
              <a:t>Contenido accesible</a:t>
            </a:r>
          </a:p>
        </p:txBody>
      </p:sp>
      <p:sp>
        <p:nvSpPr>
          <p:cNvPr id="57347" name="2 Marcador de contenido"/>
          <p:cNvSpPr>
            <a:spLocks noGrp="1"/>
          </p:cNvSpPr>
          <p:nvPr>
            <p:ph idx="1"/>
          </p:nvPr>
        </p:nvSpPr>
        <p:spPr>
          <a:xfrm>
            <a:off x="430213" y="1916113"/>
            <a:ext cx="8229600" cy="4537223"/>
          </a:xfrm>
        </p:spPr>
        <p:txBody>
          <a:bodyPr/>
          <a:lstStyle/>
          <a:p>
            <a:pPr>
              <a:lnSpc>
                <a:spcPct val="90000"/>
              </a:lnSpc>
            </a:pPr>
            <a:r>
              <a:rPr lang="es-AR" dirty="0"/>
              <a:t>Formularios</a:t>
            </a:r>
          </a:p>
          <a:p>
            <a:pPr lvl="1" algn="just">
              <a:lnSpc>
                <a:spcPct val="90000"/>
              </a:lnSpc>
            </a:pPr>
            <a:endParaRPr lang="es-AR" dirty="0"/>
          </a:p>
          <a:p>
            <a:pPr lvl="1">
              <a:lnSpc>
                <a:spcPct val="80000"/>
              </a:lnSpc>
            </a:pPr>
            <a:r>
              <a:rPr lang="es-AR" dirty="0"/>
              <a:t>Usar controles estándar (conforme a la especificación de HTML4/HTML5)</a:t>
            </a:r>
          </a:p>
          <a:p>
            <a:pPr lvl="2">
              <a:lnSpc>
                <a:spcPct val="80000"/>
              </a:lnSpc>
            </a:pPr>
            <a:endParaRPr lang="es-AR" dirty="0"/>
          </a:p>
          <a:p>
            <a:pPr lvl="3">
              <a:lnSpc>
                <a:spcPct val="80000"/>
              </a:lnSpc>
            </a:pPr>
            <a:r>
              <a:rPr lang="es-AR" dirty="0"/>
              <a:t>&lt;input </a:t>
            </a:r>
            <a:r>
              <a:rPr lang="es-AR" dirty="0" err="1"/>
              <a:t>type</a:t>
            </a:r>
            <a:r>
              <a:rPr lang="es-AR" dirty="0"/>
              <a:t>=[“</a:t>
            </a:r>
            <a:r>
              <a:rPr lang="es-AR" dirty="0" err="1"/>
              <a:t>text</a:t>
            </a:r>
            <a:r>
              <a:rPr lang="es-AR" dirty="0"/>
              <a:t>” | “</a:t>
            </a:r>
            <a:r>
              <a:rPr lang="es-AR" dirty="0" err="1"/>
              <a:t>checkbox</a:t>
            </a:r>
            <a:r>
              <a:rPr lang="es-AR" dirty="0"/>
              <a:t>” | “radio” | “file” | “</a:t>
            </a:r>
            <a:r>
              <a:rPr lang="es-AR" dirty="0" err="1"/>
              <a:t>password</a:t>
            </a:r>
            <a:r>
              <a:rPr lang="es-AR" dirty="0"/>
              <a:t>” | … ]&gt;</a:t>
            </a:r>
          </a:p>
          <a:p>
            <a:pPr lvl="3">
              <a:lnSpc>
                <a:spcPct val="80000"/>
              </a:lnSpc>
            </a:pPr>
            <a:endParaRPr lang="es-AR" dirty="0"/>
          </a:p>
          <a:p>
            <a:pPr lvl="3">
              <a:lnSpc>
                <a:spcPct val="80000"/>
              </a:lnSpc>
            </a:pPr>
            <a:r>
              <a:rPr lang="es-AR" dirty="0"/>
              <a:t>&lt;</a:t>
            </a:r>
            <a:r>
              <a:rPr lang="es-AR" dirty="0" err="1"/>
              <a:t>textarea</a:t>
            </a:r>
            <a:r>
              <a:rPr lang="es-AR" dirty="0"/>
              <a:t>&gt;</a:t>
            </a:r>
          </a:p>
          <a:p>
            <a:pPr lvl="3">
              <a:lnSpc>
                <a:spcPct val="80000"/>
              </a:lnSpc>
            </a:pPr>
            <a:endParaRPr lang="es-AR" dirty="0"/>
          </a:p>
          <a:p>
            <a:pPr lvl="3">
              <a:lnSpc>
                <a:spcPct val="80000"/>
              </a:lnSpc>
            </a:pPr>
            <a:r>
              <a:rPr lang="es-AR" dirty="0"/>
              <a:t>&lt;</a:t>
            </a:r>
            <a:r>
              <a:rPr lang="es-AR" dirty="0" err="1"/>
              <a:t>select</a:t>
            </a:r>
            <a:r>
              <a:rPr lang="es-AR" dirty="0"/>
              <a:t>&gt;</a:t>
            </a:r>
          </a:p>
          <a:p>
            <a:pPr lvl="3">
              <a:lnSpc>
                <a:spcPct val="80000"/>
              </a:lnSpc>
            </a:pPr>
            <a:endParaRPr lang="es-AR" dirty="0"/>
          </a:p>
          <a:p>
            <a:pPr lvl="3">
              <a:lnSpc>
                <a:spcPct val="80000"/>
              </a:lnSpc>
            </a:pPr>
            <a:r>
              <a:rPr lang="es-AR" dirty="0"/>
              <a:t>&lt;</a:t>
            </a:r>
            <a:r>
              <a:rPr lang="es-AR" dirty="0" err="1"/>
              <a:t>button</a:t>
            </a:r>
            <a:r>
              <a:rPr lang="es-AR" dirty="0"/>
              <a:t>&gt;</a:t>
            </a:r>
          </a:p>
          <a:p>
            <a:pPr marL="1371600" lvl="3" indent="0">
              <a:lnSpc>
                <a:spcPct val="80000"/>
              </a:lnSpc>
              <a:buNone/>
            </a:pPr>
            <a:endParaRPr lang="es-AR" dirty="0"/>
          </a:p>
          <a:p>
            <a:pPr lvl="3">
              <a:lnSpc>
                <a:spcPct val="80000"/>
              </a:lnSpc>
            </a:pPr>
            <a:r>
              <a:rPr lang="es-AR" dirty="0"/>
              <a:t>…</a:t>
            </a:r>
          </a:p>
          <a:p>
            <a:pPr lvl="1" algn="just">
              <a:lnSpc>
                <a:spcPct val="90000"/>
              </a:lnSpc>
            </a:pPr>
            <a:endParaRPr lang="es-AR" dirty="0"/>
          </a:p>
        </p:txBody>
      </p:sp>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104</a:t>
            </a:fld>
            <a:endParaRPr lang="es-ES" altLang="es-AR"/>
          </a:p>
        </p:txBody>
      </p:sp>
    </p:spTree>
    <p:extLst>
      <p:ext uri="{BB962C8B-B14F-4D97-AF65-F5344CB8AC3E}">
        <p14:creationId xmlns:p14="http://schemas.microsoft.com/office/powerpoint/2010/main" val="3418547042"/>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1 Título"/>
          <p:cNvSpPr>
            <a:spLocks noGrp="1"/>
          </p:cNvSpPr>
          <p:nvPr>
            <p:ph type="title"/>
          </p:nvPr>
        </p:nvSpPr>
        <p:spPr>
          <a:xfrm>
            <a:off x="457200" y="274638"/>
            <a:ext cx="8229600" cy="654050"/>
          </a:xfrm>
        </p:spPr>
        <p:txBody>
          <a:bodyPr/>
          <a:lstStyle/>
          <a:p>
            <a:r>
              <a:rPr lang="es-AR" altLang="es-AR" b="1"/>
              <a:t>Contenido accesible</a:t>
            </a:r>
          </a:p>
        </p:txBody>
      </p:sp>
      <p:sp>
        <p:nvSpPr>
          <p:cNvPr id="57347" name="2 Marcador de contenido"/>
          <p:cNvSpPr>
            <a:spLocks noGrp="1"/>
          </p:cNvSpPr>
          <p:nvPr>
            <p:ph idx="1"/>
          </p:nvPr>
        </p:nvSpPr>
        <p:spPr>
          <a:xfrm>
            <a:off x="430213" y="1916113"/>
            <a:ext cx="8229600" cy="4393207"/>
          </a:xfrm>
        </p:spPr>
        <p:txBody>
          <a:bodyPr/>
          <a:lstStyle/>
          <a:p>
            <a:pPr>
              <a:lnSpc>
                <a:spcPct val="90000"/>
              </a:lnSpc>
            </a:pPr>
            <a:r>
              <a:rPr lang="es-AR" dirty="0"/>
              <a:t>Formularios</a:t>
            </a:r>
          </a:p>
          <a:p>
            <a:pPr lvl="1" algn="just">
              <a:lnSpc>
                <a:spcPct val="90000"/>
              </a:lnSpc>
            </a:pPr>
            <a:endParaRPr lang="es-AR" dirty="0"/>
          </a:p>
          <a:p>
            <a:pPr lvl="1">
              <a:lnSpc>
                <a:spcPct val="80000"/>
              </a:lnSpc>
            </a:pPr>
            <a:r>
              <a:rPr lang="es-AR" dirty="0"/>
              <a:t>Usar controles estándar HTML asegura que (Técnica H91)</a:t>
            </a:r>
          </a:p>
          <a:p>
            <a:pPr lvl="1">
              <a:lnSpc>
                <a:spcPct val="80000"/>
              </a:lnSpc>
            </a:pPr>
            <a:endParaRPr lang="es-AR" dirty="0"/>
          </a:p>
          <a:p>
            <a:pPr lvl="2">
              <a:lnSpc>
                <a:spcPct val="80000"/>
              </a:lnSpc>
            </a:pPr>
            <a:r>
              <a:rPr lang="es-AR" dirty="0"/>
              <a:t>Puedan ser operables por teclado.</a:t>
            </a:r>
          </a:p>
          <a:p>
            <a:pPr marL="914400" lvl="2" indent="0">
              <a:lnSpc>
                <a:spcPct val="80000"/>
              </a:lnSpc>
              <a:buNone/>
            </a:pPr>
            <a:endParaRPr lang="es-AR" dirty="0"/>
          </a:p>
          <a:p>
            <a:pPr lvl="2">
              <a:lnSpc>
                <a:spcPct val="80000"/>
              </a:lnSpc>
            </a:pPr>
            <a:r>
              <a:rPr lang="es-AR" dirty="0"/>
              <a:t>Su nombre, función, estado y valor, y sus cambios, puedan ser determinados por software.</a:t>
            </a:r>
          </a:p>
          <a:p>
            <a:pPr lvl="1" algn="just">
              <a:lnSpc>
                <a:spcPct val="90000"/>
              </a:lnSpc>
            </a:pPr>
            <a:endParaRPr lang="es-AR" dirty="0"/>
          </a:p>
        </p:txBody>
      </p:sp>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105</a:t>
            </a:fld>
            <a:endParaRPr lang="es-ES" altLang="es-AR"/>
          </a:p>
        </p:txBody>
      </p:sp>
    </p:spTree>
    <p:extLst>
      <p:ext uri="{BB962C8B-B14F-4D97-AF65-F5344CB8AC3E}">
        <p14:creationId xmlns:p14="http://schemas.microsoft.com/office/powerpoint/2010/main" val="3403185734"/>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1 Título"/>
          <p:cNvSpPr>
            <a:spLocks noGrp="1"/>
          </p:cNvSpPr>
          <p:nvPr>
            <p:ph type="title"/>
          </p:nvPr>
        </p:nvSpPr>
        <p:spPr>
          <a:xfrm>
            <a:off x="457200" y="274638"/>
            <a:ext cx="8229600" cy="654050"/>
          </a:xfrm>
        </p:spPr>
        <p:txBody>
          <a:bodyPr/>
          <a:lstStyle/>
          <a:p>
            <a:r>
              <a:rPr lang="es-AR" altLang="es-AR" b="1"/>
              <a:t>Contenido accesible</a:t>
            </a:r>
          </a:p>
        </p:txBody>
      </p:sp>
      <p:sp>
        <p:nvSpPr>
          <p:cNvPr id="57347" name="2 Marcador de contenido"/>
          <p:cNvSpPr>
            <a:spLocks noGrp="1"/>
          </p:cNvSpPr>
          <p:nvPr>
            <p:ph idx="1"/>
          </p:nvPr>
        </p:nvSpPr>
        <p:spPr>
          <a:xfrm>
            <a:off x="430213" y="1916113"/>
            <a:ext cx="8229600" cy="4393207"/>
          </a:xfrm>
        </p:spPr>
        <p:txBody>
          <a:bodyPr/>
          <a:lstStyle/>
          <a:p>
            <a:pPr>
              <a:lnSpc>
                <a:spcPct val="90000"/>
              </a:lnSpc>
            </a:pPr>
            <a:r>
              <a:rPr lang="es-AR" dirty="0"/>
              <a:t>Formularios</a:t>
            </a:r>
          </a:p>
          <a:p>
            <a:pPr lvl="1" algn="just">
              <a:lnSpc>
                <a:spcPct val="90000"/>
              </a:lnSpc>
            </a:pPr>
            <a:endParaRPr lang="es-AR" dirty="0"/>
          </a:p>
          <a:p>
            <a:pPr lvl="1" algn="just">
              <a:lnSpc>
                <a:spcPct val="90000"/>
              </a:lnSpc>
            </a:pPr>
            <a:r>
              <a:rPr lang="es-AR" dirty="0"/>
              <a:t>Informar, semánticamente, de la estructura y de relaciones entre los campos que se comunican a través de la presentación para que puedan ser determinada por software, es decir que la aplicaciones puedan extraer y presentar esta información de distintas maneras (Pauta 1.3.1)</a:t>
            </a:r>
          </a:p>
        </p:txBody>
      </p:sp>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106</a:t>
            </a:fld>
            <a:endParaRPr lang="es-ES" altLang="es-AR"/>
          </a:p>
        </p:txBody>
      </p:sp>
    </p:spTree>
    <p:extLst>
      <p:ext uri="{BB962C8B-B14F-4D97-AF65-F5344CB8AC3E}">
        <p14:creationId xmlns:p14="http://schemas.microsoft.com/office/powerpoint/2010/main" val="2115725675"/>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1 Título"/>
          <p:cNvSpPr>
            <a:spLocks noGrp="1"/>
          </p:cNvSpPr>
          <p:nvPr>
            <p:ph type="title"/>
          </p:nvPr>
        </p:nvSpPr>
        <p:spPr>
          <a:xfrm>
            <a:off x="457200" y="274638"/>
            <a:ext cx="8229600" cy="654050"/>
          </a:xfrm>
        </p:spPr>
        <p:txBody>
          <a:bodyPr/>
          <a:lstStyle/>
          <a:p>
            <a:r>
              <a:rPr lang="es-AR" altLang="es-AR" b="1"/>
              <a:t>Contenido accesible</a:t>
            </a:r>
          </a:p>
        </p:txBody>
      </p:sp>
      <p:sp>
        <p:nvSpPr>
          <p:cNvPr id="57347" name="2 Marcador de contenido"/>
          <p:cNvSpPr>
            <a:spLocks noGrp="1"/>
          </p:cNvSpPr>
          <p:nvPr>
            <p:ph idx="1"/>
          </p:nvPr>
        </p:nvSpPr>
        <p:spPr>
          <a:xfrm>
            <a:off x="430213" y="1916113"/>
            <a:ext cx="8229600" cy="4393207"/>
          </a:xfrm>
        </p:spPr>
        <p:txBody>
          <a:bodyPr/>
          <a:lstStyle/>
          <a:p>
            <a:pPr>
              <a:lnSpc>
                <a:spcPct val="90000"/>
              </a:lnSpc>
            </a:pPr>
            <a:r>
              <a:rPr lang="es-AR" dirty="0"/>
              <a:t>Formularios</a:t>
            </a:r>
          </a:p>
          <a:p>
            <a:pPr lvl="1" algn="just">
              <a:lnSpc>
                <a:spcPct val="90000"/>
              </a:lnSpc>
            </a:pPr>
            <a:endParaRPr lang="es-AR" dirty="0"/>
          </a:p>
          <a:p>
            <a:pPr lvl="1">
              <a:lnSpc>
                <a:spcPct val="80000"/>
              </a:lnSpc>
            </a:pPr>
            <a:r>
              <a:rPr lang="es-AR" dirty="0"/>
              <a:t>Elementos  </a:t>
            </a:r>
            <a:r>
              <a:rPr lang="es-AR" b="1" dirty="0"/>
              <a:t>&lt;</a:t>
            </a:r>
            <a:r>
              <a:rPr lang="es-AR" b="1" dirty="0" err="1"/>
              <a:t>fieldset</a:t>
            </a:r>
            <a:r>
              <a:rPr lang="es-AR" b="1" dirty="0"/>
              <a:t>&gt; </a:t>
            </a:r>
            <a:r>
              <a:rPr lang="es-AR" dirty="0"/>
              <a:t>y </a:t>
            </a:r>
            <a:r>
              <a:rPr lang="es-AR" b="1" dirty="0"/>
              <a:t>&lt;</a:t>
            </a:r>
            <a:r>
              <a:rPr lang="es-AR" b="1" dirty="0" err="1"/>
              <a:t>legend</a:t>
            </a:r>
            <a:r>
              <a:rPr lang="es-AR" b="1" dirty="0"/>
              <a:t>&gt; </a:t>
            </a:r>
            <a:r>
              <a:rPr lang="es-AR" dirty="0"/>
              <a:t>(Técnica H71)</a:t>
            </a:r>
          </a:p>
          <a:p>
            <a:pPr lvl="1">
              <a:lnSpc>
                <a:spcPct val="80000"/>
              </a:lnSpc>
            </a:pPr>
            <a:endParaRPr lang="es-AR" dirty="0"/>
          </a:p>
          <a:p>
            <a:pPr lvl="2">
              <a:lnSpc>
                <a:spcPct val="80000"/>
              </a:lnSpc>
            </a:pPr>
            <a:r>
              <a:rPr lang="es-AR" dirty="0"/>
              <a:t>Agrupar semánticamente una serie de controles.</a:t>
            </a:r>
          </a:p>
          <a:p>
            <a:pPr lvl="2">
              <a:lnSpc>
                <a:spcPct val="80000"/>
              </a:lnSpc>
            </a:pPr>
            <a:endParaRPr lang="es-AR" dirty="0"/>
          </a:p>
          <a:p>
            <a:pPr lvl="2">
              <a:lnSpc>
                <a:spcPct val="80000"/>
              </a:lnSpc>
            </a:pPr>
            <a:r>
              <a:rPr lang="es-AR" dirty="0"/>
              <a:t>Etiquetarlos en su conjunto, con una descripción del grupo.</a:t>
            </a:r>
          </a:p>
          <a:p>
            <a:pPr lvl="2">
              <a:lnSpc>
                <a:spcPct val="80000"/>
              </a:lnSpc>
            </a:pPr>
            <a:endParaRPr lang="es-AR" dirty="0"/>
          </a:p>
          <a:p>
            <a:pPr lvl="2">
              <a:lnSpc>
                <a:spcPct val="80000"/>
              </a:lnSpc>
            </a:pPr>
            <a:r>
              <a:rPr lang="es-AR" dirty="0"/>
              <a:t>Comprender mejor la relación entre los controles.</a:t>
            </a:r>
          </a:p>
          <a:p>
            <a:pPr lvl="2">
              <a:lnSpc>
                <a:spcPct val="80000"/>
              </a:lnSpc>
            </a:pPr>
            <a:endParaRPr lang="es-AR" dirty="0"/>
          </a:p>
          <a:p>
            <a:pPr lvl="2">
              <a:lnSpc>
                <a:spcPct val="80000"/>
              </a:lnSpc>
            </a:pPr>
            <a:r>
              <a:rPr lang="es-AR" dirty="0"/>
              <a:t>Interactuar con el formulario de forma mas rápida y efectiva.</a:t>
            </a:r>
          </a:p>
          <a:p>
            <a:pPr lvl="1" algn="just">
              <a:lnSpc>
                <a:spcPct val="90000"/>
              </a:lnSpc>
            </a:pPr>
            <a:endParaRPr lang="es-AR" dirty="0"/>
          </a:p>
          <a:p>
            <a:pPr lvl="1" algn="just">
              <a:lnSpc>
                <a:spcPct val="90000"/>
              </a:lnSpc>
            </a:pPr>
            <a:endParaRPr lang="es-AR" dirty="0"/>
          </a:p>
        </p:txBody>
      </p:sp>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107</a:t>
            </a:fld>
            <a:endParaRPr lang="es-ES" altLang="es-AR"/>
          </a:p>
        </p:txBody>
      </p:sp>
    </p:spTree>
    <p:extLst>
      <p:ext uri="{BB962C8B-B14F-4D97-AF65-F5344CB8AC3E}">
        <p14:creationId xmlns:p14="http://schemas.microsoft.com/office/powerpoint/2010/main" val="2308487997"/>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1 Título"/>
          <p:cNvSpPr>
            <a:spLocks noGrp="1"/>
          </p:cNvSpPr>
          <p:nvPr>
            <p:ph type="title"/>
          </p:nvPr>
        </p:nvSpPr>
        <p:spPr>
          <a:xfrm>
            <a:off x="457200" y="274638"/>
            <a:ext cx="8229600" cy="654050"/>
          </a:xfrm>
        </p:spPr>
        <p:txBody>
          <a:bodyPr/>
          <a:lstStyle/>
          <a:p>
            <a:r>
              <a:rPr lang="es-AR" altLang="es-AR" b="1"/>
              <a:t>Contenido accesible</a:t>
            </a:r>
          </a:p>
        </p:txBody>
      </p:sp>
      <p:sp>
        <p:nvSpPr>
          <p:cNvPr id="57347" name="2 Marcador de contenido"/>
          <p:cNvSpPr>
            <a:spLocks noGrp="1"/>
          </p:cNvSpPr>
          <p:nvPr>
            <p:ph idx="1"/>
          </p:nvPr>
        </p:nvSpPr>
        <p:spPr>
          <a:xfrm>
            <a:off x="430213" y="1916113"/>
            <a:ext cx="8229600" cy="1008831"/>
          </a:xfrm>
        </p:spPr>
        <p:txBody>
          <a:bodyPr/>
          <a:lstStyle/>
          <a:p>
            <a:pPr>
              <a:lnSpc>
                <a:spcPct val="90000"/>
              </a:lnSpc>
            </a:pPr>
            <a:r>
              <a:rPr lang="es-AR" dirty="0"/>
              <a:t>Formularios</a:t>
            </a:r>
          </a:p>
          <a:p>
            <a:pPr lvl="1" algn="just">
              <a:lnSpc>
                <a:spcPct val="90000"/>
              </a:lnSpc>
            </a:pPr>
            <a:endParaRPr lang="es-AR" dirty="0"/>
          </a:p>
          <a:p>
            <a:pPr lvl="1">
              <a:lnSpc>
                <a:spcPct val="80000"/>
              </a:lnSpc>
            </a:pPr>
            <a:r>
              <a:rPr lang="es-AR" dirty="0"/>
              <a:t>Elementos  </a:t>
            </a:r>
            <a:r>
              <a:rPr lang="es-AR" b="1" dirty="0"/>
              <a:t>&lt;</a:t>
            </a:r>
            <a:r>
              <a:rPr lang="es-AR" b="1" dirty="0" err="1"/>
              <a:t>fieldset</a:t>
            </a:r>
            <a:r>
              <a:rPr lang="es-AR" b="1" dirty="0"/>
              <a:t>&gt; </a:t>
            </a:r>
            <a:r>
              <a:rPr lang="es-AR" dirty="0"/>
              <a:t>y </a:t>
            </a:r>
            <a:r>
              <a:rPr lang="es-AR" b="1" dirty="0"/>
              <a:t>&lt;</a:t>
            </a:r>
            <a:r>
              <a:rPr lang="es-AR" b="1" dirty="0" err="1"/>
              <a:t>legend</a:t>
            </a:r>
            <a:r>
              <a:rPr lang="es-AR" b="1" dirty="0"/>
              <a:t>&gt; </a:t>
            </a:r>
            <a:r>
              <a:rPr lang="es-AR" dirty="0"/>
              <a:t>(Técnica H71)</a:t>
            </a:r>
          </a:p>
          <a:p>
            <a:pPr lvl="1">
              <a:lnSpc>
                <a:spcPct val="80000"/>
              </a:lnSpc>
            </a:pPr>
            <a:endParaRPr lang="es-AR" dirty="0"/>
          </a:p>
          <a:p>
            <a:pPr marL="914400" lvl="2" indent="0">
              <a:lnSpc>
                <a:spcPct val="80000"/>
              </a:lnSpc>
              <a:buNone/>
            </a:pPr>
            <a:r>
              <a:rPr lang="es-AR" dirty="0"/>
              <a:t>.</a:t>
            </a:r>
          </a:p>
          <a:p>
            <a:pPr lvl="1" algn="just">
              <a:lnSpc>
                <a:spcPct val="90000"/>
              </a:lnSpc>
            </a:pPr>
            <a:endParaRPr lang="es-AR" dirty="0"/>
          </a:p>
          <a:p>
            <a:pPr lvl="1" algn="just">
              <a:lnSpc>
                <a:spcPct val="90000"/>
              </a:lnSpc>
            </a:pPr>
            <a:endParaRPr lang="es-AR" dirty="0"/>
          </a:p>
        </p:txBody>
      </p:sp>
      <p:pic>
        <p:nvPicPr>
          <p:cNvPr id="4" name="Picture 6"/>
          <p:cNvPicPr>
            <a:picLocks noChangeAspect="1" noChangeArrowheads="1"/>
          </p:cNvPicPr>
          <p:nvPr/>
        </p:nvPicPr>
        <p:blipFill rotWithShape="1">
          <a:blip r:embed="rId3" cstate="print"/>
          <a:srcRect l="1466" t="35417" r="75102" b="53179"/>
          <a:stretch/>
        </p:blipFill>
        <p:spPr bwMode="auto">
          <a:xfrm>
            <a:off x="283716" y="2924944"/>
            <a:ext cx="3747199" cy="1368153"/>
          </a:xfrm>
          <a:prstGeom prst="rect">
            <a:avLst/>
          </a:prstGeom>
          <a:noFill/>
          <a:ln w="9525" algn="ctr">
            <a:noFill/>
            <a:miter lim="800000"/>
            <a:headEnd/>
            <a:tailEnd/>
          </a:ln>
        </p:spPr>
      </p:pic>
      <p:sp>
        <p:nvSpPr>
          <p:cNvPr id="5" name="CuadroTexto 8"/>
          <p:cNvSpPr txBox="1"/>
          <p:nvPr/>
        </p:nvSpPr>
        <p:spPr>
          <a:xfrm>
            <a:off x="3995936" y="3140967"/>
            <a:ext cx="4464496" cy="3477875"/>
          </a:xfrm>
          <a:prstGeom prst="rect">
            <a:avLst/>
          </a:prstGeom>
          <a:noFill/>
          <a:ln>
            <a:solidFill>
              <a:schemeClr val="accent1">
                <a:shade val="50000"/>
              </a:schemeClr>
            </a:solidFill>
          </a:ln>
        </p:spPr>
        <p:txBody>
          <a:bodyPr wrap="square" rtlCol="0">
            <a:spAutoFit/>
          </a:bodyPr>
          <a:lstStyle/>
          <a:p>
            <a:r>
              <a:rPr lang="es-AR" sz="2000" b="1" dirty="0">
                <a:solidFill>
                  <a:srgbClr val="0070C0"/>
                </a:solidFill>
              </a:rPr>
              <a:t>&lt;</a:t>
            </a:r>
            <a:r>
              <a:rPr lang="es-AR" sz="2000" b="1" dirty="0" err="1">
                <a:solidFill>
                  <a:srgbClr val="0070C0"/>
                </a:solidFill>
              </a:rPr>
              <a:t>fielset</a:t>
            </a:r>
            <a:r>
              <a:rPr lang="es-AR" sz="2000" b="1" dirty="0">
                <a:solidFill>
                  <a:srgbClr val="0070C0"/>
                </a:solidFill>
              </a:rPr>
              <a:t>&gt;</a:t>
            </a:r>
          </a:p>
          <a:p>
            <a:r>
              <a:rPr lang="es-AR" sz="2000" b="1" dirty="0"/>
              <a:t>   </a:t>
            </a:r>
            <a:r>
              <a:rPr lang="es-AR" sz="2000" b="1" dirty="0">
                <a:solidFill>
                  <a:srgbClr val="0070C0"/>
                </a:solidFill>
              </a:rPr>
              <a:t>&lt;</a:t>
            </a:r>
            <a:r>
              <a:rPr lang="es-AR" sz="2000" b="1" dirty="0" err="1">
                <a:solidFill>
                  <a:srgbClr val="0070C0"/>
                </a:solidFill>
              </a:rPr>
              <a:t>legend</a:t>
            </a:r>
            <a:r>
              <a:rPr lang="es-AR" sz="2000" b="1" dirty="0">
                <a:solidFill>
                  <a:srgbClr val="0070C0"/>
                </a:solidFill>
              </a:rPr>
              <a:t>&gt; </a:t>
            </a:r>
            <a:r>
              <a:rPr lang="es-AR" sz="2000" b="1" dirty="0"/>
              <a:t>Estoy interesado en recibir información sobre:      </a:t>
            </a:r>
          </a:p>
          <a:p>
            <a:r>
              <a:rPr lang="es-AR" sz="2000" b="1" dirty="0">
                <a:solidFill>
                  <a:srgbClr val="0070C0"/>
                </a:solidFill>
              </a:rPr>
              <a:t>   &lt;/</a:t>
            </a:r>
            <a:r>
              <a:rPr lang="es-AR" sz="2000" b="1" dirty="0" err="1">
                <a:solidFill>
                  <a:srgbClr val="0070C0"/>
                </a:solidFill>
              </a:rPr>
              <a:t>legend</a:t>
            </a:r>
            <a:r>
              <a:rPr lang="es-AR" sz="2000" b="1" dirty="0">
                <a:solidFill>
                  <a:srgbClr val="0070C0"/>
                </a:solidFill>
              </a:rPr>
              <a:t>&gt;</a:t>
            </a:r>
          </a:p>
          <a:p>
            <a:r>
              <a:rPr lang="es-AR" sz="2000" b="1" dirty="0"/>
              <a:t>   &lt;input </a:t>
            </a:r>
            <a:r>
              <a:rPr lang="es-AR" sz="2000" b="1" dirty="0" err="1"/>
              <a:t>type</a:t>
            </a:r>
            <a:r>
              <a:rPr lang="es-AR" sz="2000" b="1" dirty="0"/>
              <a:t>=“</a:t>
            </a:r>
            <a:r>
              <a:rPr lang="es-AR" sz="2000" b="1" dirty="0" err="1"/>
              <a:t>checkbox</a:t>
            </a:r>
            <a:r>
              <a:rPr lang="es-AR" sz="2000" b="1" dirty="0"/>
              <a:t>” id=“deportes” </a:t>
            </a:r>
            <a:r>
              <a:rPr lang="es-AR" sz="2000" b="1" dirty="0" err="1"/>
              <a:t>name</a:t>
            </a:r>
            <a:r>
              <a:rPr lang="es-AR" sz="2000" b="1" dirty="0"/>
              <a:t>=“deportes”       </a:t>
            </a:r>
            <a:r>
              <a:rPr lang="es-AR" sz="2000" b="1" dirty="0" err="1"/>
              <a:t>value</a:t>
            </a:r>
            <a:r>
              <a:rPr lang="es-AR" sz="2000" b="1" dirty="0"/>
              <a:t>=“</a:t>
            </a:r>
            <a:r>
              <a:rPr lang="es-AR" sz="2000" b="1" dirty="0" err="1"/>
              <a:t>dp</a:t>
            </a:r>
            <a:r>
              <a:rPr lang="es-AR" sz="2000" b="1" dirty="0"/>
              <a:t>”&gt; </a:t>
            </a:r>
          </a:p>
          <a:p>
            <a:r>
              <a:rPr lang="es-AR" sz="2000" b="1" dirty="0"/>
              <a:t>   &lt;</a:t>
            </a:r>
            <a:r>
              <a:rPr lang="es-AR" sz="2000" b="1" dirty="0" err="1"/>
              <a:t>label</a:t>
            </a:r>
            <a:r>
              <a:rPr lang="es-AR" sz="2000" b="1" dirty="0"/>
              <a:t> </a:t>
            </a:r>
            <a:r>
              <a:rPr lang="es-AR" sz="2000" b="1" dirty="0" err="1"/>
              <a:t>for</a:t>
            </a:r>
            <a:r>
              <a:rPr lang="es-AR" sz="2000" b="1" dirty="0"/>
              <a:t>=“deportes”&gt; Deportes  </a:t>
            </a:r>
          </a:p>
          <a:p>
            <a:r>
              <a:rPr lang="es-AR" sz="2000" b="1" dirty="0"/>
              <a:t>   &lt;/</a:t>
            </a:r>
            <a:r>
              <a:rPr lang="es-AR" sz="2000" b="1" dirty="0" err="1"/>
              <a:t>label</a:t>
            </a:r>
            <a:r>
              <a:rPr lang="es-AR" sz="2000" b="1" dirty="0"/>
              <a:t>&gt;</a:t>
            </a:r>
          </a:p>
          <a:p>
            <a:r>
              <a:rPr lang="es-AR" sz="2000" b="1" dirty="0"/>
              <a:t>…</a:t>
            </a:r>
          </a:p>
          <a:p>
            <a:r>
              <a:rPr lang="es-AR" sz="2000" b="1" dirty="0">
                <a:solidFill>
                  <a:srgbClr val="0070C0"/>
                </a:solidFill>
              </a:rPr>
              <a:t>&lt;/</a:t>
            </a:r>
            <a:r>
              <a:rPr lang="es-AR" sz="2000" b="1" dirty="0" err="1">
                <a:solidFill>
                  <a:srgbClr val="0070C0"/>
                </a:solidFill>
              </a:rPr>
              <a:t>fieldset</a:t>
            </a:r>
            <a:r>
              <a:rPr lang="es-AR" sz="2000" b="1" dirty="0">
                <a:solidFill>
                  <a:srgbClr val="0070C0"/>
                </a:solidFill>
              </a:rPr>
              <a:t>&gt;</a:t>
            </a:r>
          </a:p>
        </p:txBody>
      </p:sp>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108</a:t>
            </a:fld>
            <a:endParaRPr lang="es-ES" altLang="es-AR"/>
          </a:p>
        </p:txBody>
      </p:sp>
    </p:spTree>
    <p:extLst>
      <p:ext uri="{BB962C8B-B14F-4D97-AF65-F5344CB8AC3E}">
        <p14:creationId xmlns:p14="http://schemas.microsoft.com/office/powerpoint/2010/main" val="3753217650"/>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1 Título"/>
          <p:cNvSpPr>
            <a:spLocks noGrp="1"/>
          </p:cNvSpPr>
          <p:nvPr>
            <p:ph type="title"/>
          </p:nvPr>
        </p:nvSpPr>
        <p:spPr>
          <a:xfrm>
            <a:off x="457200" y="274638"/>
            <a:ext cx="8229600" cy="654050"/>
          </a:xfrm>
        </p:spPr>
        <p:txBody>
          <a:bodyPr/>
          <a:lstStyle/>
          <a:p>
            <a:r>
              <a:rPr lang="es-AR" altLang="es-AR" b="1"/>
              <a:t>Contenido accesible</a:t>
            </a:r>
          </a:p>
        </p:txBody>
      </p:sp>
      <p:sp>
        <p:nvSpPr>
          <p:cNvPr id="57347" name="2 Marcador de contenido"/>
          <p:cNvSpPr>
            <a:spLocks noGrp="1"/>
          </p:cNvSpPr>
          <p:nvPr>
            <p:ph idx="1"/>
          </p:nvPr>
        </p:nvSpPr>
        <p:spPr>
          <a:xfrm>
            <a:off x="430213" y="1916113"/>
            <a:ext cx="8229600" cy="4393207"/>
          </a:xfrm>
        </p:spPr>
        <p:txBody>
          <a:bodyPr/>
          <a:lstStyle/>
          <a:p>
            <a:pPr>
              <a:lnSpc>
                <a:spcPct val="90000"/>
              </a:lnSpc>
            </a:pPr>
            <a:r>
              <a:rPr lang="es-AR" dirty="0"/>
              <a:t>Formularios</a:t>
            </a:r>
          </a:p>
          <a:p>
            <a:pPr lvl="1" algn="just">
              <a:lnSpc>
                <a:spcPct val="90000"/>
              </a:lnSpc>
            </a:pPr>
            <a:endParaRPr lang="es-AR" dirty="0"/>
          </a:p>
          <a:p>
            <a:pPr lvl="1">
              <a:lnSpc>
                <a:spcPct val="90000"/>
              </a:lnSpc>
            </a:pPr>
            <a:r>
              <a:rPr lang="es-AR" dirty="0"/>
              <a:t>&lt;</a:t>
            </a:r>
            <a:r>
              <a:rPr lang="es-AR" dirty="0" err="1"/>
              <a:t>fieldset</a:t>
            </a:r>
            <a:r>
              <a:rPr lang="es-AR" dirty="0"/>
              <a:t>&gt; y &lt;</a:t>
            </a:r>
            <a:r>
              <a:rPr lang="es-AR" dirty="0" err="1"/>
              <a:t>legend</a:t>
            </a:r>
            <a:r>
              <a:rPr lang="es-AR" dirty="0"/>
              <a:t>&gt;</a:t>
            </a:r>
          </a:p>
          <a:p>
            <a:pPr lvl="1">
              <a:lnSpc>
                <a:spcPct val="90000"/>
              </a:lnSpc>
            </a:pPr>
            <a:endParaRPr lang="es-AR" dirty="0"/>
          </a:p>
          <a:p>
            <a:pPr lvl="2">
              <a:lnSpc>
                <a:spcPct val="90000"/>
              </a:lnSpc>
            </a:pPr>
            <a:r>
              <a:rPr lang="es-AR" dirty="0"/>
              <a:t>No anidar elementos &lt;</a:t>
            </a:r>
            <a:r>
              <a:rPr lang="es-AR" dirty="0" err="1"/>
              <a:t>fieldset</a:t>
            </a:r>
            <a:r>
              <a:rPr lang="es-AR" dirty="0"/>
              <a:t>&gt;</a:t>
            </a:r>
          </a:p>
          <a:p>
            <a:pPr lvl="2">
              <a:lnSpc>
                <a:spcPct val="90000"/>
              </a:lnSpc>
            </a:pPr>
            <a:endParaRPr lang="es-AR" dirty="0"/>
          </a:p>
          <a:p>
            <a:pPr lvl="2">
              <a:lnSpc>
                <a:spcPct val="90000"/>
              </a:lnSpc>
            </a:pPr>
            <a:r>
              <a:rPr lang="es-AR" dirty="0"/>
              <a:t>Conservar la agrupación visual, permite comprender visualmente la relación entre los campos y su leyenda.</a:t>
            </a:r>
          </a:p>
          <a:p>
            <a:pPr lvl="1" algn="just">
              <a:lnSpc>
                <a:spcPct val="90000"/>
              </a:lnSpc>
            </a:pPr>
            <a:endParaRPr lang="es-AR" dirty="0"/>
          </a:p>
        </p:txBody>
      </p:sp>
      <p:pic>
        <p:nvPicPr>
          <p:cNvPr id="4" name="Picture 6"/>
          <p:cNvPicPr>
            <a:picLocks noChangeAspect="1" noChangeArrowheads="1"/>
          </p:cNvPicPr>
          <p:nvPr/>
        </p:nvPicPr>
        <p:blipFill rotWithShape="1">
          <a:blip r:embed="rId3" cstate="print"/>
          <a:srcRect l="42090" t="55823" r="34294" b="35048"/>
          <a:stretch/>
        </p:blipFill>
        <p:spPr bwMode="auto">
          <a:xfrm>
            <a:off x="2123728" y="4774909"/>
            <a:ext cx="5400600" cy="1567369"/>
          </a:xfrm>
          <a:prstGeom prst="rect">
            <a:avLst/>
          </a:prstGeom>
          <a:noFill/>
          <a:ln w="9525" algn="ctr">
            <a:noFill/>
            <a:miter lim="800000"/>
            <a:headEnd/>
            <a:tailEnd/>
          </a:ln>
        </p:spPr>
      </p:pic>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109</a:t>
            </a:fld>
            <a:endParaRPr lang="es-ES" altLang="es-AR"/>
          </a:p>
        </p:txBody>
      </p:sp>
    </p:spTree>
    <p:extLst>
      <p:ext uri="{BB962C8B-B14F-4D97-AF65-F5344CB8AC3E}">
        <p14:creationId xmlns:p14="http://schemas.microsoft.com/office/powerpoint/2010/main" val="2594482465"/>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1 Título"/>
          <p:cNvSpPr>
            <a:spLocks noGrp="1"/>
          </p:cNvSpPr>
          <p:nvPr>
            <p:ph type="title"/>
          </p:nvPr>
        </p:nvSpPr>
        <p:spPr>
          <a:xfrm>
            <a:off x="457200" y="274638"/>
            <a:ext cx="8229600" cy="654050"/>
          </a:xfrm>
        </p:spPr>
        <p:txBody>
          <a:bodyPr/>
          <a:lstStyle/>
          <a:p>
            <a:r>
              <a:rPr lang="es-AR" altLang="es-AR" b="1"/>
              <a:t>Contenido accesible</a:t>
            </a:r>
          </a:p>
        </p:txBody>
      </p:sp>
      <p:sp>
        <p:nvSpPr>
          <p:cNvPr id="57347" name="2 Marcador de contenido"/>
          <p:cNvSpPr>
            <a:spLocks noGrp="1"/>
          </p:cNvSpPr>
          <p:nvPr>
            <p:ph idx="1"/>
          </p:nvPr>
        </p:nvSpPr>
        <p:spPr>
          <a:xfrm>
            <a:off x="430213" y="1916113"/>
            <a:ext cx="8229600" cy="4393207"/>
          </a:xfrm>
        </p:spPr>
        <p:txBody>
          <a:bodyPr/>
          <a:lstStyle/>
          <a:p>
            <a:pPr>
              <a:lnSpc>
                <a:spcPct val="90000"/>
              </a:lnSpc>
            </a:pPr>
            <a:r>
              <a:rPr lang="es-AR" dirty="0"/>
              <a:t>Formularios</a:t>
            </a:r>
          </a:p>
          <a:p>
            <a:pPr lvl="1" algn="just">
              <a:lnSpc>
                <a:spcPct val="90000"/>
              </a:lnSpc>
            </a:pPr>
            <a:endParaRPr lang="es-AR" dirty="0"/>
          </a:p>
          <a:p>
            <a:pPr lvl="1">
              <a:lnSpc>
                <a:spcPct val="90000"/>
              </a:lnSpc>
            </a:pPr>
            <a:r>
              <a:rPr lang="es-AR" dirty="0"/>
              <a:t>&lt;</a:t>
            </a:r>
            <a:r>
              <a:rPr lang="es-AR" dirty="0" err="1"/>
              <a:t>optgroup</a:t>
            </a:r>
            <a:r>
              <a:rPr lang="es-AR" dirty="0"/>
              <a:t>&gt;</a:t>
            </a:r>
          </a:p>
          <a:p>
            <a:pPr lvl="1">
              <a:lnSpc>
                <a:spcPct val="90000"/>
              </a:lnSpc>
            </a:pPr>
            <a:endParaRPr lang="es-AR" dirty="0"/>
          </a:p>
          <a:p>
            <a:pPr lvl="2">
              <a:lnSpc>
                <a:spcPct val="90000"/>
              </a:lnSpc>
            </a:pPr>
            <a:r>
              <a:rPr lang="es-AR" dirty="0"/>
              <a:t>Para agrupar una serie de </a:t>
            </a:r>
            <a:r>
              <a:rPr lang="es-AR" dirty="0" err="1"/>
              <a:t>options</a:t>
            </a:r>
            <a:r>
              <a:rPr lang="es-AR" dirty="0"/>
              <a:t> dentro de una </a:t>
            </a:r>
            <a:r>
              <a:rPr lang="es-AR" dirty="0" err="1"/>
              <a:t>select</a:t>
            </a:r>
            <a:r>
              <a:rPr lang="es-AR" dirty="0"/>
              <a:t> de selección múltiple o no (Técnica H85: Uso de OPTGROUP para agrupar elementos OPTION dentro de una SELECT)</a:t>
            </a:r>
          </a:p>
          <a:p>
            <a:pPr lvl="1" algn="just">
              <a:lnSpc>
                <a:spcPct val="90000"/>
              </a:lnSpc>
            </a:pPr>
            <a:endParaRPr lang="es-AR" dirty="0"/>
          </a:p>
        </p:txBody>
      </p:sp>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110</a:t>
            </a:fld>
            <a:endParaRPr lang="es-ES" altLang="es-AR"/>
          </a:p>
        </p:txBody>
      </p:sp>
    </p:spTree>
    <p:extLst>
      <p:ext uri="{BB962C8B-B14F-4D97-AF65-F5344CB8AC3E}">
        <p14:creationId xmlns:p14="http://schemas.microsoft.com/office/powerpoint/2010/main" val="2858271905"/>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1 Título"/>
          <p:cNvSpPr>
            <a:spLocks noGrp="1"/>
          </p:cNvSpPr>
          <p:nvPr>
            <p:ph type="title"/>
          </p:nvPr>
        </p:nvSpPr>
        <p:spPr>
          <a:xfrm>
            <a:off x="457200" y="274638"/>
            <a:ext cx="8229600" cy="654050"/>
          </a:xfrm>
        </p:spPr>
        <p:txBody>
          <a:bodyPr/>
          <a:lstStyle/>
          <a:p>
            <a:r>
              <a:rPr lang="es-AR" altLang="es-AR" b="1"/>
              <a:t>Contenido accesible</a:t>
            </a:r>
          </a:p>
        </p:txBody>
      </p:sp>
      <p:sp>
        <p:nvSpPr>
          <p:cNvPr id="57347" name="2 Marcador de contenido"/>
          <p:cNvSpPr>
            <a:spLocks noGrp="1"/>
          </p:cNvSpPr>
          <p:nvPr>
            <p:ph idx="1"/>
          </p:nvPr>
        </p:nvSpPr>
        <p:spPr>
          <a:xfrm>
            <a:off x="430213" y="1916113"/>
            <a:ext cx="8229600" cy="1080839"/>
          </a:xfrm>
        </p:spPr>
        <p:txBody>
          <a:bodyPr/>
          <a:lstStyle/>
          <a:p>
            <a:pPr>
              <a:lnSpc>
                <a:spcPct val="90000"/>
              </a:lnSpc>
            </a:pPr>
            <a:r>
              <a:rPr lang="es-AR" dirty="0"/>
              <a:t>Formularios</a:t>
            </a:r>
          </a:p>
          <a:p>
            <a:pPr lvl="1" algn="just">
              <a:lnSpc>
                <a:spcPct val="90000"/>
              </a:lnSpc>
            </a:pPr>
            <a:endParaRPr lang="es-AR" dirty="0"/>
          </a:p>
          <a:p>
            <a:pPr lvl="1">
              <a:lnSpc>
                <a:spcPct val="90000"/>
              </a:lnSpc>
            </a:pPr>
            <a:r>
              <a:rPr lang="es-AR" dirty="0"/>
              <a:t>&lt;</a:t>
            </a:r>
            <a:r>
              <a:rPr lang="es-AR" dirty="0" err="1"/>
              <a:t>optgroup</a:t>
            </a:r>
            <a:r>
              <a:rPr lang="es-AR" dirty="0"/>
              <a:t>&gt;</a:t>
            </a:r>
          </a:p>
          <a:p>
            <a:pPr lvl="1">
              <a:lnSpc>
                <a:spcPct val="90000"/>
              </a:lnSpc>
            </a:pPr>
            <a:endParaRPr lang="es-AR" dirty="0"/>
          </a:p>
          <a:p>
            <a:pPr lvl="1" algn="just">
              <a:lnSpc>
                <a:spcPct val="90000"/>
              </a:lnSpc>
            </a:pPr>
            <a:endParaRPr lang="es-AR" dirty="0"/>
          </a:p>
        </p:txBody>
      </p:sp>
      <p:pic>
        <p:nvPicPr>
          <p:cNvPr id="4" name="Picture 8"/>
          <p:cNvPicPr>
            <a:picLocks noChangeAspect="1" noChangeArrowheads="1"/>
          </p:cNvPicPr>
          <p:nvPr/>
        </p:nvPicPr>
        <p:blipFill rotWithShape="1">
          <a:blip r:embed="rId3" cstate="print"/>
          <a:srcRect l="2571" t="35600" r="85500" b="62437"/>
          <a:stretch/>
        </p:blipFill>
        <p:spPr bwMode="auto">
          <a:xfrm>
            <a:off x="344268" y="3023955"/>
            <a:ext cx="3062136" cy="378042"/>
          </a:xfrm>
          <a:prstGeom prst="rect">
            <a:avLst/>
          </a:prstGeom>
          <a:noFill/>
          <a:ln w="9525" algn="ctr">
            <a:noFill/>
            <a:miter lim="800000"/>
            <a:headEnd/>
            <a:tailEnd/>
          </a:ln>
        </p:spPr>
      </p:pic>
      <p:sp>
        <p:nvSpPr>
          <p:cNvPr id="5" name="CuadroTexto 8"/>
          <p:cNvSpPr txBox="1"/>
          <p:nvPr/>
        </p:nvSpPr>
        <p:spPr>
          <a:xfrm>
            <a:off x="3491880" y="3212976"/>
            <a:ext cx="5472608" cy="3170099"/>
          </a:xfrm>
          <a:prstGeom prst="rect">
            <a:avLst/>
          </a:prstGeom>
          <a:noFill/>
          <a:ln>
            <a:solidFill>
              <a:schemeClr val="accent1">
                <a:shade val="50000"/>
              </a:schemeClr>
            </a:solidFill>
          </a:ln>
        </p:spPr>
        <p:txBody>
          <a:bodyPr wrap="square" rtlCol="0">
            <a:spAutoFit/>
          </a:bodyPr>
          <a:lstStyle/>
          <a:p>
            <a:r>
              <a:rPr lang="es-AR" sz="2000" b="1" dirty="0"/>
              <a:t>&lt;</a:t>
            </a:r>
            <a:r>
              <a:rPr lang="es-AR" sz="2000" b="1" dirty="0" err="1"/>
              <a:t>label</a:t>
            </a:r>
            <a:r>
              <a:rPr lang="es-AR" sz="2000" b="1" dirty="0"/>
              <a:t> </a:t>
            </a:r>
            <a:r>
              <a:rPr lang="es-AR" sz="2000" b="1" dirty="0" err="1"/>
              <a:t>for</a:t>
            </a:r>
            <a:r>
              <a:rPr lang="es-AR" sz="2000" b="1" dirty="0"/>
              <a:t>=“comida”&gt; Selecciona tu comida preferida: &lt;/</a:t>
            </a:r>
            <a:r>
              <a:rPr lang="es-AR" sz="2000" b="1" dirty="0" err="1"/>
              <a:t>label</a:t>
            </a:r>
            <a:r>
              <a:rPr lang="es-AR" sz="2000" b="1" dirty="0"/>
              <a:t>&gt;  </a:t>
            </a:r>
          </a:p>
          <a:p>
            <a:r>
              <a:rPr lang="es-AR" sz="2000" b="1" dirty="0"/>
              <a:t>&lt;</a:t>
            </a:r>
            <a:r>
              <a:rPr lang="es-AR" sz="2000" b="1" dirty="0" err="1"/>
              <a:t>select</a:t>
            </a:r>
            <a:r>
              <a:rPr lang="es-AR" sz="2000" b="1" dirty="0"/>
              <a:t> id=“comida” </a:t>
            </a:r>
            <a:r>
              <a:rPr lang="es-AR" sz="2000" b="1" dirty="0" err="1"/>
              <a:t>name</a:t>
            </a:r>
            <a:r>
              <a:rPr lang="es-AR" sz="2000" b="1" dirty="0"/>
              <a:t>=“comida”&gt;</a:t>
            </a:r>
          </a:p>
          <a:p>
            <a:r>
              <a:rPr lang="es-AR" sz="2000" b="1" dirty="0">
                <a:solidFill>
                  <a:srgbClr val="0070C0"/>
                </a:solidFill>
              </a:rPr>
              <a:t>   &lt;</a:t>
            </a:r>
            <a:r>
              <a:rPr lang="es-AR" sz="2000" b="1" dirty="0" err="1">
                <a:solidFill>
                  <a:srgbClr val="0070C0"/>
                </a:solidFill>
              </a:rPr>
              <a:t>optgroup</a:t>
            </a:r>
            <a:r>
              <a:rPr lang="es-AR" sz="2000" b="1" dirty="0">
                <a:solidFill>
                  <a:srgbClr val="0070C0"/>
                </a:solidFill>
              </a:rPr>
              <a:t> </a:t>
            </a:r>
            <a:r>
              <a:rPr lang="es-AR" sz="2000" b="1" dirty="0" err="1">
                <a:solidFill>
                  <a:srgbClr val="0070C0"/>
                </a:solidFill>
              </a:rPr>
              <a:t>label</a:t>
            </a:r>
            <a:r>
              <a:rPr lang="es-AR" sz="2000" b="1" dirty="0">
                <a:solidFill>
                  <a:srgbClr val="0070C0"/>
                </a:solidFill>
              </a:rPr>
              <a:t>=“Fruta”&gt;</a:t>
            </a:r>
          </a:p>
          <a:p>
            <a:r>
              <a:rPr lang="es-AR" sz="2000" b="1" dirty="0"/>
              <a:t>      &lt;</a:t>
            </a:r>
            <a:r>
              <a:rPr lang="es-AR" sz="2000" b="1" dirty="0" err="1"/>
              <a:t>option</a:t>
            </a:r>
            <a:r>
              <a:rPr lang="es-AR" sz="2000" b="1" dirty="0"/>
              <a:t> </a:t>
            </a:r>
            <a:r>
              <a:rPr lang="es-AR" sz="2000" b="1" dirty="0" err="1"/>
              <a:t>value</a:t>
            </a:r>
            <a:r>
              <a:rPr lang="es-AR" sz="2000" b="1" dirty="0"/>
              <a:t>=“1”&gt; Manzanas &lt;/</a:t>
            </a:r>
            <a:r>
              <a:rPr lang="es-AR" sz="2000" b="1" dirty="0" err="1"/>
              <a:t>option</a:t>
            </a:r>
            <a:r>
              <a:rPr lang="es-AR" sz="2000" b="1" dirty="0"/>
              <a:t>&gt;</a:t>
            </a:r>
          </a:p>
          <a:p>
            <a:r>
              <a:rPr lang="es-AR" sz="2000" b="1" dirty="0"/>
              <a:t>      &lt;</a:t>
            </a:r>
            <a:r>
              <a:rPr lang="es-AR" sz="2000" b="1" dirty="0" err="1"/>
              <a:t>option</a:t>
            </a:r>
            <a:r>
              <a:rPr lang="es-AR" sz="2000" b="1" dirty="0"/>
              <a:t> </a:t>
            </a:r>
            <a:r>
              <a:rPr lang="es-AR" sz="2000" b="1" dirty="0" err="1"/>
              <a:t>value</a:t>
            </a:r>
            <a:r>
              <a:rPr lang="es-AR" sz="2000" b="1" dirty="0"/>
              <a:t>=“2”&gt; Plátanos &lt;/</a:t>
            </a:r>
            <a:r>
              <a:rPr lang="es-AR" sz="2000" b="1" dirty="0" err="1"/>
              <a:t>option</a:t>
            </a:r>
            <a:r>
              <a:rPr lang="es-AR" sz="2000" b="1" dirty="0"/>
              <a:t>&gt;</a:t>
            </a:r>
          </a:p>
          <a:p>
            <a:r>
              <a:rPr lang="es-AR" sz="2000" b="1" dirty="0"/>
              <a:t>      &lt;</a:t>
            </a:r>
            <a:r>
              <a:rPr lang="es-AR" sz="2000" b="1" dirty="0" err="1"/>
              <a:t>option</a:t>
            </a:r>
            <a:r>
              <a:rPr lang="es-AR" sz="2000" b="1" dirty="0"/>
              <a:t> </a:t>
            </a:r>
            <a:r>
              <a:rPr lang="es-AR" sz="2000" b="1" dirty="0" err="1"/>
              <a:t>value</a:t>
            </a:r>
            <a:r>
              <a:rPr lang="es-AR" sz="2000" b="1" dirty="0"/>
              <a:t>=“3”&gt; Moras &lt;/</a:t>
            </a:r>
            <a:r>
              <a:rPr lang="es-AR" sz="2000" b="1" dirty="0" err="1"/>
              <a:t>option</a:t>
            </a:r>
            <a:r>
              <a:rPr lang="es-AR" sz="2000" b="1" dirty="0"/>
              <a:t>&gt;</a:t>
            </a:r>
          </a:p>
          <a:p>
            <a:r>
              <a:rPr lang="es-AR" sz="2000" b="1" dirty="0">
                <a:solidFill>
                  <a:srgbClr val="0070C0"/>
                </a:solidFill>
              </a:rPr>
              <a:t>   &lt;/</a:t>
            </a:r>
            <a:r>
              <a:rPr lang="es-AR" sz="2000" b="1" dirty="0" err="1">
                <a:solidFill>
                  <a:srgbClr val="0070C0"/>
                </a:solidFill>
              </a:rPr>
              <a:t>optgroup</a:t>
            </a:r>
            <a:r>
              <a:rPr lang="es-AR" sz="2000" b="1" dirty="0">
                <a:solidFill>
                  <a:srgbClr val="0070C0"/>
                </a:solidFill>
              </a:rPr>
              <a:t>&gt;</a:t>
            </a:r>
          </a:p>
          <a:p>
            <a:r>
              <a:rPr lang="es-AR" sz="2000" b="1" dirty="0"/>
              <a:t>…</a:t>
            </a:r>
          </a:p>
          <a:p>
            <a:r>
              <a:rPr lang="es-AR" sz="2000" b="1" dirty="0"/>
              <a:t>&lt;/</a:t>
            </a:r>
            <a:r>
              <a:rPr lang="es-AR" sz="2000" b="1" dirty="0" err="1"/>
              <a:t>select</a:t>
            </a:r>
            <a:r>
              <a:rPr lang="es-AR" sz="2000" b="1" dirty="0"/>
              <a:t>&gt;</a:t>
            </a:r>
            <a:endParaRPr lang="es-AR" sz="2000" b="1" dirty="0">
              <a:solidFill>
                <a:srgbClr val="0070C0"/>
              </a:solidFill>
            </a:endParaRPr>
          </a:p>
        </p:txBody>
      </p:sp>
      <p:pic>
        <p:nvPicPr>
          <p:cNvPr id="6" name="Picture 8"/>
          <p:cNvPicPr>
            <a:picLocks noChangeAspect="1" noChangeArrowheads="1"/>
          </p:cNvPicPr>
          <p:nvPr/>
        </p:nvPicPr>
        <p:blipFill rotWithShape="1">
          <a:blip r:embed="rId3" cstate="print"/>
          <a:srcRect l="14524" t="35636" r="76231" b="50504"/>
          <a:stretch/>
        </p:blipFill>
        <p:spPr bwMode="auto">
          <a:xfrm>
            <a:off x="683568" y="3401997"/>
            <a:ext cx="2602632" cy="2926709"/>
          </a:xfrm>
          <a:prstGeom prst="rect">
            <a:avLst/>
          </a:prstGeom>
          <a:noFill/>
          <a:ln w="9525" algn="ctr">
            <a:noFill/>
            <a:miter lim="800000"/>
            <a:headEnd/>
            <a:tailEnd/>
          </a:ln>
        </p:spPr>
      </p:pic>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111</a:t>
            </a:fld>
            <a:endParaRPr lang="es-ES" altLang="es-AR"/>
          </a:p>
        </p:txBody>
      </p:sp>
    </p:spTree>
    <p:extLst>
      <p:ext uri="{BB962C8B-B14F-4D97-AF65-F5344CB8AC3E}">
        <p14:creationId xmlns:p14="http://schemas.microsoft.com/office/powerpoint/2010/main" val="532814843"/>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1 Título"/>
          <p:cNvSpPr>
            <a:spLocks noGrp="1"/>
          </p:cNvSpPr>
          <p:nvPr>
            <p:ph type="title"/>
          </p:nvPr>
        </p:nvSpPr>
        <p:spPr>
          <a:xfrm>
            <a:off x="457200" y="274638"/>
            <a:ext cx="8229600" cy="654050"/>
          </a:xfrm>
        </p:spPr>
        <p:txBody>
          <a:bodyPr/>
          <a:lstStyle/>
          <a:p>
            <a:r>
              <a:rPr lang="es-AR" altLang="es-AR" b="1"/>
              <a:t>Contenido accesible</a:t>
            </a:r>
          </a:p>
        </p:txBody>
      </p:sp>
      <p:sp>
        <p:nvSpPr>
          <p:cNvPr id="57347" name="2 Marcador de contenido"/>
          <p:cNvSpPr>
            <a:spLocks noGrp="1"/>
          </p:cNvSpPr>
          <p:nvPr>
            <p:ph idx="1"/>
          </p:nvPr>
        </p:nvSpPr>
        <p:spPr>
          <a:xfrm>
            <a:off x="430213" y="1916113"/>
            <a:ext cx="8229600" cy="4393207"/>
          </a:xfrm>
        </p:spPr>
        <p:txBody>
          <a:bodyPr/>
          <a:lstStyle/>
          <a:p>
            <a:pPr>
              <a:lnSpc>
                <a:spcPct val="90000"/>
              </a:lnSpc>
            </a:pPr>
            <a:r>
              <a:rPr lang="es-AR" dirty="0"/>
              <a:t>Formularios</a:t>
            </a:r>
          </a:p>
          <a:p>
            <a:pPr lvl="1" algn="just">
              <a:lnSpc>
                <a:spcPct val="90000"/>
              </a:lnSpc>
            </a:pPr>
            <a:endParaRPr lang="es-AR" dirty="0"/>
          </a:p>
          <a:p>
            <a:pPr lvl="1"/>
            <a:r>
              <a:rPr lang="es-AR" dirty="0"/>
              <a:t>Los controles de formulario no pueden provocar un cambio de contexto como abrir otra página o ventana, mover el foco a otro componente o enviar un formulario de forma automática o sin conocimiento del usuario. (Pauta 3.2 Predecible: Hacer que las páginas web aparezcan y operen de manera predecible)</a:t>
            </a:r>
          </a:p>
          <a:p>
            <a:pPr lvl="2"/>
            <a:r>
              <a:rPr lang="es-AR" dirty="0"/>
              <a:t>Ni al recibir el foco.</a:t>
            </a:r>
          </a:p>
          <a:p>
            <a:pPr lvl="2"/>
            <a:r>
              <a:rPr lang="es-AR" dirty="0"/>
              <a:t>Ni al entrar datos o cambiar su estado.</a:t>
            </a:r>
          </a:p>
          <a:p>
            <a:pPr lvl="1"/>
            <a:r>
              <a:rPr lang="es-AR" dirty="0"/>
              <a:t>Por ejemplo, el formulario se enviará con un botón “</a:t>
            </a:r>
            <a:r>
              <a:rPr lang="es-AR" dirty="0" err="1"/>
              <a:t>submit</a:t>
            </a:r>
            <a:r>
              <a:rPr lang="es-AR" dirty="0"/>
              <a:t>”</a:t>
            </a:r>
          </a:p>
          <a:p>
            <a:pPr lvl="2"/>
            <a:r>
              <a:rPr lang="es-AR" dirty="0"/>
              <a:t>&lt;input </a:t>
            </a:r>
            <a:r>
              <a:rPr lang="es-AR" dirty="0" err="1"/>
              <a:t>type</a:t>
            </a:r>
            <a:r>
              <a:rPr lang="es-AR" dirty="0"/>
              <a:t>=“</a:t>
            </a:r>
            <a:r>
              <a:rPr lang="es-AR" dirty="0" err="1"/>
              <a:t>submit</a:t>
            </a:r>
            <a:r>
              <a:rPr lang="es-AR" dirty="0"/>
              <a:t>” </a:t>
            </a:r>
            <a:r>
              <a:rPr lang="es-AR" dirty="0" err="1"/>
              <a:t>name</a:t>
            </a:r>
            <a:r>
              <a:rPr lang="es-AR" dirty="0"/>
              <a:t>=“enviar” </a:t>
            </a:r>
            <a:r>
              <a:rPr lang="es-AR" dirty="0" err="1"/>
              <a:t>value</a:t>
            </a:r>
            <a:r>
              <a:rPr lang="es-AR" dirty="0"/>
              <a:t>=“Enviar” /&gt;</a:t>
            </a:r>
          </a:p>
          <a:p>
            <a:pPr lvl="1"/>
            <a:r>
              <a:rPr lang="es-AR" dirty="0"/>
              <a:t>Por ejemplo, &lt;</a:t>
            </a:r>
            <a:r>
              <a:rPr lang="es-AR" dirty="0" err="1"/>
              <a:t>select</a:t>
            </a:r>
            <a:r>
              <a:rPr lang="es-AR" dirty="0"/>
              <a:t>&gt; + botón</a:t>
            </a:r>
          </a:p>
          <a:p>
            <a:pPr lvl="1" algn="just">
              <a:lnSpc>
                <a:spcPct val="90000"/>
              </a:lnSpc>
            </a:pPr>
            <a:endParaRPr lang="es-AR" dirty="0"/>
          </a:p>
          <a:p>
            <a:pPr lvl="1" algn="just">
              <a:lnSpc>
                <a:spcPct val="90000"/>
              </a:lnSpc>
            </a:pPr>
            <a:endParaRPr lang="es-AR" dirty="0"/>
          </a:p>
        </p:txBody>
      </p:sp>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112</a:t>
            </a:fld>
            <a:endParaRPr lang="es-ES" altLang="es-AR"/>
          </a:p>
        </p:txBody>
      </p:sp>
    </p:spTree>
    <p:extLst>
      <p:ext uri="{BB962C8B-B14F-4D97-AF65-F5344CB8AC3E}">
        <p14:creationId xmlns:p14="http://schemas.microsoft.com/office/powerpoint/2010/main" val="1346477615"/>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1 Título"/>
          <p:cNvSpPr>
            <a:spLocks noGrp="1"/>
          </p:cNvSpPr>
          <p:nvPr>
            <p:ph type="title"/>
          </p:nvPr>
        </p:nvSpPr>
        <p:spPr>
          <a:xfrm>
            <a:off x="457200" y="274638"/>
            <a:ext cx="8229600" cy="654050"/>
          </a:xfrm>
        </p:spPr>
        <p:txBody>
          <a:bodyPr/>
          <a:lstStyle/>
          <a:p>
            <a:r>
              <a:rPr lang="es-AR" altLang="es-AR" b="1"/>
              <a:t>Contenido accesible</a:t>
            </a:r>
          </a:p>
        </p:txBody>
      </p:sp>
      <p:sp>
        <p:nvSpPr>
          <p:cNvPr id="57347" name="2 Marcador de contenido"/>
          <p:cNvSpPr>
            <a:spLocks noGrp="1"/>
          </p:cNvSpPr>
          <p:nvPr>
            <p:ph idx="1"/>
          </p:nvPr>
        </p:nvSpPr>
        <p:spPr>
          <a:xfrm>
            <a:off x="430213" y="1916113"/>
            <a:ext cx="8229600" cy="4393207"/>
          </a:xfrm>
        </p:spPr>
        <p:txBody>
          <a:bodyPr/>
          <a:lstStyle/>
          <a:p>
            <a:pPr>
              <a:lnSpc>
                <a:spcPct val="90000"/>
              </a:lnSpc>
            </a:pPr>
            <a:r>
              <a:rPr lang="es-AR" dirty="0"/>
              <a:t>Formularios</a:t>
            </a:r>
          </a:p>
          <a:p>
            <a:pPr lvl="1" algn="just">
              <a:lnSpc>
                <a:spcPct val="90000"/>
              </a:lnSpc>
            </a:pPr>
            <a:endParaRPr lang="es-AR" dirty="0"/>
          </a:p>
          <a:p>
            <a:pPr lvl="1"/>
            <a:r>
              <a:rPr lang="es-AR" dirty="0"/>
              <a:t>¿Cómo prevenir los errores de los usuarios en los formularios?</a:t>
            </a:r>
          </a:p>
          <a:p>
            <a:pPr lvl="1"/>
            <a:endParaRPr lang="es-AR" dirty="0"/>
          </a:p>
          <a:p>
            <a:pPr lvl="2"/>
            <a:r>
              <a:rPr lang="es-AR" dirty="0"/>
              <a:t>Identificar los campos obligatorios (Técnica H90)</a:t>
            </a:r>
          </a:p>
          <a:p>
            <a:pPr lvl="2"/>
            <a:endParaRPr lang="es-AR" dirty="0"/>
          </a:p>
          <a:p>
            <a:pPr lvl="2"/>
            <a:r>
              <a:rPr lang="es-AR" dirty="0"/>
              <a:t>No identificar sólo por el color  (G205)</a:t>
            </a:r>
          </a:p>
          <a:p>
            <a:pPr lvl="2"/>
            <a:endParaRPr lang="es-AR" dirty="0"/>
          </a:p>
          <a:p>
            <a:pPr lvl="2"/>
            <a:r>
              <a:rPr lang="es-AR" dirty="0"/>
              <a:t>Informa del formato requerido (Técnica G89)</a:t>
            </a:r>
          </a:p>
        </p:txBody>
      </p:sp>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113</a:t>
            </a:fld>
            <a:endParaRPr lang="es-ES" altLang="es-AR"/>
          </a:p>
        </p:txBody>
      </p:sp>
    </p:spTree>
    <p:extLst>
      <p:ext uri="{BB962C8B-B14F-4D97-AF65-F5344CB8AC3E}">
        <p14:creationId xmlns:p14="http://schemas.microsoft.com/office/powerpoint/2010/main" val="2696379778"/>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1 Título"/>
          <p:cNvSpPr>
            <a:spLocks noGrp="1"/>
          </p:cNvSpPr>
          <p:nvPr>
            <p:ph type="title"/>
          </p:nvPr>
        </p:nvSpPr>
        <p:spPr>
          <a:xfrm>
            <a:off x="457200" y="274638"/>
            <a:ext cx="8229600" cy="654050"/>
          </a:xfrm>
        </p:spPr>
        <p:txBody>
          <a:bodyPr/>
          <a:lstStyle/>
          <a:p>
            <a:r>
              <a:rPr lang="es-AR" altLang="es-AR" b="1"/>
              <a:t>Contenido accesible</a:t>
            </a:r>
          </a:p>
        </p:txBody>
      </p:sp>
      <p:sp>
        <p:nvSpPr>
          <p:cNvPr id="57347" name="2 Marcador de contenido"/>
          <p:cNvSpPr>
            <a:spLocks noGrp="1"/>
          </p:cNvSpPr>
          <p:nvPr>
            <p:ph idx="1"/>
          </p:nvPr>
        </p:nvSpPr>
        <p:spPr>
          <a:xfrm>
            <a:off x="430213" y="1916113"/>
            <a:ext cx="8229600" cy="4393207"/>
          </a:xfrm>
        </p:spPr>
        <p:txBody>
          <a:bodyPr/>
          <a:lstStyle/>
          <a:p>
            <a:pPr>
              <a:lnSpc>
                <a:spcPct val="90000"/>
              </a:lnSpc>
            </a:pPr>
            <a:r>
              <a:rPr lang="es-AR" dirty="0"/>
              <a:t>Formularios</a:t>
            </a:r>
          </a:p>
          <a:p>
            <a:pPr lvl="1" algn="just">
              <a:lnSpc>
                <a:spcPct val="90000"/>
              </a:lnSpc>
            </a:pPr>
            <a:endParaRPr lang="es-AR" dirty="0"/>
          </a:p>
          <a:p>
            <a:pPr lvl="1"/>
            <a:r>
              <a:rPr lang="es-AR" dirty="0"/>
              <a:t>¿Cómo prevenir los errores de los usuarios en los formularios?</a:t>
            </a:r>
          </a:p>
          <a:p>
            <a:pPr lvl="1"/>
            <a:endParaRPr lang="es-AR" dirty="0"/>
          </a:p>
          <a:p>
            <a:pPr lvl="2"/>
            <a:r>
              <a:rPr lang="es-AR" dirty="0"/>
              <a:t>Identificar los campos obligatorios (Técnica H90)</a:t>
            </a:r>
          </a:p>
          <a:p>
            <a:pPr marL="914400" lvl="2" indent="0">
              <a:buNone/>
            </a:pPr>
            <a:endParaRPr lang="es-AR" dirty="0"/>
          </a:p>
          <a:p>
            <a:pPr lvl="2">
              <a:buNone/>
            </a:pPr>
            <a:r>
              <a:rPr lang="es-AR" dirty="0"/>
              <a:t>Nombre (obligatorio):                                                 </a:t>
            </a:r>
            <a:r>
              <a:rPr lang="es-AR" b="1" dirty="0">
                <a:solidFill>
                  <a:srgbClr val="00B050"/>
                </a:solidFill>
              </a:rPr>
              <a:t>BIEN</a:t>
            </a:r>
          </a:p>
        </p:txBody>
      </p:sp>
      <p:sp>
        <p:nvSpPr>
          <p:cNvPr id="4" name="3 CuadroTexto"/>
          <p:cNvSpPr txBox="1"/>
          <p:nvPr/>
        </p:nvSpPr>
        <p:spPr>
          <a:xfrm>
            <a:off x="4067944" y="4055667"/>
            <a:ext cx="3006233" cy="373075"/>
          </a:xfrm>
          <a:prstGeom prst="rect">
            <a:avLst/>
          </a:prstGeom>
          <a:noFill/>
          <a:ln>
            <a:solidFill>
              <a:schemeClr val="tx1"/>
            </a:solidFill>
          </a:ln>
        </p:spPr>
        <p:txBody>
          <a:bodyPr wrap="square" rtlCol="0">
            <a:spAutoFit/>
          </a:bodyPr>
          <a:lstStyle/>
          <a:p>
            <a:endParaRPr lang="es-AR" dirty="0"/>
          </a:p>
        </p:txBody>
      </p:sp>
      <p:sp>
        <p:nvSpPr>
          <p:cNvPr id="5" name="4 CuadroTexto"/>
          <p:cNvSpPr txBox="1"/>
          <p:nvPr/>
        </p:nvSpPr>
        <p:spPr>
          <a:xfrm>
            <a:off x="2381512" y="4047547"/>
            <a:ext cx="1470408" cy="381195"/>
          </a:xfrm>
          <a:prstGeom prst="rect">
            <a:avLst/>
          </a:prstGeom>
          <a:noFill/>
          <a:ln w="25400">
            <a:solidFill>
              <a:srgbClr val="00B050"/>
            </a:solidFill>
          </a:ln>
        </p:spPr>
        <p:txBody>
          <a:bodyPr wrap="square" rtlCol="0">
            <a:spAutoFit/>
          </a:bodyPr>
          <a:lstStyle/>
          <a:p>
            <a:endParaRPr lang="es-AR" dirty="0"/>
          </a:p>
        </p:txBody>
      </p:sp>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114</a:t>
            </a:fld>
            <a:endParaRPr lang="es-ES" altLang="es-AR"/>
          </a:p>
        </p:txBody>
      </p:sp>
    </p:spTree>
    <p:extLst>
      <p:ext uri="{BB962C8B-B14F-4D97-AF65-F5344CB8AC3E}">
        <p14:creationId xmlns:p14="http://schemas.microsoft.com/office/powerpoint/2010/main" val="2660220675"/>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1 Título"/>
          <p:cNvSpPr>
            <a:spLocks noGrp="1"/>
          </p:cNvSpPr>
          <p:nvPr>
            <p:ph type="title"/>
          </p:nvPr>
        </p:nvSpPr>
        <p:spPr>
          <a:xfrm>
            <a:off x="457200" y="274638"/>
            <a:ext cx="8229600" cy="654050"/>
          </a:xfrm>
        </p:spPr>
        <p:txBody>
          <a:bodyPr/>
          <a:lstStyle/>
          <a:p>
            <a:r>
              <a:rPr lang="es-AR" altLang="es-AR" b="1"/>
              <a:t>Contenido accesible</a:t>
            </a:r>
          </a:p>
        </p:txBody>
      </p:sp>
      <p:sp>
        <p:nvSpPr>
          <p:cNvPr id="57347" name="2 Marcador de contenido"/>
          <p:cNvSpPr>
            <a:spLocks noGrp="1"/>
          </p:cNvSpPr>
          <p:nvPr>
            <p:ph idx="1"/>
          </p:nvPr>
        </p:nvSpPr>
        <p:spPr>
          <a:xfrm>
            <a:off x="430213" y="1916113"/>
            <a:ext cx="8229600" cy="4393207"/>
          </a:xfrm>
        </p:spPr>
        <p:txBody>
          <a:bodyPr/>
          <a:lstStyle/>
          <a:p>
            <a:pPr>
              <a:lnSpc>
                <a:spcPct val="90000"/>
              </a:lnSpc>
            </a:pPr>
            <a:r>
              <a:rPr lang="es-AR" dirty="0"/>
              <a:t>Formularios</a:t>
            </a:r>
          </a:p>
          <a:p>
            <a:pPr lvl="1" algn="just">
              <a:lnSpc>
                <a:spcPct val="90000"/>
              </a:lnSpc>
            </a:pPr>
            <a:endParaRPr lang="es-AR" dirty="0"/>
          </a:p>
          <a:p>
            <a:pPr lvl="1"/>
            <a:r>
              <a:rPr lang="es-AR" dirty="0"/>
              <a:t>¿Cómo prevenir los errores de los usuarios en los formularios?</a:t>
            </a:r>
          </a:p>
          <a:p>
            <a:pPr lvl="1"/>
            <a:endParaRPr lang="es-AR" dirty="0"/>
          </a:p>
          <a:p>
            <a:pPr lvl="2"/>
            <a:r>
              <a:rPr lang="es-AR" dirty="0"/>
              <a:t>No identificar sólo por el color  (G205)</a:t>
            </a:r>
          </a:p>
          <a:p>
            <a:pPr marL="914400" lvl="2" indent="0">
              <a:buNone/>
            </a:pPr>
            <a:endParaRPr lang="es-AR" dirty="0"/>
          </a:p>
          <a:p>
            <a:pPr lvl="2">
              <a:buNone/>
            </a:pPr>
            <a:r>
              <a:rPr lang="es-AR" dirty="0"/>
              <a:t>Nombre:                                                  </a:t>
            </a:r>
            <a:r>
              <a:rPr lang="es-AR" b="1" dirty="0">
                <a:solidFill>
                  <a:srgbClr val="FF0000"/>
                </a:solidFill>
              </a:rPr>
              <a:t>MAL</a:t>
            </a:r>
          </a:p>
          <a:p>
            <a:pPr lvl="2">
              <a:buNone/>
            </a:pPr>
            <a:endParaRPr lang="es-AR" b="1" dirty="0">
              <a:solidFill>
                <a:srgbClr val="FF0000"/>
              </a:solidFill>
            </a:endParaRPr>
          </a:p>
          <a:p>
            <a:pPr lvl="2">
              <a:buNone/>
            </a:pPr>
            <a:r>
              <a:rPr lang="es-AR" b="1" dirty="0">
                <a:solidFill>
                  <a:srgbClr val="00B0F0"/>
                </a:solidFill>
              </a:rPr>
              <a:t>Nombre:</a:t>
            </a:r>
            <a:r>
              <a:rPr lang="es-AR" dirty="0"/>
              <a:t>                                                 </a:t>
            </a:r>
            <a:r>
              <a:rPr lang="es-AR" b="1" dirty="0">
                <a:solidFill>
                  <a:srgbClr val="FF0000"/>
                </a:solidFill>
              </a:rPr>
              <a:t>MAL</a:t>
            </a:r>
          </a:p>
        </p:txBody>
      </p:sp>
      <p:sp>
        <p:nvSpPr>
          <p:cNvPr id="4" name="3 CuadroTexto"/>
          <p:cNvSpPr txBox="1"/>
          <p:nvPr/>
        </p:nvSpPr>
        <p:spPr>
          <a:xfrm>
            <a:off x="2573879" y="4055667"/>
            <a:ext cx="3006233" cy="373075"/>
          </a:xfrm>
          <a:prstGeom prst="rect">
            <a:avLst/>
          </a:prstGeom>
          <a:solidFill>
            <a:schemeClr val="accent1"/>
          </a:solidFill>
          <a:ln>
            <a:solidFill>
              <a:schemeClr val="tx1"/>
            </a:solidFill>
          </a:ln>
        </p:spPr>
        <p:txBody>
          <a:bodyPr wrap="square" rtlCol="0">
            <a:spAutoFit/>
          </a:bodyPr>
          <a:lstStyle/>
          <a:p>
            <a:endParaRPr lang="es-AR" dirty="0"/>
          </a:p>
        </p:txBody>
      </p:sp>
      <p:sp>
        <p:nvSpPr>
          <p:cNvPr id="6" name="3 CuadroTexto"/>
          <p:cNvSpPr txBox="1"/>
          <p:nvPr/>
        </p:nvSpPr>
        <p:spPr>
          <a:xfrm>
            <a:off x="2573878" y="4789582"/>
            <a:ext cx="3006233" cy="373075"/>
          </a:xfrm>
          <a:prstGeom prst="rect">
            <a:avLst/>
          </a:prstGeom>
          <a:noFill/>
          <a:ln>
            <a:solidFill>
              <a:schemeClr val="tx1"/>
            </a:solidFill>
          </a:ln>
        </p:spPr>
        <p:txBody>
          <a:bodyPr wrap="square" rtlCol="0">
            <a:spAutoFit/>
          </a:bodyPr>
          <a:lstStyle/>
          <a:p>
            <a:endParaRPr lang="es-AR" dirty="0"/>
          </a:p>
        </p:txBody>
      </p:sp>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115</a:t>
            </a:fld>
            <a:endParaRPr lang="es-ES" altLang="es-AR"/>
          </a:p>
        </p:txBody>
      </p:sp>
    </p:spTree>
    <p:extLst>
      <p:ext uri="{BB962C8B-B14F-4D97-AF65-F5344CB8AC3E}">
        <p14:creationId xmlns:p14="http://schemas.microsoft.com/office/powerpoint/2010/main" val="1885731954"/>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1 Título"/>
          <p:cNvSpPr>
            <a:spLocks noGrp="1"/>
          </p:cNvSpPr>
          <p:nvPr>
            <p:ph type="title"/>
          </p:nvPr>
        </p:nvSpPr>
        <p:spPr>
          <a:xfrm>
            <a:off x="457200" y="274638"/>
            <a:ext cx="8229600" cy="654050"/>
          </a:xfrm>
        </p:spPr>
        <p:txBody>
          <a:bodyPr/>
          <a:lstStyle/>
          <a:p>
            <a:r>
              <a:rPr lang="es-AR" altLang="es-AR" b="1"/>
              <a:t>Contenido accesible</a:t>
            </a:r>
          </a:p>
        </p:txBody>
      </p:sp>
      <p:sp>
        <p:nvSpPr>
          <p:cNvPr id="57347" name="2 Marcador de contenido"/>
          <p:cNvSpPr>
            <a:spLocks noGrp="1"/>
          </p:cNvSpPr>
          <p:nvPr>
            <p:ph idx="1"/>
          </p:nvPr>
        </p:nvSpPr>
        <p:spPr>
          <a:xfrm>
            <a:off x="430213" y="1916113"/>
            <a:ext cx="8229600" cy="4393207"/>
          </a:xfrm>
        </p:spPr>
        <p:txBody>
          <a:bodyPr/>
          <a:lstStyle/>
          <a:p>
            <a:pPr>
              <a:lnSpc>
                <a:spcPct val="90000"/>
              </a:lnSpc>
            </a:pPr>
            <a:r>
              <a:rPr lang="es-AR" dirty="0"/>
              <a:t>Formularios</a:t>
            </a:r>
          </a:p>
          <a:p>
            <a:pPr lvl="1" algn="just">
              <a:lnSpc>
                <a:spcPct val="90000"/>
              </a:lnSpc>
            </a:pPr>
            <a:endParaRPr lang="es-AR" dirty="0"/>
          </a:p>
          <a:p>
            <a:pPr lvl="1"/>
            <a:r>
              <a:rPr lang="es-AR" dirty="0"/>
              <a:t>¿Cómo prevenir los errores de los usuarios en los formularios?</a:t>
            </a:r>
          </a:p>
          <a:p>
            <a:pPr lvl="1"/>
            <a:endParaRPr lang="es-AR" dirty="0"/>
          </a:p>
          <a:p>
            <a:pPr lvl="2"/>
            <a:r>
              <a:rPr lang="es-AR" dirty="0"/>
              <a:t>Informa del formato requerido (Técnica G89)</a:t>
            </a:r>
          </a:p>
          <a:p>
            <a:pPr marL="914400" lvl="2" indent="0">
              <a:buNone/>
            </a:pPr>
            <a:endParaRPr lang="es-AR" dirty="0"/>
          </a:p>
          <a:p>
            <a:pPr lvl="2">
              <a:buNone/>
            </a:pPr>
            <a:r>
              <a:rPr lang="es-AR" dirty="0"/>
              <a:t>Fecha (</a:t>
            </a:r>
            <a:r>
              <a:rPr lang="es-AR" dirty="0" err="1"/>
              <a:t>dd</a:t>
            </a:r>
            <a:r>
              <a:rPr lang="es-AR" dirty="0"/>
              <a:t>/mm/</a:t>
            </a:r>
            <a:r>
              <a:rPr lang="es-AR" dirty="0" err="1"/>
              <a:t>aaaa</a:t>
            </a:r>
            <a:r>
              <a:rPr lang="es-AR" dirty="0"/>
              <a:t>):                                                 </a:t>
            </a:r>
            <a:r>
              <a:rPr lang="es-AR" b="1" dirty="0">
                <a:solidFill>
                  <a:srgbClr val="00B050"/>
                </a:solidFill>
              </a:rPr>
              <a:t>BIEN</a:t>
            </a:r>
          </a:p>
          <a:p>
            <a:pPr lvl="2">
              <a:buNone/>
            </a:pPr>
            <a:r>
              <a:rPr lang="es-AR" b="1" dirty="0">
                <a:solidFill>
                  <a:srgbClr val="00B050"/>
                </a:solidFill>
              </a:rPr>
              <a:t>			           </a:t>
            </a:r>
            <a:r>
              <a:rPr lang="es-AR" dirty="0"/>
              <a:t>Por ejemplo:  01/10/2016</a:t>
            </a:r>
            <a:endParaRPr lang="es-AR" b="1" dirty="0">
              <a:solidFill>
                <a:srgbClr val="00B050"/>
              </a:solidFill>
            </a:endParaRPr>
          </a:p>
        </p:txBody>
      </p:sp>
      <p:sp>
        <p:nvSpPr>
          <p:cNvPr id="4" name="3 CuadroTexto"/>
          <p:cNvSpPr txBox="1"/>
          <p:nvPr/>
        </p:nvSpPr>
        <p:spPr>
          <a:xfrm>
            <a:off x="3995936" y="4055667"/>
            <a:ext cx="3006233" cy="373075"/>
          </a:xfrm>
          <a:prstGeom prst="rect">
            <a:avLst/>
          </a:prstGeom>
          <a:noFill/>
          <a:ln>
            <a:solidFill>
              <a:schemeClr val="tx1"/>
            </a:solidFill>
          </a:ln>
        </p:spPr>
        <p:txBody>
          <a:bodyPr wrap="square" rtlCol="0">
            <a:spAutoFit/>
          </a:bodyPr>
          <a:lstStyle/>
          <a:p>
            <a:endParaRPr lang="es-AR" dirty="0"/>
          </a:p>
        </p:txBody>
      </p:sp>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116</a:t>
            </a:fld>
            <a:endParaRPr lang="es-ES" altLang="es-AR"/>
          </a:p>
        </p:txBody>
      </p:sp>
    </p:spTree>
    <p:extLst>
      <p:ext uri="{BB962C8B-B14F-4D97-AF65-F5344CB8AC3E}">
        <p14:creationId xmlns:p14="http://schemas.microsoft.com/office/powerpoint/2010/main" val="530343668"/>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1 Título"/>
          <p:cNvSpPr>
            <a:spLocks noGrp="1"/>
          </p:cNvSpPr>
          <p:nvPr>
            <p:ph type="title"/>
          </p:nvPr>
        </p:nvSpPr>
        <p:spPr>
          <a:xfrm>
            <a:off x="457200" y="274638"/>
            <a:ext cx="8229600" cy="654050"/>
          </a:xfrm>
        </p:spPr>
        <p:txBody>
          <a:bodyPr/>
          <a:lstStyle/>
          <a:p>
            <a:r>
              <a:rPr lang="es-AR" altLang="es-AR" b="1"/>
              <a:t>Contenido accesible</a:t>
            </a:r>
          </a:p>
        </p:txBody>
      </p:sp>
      <p:sp>
        <p:nvSpPr>
          <p:cNvPr id="57347" name="2 Marcador de contenido"/>
          <p:cNvSpPr>
            <a:spLocks noGrp="1"/>
          </p:cNvSpPr>
          <p:nvPr>
            <p:ph idx="1"/>
          </p:nvPr>
        </p:nvSpPr>
        <p:spPr>
          <a:xfrm>
            <a:off x="430213" y="1916113"/>
            <a:ext cx="8229600" cy="4393207"/>
          </a:xfrm>
        </p:spPr>
        <p:txBody>
          <a:bodyPr/>
          <a:lstStyle/>
          <a:p>
            <a:pPr>
              <a:lnSpc>
                <a:spcPct val="90000"/>
              </a:lnSpc>
            </a:pPr>
            <a:r>
              <a:rPr lang="es-AR" dirty="0"/>
              <a:t>Formularios</a:t>
            </a:r>
          </a:p>
          <a:p>
            <a:pPr lvl="1" algn="just">
              <a:lnSpc>
                <a:spcPct val="90000"/>
              </a:lnSpc>
            </a:pPr>
            <a:endParaRPr lang="es-AR" dirty="0"/>
          </a:p>
          <a:p>
            <a:pPr lvl="1"/>
            <a:r>
              <a:rPr lang="es-AR" dirty="0"/>
              <a:t>¿Cómo mejorar la accesibilidad de los mensajes de validación de los formularios?</a:t>
            </a:r>
          </a:p>
          <a:p>
            <a:pPr lvl="1"/>
            <a:r>
              <a:rPr lang="es-AR" dirty="0"/>
              <a:t>Identificar  y describir los errores mediante texto (Criterio 3.3.1 Identificación de errores)</a:t>
            </a:r>
          </a:p>
          <a:p>
            <a:pPr lvl="2"/>
            <a:r>
              <a:rPr lang="es-AR" dirty="0"/>
              <a:t>Objetivo: que todos los usuarios se percaten de que se ha producido un error y donde.</a:t>
            </a:r>
          </a:p>
          <a:p>
            <a:pPr lvl="2"/>
            <a:r>
              <a:rPr lang="es-AR" dirty="0"/>
              <a:t>¿Cómo se hace?</a:t>
            </a:r>
          </a:p>
          <a:p>
            <a:pPr lvl="3"/>
            <a:r>
              <a:rPr lang="es-AR" dirty="0"/>
              <a:t>Informando mediante texto, al comienzo del formulario, de los errores existentes.</a:t>
            </a:r>
          </a:p>
          <a:p>
            <a:pPr lvl="3"/>
            <a:r>
              <a:rPr lang="es-AR" dirty="0"/>
              <a:t>Describiendo el problema e identificando los campos con error.</a:t>
            </a:r>
          </a:p>
          <a:p>
            <a:pPr lvl="1"/>
            <a:endParaRPr lang="es-AR" dirty="0"/>
          </a:p>
        </p:txBody>
      </p:sp>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117</a:t>
            </a:fld>
            <a:endParaRPr lang="es-ES" altLang="es-AR"/>
          </a:p>
        </p:txBody>
      </p:sp>
    </p:spTree>
    <p:extLst>
      <p:ext uri="{BB962C8B-B14F-4D97-AF65-F5344CB8AC3E}">
        <p14:creationId xmlns:p14="http://schemas.microsoft.com/office/powerpoint/2010/main" val="2615918636"/>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1 Título"/>
          <p:cNvSpPr>
            <a:spLocks noGrp="1"/>
          </p:cNvSpPr>
          <p:nvPr>
            <p:ph type="title"/>
          </p:nvPr>
        </p:nvSpPr>
        <p:spPr>
          <a:xfrm>
            <a:off x="457200" y="274638"/>
            <a:ext cx="8229600" cy="654050"/>
          </a:xfrm>
        </p:spPr>
        <p:txBody>
          <a:bodyPr/>
          <a:lstStyle/>
          <a:p>
            <a:r>
              <a:rPr lang="es-AR" altLang="es-AR" b="1"/>
              <a:t>Contenido accesible</a:t>
            </a:r>
          </a:p>
        </p:txBody>
      </p:sp>
      <p:sp>
        <p:nvSpPr>
          <p:cNvPr id="57347" name="2 Marcador de contenido"/>
          <p:cNvSpPr>
            <a:spLocks noGrp="1"/>
          </p:cNvSpPr>
          <p:nvPr>
            <p:ph idx="1"/>
          </p:nvPr>
        </p:nvSpPr>
        <p:spPr>
          <a:xfrm>
            <a:off x="461529" y="1523053"/>
            <a:ext cx="8229600" cy="1008831"/>
          </a:xfrm>
        </p:spPr>
        <p:txBody>
          <a:bodyPr/>
          <a:lstStyle/>
          <a:p>
            <a:pPr>
              <a:lnSpc>
                <a:spcPct val="90000"/>
              </a:lnSpc>
            </a:pPr>
            <a:r>
              <a:rPr lang="es-AR" dirty="0"/>
              <a:t>Formularios</a:t>
            </a:r>
          </a:p>
          <a:p>
            <a:pPr lvl="1"/>
            <a:r>
              <a:rPr lang="es-AR" dirty="0"/>
              <a:t>Ejemplo:</a:t>
            </a:r>
          </a:p>
        </p:txBody>
      </p:sp>
      <p:sp>
        <p:nvSpPr>
          <p:cNvPr id="4" name="3 CuadroTexto"/>
          <p:cNvSpPr txBox="1"/>
          <p:nvPr/>
        </p:nvSpPr>
        <p:spPr>
          <a:xfrm>
            <a:off x="683568" y="2492896"/>
            <a:ext cx="4032448" cy="3662541"/>
          </a:xfrm>
          <a:prstGeom prst="rect">
            <a:avLst/>
          </a:prstGeom>
          <a:noFill/>
        </p:spPr>
        <p:txBody>
          <a:bodyPr wrap="square" rtlCol="0">
            <a:spAutoFit/>
          </a:bodyPr>
          <a:lstStyle/>
          <a:p>
            <a:r>
              <a:rPr lang="es-AR" sz="2000" b="1" dirty="0"/>
              <a:t>Suscripción al boletín de noticias</a:t>
            </a:r>
          </a:p>
          <a:p>
            <a:endParaRPr lang="es-AR" sz="1600" dirty="0"/>
          </a:p>
          <a:p>
            <a:endParaRPr lang="es-AR" sz="1600" dirty="0"/>
          </a:p>
          <a:p>
            <a:r>
              <a:rPr lang="es-AR" sz="2000" dirty="0"/>
              <a:t>Nombre y apellidos (obligatorios):</a:t>
            </a:r>
          </a:p>
          <a:p>
            <a:endParaRPr lang="es-AR" sz="2000" dirty="0"/>
          </a:p>
          <a:p>
            <a:endParaRPr lang="es-AR" sz="2000" dirty="0"/>
          </a:p>
          <a:p>
            <a:r>
              <a:rPr lang="es-AR" sz="2000" dirty="0"/>
              <a:t>Email (obligatorio):</a:t>
            </a:r>
          </a:p>
          <a:p>
            <a:endParaRPr lang="es-AR" sz="2000" dirty="0"/>
          </a:p>
          <a:p>
            <a:endParaRPr lang="es-AR" sz="2000" dirty="0"/>
          </a:p>
          <a:p>
            <a:endParaRPr lang="es-AR" sz="2000" dirty="0"/>
          </a:p>
          <a:p>
            <a:endParaRPr lang="es-AR" sz="2000" dirty="0"/>
          </a:p>
        </p:txBody>
      </p:sp>
      <p:sp>
        <p:nvSpPr>
          <p:cNvPr id="5" name="4 CuadroTexto"/>
          <p:cNvSpPr txBox="1"/>
          <p:nvPr/>
        </p:nvSpPr>
        <p:spPr>
          <a:xfrm>
            <a:off x="706699" y="3963912"/>
            <a:ext cx="2501900" cy="400110"/>
          </a:xfrm>
          <a:prstGeom prst="rect">
            <a:avLst/>
          </a:prstGeom>
          <a:noFill/>
          <a:ln>
            <a:solidFill>
              <a:schemeClr val="accent1"/>
            </a:solidFill>
          </a:ln>
        </p:spPr>
        <p:txBody>
          <a:bodyPr wrap="square" rtlCol="0">
            <a:spAutoFit/>
          </a:bodyPr>
          <a:lstStyle/>
          <a:p>
            <a:r>
              <a:rPr lang="es-AR" sz="2000" dirty="0"/>
              <a:t>Pablo Pandolfo</a:t>
            </a:r>
          </a:p>
        </p:txBody>
      </p:sp>
      <p:sp>
        <p:nvSpPr>
          <p:cNvPr id="6" name="5 CuadroTexto"/>
          <p:cNvSpPr txBox="1"/>
          <p:nvPr/>
        </p:nvSpPr>
        <p:spPr>
          <a:xfrm>
            <a:off x="728479" y="5254903"/>
            <a:ext cx="2501900" cy="400110"/>
          </a:xfrm>
          <a:prstGeom prst="rect">
            <a:avLst/>
          </a:prstGeom>
          <a:noFill/>
          <a:ln>
            <a:solidFill>
              <a:schemeClr val="accent1"/>
            </a:solidFill>
          </a:ln>
        </p:spPr>
        <p:txBody>
          <a:bodyPr wrap="square" rtlCol="0">
            <a:spAutoFit/>
          </a:bodyPr>
          <a:lstStyle/>
          <a:p>
            <a:endParaRPr lang="es-AR" sz="2000" dirty="0"/>
          </a:p>
        </p:txBody>
      </p:sp>
      <p:sp>
        <p:nvSpPr>
          <p:cNvPr id="7" name="6 CuadroTexto"/>
          <p:cNvSpPr txBox="1"/>
          <p:nvPr/>
        </p:nvSpPr>
        <p:spPr>
          <a:xfrm>
            <a:off x="706699" y="5765194"/>
            <a:ext cx="1653665" cy="400110"/>
          </a:xfrm>
          <a:prstGeom prst="rect">
            <a:avLst/>
          </a:prstGeom>
          <a:solidFill>
            <a:schemeClr val="accent1"/>
          </a:solidFill>
          <a:ln>
            <a:solidFill>
              <a:schemeClr val="accent1"/>
            </a:solidFill>
          </a:ln>
        </p:spPr>
        <p:txBody>
          <a:bodyPr wrap="square" rtlCol="0">
            <a:spAutoFit/>
          </a:bodyPr>
          <a:lstStyle/>
          <a:p>
            <a:r>
              <a:rPr lang="es-AR" sz="2000" b="1" dirty="0"/>
              <a:t>Suscribirme</a:t>
            </a:r>
          </a:p>
        </p:txBody>
      </p:sp>
      <p:sp>
        <p:nvSpPr>
          <p:cNvPr id="8" name="12 Flecha derecha"/>
          <p:cNvSpPr/>
          <p:nvPr/>
        </p:nvSpPr>
        <p:spPr>
          <a:xfrm>
            <a:off x="3848912" y="5937491"/>
            <a:ext cx="609600" cy="21794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9" name="7 CuadroTexto"/>
          <p:cNvSpPr txBox="1"/>
          <p:nvPr/>
        </p:nvSpPr>
        <p:spPr>
          <a:xfrm>
            <a:off x="4857877" y="2492896"/>
            <a:ext cx="4127500" cy="3231654"/>
          </a:xfrm>
          <a:prstGeom prst="rect">
            <a:avLst/>
          </a:prstGeom>
          <a:noFill/>
        </p:spPr>
        <p:txBody>
          <a:bodyPr wrap="square" rtlCol="0">
            <a:spAutoFit/>
          </a:bodyPr>
          <a:lstStyle/>
          <a:p>
            <a:r>
              <a:rPr lang="es-AR" sz="2000" b="1" dirty="0"/>
              <a:t>Suscripción al boletín de noticias</a:t>
            </a:r>
          </a:p>
          <a:p>
            <a:r>
              <a:rPr lang="es-AR" sz="1600" b="1" dirty="0"/>
              <a:t>Ha ocurrido un error: El </a:t>
            </a:r>
            <a:r>
              <a:rPr lang="es-AR" sz="1600" b="1" u="sng" dirty="0"/>
              <a:t>campo “Email” </a:t>
            </a:r>
            <a:r>
              <a:rPr lang="es-AR" sz="1600" b="1" dirty="0"/>
              <a:t>es obligatorio.</a:t>
            </a:r>
          </a:p>
          <a:p>
            <a:r>
              <a:rPr lang="es-AR" sz="2000" dirty="0"/>
              <a:t>Nombre y apellidos (obligatorios):</a:t>
            </a:r>
          </a:p>
          <a:p>
            <a:endParaRPr lang="es-AR" sz="2000" dirty="0"/>
          </a:p>
          <a:p>
            <a:endParaRPr lang="es-AR" sz="2000" dirty="0"/>
          </a:p>
          <a:p>
            <a:r>
              <a:rPr lang="es-AR" sz="2000" dirty="0"/>
              <a:t>Email (obligatorio): </a:t>
            </a:r>
            <a:r>
              <a:rPr lang="es-AR" sz="1600" b="1" dirty="0">
                <a:solidFill>
                  <a:srgbClr val="0070C0"/>
                </a:solidFill>
              </a:rPr>
              <a:t>Por favor, indique su email.</a:t>
            </a:r>
          </a:p>
          <a:p>
            <a:endParaRPr lang="es-AR" sz="1600" dirty="0"/>
          </a:p>
          <a:p>
            <a:endParaRPr lang="es-AR" sz="2000" dirty="0"/>
          </a:p>
        </p:txBody>
      </p:sp>
      <p:sp>
        <p:nvSpPr>
          <p:cNvPr id="10" name="9 CuadroTexto"/>
          <p:cNvSpPr txBox="1"/>
          <p:nvPr/>
        </p:nvSpPr>
        <p:spPr>
          <a:xfrm>
            <a:off x="4950420" y="3964994"/>
            <a:ext cx="2501900" cy="400110"/>
          </a:xfrm>
          <a:prstGeom prst="rect">
            <a:avLst/>
          </a:prstGeom>
          <a:noFill/>
          <a:ln>
            <a:solidFill>
              <a:schemeClr val="accent1"/>
            </a:solidFill>
          </a:ln>
        </p:spPr>
        <p:txBody>
          <a:bodyPr wrap="square" rtlCol="0">
            <a:spAutoFit/>
          </a:bodyPr>
          <a:lstStyle/>
          <a:p>
            <a:r>
              <a:rPr lang="es-AR" sz="2000" dirty="0"/>
              <a:t>Pablo Pandolfo</a:t>
            </a:r>
          </a:p>
        </p:txBody>
      </p:sp>
      <p:sp>
        <p:nvSpPr>
          <p:cNvPr id="11" name="10 CuadroTexto"/>
          <p:cNvSpPr txBox="1"/>
          <p:nvPr/>
        </p:nvSpPr>
        <p:spPr>
          <a:xfrm>
            <a:off x="4969371" y="5254903"/>
            <a:ext cx="2501900" cy="400110"/>
          </a:xfrm>
          <a:prstGeom prst="rect">
            <a:avLst/>
          </a:prstGeom>
          <a:solidFill>
            <a:schemeClr val="accent5"/>
          </a:solidFill>
          <a:ln>
            <a:solidFill>
              <a:schemeClr val="accent1"/>
            </a:solidFill>
          </a:ln>
        </p:spPr>
        <p:txBody>
          <a:bodyPr wrap="square" rtlCol="0">
            <a:spAutoFit/>
          </a:bodyPr>
          <a:lstStyle/>
          <a:p>
            <a:endParaRPr lang="es-AR" sz="2000" dirty="0"/>
          </a:p>
        </p:txBody>
      </p:sp>
      <p:sp>
        <p:nvSpPr>
          <p:cNvPr id="21" name="6 CuadroTexto"/>
          <p:cNvSpPr txBox="1"/>
          <p:nvPr/>
        </p:nvSpPr>
        <p:spPr>
          <a:xfrm>
            <a:off x="4969371" y="5769339"/>
            <a:ext cx="1653665" cy="400110"/>
          </a:xfrm>
          <a:prstGeom prst="rect">
            <a:avLst/>
          </a:prstGeom>
          <a:solidFill>
            <a:schemeClr val="accent1"/>
          </a:solidFill>
          <a:ln>
            <a:solidFill>
              <a:schemeClr val="accent1"/>
            </a:solidFill>
          </a:ln>
        </p:spPr>
        <p:txBody>
          <a:bodyPr wrap="square" rtlCol="0">
            <a:spAutoFit/>
          </a:bodyPr>
          <a:lstStyle/>
          <a:p>
            <a:r>
              <a:rPr lang="es-AR" sz="2000" b="1" dirty="0"/>
              <a:t>Suscribirme</a:t>
            </a:r>
          </a:p>
        </p:txBody>
      </p:sp>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118</a:t>
            </a:fld>
            <a:endParaRPr lang="es-ES" altLang="es-AR"/>
          </a:p>
        </p:txBody>
      </p:sp>
    </p:spTree>
    <p:extLst>
      <p:ext uri="{BB962C8B-B14F-4D97-AF65-F5344CB8AC3E}">
        <p14:creationId xmlns:p14="http://schemas.microsoft.com/office/powerpoint/2010/main" val="1486766350"/>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1 Título"/>
          <p:cNvSpPr>
            <a:spLocks noGrp="1"/>
          </p:cNvSpPr>
          <p:nvPr>
            <p:ph type="title"/>
          </p:nvPr>
        </p:nvSpPr>
        <p:spPr>
          <a:xfrm>
            <a:off x="457200" y="274638"/>
            <a:ext cx="8229600" cy="654050"/>
          </a:xfrm>
        </p:spPr>
        <p:txBody>
          <a:bodyPr/>
          <a:lstStyle/>
          <a:p>
            <a:r>
              <a:rPr lang="es-AR" altLang="es-AR" b="1"/>
              <a:t>Organización</a:t>
            </a:r>
          </a:p>
        </p:txBody>
      </p:sp>
      <p:sp>
        <p:nvSpPr>
          <p:cNvPr id="35843" name="2 Marcador de contenido"/>
          <p:cNvSpPr>
            <a:spLocks noGrp="1"/>
          </p:cNvSpPr>
          <p:nvPr>
            <p:ph idx="1"/>
          </p:nvPr>
        </p:nvSpPr>
        <p:spPr/>
        <p:txBody>
          <a:bodyPr/>
          <a:lstStyle/>
          <a:p>
            <a:r>
              <a:rPr lang="es-AR" altLang="es-AR" dirty="0"/>
              <a:t>Introducción.</a:t>
            </a:r>
          </a:p>
          <a:p>
            <a:r>
              <a:rPr lang="es-AR" altLang="es-AR" dirty="0"/>
              <a:t>¿Qué es la accesibilidad web?</a:t>
            </a:r>
          </a:p>
          <a:p>
            <a:r>
              <a:rPr lang="es-AR" altLang="es-AR" dirty="0"/>
              <a:t>Pautas y leyes.</a:t>
            </a:r>
          </a:p>
          <a:p>
            <a:r>
              <a:rPr lang="es-AR" altLang="es-AR" dirty="0"/>
              <a:t>Contenido accesible.</a:t>
            </a:r>
          </a:p>
          <a:p>
            <a:r>
              <a:rPr lang="es-AR" altLang="es-AR" b="1" dirty="0">
                <a:solidFill>
                  <a:srgbClr val="0070C0"/>
                </a:solidFill>
              </a:rPr>
              <a:t>Navegación accesible.</a:t>
            </a:r>
          </a:p>
          <a:p>
            <a:r>
              <a:rPr lang="es-AR" altLang="es-AR" dirty="0"/>
              <a:t>Diseño accesible.</a:t>
            </a:r>
          </a:p>
          <a:p>
            <a:r>
              <a:rPr lang="es-AR" altLang="es-AR" dirty="0"/>
              <a:t>Análisis y evaluación de la accesibilidad web.</a:t>
            </a:r>
          </a:p>
          <a:p>
            <a:r>
              <a:rPr lang="es-AR" altLang="es-AR" dirty="0"/>
              <a:t>Conclusiones.</a:t>
            </a:r>
          </a:p>
        </p:txBody>
      </p:sp>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119</a:t>
            </a:fld>
            <a:endParaRPr lang="es-ES" altLang="es-AR"/>
          </a:p>
        </p:txBody>
      </p:sp>
    </p:spTree>
    <p:extLst>
      <p:ext uri="{BB962C8B-B14F-4D97-AF65-F5344CB8AC3E}">
        <p14:creationId xmlns:p14="http://schemas.microsoft.com/office/powerpoint/2010/main" val="1433947553"/>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1 Título"/>
          <p:cNvSpPr>
            <a:spLocks noGrp="1"/>
          </p:cNvSpPr>
          <p:nvPr>
            <p:ph type="title"/>
          </p:nvPr>
        </p:nvSpPr>
        <p:spPr>
          <a:xfrm>
            <a:off x="457200" y="274638"/>
            <a:ext cx="8229600" cy="654050"/>
          </a:xfrm>
        </p:spPr>
        <p:txBody>
          <a:bodyPr/>
          <a:lstStyle/>
          <a:p>
            <a:r>
              <a:rPr lang="es-AR" altLang="es-AR" b="1" dirty="0"/>
              <a:t>Navegación accesible</a:t>
            </a:r>
          </a:p>
        </p:txBody>
      </p:sp>
      <p:sp>
        <p:nvSpPr>
          <p:cNvPr id="57347" name="2 Marcador de contenido"/>
          <p:cNvSpPr>
            <a:spLocks noGrp="1"/>
          </p:cNvSpPr>
          <p:nvPr>
            <p:ph idx="1"/>
          </p:nvPr>
        </p:nvSpPr>
        <p:spPr>
          <a:xfrm>
            <a:off x="430213" y="1916113"/>
            <a:ext cx="8229600" cy="4393207"/>
          </a:xfrm>
        </p:spPr>
        <p:txBody>
          <a:bodyPr/>
          <a:lstStyle/>
          <a:p>
            <a:r>
              <a:rPr lang="es-AR" b="1" dirty="0"/>
              <a:t>Pauta 2.4 Navegable</a:t>
            </a:r>
            <a:r>
              <a:rPr lang="es-AR" dirty="0"/>
              <a:t>: Proporcionar medios para ayudar a los usuarios a navegar, encontrar contenido y determinar donde se encuentran.</a:t>
            </a:r>
          </a:p>
          <a:p>
            <a:endParaRPr lang="es-AR" dirty="0"/>
          </a:p>
          <a:p>
            <a:r>
              <a:rPr lang="es-AR" dirty="0"/>
              <a:t>Objetivos  de una navegación accesible:</a:t>
            </a:r>
          </a:p>
          <a:p>
            <a:pPr lvl="1"/>
            <a:r>
              <a:rPr lang="es-AR" dirty="0"/>
              <a:t>Que el usuario encuentre lo que necesita.</a:t>
            </a:r>
          </a:p>
          <a:p>
            <a:pPr lvl="1"/>
            <a:r>
              <a:rPr lang="es-AR" dirty="0"/>
              <a:t>Que el usuario en todo momento pueda contestar a las preguntas:</a:t>
            </a:r>
          </a:p>
          <a:p>
            <a:pPr lvl="2"/>
            <a:r>
              <a:rPr lang="es-AR" dirty="0"/>
              <a:t>¿Dónde estoy? (ubicación y orientación)</a:t>
            </a:r>
          </a:p>
          <a:p>
            <a:pPr lvl="2"/>
            <a:r>
              <a:rPr lang="es-AR" dirty="0"/>
              <a:t>¿A dónde puedo ir? (navegación)</a:t>
            </a:r>
          </a:p>
          <a:p>
            <a:pPr lvl="1"/>
            <a:endParaRPr lang="es-AR" dirty="0"/>
          </a:p>
        </p:txBody>
      </p:sp>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120</a:t>
            </a:fld>
            <a:endParaRPr lang="es-ES" altLang="es-AR"/>
          </a:p>
        </p:txBody>
      </p:sp>
    </p:spTree>
    <p:extLst>
      <p:ext uri="{BB962C8B-B14F-4D97-AF65-F5344CB8AC3E}">
        <p14:creationId xmlns:p14="http://schemas.microsoft.com/office/powerpoint/2010/main" val="2211717427"/>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1 Título"/>
          <p:cNvSpPr>
            <a:spLocks noGrp="1"/>
          </p:cNvSpPr>
          <p:nvPr>
            <p:ph type="title"/>
          </p:nvPr>
        </p:nvSpPr>
        <p:spPr>
          <a:xfrm>
            <a:off x="457200" y="274638"/>
            <a:ext cx="8229600" cy="654050"/>
          </a:xfrm>
        </p:spPr>
        <p:txBody>
          <a:bodyPr/>
          <a:lstStyle/>
          <a:p>
            <a:r>
              <a:rPr lang="es-AR" altLang="es-AR" b="1" dirty="0"/>
              <a:t>Navegación accesible</a:t>
            </a:r>
          </a:p>
        </p:txBody>
      </p:sp>
      <p:sp>
        <p:nvSpPr>
          <p:cNvPr id="57347" name="2 Marcador de contenido"/>
          <p:cNvSpPr>
            <a:spLocks noGrp="1"/>
          </p:cNvSpPr>
          <p:nvPr>
            <p:ph idx="1"/>
          </p:nvPr>
        </p:nvSpPr>
        <p:spPr>
          <a:xfrm>
            <a:off x="430213" y="1916113"/>
            <a:ext cx="8229600" cy="4393207"/>
          </a:xfrm>
        </p:spPr>
        <p:txBody>
          <a:bodyPr/>
          <a:lstStyle/>
          <a:p>
            <a:r>
              <a:rPr lang="es-AR" dirty="0"/>
              <a:t>Para lograr una navegación accesible, los criterios de conformidad de esta pauta hacen referencia a:</a:t>
            </a:r>
          </a:p>
          <a:p>
            <a:endParaRPr lang="es-AR" dirty="0"/>
          </a:p>
          <a:p>
            <a:pPr lvl="3"/>
            <a:r>
              <a:rPr lang="es-AR" dirty="0"/>
              <a:t>Saltar contenido repetido.</a:t>
            </a:r>
          </a:p>
          <a:p>
            <a:pPr lvl="3"/>
            <a:endParaRPr lang="es-AR" dirty="0"/>
          </a:p>
          <a:p>
            <a:pPr lvl="3"/>
            <a:r>
              <a:rPr lang="es-AR" dirty="0"/>
              <a:t>Identificar el contenido.</a:t>
            </a:r>
          </a:p>
          <a:p>
            <a:pPr lvl="3"/>
            <a:endParaRPr lang="es-AR" dirty="0"/>
          </a:p>
          <a:p>
            <a:pPr lvl="3"/>
            <a:r>
              <a:rPr lang="es-AR" dirty="0"/>
              <a:t>Describir adecuadamente el propósito de los enlaces.</a:t>
            </a:r>
          </a:p>
          <a:p>
            <a:pPr lvl="3"/>
            <a:endParaRPr lang="es-AR" dirty="0"/>
          </a:p>
          <a:p>
            <a:pPr lvl="3"/>
            <a:r>
              <a:rPr lang="es-AR" dirty="0"/>
              <a:t>Información sobre la localización de los sitios.</a:t>
            </a:r>
          </a:p>
          <a:p>
            <a:pPr lvl="3"/>
            <a:endParaRPr lang="es-AR" dirty="0"/>
          </a:p>
          <a:p>
            <a:pPr lvl="3"/>
            <a:r>
              <a:rPr lang="es-AR" dirty="0"/>
              <a:t>Orden adecuado del foco y visibilidad del mismo.</a:t>
            </a:r>
          </a:p>
          <a:p>
            <a:pPr lvl="1"/>
            <a:endParaRPr lang="es-AR" dirty="0"/>
          </a:p>
        </p:txBody>
      </p:sp>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121</a:t>
            </a:fld>
            <a:endParaRPr lang="es-ES" altLang="es-AR"/>
          </a:p>
        </p:txBody>
      </p:sp>
    </p:spTree>
    <p:extLst>
      <p:ext uri="{BB962C8B-B14F-4D97-AF65-F5344CB8AC3E}">
        <p14:creationId xmlns:p14="http://schemas.microsoft.com/office/powerpoint/2010/main" val="1945907588"/>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1 Título"/>
          <p:cNvSpPr>
            <a:spLocks noGrp="1"/>
          </p:cNvSpPr>
          <p:nvPr>
            <p:ph type="title"/>
          </p:nvPr>
        </p:nvSpPr>
        <p:spPr>
          <a:xfrm>
            <a:off x="457200" y="274638"/>
            <a:ext cx="8229600" cy="654050"/>
          </a:xfrm>
        </p:spPr>
        <p:txBody>
          <a:bodyPr/>
          <a:lstStyle/>
          <a:p>
            <a:r>
              <a:rPr lang="es-AR" altLang="es-AR" b="1" dirty="0"/>
              <a:t>Navegación accesible</a:t>
            </a:r>
          </a:p>
        </p:txBody>
      </p:sp>
      <p:sp>
        <p:nvSpPr>
          <p:cNvPr id="57347" name="2 Marcador de contenido"/>
          <p:cNvSpPr>
            <a:spLocks noGrp="1"/>
          </p:cNvSpPr>
          <p:nvPr>
            <p:ph idx="1"/>
          </p:nvPr>
        </p:nvSpPr>
        <p:spPr>
          <a:xfrm>
            <a:off x="430213" y="1916113"/>
            <a:ext cx="8229600" cy="2088951"/>
          </a:xfrm>
        </p:spPr>
        <p:txBody>
          <a:bodyPr/>
          <a:lstStyle/>
          <a:p>
            <a:r>
              <a:rPr lang="es-AR" dirty="0"/>
              <a:t>El título de la página</a:t>
            </a:r>
          </a:p>
          <a:p>
            <a:endParaRPr lang="es-AR" dirty="0"/>
          </a:p>
          <a:p>
            <a:pPr lvl="1"/>
            <a:r>
              <a:rPr lang="es-AR" dirty="0"/>
              <a:t>Importancia:</a:t>
            </a:r>
          </a:p>
          <a:p>
            <a:pPr lvl="1"/>
            <a:endParaRPr lang="es-AR" dirty="0"/>
          </a:p>
          <a:p>
            <a:pPr lvl="2"/>
            <a:r>
              <a:rPr lang="es-AR" dirty="0"/>
              <a:t>Permite identificar la página web que se está visualizando en un navegador.</a:t>
            </a:r>
          </a:p>
          <a:p>
            <a:endParaRPr lang="es-AR" dirty="0"/>
          </a:p>
          <a:p>
            <a:pPr lvl="1"/>
            <a:endParaRPr lang="es-AR" dirty="0"/>
          </a:p>
        </p:txBody>
      </p:sp>
      <p:pic>
        <p:nvPicPr>
          <p:cNvPr id="4" name="Picture 2"/>
          <p:cNvPicPr>
            <a:picLocks noChangeAspect="1" noChangeArrowheads="1"/>
          </p:cNvPicPr>
          <p:nvPr/>
        </p:nvPicPr>
        <p:blipFill>
          <a:blip r:embed="rId3" cstate="print"/>
          <a:srcRect l="11320" r="31944" b="44074"/>
          <a:stretch>
            <a:fillRect/>
          </a:stretch>
        </p:blipFill>
        <p:spPr bwMode="auto">
          <a:xfrm>
            <a:off x="3491880" y="4449238"/>
            <a:ext cx="3869295" cy="2145399"/>
          </a:xfrm>
          <a:prstGeom prst="rect">
            <a:avLst/>
          </a:prstGeom>
          <a:noFill/>
          <a:ln w="25400">
            <a:solidFill>
              <a:srgbClr val="0070C0"/>
            </a:solidFill>
            <a:miter lim="800000"/>
            <a:headEnd/>
            <a:tailEnd/>
          </a:ln>
          <a:effectLst>
            <a:softEdge rad="0"/>
          </a:effectLst>
        </p:spPr>
      </p:pic>
      <p:sp>
        <p:nvSpPr>
          <p:cNvPr id="5" name="4 Flecha doblada"/>
          <p:cNvSpPr/>
          <p:nvPr/>
        </p:nvSpPr>
        <p:spPr>
          <a:xfrm>
            <a:off x="2987824" y="4449238"/>
            <a:ext cx="342900" cy="381000"/>
          </a:xfrm>
          <a:prstGeom prst="ben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solidFill>
                <a:schemeClr val="tx1"/>
              </a:solidFill>
            </a:endParaRPr>
          </a:p>
        </p:txBody>
      </p:sp>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122</a:t>
            </a:fld>
            <a:endParaRPr lang="es-ES" altLang="es-AR"/>
          </a:p>
        </p:txBody>
      </p:sp>
    </p:spTree>
    <p:extLst>
      <p:ext uri="{BB962C8B-B14F-4D97-AF65-F5344CB8AC3E}">
        <p14:creationId xmlns:p14="http://schemas.microsoft.com/office/powerpoint/2010/main" val="1731757489"/>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1 Título"/>
          <p:cNvSpPr>
            <a:spLocks noGrp="1"/>
          </p:cNvSpPr>
          <p:nvPr>
            <p:ph type="title"/>
          </p:nvPr>
        </p:nvSpPr>
        <p:spPr>
          <a:xfrm>
            <a:off x="457200" y="274638"/>
            <a:ext cx="8229600" cy="654050"/>
          </a:xfrm>
        </p:spPr>
        <p:txBody>
          <a:bodyPr/>
          <a:lstStyle/>
          <a:p>
            <a:r>
              <a:rPr lang="es-AR" altLang="es-AR" b="1" dirty="0"/>
              <a:t>Navegación accesible</a:t>
            </a:r>
          </a:p>
        </p:txBody>
      </p:sp>
      <p:sp>
        <p:nvSpPr>
          <p:cNvPr id="57347" name="2 Marcador de contenido"/>
          <p:cNvSpPr>
            <a:spLocks noGrp="1"/>
          </p:cNvSpPr>
          <p:nvPr>
            <p:ph idx="1"/>
          </p:nvPr>
        </p:nvSpPr>
        <p:spPr>
          <a:xfrm>
            <a:off x="430213" y="1916113"/>
            <a:ext cx="8229600" cy="4249191"/>
          </a:xfrm>
        </p:spPr>
        <p:txBody>
          <a:bodyPr/>
          <a:lstStyle/>
          <a:p>
            <a:r>
              <a:rPr lang="es-AR" dirty="0"/>
              <a:t>El título de la página</a:t>
            </a:r>
          </a:p>
          <a:p>
            <a:endParaRPr lang="es-AR" dirty="0"/>
          </a:p>
          <a:p>
            <a:pPr lvl="1"/>
            <a:r>
              <a:rPr lang="es-AR" dirty="0"/>
              <a:t>Muchas páginas web tienen un título erróneo o no significativo, cuando una página web se carga la primera vez un lector de pantalla anuncia el título de la página.</a:t>
            </a:r>
          </a:p>
          <a:p>
            <a:pPr marL="457200" lvl="1" indent="0">
              <a:buNone/>
            </a:pPr>
            <a:endParaRPr lang="es-AR" dirty="0"/>
          </a:p>
          <a:p>
            <a:pPr lvl="1"/>
            <a:r>
              <a:rPr lang="es-AR" b="1" dirty="0"/>
              <a:t>Criterio 2.4.2 Título de páginas</a:t>
            </a:r>
            <a:r>
              <a:rPr lang="es-AR" dirty="0"/>
              <a:t>: Las páginas web tienen títulos que describen su temática o propósito. [Nivel A]</a:t>
            </a:r>
          </a:p>
          <a:p>
            <a:endParaRPr lang="es-AR" dirty="0"/>
          </a:p>
          <a:p>
            <a:pPr lvl="1"/>
            <a:endParaRPr lang="es-AR" dirty="0"/>
          </a:p>
        </p:txBody>
      </p:sp>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123</a:t>
            </a:fld>
            <a:endParaRPr lang="es-ES" altLang="es-AR"/>
          </a:p>
        </p:txBody>
      </p:sp>
    </p:spTree>
    <p:extLst>
      <p:ext uri="{BB962C8B-B14F-4D97-AF65-F5344CB8AC3E}">
        <p14:creationId xmlns:p14="http://schemas.microsoft.com/office/powerpoint/2010/main" val="1332305327"/>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1 Título"/>
          <p:cNvSpPr>
            <a:spLocks noGrp="1"/>
          </p:cNvSpPr>
          <p:nvPr>
            <p:ph type="title"/>
          </p:nvPr>
        </p:nvSpPr>
        <p:spPr>
          <a:xfrm>
            <a:off x="457200" y="274638"/>
            <a:ext cx="8229600" cy="654050"/>
          </a:xfrm>
        </p:spPr>
        <p:txBody>
          <a:bodyPr/>
          <a:lstStyle/>
          <a:p>
            <a:r>
              <a:rPr lang="es-AR" altLang="es-AR" b="1" dirty="0"/>
              <a:t>Navegación accesible</a:t>
            </a:r>
          </a:p>
        </p:txBody>
      </p:sp>
      <p:sp>
        <p:nvSpPr>
          <p:cNvPr id="57347" name="2 Marcador de contenido"/>
          <p:cNvSpPr>
            <a:spLocks noGrp="1"/>
          </p:cNvSpPr>
          <p:nvPr>
            <p:ph idx="1"/>
          </p:nvPr>
        </p:nvSpPr>
        <p:spPr>
          <a:xfrm>
            <a:off x="430213" y="1916113"/>
            <a:ext cx="8229600" cy="4393207"/>
          </a:xfrm>
        </p:spPr>
        <p:txBody>
          <a:bodyPr/>
          <a:lstStyle/>
          <a:p>
            <a:r>
              <a:rPr lang="es-AR" dirty="0"/>
              <a:t>El título de la página</a:t>
            </a:r>
          </a:p>
          <a:p>
            <a:endParaRPr lang="es-AR" dirty="0"/>
          </a:p>
          <a:p>
            <a:pPr lvl="1"/>
            <a:r>
              <a:rPr lang="es-AR" dirty="0"/>
              <a:t>Titulo adecuado:</a:t>
            </a:r>
          </a:p>
          <a:p>
            <a:pPr lvl="1"/>
            <a:endParaRPr lang="es-AR" dirty="0"/>
          </a:p>
          <a:p>
            <a:pPr lvl="2"/>
            <a:r>
              <a:rPr lang="es-AR" dirty="0"/>
              <a:t>Ayuda a identificar si el contenido es relevante.</a:t>
            </a:r>
          </a:p>
          <a:p>
            <a:pPr lvl="2"/>
            <a:endParaRPr lang="es-AR" dirty="0"/>
          </a:p>
          <a:p>
            <a:pPr lvl="2"/>
            <a:r>
              <a:rPr lang="es-AR" dirty="0"/>
              <a:t>Ayuda a diferenciar múltiples ventanas o pestañas.</a:t>
            </a:r>
          </a:p>
          <a:p>
            <a:pPr lvl="2"/>
            <a:endParaRPr lang="es-AR" dirty="0"/>
          </a:p>
          <a:p>
            <a:pPr lvl="2"/>
            <a:r>
              <a:rPr lang="es-AR" dirty="0"/>
              <a:t>Ayuda a identificar el contenido de una página web.</a:t>
            </a:r>
          </a:p>
          <a:p>
            <a:pPr lvl="1"/>
            <a:endParaRPr lang="es-AR" dirty="0"/>
          </a:p>
        </p:txBody>
      </p:sp>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124</a:t>
            </a:fld>
            <a:endParaRPr lang="es-ES" altLang="es-AR"/>
          </a:p>
        </p:txBody>
      </p:sp>
    </p:spTree>
    <p:extLst>
      <p:ext uri="{BB962C8B-B14F-4D97-AF65-F5344CB8AC3E}">
        <p14:creationId xmlns:p14="http://schemas.microsoft.com/office/powerpoint/2010/main" val="2405947182"/>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1 Título"/>
          <p:cNvSpPr>
            <a:spLocks noGrp="1"/>
          </p:cNvSpPr>
          <p:nvPr>
            <p:ph type="title"/>
          </p:nvPr>
        </p:nvSpPr>
        <p:spPr>
          <a:xfrm>
            <a:off x="457200" y="274638"/>
            <a:ext cx="8229600" cy="654050"/>
          </a:xfrm>
        </p:spPr>
        <p:txBody>
          <a:bodyPr/>
          <a:lstStyle/>
          <a:p>
            <a:r>
              <a:rPr lang="es-AR" altLang="es-AR" b="1" dirty="0"/>
              <a:t>Navegación accesible</a:t>
            </a:r>
          </a:p>
        </p:txBody>
      </p:sp>
      <p:sp>
        <p:nvSpPr>
          <p:cNvPr id="57347" name="2 Marcador de contenido"/>
          <p:cNvSpPr>
            <a:spLocks noGrp="1"/>
          </p:cNvSpPr>
          <p:nvPr>
            <p:ph idx="1"/>
          </p:nvPr>
        </p:nvSpPr>
        <p:spPr>
          <a:xfrm>
            <a:off x="430213" y="1916113"/>
            <a:ext cx="8229600" cy="4393207"/>
          </a:xfrm>
        </p:spPr>
        <p:txBody>
          <a:bodyPr/>
          <a:lstStyle/>
          <a:p>
            <a:r>
              <a:rPr lang="es-AR" dirty="0"/>
              <a:t>El título de la página</a:t>
            </a:r>
          </a:p>
          <a:p>
            <a:pPr lvl="1"/>
            <a:endParaRPr lang="es-AR" dirty="0"/>
          </a:p>
          <a:p>
            <a:pPr lvl="1"/>
            <a:r>
              <a:rPr lang="es-AR" dirty="0"/>
              <a:t>Definición HTML &lt;</a:t>
            </a:r>
            <a:r>
              <a:rPr lang="es-AR" dirty="0" err="1"/>
              <a:t>title</a:t>
            </a:r>
            <a:r>
              <a:rPr lang="es-AR" dirty="0"/>
              <a:t>&gt; &lt;/</a:t>
            </a:r>
            <a:r>
              <a:rPr lang="es-AR" dirty="0" err="1"/>
              <a:t>title</a:t>
            </a:r>
            <a:r>
              <a:rPr lang="es-AR" dirty="0"/>
              <a:t>&gt;</a:t>
            </a:r>
          </a:p>
          <a:p>
            <a:pPr marL="457200" lvl="1" indent="0">
              <a:buNone/>
            </a:pPr>
            <a:endParaRPr lang="es-AR" dirty="0"/>
          </a:p>
          <a:p>
            <a:pPr lvl="2"/>
            <a:r>
              <a:rPr lang="es-AR" dirty="0"/>
              <a:t>Todos los documentos HTML deben tener un elemento TITLE en la sección HEAD.</a:t>
            </a:r>
          </a:p>
          <a:p>
            <a:pPr lvl="3"/>
            <a:r>
              <a:rPr lang="es-AR" dirty="0"/>
              <a:t>&lt;</a:t>
            </a:r>
            <a:r>
              <a:rPr lang="es-AR" dirty="0" err="1"/>
              <a:t>title</a:t>
            </a:r>
            <a:r>
              <a:rPr lang="es-AR" dirty="0"/>
              <a:t>&gt; Accesibilidad Web: ¿Qué es? &lt;/</a:t>
            </a:r>
            <a:r>
              <a:rPr lang="es-AR" dirty="0" err="1"/>
              <a:t>title</a:t>
            </a:r>
            <a:r>
              <a:rPr lang="es-AR" dirty="0"/>
              <a:t>&gt;</a:t>
            </a:r>
          </a:p>
          <a:p>
            <a:pPr lvl="2"/>
            <a:endParaRPr lang="es-AR" dirty="0"/>
          </a:p>
          <a:p>
            <a:pPr lvl="2"/>
            <a:r>
              <a:rPr lang="es-AR" dirty="0"/>
              <a:t>Los autores deberían utilizar el elemento TITLE para identificar los contenidos de un documento. </a:t>
            </a:r>
          </a:p>
          <a:p>
            <a:pPr lvl="3"/>
            <a:r>
              <a:rPr lang="es-AR" dirty="0"/>
              <a:t>“Introducción”                                              </a:t>
            </a:r>
            <a:r>
              <a:rPr lang="es-AR" b="1" dirty="0">
                <a:solidFill>
                  <a:srgbClr val="FF0000"/>
                </a:solidFill>
              </a:rPr>
              <a:t>NO</a:t>
            </a:r>
          </a:p>
          <a:p>
            <a:pPr lvl="3"/>
            <a:r>
              <a:rPr lang="es-AR" dirty="0"/>
              <a:t>“Introducción a la apicultura medieval”       </a:t>
            </a:r>
            <a:r>
              <a:rPr lang="es-AR" b="1" dirty="0">
                <a:solidFill>
                  <a:srgbClr val="00B050"/>
                </a:solidFill>
              </a:rPr>
              <a:t>SI</a:t>
            </a:r>
          </a:p>
          <a:p>
            <a:pPr lvl="1"/>
            <a:endParaRPr lang="es-AR" dirty="0"/>
          </a:p>
        </p:txBody>
      </p:sp>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125</a:t>
            </a:fld>
            <a:endParaRPr lang="es-ES" altLang="es-AR"/>
          </a:p>
        </p:txBody>
      </p:sp>
    </p:spTree>
    <p:extLst>
      <p:ext uri="{BB962C8B-B14F-4D97-AF65-F5344CB8AC3E}">
        <p14:creationId xmlns:p14="http://schemas.microsoft.com/office/powerpoint/2010/main" val="3274300970"/>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1 Título"/>
          <p:cNvSpPr>
            <a:spLocks noGrp="1"/>
          </p:cNvSpPr>
          <p:nvPr>
            <p:ph type="title"/>
          </p:nvPr>
        </p:nvSpPr>
        <p:spPr>
          <a:xfrm>
            <a:off x="457200" y="274638"/>
            <a:ext cx="8229600" cy="654050"/>
          </a:xfrm>
        </p:spPr>
        <p:txBody>
          <a:bodyPr/>
          <a:lstStyle/>
          <a:p>
            <a:r>
              <a:rPr lang="es-AR" altLang="es-AR" b="1" dirty="0"/>
              <a:t>Navegación accesible</a:t>
            </a:r>
          </a:p>
        </p:txBody>
      </p:sp>
      <p:sp>
        <p:nvSpPr>
          <p:cNvPr id="57347" name="2 Marcador de contenido"/>
          <p:cNvSpPr>
            <a:spLocks noGrp="1"/>
          </p:cNvSpPr>
          <p:nvPr>
            <p:ph idx="1"/>
          </p:nvPr>
        </p:nvSpPr>
        <p:spPr>
          <a:xfrm>
            <a:off x="430213" y="1916113"/>
            <a:ext cx="8229600" cy="2881039"/>
          </a:xfrm>
        </p:spPr>
        <p:txBody>
          <a:bodyPr/>
          <a:lstStyle/>
          <a:p>
            <a:r>
              <a:rPr lang="es-AR" dirty="0"/>
              <a:t>Enlaces accesibles</a:t>
            </a:r>
          </a:p>
          <a:p>
            <a:pPr marL="0" indent="0">
              <a:buNone/>
            </a:pPr>
            <a:endParaRPr lang="es-AR" dirty="0"/>
          </a:p>
          <a:p>
            <a:pPr lvl="1"/>
            <a:r>
              <a:rPr lang="es-AR" dirty="0"/>
              <a:t>Son la base de la navegación en un sitio web.</a:t>
            </a:r>
          </a:p>
          <a:p>
            <a:pPr lvl="1"/>
            <a:endParaRPr lang="es-AR" dirty="0"/>
          </a:p>
          <a:p>
            <a:pPr lvl="1"/>
            <a:r>
              <a:rPr lang="es-AR" dirty="0"/>
              <a:t>Asegurarse que los enlaces sean perceptibles, operables y comprensibles por todos los usuarios.</a:t>
            </a:r>
          </a:p>
          <a:p>
            <a:pPr lvl="1"/>
            <a:endParaRPr lang="es-AR" dirty="0"/>
          </a:p>
          <a:p>
            <a:pPr lvl="1"/>
            <a:r>
              <a:rPr lang="es-AR" dirty="0"/>
              <a:t>¿Cómo se definen los enlaces en HTML?</a:t>
            </a:r>
          </a:p>
          <a:p>
            <a:pPr lvl="1"/>
            <a:endParaRPr lang="es-AR" dirty="0"/>
          </a:p>
        </p:txBody>
      </p:sp>
      <p:sp>
        <p:nvSpPr>
          <p:cNvPr id="4" name="3 CuadroTexto"/>
          <p:cNvSpPr txBox="1"/>
          <p:nvPr/>
        </p:nvSpPr>
        <p:spPr>
          <a:xfrm>
            <a:off x="880014" y="4968969"/>
            <a:ext cx="2683874" cy="1323439"/>
          </a:xfrm>
          <a:prstGeom prst="rect">
            <a:avLst/>
          </a:prstGeom>
          <a:noFill/>
          <a:ln>
            <a:solidFill>
              <a:schemeClr val="accent1"/>
            </a:solidFill>
          </a:ln>
        </p:spPr>
        <p:txBody>
          <a:bodyPr wrap="square" rtlCol="0">
            <a:spAutoFit/>
          </a:bodyPr>
          <a:lstStyle/>
          <a:p>
            <a:r>
              <a:rPr lang="es-AR" sz="2000" b="1" u="sng" dirty="0">
                <a:solidFill>
                  <a:srgbClr val="0070C0"/>
                </a:solidFill>
              </a:rPr>
              <a:t>Glosario de términos de accesibilidad</a:t>
            </a:r>
          </a:p>
          <a:p>
            <a:endParaRPr lang="es-AR" sz="2000" dirty="0"/>
          </a:p>
        </p:txBody>
      </p:sp>
      <p:sp>
        <p:nvSpPr>
          <p:cNvPr id="5" name="CuadroTexto 8"/>
          <p:cNvSpPr txBox="1"/>
          <p:nvPr/>
        </p:nvSpPr>
        <p:spPr>
          <a:xfrm>
            <a:off x="3715313" y="4957638"/>
            <a:ext cx="4971487" cy="1323439"/>
          </a:xfrm>
          <a:prstGeom prst="rect">
            <a:avLst/>
          </a:prstGeom>
          <a:noFill/>
          <a:ln>
            <a:solidFill>
              <a:schemeClr val="accent1">
                <a:shade val="50000"/>
              </a:schemeClr>
            </a:solidFill>
          </a:ln>
        </p:spPr>
        <p:txBody>
          <a:bodyPr wrap="square" rtlCol="0">
            <a:spAutoFit/>
          </a:bodyPr>
          <a:lstStyle/>
          <a:p>
            <a:r>
              <a:rPr lang="es-AR" sz="2000" dirty="0"/>
              <a:t>&lt;</a:t>
            </a:r>
            <a:r>
              <a:rPr lang="es-AR" sz="2000" b="1" dirty="0">
                <a:solidFill>
                  <a:srgbClr val="0070C0"/>
                </a:solidFill>
              </a:rPr>
              <a:t>a</a:t>
            </a:r>
            <a:r>
              <a:rPr lang="es-AR" sz="2000" dirty="0"/>
              <a:t> </a:t>
            </a:r>
            <a:r>
              <a:rPr lang="es-AR" sz="2000" dirty="0" err="1"/>
              <a:t>href</a:t>
            </a:r>
            <a:r>
              <a:rPr lang="es-AR" sz="2000" dirty="0"/>
              <a:t>=“</a:t>
            </a:r>
            <a:r>
              <a:rPr lang="es-AR" sz="2000" dirty="0" err="1"/>
              <a:t>glosario.php</a:t>
            </a:r>
            <a:r>
              <a:rPr lang="es-AR" sz="2000" dirty="0"/>
              <a:t>”  target=“_</a:t>
            </a:r>
            <a:r>
              <a:rPr lang="es-AR" sz="2000" dirty="0" err="1"/>
              <a:t>blank</a:t>
            </a:r>
            <a:r>
              <a:rPr lang="es-AR" sz="2000" dirty="0"/>
              <a:t>” </a:t>
            </a:r>
            <a:r>
              <a:rPr lang="es-AR" sz="2000" dirty="0" err="1"/>
              <a:t>title</a:t>
            </a:r>
            <a:r>
              <a:rPr lang="es-AR" sz="2000" dirty="0"/>
              <a:t>=“Se abre en ventana nueva”&gt; </a:t>
            </a:r>
          </a:p>
          <a:p>
            <a:r>
              <a:rPr lang="es-AR" sz="2000" dirty="0"/>
              <a:t>Glosario de términos de accesibilidad </a:t>
            </a:r>
          </a:p>
          <a:p>
            <a:r>
              <a:rPr lang="es-AR" sz="2000" b="1" dirty="0">
                <a:solidFill>
                  <a:srgbClr val="0070C0"/>
                </a:solidFill>
              </a:rPr>
              <a:t>&lt;/a&gt;</a:t>
            </a:r>
          </a:p>
        </p:txBody>
      </p:sp>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126</a:t>
            </a:fld>
            <a:endParaRPr lang="es-ES" altLang="es-AR"/>
          </a:p>
        </p:txBody>
      </p:sp>
    </p:spTree>
    <p:extLst>
      <p:ext uri="{BB962C8B-B14F-4D97-AF65-F5344CB8AC3E}">
        <p14:creationId xmlns:p14="http://schemas.microsoft.com/office/powerpoint/2010/main" val="174880416"/>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1 Título"/>
          <p:cNvSpPr>
            <a:spLocks noGrp="1"/>
          </p:cNvSpPr>
          <p:nvPr>
            <p:ph type="title"/>
          </p:nvPr>
        </p:nvSpPr>
        <p:spPr>
          <a:xfrm>
            <a:off x="457200" y="274638"/>
            <a:ext cx="8229600" cy="654050"/>
          </a:xfrm>
        </p:spPr>
        <p:txBody>
          <a:bodyPr/>
          <a:lstStyle/>
          <a:p>
            <a:r>
              <a:rPr lang="es-AR" altLang="es-AR" b="1" dirty="0"/>
              <a:t>Navegación accesible</a:t>
            </a:r>
          </a:p>
        </p:txBody>
      </p:sp>
      <p:sp>
        <p:nvSpPr>
          <p:cNvPr id="57347" name="2 Marcador de contenido"/>
          <p:cNvSpPr>
            <a:spLocks noGrp="1"/>
          </p:cNvSpPr>
          <p:nvPr>
            <p:ph idx="1"/>
          </p:nvPr>
        </p:nvSpPr>
        <p:spPr>
          <a:xfrm>
            <a:off x="430213" y="1916113"/>
            <a:ext cx="8229600" cy="4537223"/>
          </a:xfrm>
        </p:spPr>
        <p:txBody>
          <a:bodyPr/>
          <a:lstStyle/>
          <a:p>
            <a:r>
              <a:rPr lang="es-AR" dirty="0"/>
              <a:t>Enlaces accesibles</a:t>
            </a:r>
          </a:p>
          <a:p>
            <a:pPr marL="0" indent="0">
              <a:buNone/>
            </a:pPr>
            <a:endParaRPr lang="es-AR" dirty="0"/>
          </a:p>
          <a:p>
            <a:pPr lvl="1"/>
            <a:r>
              <a:rPr lang="es-AR" dirty="0"/>
              <a:t>Perceptible</a:t>
            </a:r>
          </a:p>
          <a:p>
            <a:pPr lvl="1"/>
            <a:endParaRPr lang="es-AR" dirty="0"/>
          </a:p>
          <a:p>
            <a:pPr lvl="2"/>
            <a:r>
              <a:rPr lang="es-AR" dirty="0"/>
              <a:t>Suficiente contraste de color con el color de fondo.</a:t>
            </a:r>
          </a:p>
          <a:p>
            <a:pPr lvl="2"/>
            <a:endParaRPr lang="es-AR" dirty="0"/>
          </a:p>
          <a:p>
            <a:pPr lvl="2"/>
            <a:r>
              <a:rPr lang="es-AR" dirty="0"/>
              <a:t>La información de que es un enlace no debe depender únicamente del color:</a:t>
            </a:r>
          </a:p>
          <a:p>
            <a:pPr lvl="3"/>
            <a:r>
              <a:rPr lang="es-AR" dirty="0"/>
              <a:t>Subrayar los enlaces incluidos dentro de un texto.</a:t>
            </a:r>
          </a:p>
          <a:p>
            <a:pPr lvl="3"/>
            <a:endParaRPr lang="es-AR" dirty="0"/>
          </a:p>
          <a:p>
            <a:pPr lvl="2"/>
            <a:r>
              <a:rPr lang="es-AR" dirty="0"/>
              <a:t>Diferenciar visualmente los enlaces visitados – no visitados.</a:t>
            </a:r>
          </a:p>
          <a:p>
            <a:pPr lvl="1"/>
            <a:endParaRPr lang="es-AR" dirty="0"/>
          </a:p>
        </p:txBody>
      </p:sp>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127</a:t>
            </a:fld>
            <a:endParaRPr lang="es-ES" altLang="es-AR"/>
          </a:p>
        </p:txBody>
      </p:sp>
    </p:spTree>
    <p:extLst>
      <p:ext uri="{BB962C8B-B14F-4D97-AF65-F5344CB8AC3E}">
        <p14:creationId xmlns:p14="http://schemas.microsoft.com/office/powerpoint/2010/main" val="3937125756"/>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1 Título"/>
          <p:cNvSpPr>
            <a:spLocks noGrp="1"/>
          </p:cNvSpPr>
          <p:nvPr>
            <p:ph type="title"/>
          </p:nvPr>
        </p:nvSpPr>
        <p:spPr>
          <a:xfrm>
            <a:off x="457200" y="274638"/>
            <a:ext cx="8229600" cy="654050"/>
          </a:xfrm>
        </p:spPr>
        <p:txBody>
          <a:bodyPr/>
          <a:lstStyle/>
          <a:p>
            <a:r>
              <a:rPr lang="es-AR" altLang="es-AR" b="1" dirty="0"/>
              <a:t>Navegación accesible</a:t>
            </a:r>
          </a:p>
        </p:txBody>
      </p:sp>
      <p:sp>
        <p:nvSpPr>
          <p:cNvPr id="57347" name="2 Marcador de contenido"/>
          <p:cNvSpPr>
            <a:spLocks noGrp="1"/>
          </p:cNvSpPr>
          <p:nvPr>
            <p:ph idx="1"/>
          </p:nvPr>
        </p:nvSpPr>
        <p:spPr>
          <a:xfrm>
            <a:off x="430213" y="1916113"/>
            <a:ext cx="8229600" cy="3097063"/>
          </a:xfrm>
        </p:spPr>
        <p:txBody>
          <a:bodyPr/>
          <a:lstStyle/>
          <a:p>
            <a:r>
              <a:rPr lang="es-AR" dirty="0"/>
              <a:t>Enlaces accesibles</a:t>
            </a:r>
          </a:p>
          <a:p>
            <a:pPr marL="0" indent="0">
              <a:buNone/>
            </a:pPr>
            <a:endParaRPr lang="es-AR" dirty="0"/>
          </a:p>
          <a:p>
            <a:pPr lvl="2"/>
            <a:r>
              <a:rPr lang="es-AR" dirty="0"/>
              <a:t>Subrayar los enlaces incluidos dentro de un texto.</a:t>
            </a:r>
          </a:p>
          <a:p>
            <a:pPr lvl="2"/>
            <a:endParaRPr lang="es-AR" dirty="0"/>
          </a:p>
          <a:p>
            <a:pPr lvl="2"/>
            <a:endParaRPr lang="es-AR" dirty="0"/>
          </a:p>
          <a:p>
            <a:pPr marL="914400" lvl="2" indent="0">
              <a:buNone/>
            </a:pPr>
            <a:r>
              <a:rPr lang="es-AR" dirty="0"/>
              <a:t>		         </a:t>
            </a:r>
            <a:r>
              <a:rPr lang="es-AR" b="1" dirty="0">
                <a:solidFill>
                  <a:srgbClr val="FF0000"/>
                </a:solidFill>
              </a:rPr>
              <a:t>MAL</a:t>
            </a:r>
            <a:r>
              <a:rPr lang="es-AR" dirty="0"/>
              <a:t>			         </a:t>
            </a:r>
            <a:r>
              <a:rPr lang="es-AR" b="1" dirty="0">
                <a:solidFill>
                  <a:srgbClr val="00B050"/>
                </a:solidFill>
              </a:rPr>
              <a:t>BIEN</a:t>
            </a:r>
          </a:p>
          <a:p>
            <a:pPr lvl="3"/>
            <a:endParaRPr lang="es-AR" dirty="0"/>
          </a:p>
          <a:p>
            <a:pPr lvl="2"/>
            <a:endParaRPr lang="es-AR" dirty="0"/>
          </a:p>
          <a:p>
            <a:pPr lvl="2"/>
            <a:endParaRPr lang="es-AR" dirty="0"/>
          </a:p>
          <a:p>
            <a:pPr lvl="2"/>
            <a:r>
              <a:rPr lang="es-AR" dirty="0"/>
              <a:t>Diferenciar </a:t>
            </a:r>
          </a:p>
          <a:p>
            <a:pPr marL="914400" lvl="2" indent="0">
              <a:buNone/>
            </a:pPr>
            <a:r>
              <a:rPr lang="es-AR" dirty="0"/>
              <a:t>   visualmente </a:t>
            </a:r>
          </a:p>
          <a:p>
            <a:pPr marL="914400" lvl="2" indent="0">
              <a:buNone/>
            </a:pPr>
            <a:r>
              <a:rPr lang="es-AR" dirty="0"/>
              <a:t>   los  enlaces </a:t>
            </a:r>
          </a:p>
          <a:p>
            <a:pPr marL="914400" lvl="2" indent="0">
              <a:buNone/>
            </a:pPr>
            <a:r>
              <a:rPr lang="es-AR" dirty="0"/>
              <a:t>   visitados – no visitados.</a:t>
            </a:r>
          </a:p>
          <a:p>
            <a:pPr lvl="1"/>
            <a:endParaRPr lang="es-AR" dirty="0"/>
          </a:p>
        </p:txBody>
      </p:sp>
      <p:sp>
        <p:nvSpPr>
          <p:cNvPr id="7" name="3 CuadroTexto"/>
          <p:cNvSpPr txBox="1"/>
          <p:nvPr/>
        </p:nvSpPr>
        <p:spPr>
          <a:xfrm>
            <a:off x="1475656" y="3140968"/>
            <a:ext cx="2336800" cy="1631216"/>
          </a:xfrm>
          <a:prstGeom prst="rect">
            <a:avLst/>
          </a:prstGeom>
          <a:noFill/>
          <a:ln>
            <a:solidFill>
              <a:schemeClr val="accent1"/>
            </a:solidFill>
          </a:ln>
        </p:spPr>
        <p:txBody>
          <a:bodyPr wrap="square" rtlCol="0">
            <a:spAutoFit/>
          </a:bodyPr>
          <a:lstStyle/>
          <a:p>
            <a:r>
              <a:rPr lang="es-AR" sz="2000" dirty="0"/>
              <a:t>Las </a:t>
            </a:r>
            <a:r>
              <a:rPr lang="es-AR" sz="2000" b="1" dirty="0">
                <a:solidFill>
                  <a:srgbClr val="0070C0"/>
                </a:solidFill>
              </a:rPr>
              <a:t>WCAG 2.0 </a:t>
            </a:r>
            <a:r>
              <a:rPr lang="es-AR" sz="2000" dirty="0"/>
              <a:t>se han desarrollado mediante el proceso del W3C en…</a:t>
            </a:r>
          </a:p>
        </p:txBody>
      </p:sp>
      <p:sp>
        <p:nvSpPr>
          <p:cNvPr id="8" name="4 CuadroTexto"/>
          <p:cNvSpPr txBox="1"/>
          <p:nvPr/>
        </p:nvSpPr>
        <p:spPr>
          <a:xfrm>
            <a:off x="5086871" y="3140968"/>
            <a:ext cx="2336800" cy="1631216"/>
          </a:xfrm>
          <a:prstGeom prst="rect">
            <a:avLst/>
          </a:prstGeom>
          <a:noFill/>
          <a:ln>
            <a:solidFill>
              <a:schemeClr val="accent1"/>
            </a:solidFill>
          </a:ln>
        </p:spPr>
        <p:txBody>
          <a:bodyPr wrap="square" rtlCol="0">
            <a:spAutoFit/>
          </a:bodyPr>
          <a:lstStyle/>
          <a:p>
            <a:r>
              <a:rPr lang="es-AR" sz="2000" dirty="0"/>
              <a:t>Las </a:t>
            </a:r>
            <a:r>
              <a:rPr lang="es-AR" sz="2000" b="1" u="sng" dirty="0">
                <a:solidFill>
                  <a:srgbClr val="0070C0"/>
                </a:solidFill>
              </a:rPr>
              <a:t>WCAG 2.0</a:t>
            </a:r>
            <a:r>
              <a:rPr lang="es-AR" sz="2000" b="1" u="sng" dirty="0"/>
              <a:t> </a:t>
            </a:r>
            <a:r>
              <a:rPr lang="es-AR" sz="2000" dirty="0"/>
              <a:t>se han desarrollado mediante el proceso del W3C en…</a:t>
            </a:r>
          </a:p>
        </p:txBody>
      </p:sp>
      <p:sp>
        <p:nvSpPr>
          <p:cNvPr id="9" name="5 CuadroTexto"/>
          <p:cNvSpPr txBox="1"/>
          <p:nvPr/>
        </p:nvSpPr>
        <p:spPr>
          <a:xfrm>
            <a:off x="5086871" y="5013176"/>
            <a:ext cx="2336800" cy="1631216"/>
          </a:xfrm>
          <a:prstGeom prst="rect">
            <a:avLst/>
          </a:prstGeom>
          <a:noFill/>
          <a:ln>
            <a:solidFill>
              <a:schemeClr val="accent1"/>
            </a:solidFill>
          </a:ln>
        </p:spPr>
        <p:txBody>
          <a:bodyPr wrap="square" rtlCol="0">
            <a:spAutoFit/>
          </a:bodyPr>
          <a:lstStyle/>
          <a:p>
            <a:r>
              <a:rPr lang="es-AR" sz="2000" dirty="0"/>
              <a:t>Las </a:t>
            </a:r>
            <a:r>
              <a:rPr lang="es-AR" sz="2000" b="1" u="sng" dirty="0">
                <a:solidFill>
                  <a:srgbClr val="7030A0"/>
                </a:solidFill>
              </a:rPr>
              <a:t>WCAG 2.0 </a:t>
            </a:r>
            <a:r>
              <a:rPr lang="es-AR" sz="2000" dirty="0"/>
              <a:t>se han desarrollado mediante el proceso del W3C en…</a:t>
            </a:r>
          </a:p>
        </p:txBody>
      </p:sp>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128</a:t>
            </a:fld>
            <a:endParaRPr lang="es-ES" altLang="es-AR"/>
          </a:p>
        </p:txBody>
      </p:sp>
    </p:spTree>
    <p:extLst>
      <p:ext uri="{BB962C8B-B14F-4D97-AF65-F5344CB8AC3E}">
        <p14:creationId xmlns:p14="http://schemas.microsoft.com/office/powerpoint/2010/main" val="673320123"/>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1 Título"/>
          <p:cNvSpPr>
            <a:spLocks noGrp="1"/>
          </p:cNvSpPr>
          <p:nvPr>
            <p:ph type="title"/>
          </p:nvPr>
        </p:nvSpPr>
        <p:spPr>
          <a:xfrm>
            <a:off x="457200" y="274638"/>
            <a:ext cx="8229600" cy="654050"/>
          </a:xfrm>
        </p:spPr>
        <p:txBody>
          <a:bodyPr/>
          <a:lstStyle/>
          <a:p>
            <a:r>
              <a:rPr lang="es-AR" altLang="es-AR" b="1" dirty="0"/>
              <a:t>Navegación accesible</a:t>
            </a:r>
          </a:p>
        </p:txBody>
      </p:sp>
      <p:sp>
        <p:nvSpPr>
          <p:cNvPr id="57347" name="2 Marcador de contenido"/>
          <p:cNvSpPr>
            <a:spLocks noGrp="1"/>
          </p:cNvSpPr>
          <p:nvPr>
            <p:ph idx="1"/>
          </p:nvPr>
        </p:nvSpPr>
        <p:spPr>
          <a:xfrm>
            <a:off x="430213" y="1916113"/>
            <a:ext cx="8229600" cy="4537223"/>
          </a:xfrm>
        </p:spPr>
        <p:txBody>
          <a:bodyPr/>
          <a:lstStyle/>
          <a:p>
            <a:r>
              <a:rPr lang="es-AR" dirty="0"/>
              <a:t>Enlaces accesibles</a:t>
            </a:r>
          </a:p>
          <a:p>
            <a:pPr marL="0" indent="0">
              <a:buNone/>
            </a:pPr>
            <a:endParaRPr lang="es-AR" dirty="0"/>
          </a:p>
          <a:p>
            <a:pPr lvl="1"/>
            <a:r>
              <a:rPr lang="es-AR" dirty="0"/>
              <a:t>Operable</a:t>
            </a:r>
          </a:p>
          <a:p>
            <a:pPr lvl="2"/>
            <a:r>
              <a:rPr lang="es-AR" dirty="0"/>
              <a:t>Usar el elemento nativo &lt;a&gt;:</a:t>
            </a:r>
          </a:p>
          <a:p>
            <a:pPr lvl="3"/>
            <a:r>
              <a:rPr lang="es-AR" dirty="0"/>
              <a:t>Operable por teclado y por mouse.</a:t>
            </a:r>
          </a:p>
          <a:p>
            <a:pPr lvl="3"/>
            <a:r>
              <a:rPr lang="es-AR" dirty="0"/>
              <a:t>Correcta interacción con los productos de apoyo.</a:t>
            </a:r>
          </a:p>
          <a:p>
            <a:pPr lvl="3"/>
            <a:r>
              <a:rPr lang="es-AR" dirty="0"/>
              <a:t>No dependan de JavaScript.</a:t>
            </a:r>
          </a:p>
          <a:p>
            <a:pPr lvl="2"/>
            <a:endParaRPr lang="es-AR" dirty="0"/>
          </a:p>
          <a:p>
            <a:pPr marL="3657600" lvl="8" indent="0">
              <a:buNone/>
            </a:pPr>
            <a:r>
              <a:rPr lang="es-AR" dirty="0"/>
              <a:t>                                                      </a:t>
            </a:r>
            <a:r>
              <a:rPr lang="es-AR" b="1" dirty="0">
                <a:solidFill>
                  <a:srgbClr val="FF0000"/>
                </a:solidFill>
              </a:rPr>
              <a:t>MAL</a:t>
            </a:r>
          </a:p>
          <a:p>
            <a:pPr marL="3657600" lvl="8" indent="0">
              <a:buNone/>
            </a:pPr>
            <a:endParaRPr lang="es-AR" dirty="0"/>
          </a:p>
          <a:p>
            <a:pPr marL="3657600" lvl="8" indent="0">
              <a:buNone/>
            </a:pPr>
            <a:endParaRPr lang="es-AR" dirty="0"/>
          </a:p>
          <a:p>
            <a:pPr marL="3657600" lvl="8" indent="0">
              <a:buNone/>
            </a:pPr>
            <a:r>
              <a:rPr lang="es-AR" dirty="0"/>
              <a:t>			              </a:t>
            </a:r>
            <a:r>
              <a:rPr lang="es-AR" b="1" dirty="0">
                <a:solidFill>
                  <a:srgbClr val="00B050"/>
                </a:solidFill>
              </a:rPr>
              <a:t>BIEN</a:t>
            </a:r>
            <a:r>
              <a:rPr lang="es-AR" dirty="0"/>
              <a:t> 		</a:t>
            </a:r>
          </a:p>
        </p:txBody>
      </p:sp>
      <p:sp>
        <p:nvSpPr>
          <p:cNvPr id="4" name="6 CuadroTexto"/>
          <p:cNvSpPr txBox="1"/>
          <p:nvPr/>
        </p:nvSpPr>
        <p:spPr>
          <a:xfrm>
            <a:off x="457200" y="4581128"/>
            <a:ext cx="7228281" cy="1015663"/>
          </a:xfrm>
          <a:prstGeom prst="rect">
            <a:avLst/>
          </a:prstGeom>
          <a:noFill/>
          <a:ln>
            <a:solidFill>
              <a:schemeClr val="accent1"/>
            </a:solidFill>
          </a:ln>
        </p:spPr>
        <p:txBody>
          <a:bodyPr wrap="square" rtlCol="0">
            <a:spAutoFit/>
          </a:bodyPr>
          <a:lstStyle/>
          <a:p>
            <a:r>
              <a:rPr lang="es-AR" sz="2000" dirty="0"/>
              <a:t>&lt;a </a:t>
            </a:r>
            <a:r>
              <a:rPr lang="es-AR" sz="2000" dirty="0" err="1"/>
              <a:t>href</a:t>
            </a:r>
            <a:r>
              <a:rPr lang="es-AR" sz="2000" dirty="0"/>
              <a:t>=“</a:t>
            </a:r>
            <a:r>
              <a:rPr lang="es-AR" sz="2000" dirty="0" err="1"/>
              <a:t>javascript</a:t>
            </a:r>
            <a:r>
              <a:rPr lang="es-AR" sz="2000" dirty="0"/>
              <a:t>:;”</a:t>
            </a:r>
          </a:p>
          <a:p>
            <a:r>
              <a:rPr lang="es-AR" sz="2000" dirty="0" err="1"/>
              <a:t>onclick</a:t>
            </a:r>
            <a:r>
              <a:rPr lang="es-AR" sz="2000" dirty="0"/>
              <a:t>=“</a:t>
            </a:r>
            <a:r>
              <a:rPr lang="es-AR" sz="2000" dirty="0" err="1"/>
              <a:t>document.location.href</a:t>
            </a:r>
            <a:r>
              <a:rPr lang="es-AR" sz="2000" dirty="0"/>
              <a:t>=“mapa.html”&gt; Mapa web &lt;/a&gt;</a:t>
            </a:r>
          </a:p>
          <a:p>
            <a:endParaRPr lang="es-AR" sz="2000" dirty="0"/>
          </a:p>
        </p:txBody>
      </p:sp>
      <p:sp>
        <p:nvSpPr>
          <p:cNvPr id="5" name="7 CuadroTexto"/>
          <p:cNvSpPr txBox="1"/>
          <p:nvPr/>
        </p:nvSpPr>
        <p:spPr>
          <a:xfrm>
            <a:off x="448469" y="5745450"/>
            <a:ext cx="7228281" cy="707886"/>
          </a:xfrm>
          <a:prstGeom prst="rect">
            <a:avLst/>
          </a:prstGeom>
          <a:noFill/>
          <a:ln>
            <a:solidFill>
              <a:schemeClr val="accent1"/>
            </a:solidFill>
          </a:ln>
        </p:spPr>
        <p:txBody>
          <a:bodyPr wrap="square" rtlCol="0">
            <a:spAutoFit/>
          </a:bodyPr>
          <a:lstStyle/>
          <a:p>
            <a:r>
              <a:rPr lang="es-AR" sz="2000" dirty="0"/>
              <a:t>&lt;a </a:t>
            </a:r>
            <a:r>
              <a:rPr lang="es-AR" sz="2000" dirty="0" err="1"/>
              <a:t>href</a:t>
            </a:r>
            <a:r>
              <a:rPr lang="es-AR" sz="2000" dirty="0"/>
              <a:t>=“mapa.html”&gt;</a:t>
            </a:r>
            <a:r>
              <a:rPr lang="es-AR" sz="2000" dirty="0" err="1"/>
              <a:t>Mapq</a:t>
            </a:r>
            <a:r>
              <a:rPr lang="es-AR" sz="2000" dirty="0"/>
              <a:t> web &lt;/a&gt;</a:t>
            </a:r>
          </a:p>
          <a:p>
            <a:endParaRPr lang="es-AR" sz="2000" dirty="0"/>
          </a:p>
        </p:txBody>
      </p:sp>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129</a:t>
            </a:fld>
            <a:endParaRPr lang="es-ES" altLang="es-AR"/>
          </a:p>
        </p:txBody>
      </p:sp>
    </p:spTree>
    <p:extLst>
      <p:ext uri="{BB962C8B-B14F-4D97-AF65-F5344CB8AC3E}">
        <p14:creationId xmlns:p14="http://schemas.microsoft.com/office/powerpoint/2010/main" val="1274466102"/>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1 Título"/>
          <p:cNvSpPr>
            <a:spLocks noGrp="1"/>
          </p:cNvSpPr>
          <p:nvPr>
            <p:ph type="title"/>
          </p:nvPr>
        </p:nvSpPr>
        <p:spPr>
          <a:xfrm>
            <a:off x="457200" y="274638"/>
            <a:ext cx="8229600" cy="654050"/>
          </a:xfrm>
        </p:spPr>
        <p:txBody>
          <a:bodyPr/>
          <a:lstStyle/>
          <a:p>
            <a:r>
              <a:rPr lang="es-AR" altLang="es-AR" b="1" dirty="0"/>
              <a:t>Navegación accesible</a:t>
            </a:r>
          </a:p>
        </p:txBody>
      </p:sp>
      <p:sp>
        <p:nvSpPr>
          <p:cNvPr id="57347" name="2 Marcador de contenido"/>
          <p:cNvSpPr>
            <a:spLocks noGrp="1"/>
          </p:cNvSpPr>
          <p:nvPr>
            <p:ph idx="1"/>
          </p:nvPr>
        </p:nvSpPr>
        <p:spPr>
          <a:xfrm>
            <a:off x="430213" y="1916113"/>
            <a:ext cx="8229600" cy="4537223"/>
          </a:xfrm>
        </p:spPr>
        <p:txBody>
          <a:bodyPr/>
          <a:lstStyle/>
          <a:p>
            <a:r>
              <a:rPr lang="es-AR" dirty="0"/>
              <a:t>Enlaces accesibles</a:t>
            </a:r>
          </a:p>
          <a:p>
            <a:pPr marL="0" indent="0">
              <a:buNone/>
            </a:pPr>
            <a:endParaRPr lang="es-AR" dirty="0"/>
          </a:p>
          <a:p>
            <a:pPr lvl="1"/>
            <a:r>
              <a:rPr lang="es-AR" dirty="0"/>
              <a:t>Comprensibles		</a:t>
            </a:r>
          </a:p>
        </p:txBody>
      </p:sp>
      <p:sp>
        <p:nvSpPr>
          <p:cNvPr id="6" name="5 CuadroTexto"/>
          <p:cNvSpPr txBox="1"/>
          <p:nvPr/>
        </p:nvSpPr>
        <p:spPr>
          <a:xfrm>
            <a:off x="899592" y="3212976"/>
            <a:ext cx="2520280" cy="2862322"/>
          </a:xfrm>
          <a:prstGeom prst="rect">
            <a:avLst/>
          </a:prstGeom>
          <a:noFill/>
          <a:ln>
            <a:solidFill>
              <a:schemeClr val="accent1"/>
            </a:solidFill>
          </a:ln>
        </p:spPr>
        <p:txBody>
          <a:bodyPr wrap="square" rtlCol="0">
            <a:spAutoFit/>
          </a:bodyPr>
          <a:lstStyle/>
          <a:p>
            <a:r>
              <a:rPr lang="es-AR" sz="2000" dirty="0"/>
              <a:t>Las Pautas de Accesibilidad para el Contenido Web </a:t>
            </a:r>
          </a:p>
          <a:p>
            <a:r>
              <a:rPr lang="es-AR" sz="2000" dirty="0"/>
              <a:t> definen cómo crear contenidos web más accesible para las personas con discapacidad.</a:t>
            </a:r>
          </a:p>
          <a:p>
            <a:r>
              <a:rPr lang="es-AR" sz="2000" b="1" u="sng" dirty="0">
                <a:solidFill>
                  <a:srgbClr val="0070C0"/>
                </a:solidFill>
              </a:rPr>
              <a:t>Más Información</a:t>
            </a:r>
            <a:r>
              <a:rPr lang="es-AR" sz="2000" b="1" dirty="0">
                <a:solidFill>
                  <a:srgbClr val="0070C0"/>
                </a:solidFill>
              </a:rPr>
              <a:t> </a:t>
            </a:r>
            <a:r>
              <a:rPr lang="es-AR" sz="2000" b="1" dirty="0">
                <a:solidFill>
                  <a:srgbClr val="C00000"/>
                </a:solidFill>
              </a:rPr>
              <a:t>?</a:t>
            </a:r>
            <a:endParaRPr lang="es-AR" sz="2000" b="1" u="sng" dirty="0">
              <a:solidFill>
                <a:srgbClr val="C00000"/>
              </a:solidFill>
            </a:endParaRPr>
          </a:p>
        </p:txBody>
      </p:sp>
      <p:sp>
        <p:nvSpPr>
          <p:cNvPr id="7" name="10 Llamada de nube"/>
          <p:cNvSpPr/>
          <p:nvPr/>
        </p:nvSpPr>
        <p:spPr>
          <a:xfrm>
            <a:off x="3531847" y="2204865"/>
            <a:ext cx="4915133" cy="1361850"/>
          </a:xfrm>
          <a:prstGeom prst="cloudCallout">
            <a:avLst>
              <a:gd name="adj1" fmla="val -32033"/>
              <a:gd name="adj2" fmla="val 8588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AR" sz="2000" dirty="0">
                <a:solidFill>
                  <a:schemeClr val="tx1"/>
                </a:solidFill>
              </a:rPr>
              <a:t>¿Qué contenido o información encontraré en el documento destino?</a:t>
            </a:r>
          </a:p>
        </p:txBody>
      </p:sp>
      <p:sp>
        <p:nvSpPr>
          <p:cNvPr id="8" name="12 Llamada de nube"/>
          <p:cNvSpPr/>
          <p:nvPr/>
        </p:nvSpPr>
        <p:spPr>
          <a:xfrm>
            <a:off x="4860032" y="4087874"/>
            <a:ext cx="3292888" cy="1417587"/>
          </a:xfrm>
          <a:prstGeom prst="cloudCallout">
            <a:avLst>
              <a:gd name="adj1" fmla="val -56842"/>
              <a:gd name="adj2" fmla="val -2225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AR" sz="2000" dirty="0">
                <a:solidFill>
                  <a:schemeClr val="tx1"/>
                </a:solidFill>
              </a:rPr>
              <a:t>¿Qué acción o funcionalidad invoca?</a:t>
            </a:r>
          </a:p>
        </p:txBody>
      </p:sp>
      <p:pic>
        <p:nvPicPr>
          <p:cNvPr id="9" name="Picture 7" descr="Resultado de imagen para pensador dibujo"/>
          <p:cNvPicPr>
            <a:picLocks noChangeAspect="1" noChangeArrowheads="1"/>
          </p:cNvPicPr>
          <p:nvPr/>
        </p:nvPicPr>
        <p:blipFill>
          <a:blip r:embed="rId3" cstate="print"/>
          <a:srcRect/>
          <a:stretch>
            <a:fillRect/>
          </a:stretch>
        </p:blipFill>
        <p:spPr bwMode="auto">
          <a:xfrm>
            <a:off x="3567707" y="3922872"/>
            <a:ext cx="1004293" cy="1442529"/>
          </a:xfrm>
          <a:prstGeom prst="rect">
            <a:avLst/>
          </a:prstGeom>
          <a:noFill/>
        </p:spPr>
      </p:pic>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130</a:t>
            </a:fld>
            <a:endParaRPr lang="es-ES" altLang="es-AR"/>
          </a:p>
        </p:txBody>
      </p:sp>
    </p:spTree>
    <p:extLst>
      <p:ext uri="{BB962C8B-B14F-4D97-AF65-F5344CB8AC3E}">
        <p14:creationId xmlns:p14="http://schemas.microsoft.com/office/powerpoint/2010/main" val="635115247"/>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1 Título"/>
          <p:cNvSpPr>
            <a:spLocks noGrp="1"/>
          </p:cNvSpPr>
          <p:nvPr>
            <p:ph type="title"/>
          </p:nvPr>
        </p:nvSpPr>
        <p:spPr>
          <a:xfrm>
            <a:off x="457200" y="274638"/>
            <a:ext cx="8229600" cy="654050"/>
          </a:xfrm>
        </p:spPr>
        <p:txBody>
          <a:bodyPr/>
          <a:lstStyle/>
          <a:p>
            <a:r>
              <a:rPr lang="es-AR" altLang="es-AR" b="1" dirty="0"/>
              <a:t>Navegación accesible</a:t>
            </a:r>
          </a:p>
        </p:txBody>
      </p:sp>
      <p:sp>
        <p:nvSpPr>
          <p:cNvPr id="57347" name="2 Marcador de contenido"/>
          <p:cNvSpPr>
            <a:spLocks noGrp="1"/>
          </p:cNvSpPr>
          <p:nvPr>
            <p:ph idx="1"/>
          </p:nvPr>
        </p:nvSpPr>
        <p:spPr>
          <a:xfrm>
            <a:off x="430213" y="1916113"/>
            <a:ext cx="8229600" cy="4537223"/>
          </a:xfrm>
        </p:spPr>
        <p:txBody>
          <a:bodyPr/>
          <a:lstStyle/>
          <a:p>
            <a:r>
              <a:rPr lang="es-AR" dirty="0"/>
              <a:t>Enlaces accesibles</a:t>
            </a:r>
          </a:p>
          <a:p>
            <a:pPr marL="0" indent="0">
              <a:buNone/>
            </a:pPr>
            <a:endParaRPr lang="es-AR" dirty="0"/>
          </a:p>
          <a:p>
            <a:pPr lvl="1"/>
            <a:r>
              <a:rPr lang="es-AR" dirty="0"/>
              <a:t>Propósito de los enlaces (WCAG 2.0)</a:t>
            </a:r>
          </a:p>
          <a:p>
            <a:pPr lvl="1"/>
            <a:endParaRPr lang="es-AR" dirty="0"/>
          </a:p>
          <a:p>
            <a:pPr lvl="2"/>
            <a:r>
              <a:rPr lang="es-AR" b="1" dirty="0"/>
              <a:t>Criterio 2.4.4 Propósito de los enlaces (en contexto)</a:t>
            </a:r>
          </a:p>
          <a:p>
            <a:pPr lvl="2">
              <a:buNone/>
            </a:pPr>
            <a:r>
              <a:rPr lang="es-AR" dirty="0"/>
              <a:t>	</a:t>
            </a:r>
            <a:r>
              <a:rPr lang="es-AR" u="sng" dirty="0"/>
              <a:t>El propósito de cada enlace puede ser determinado con solo el texto del enlace </a:t>
            </a:r>
            <a:r>
              <a:rPr lang="es-AR" dirty="0"/>
              <a:t>o a través del texto del enlace sumado al contexto del enlace determinado por software, excepto cuando el propósito del enlace resultara ambiguo para los usuarios en general. [Nivel A]</a:t>
            </a:r>
          </a:p>
          <a:p>
            <a:pPr lvl="2">
              <a:buNone/>
            </a:pPr>
            <a:endParaRPr lang="es-AR" dirty="0"/>
          </a:p>
          <a:p>
            <a:pPr lvl="2"/>
            <a:r>
              <a:rPr lang="es-AR" dirty="0"/>
              <a:t>Textos de enlace descriptivos.</a:t>
            </a:r>
          </a:p>
          <a:p>
            <a:pPr lvl="2"/>
            <a:endParaRPr lang="es-AR" dirty="0"/>
          </a:p>
          <a:p>
            <a:pPr marL="3657600" lvl="8" indent="0">
              <a:buNone/>
            </a:pPr>
            <a:r>
              <a:rPr lang="es-AR" dirty="0"/>
              <a:t>		</a:t>
            </a:r>
          </a:p>
        </p:txBody>
      </p:sp>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131</a:t>
            </a:fld>
            <a:endParaRPr lang="es-ES" altLang="es-AR"/>
          </a:p>
        </p:txBody>
      </p:sp>
    </p:spTree>
    <p:extLst>
      <p:ext uri="{BB962C8B-B14F-4D97-AF65-F5344CB8AC3E}">
        <p14:creationId xmlns:p14="http://schemas.microsoft.com/office/powerpoint/2010/main" val="511994459"/>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1 Título"/>
          <p:cNvSpPr>
            <a:spLocks noGrp="1"/>
          </p:cNvSpPr>
          <p:nvPr>
            <p:ph type="title"/>
          </p:nvPr>
        </p:nvSpPr>
        <p:spPr>
          <a:xfrm>
            <a:off x="457200" y="274638"/>
            <a:ext cx="8229600" cy="654050"/>
          </a:xfrm>
        </p:spPr>
        <p:txBody>
          <a:bodyPr/>
          <a:lstStyle/>
          <a:p>
            <a:r>
              <a:rPr lang="es-AR" altLang="es-AR" b="1" dirty="0"/>
              <a:t>Navegación accesible</a:t>
            </a:r>
          </a:p>
        </p:txBody>
      </p:sp>
      <p:sp>
        <p:nvSpPr>
          <p:cNvPr id="57347" name="2 Marcador de contenido"/>
          <p:cNvSpPr>
            <a:spLocks noGrp="1"/>
          </p:cNvSpPr>
          <p:nvPr>
            <p:ph idx="1"/>
          </p:nvPr>
        </p:nvSpPr>
        <p:spPr>
          <a:xfrm>
            <a:off x="430213" y="1916113"/>
            <a:ext cx="8229600" cy="1224855"/>
          </a:xfrm>
        </p:spPr>
        <p:txBody>
          <a:bodyPr/>
          <a:lstStyle/>
          <a:p>
            <a:r>
              <a:rPr lang="es-AR" dirty="0"/>
              <a:t>Enlaces accesibles</a:t>
            </a:r>
          </a:p>
          <a:p>
            <a:pPr marL="0" indent="0">
              <a:buNone/>
            </a:pPr>
            <a:endParaRPr lang="es-AR" dirty="0"/>
          </a:p>
          <a:p>
            <a:pPr lvl="1"/>
            <a:r>
              <a:rPr lang="es-AR" dirty="0"/>
              <a:t>Propósito de los enlaces (WCAG 2.0)</a:t>
            </a:r>
          </a:p>
          <a:p>
            <a:pPr lvl="1"/>
            <a:endParaRPr lang="es-AR" dirty="0"/>
          </a:p>
          <a:p>
            <a:pPr lvl="2"/>
            <a:endParaRPr lang="es-AR" dirty="0"/>
          </a:p>
          <a:p>
            <a:pPr marL="3657600" lvl="8" indent="0">
              <a:buNone/>
            </a:pPr>
            <a:r>
              <a:rPr lang="es-AR" dirty="0"/>
              <a:t>		</a:t>
            </a:r>
          </a:p>
        </p:txBody>
      </p:sp>
      <p:sp>
        <p:nvSpPr>
          <p:cNvPr id="4" name="5 CuadroTexto"/>
          <p:cNvSpPr txBox="1"/>
          <p:nvPr/>
        </p:nvSpPr>
        <p:spPr>
          <a:xfrm>
            <a:off x="1259632" y="3420507"/>
            <a:ext cx="6696744" cy="707886"/>
          </a:xfrm>
          <a:prstGeom prst="rect">
            <a:avLst/>
          </a:prstGeom>
          <a:noFill/>
          <a:ln>
            <a:solidFill>
              <a:schemeClr val="accent1"/>
            </a:solidFill>
          </a:ln>
        </p:spPr>
        <p:txBody>
          <a:bodyPr wrap="square" rtlCol="0">
            <a:spAutoFit/>
          </a:bodyPr>
          <a:lstStyle/>
          <a:p>
            <a:r>
              <a:rPr lang="es-AR" sz="2000" b="1" u="sng" dirty="0">
                <a:solidFill>
                  <a:srgbClr val="0070C0"/>
                </a:solidFill>
              </a:rPr>
              <a:t>Más información </a:t>
            </a:r>
            <a:r>
              <a:rPr lang="es-AR" sz="2000" dirty="0">
                <a:sym typeface="Wingdings" pitchFamily="2" charset="2"/>
              </a:rPr>
              <a:t> URL1 		                </a:t>
            </a:r>
            <a:r>
              <a:rPr lang="es-AR" sz="2000" b="1" dirty="0">
                <a:solidFill>
                  <a:srgbClr val="FF0000"/>
                </a:solidFill>
                <a:sym typeface="Wingdings" pitchFamily="2" charset="2"/>
              </a:rPr>
              <a:t>MAL</a:t>
            </a:r>
          </a:p>
          <a:p>
            <a:r>
              <a:rPr lang="es-AR" sz="2000" b="1" u="sng" dirty="0">
                <a:solidFill>
                  <a:srgbClr val="0070C0"/>
                </a:solidFill>
                <a:sym typeface="Wingdings" pitchFamily="2" charset="2"/>
              </a:rPr>
              <a:t>Más información </a:t>
            </a:r>
            <a:r>
              <a:rPr lang="es-AR" sz="2000" dirty="0">
                <a:sym typeface="Wingdings" pitchFamily="2" charset="2"/>
              </a:rPr>
              <a:t> URL2</a:t>
            </a:r>
            <a:endParaRPr lang="es-AR" sz="2000" dirty="0"/>
          </a:p>
        </p:txBody>
      </p:sp>
      <p:sp>
        <p:nvSpPr>
          <p:cNvPr id="5" name="9 CuadroTexto"/>
          <p:cNvSpPr txBox="1"/>
          <p:nvPr/>
        </p:nvSpPr>
        <p:spPr>
          <a:xfrm>
            <a:off x="1259632" y="4334233"/>
            <a:ext cx="6696744" cy="1631216"/>
          </a:xfrm>
          <a:prstGeom prst="rect">
            <a:avLst/>
          </a:prstGeom>
          <a:noFill/>
          <a:ln>
            <a:solidFill>
              <a:schemeClr val="accent1"/>
            </a:solidFill>
          </a:ln>
        </p:spPr>
        <p:txBody>
          <a:bodyPr wrap="square" rtlCol="0">
            <a:spAutoFit/>
          </a:bodyPr>
          <a:lstStyle/>
          <a:p>
            <a:r>
              <a:rPr lang="es-AR" sz="2000" b="1" u="sng" dirty="0">
                <a:solidFill>
                  <a:srgbClr val="0070C0"/>
                </a:solidFill>
              </a:rPr>
              <a:t>Leer noticia “Título de la noticia 1” </a:t>
            </a:r>
          </a:p>
          <a:p>
            <a:r>
              <a:rPr lang="es-AR" sz="2000" b="1" u="sng" dirty="0">
                <a:solidFill>
                  <a:srgbClr val="0070C0"/>
                </a:solidFill>
              </a:rPr>
              <a:t>Leer noticia “Título de la noticia 1”</a:t>
            </a:r>
            <a:r>
              <a:rPr lang="es-AR" sz="2000" b="1" dirty="0"/>
              <a:t>     </a:t>
            </a:r>
            <a:r>
              <a:rPr lang="es-AR" sz="2000" dirty="0"/>
              <a:t>URL1</a:t>
            </a:r>
          </a:p>
          <a:p>
            <a:r>
              <a:rPr lang="es-AR" sz="2000" dirty="0"/>
              <a:t>						   </a:t>
            </a:r>
            <a:r>
              <a:rPr lang="es-AR" sz="2000" b="1" dirty="0">
                <a:solidFill>
                  <a:srgbClr val="00B050"/>
                </a:solidFill>
              </a:rPr>
              <a:t>BIEN</a:t>
            </a:r>
          </a:p>
          <a:p>
            <a:r>
              <a:rPr lang="es-AR" sz="2000" b="1" u="sng" dirty="0">
                <a:solidFill>
                  <a:srgbClr val="0070C0"/>
                </a:solidFill>
              </a:rPr>
              <a:t>Leer noticia “Título de la noticia 1” </a:t>
            </a:r>
            <a:r>
              <a:rPr lang="es-AR" sz="2000" dirty="0">
                <a:sym typeface="Wingdings" pitchFamily="2" charset="2"/>
              </a:rPr>
              <a:t> URL1</a:t>
            </a:r>
            <a:endParaRPr lang="es-AR" sz="2000" dirty="0"/>
          </a:p>
          <a:p>
            <a:r>
              <a:rPr lang="es-AR" sz="2000" b="1" u="sng" dirty="0">
                <a:solidFill>
                  <a:srgbClr val="0070C0"/>
                </a:solidFill>
              </a:rPr>
              <a:t>Leer noticia “Título de la noticia 2” </a:t>
            </a:r>
            <a:r>
              <a:rPr lang="es-AR" sz="2000" dirty="0">
                <a:sym typeface="Wingdings" pitchFamily="2" charset="2"/>
              </a:rPr>
              <a:t> URL2</a:t>
            </a:r>
            <a:endParaRPr lang="es-AR" sz="2000" dirty="0"/>
          </a:p>
        </p:txBody>
      </p:sp>
      <p:sp>
        <p:nvSpPr>
          <p:cNvPr id="6" name="10 Cerrar llave"/>
          <p:cNvSpPr/>
          <p:nvPr/>
        </p:nvSpPr>
        <p:spPr>
          <a:xfrm>
            <a:off x="5724128" y="4426006"/>
            <a:ext cx="72008" cy="587170"/>
          </a:xfrm>
          <a:prstGeom prst="rightBrace">
            <a:avLst/>
          </a:prstGeom>
          <a:ln w="25400"/>
        </p:spPr>
        <p:style>
          <a:lnRef idx="1">
            <a:schemeClr val="accent1"/>
          </a:lnRef>
          <a:fillRef idx="0">
            <a:schemeClr val="accent1"/>
          </a:fillRef>
          <a:effectRef idx="0">
            <a:schemeClr val="accent1"/>
          </a:effectRef>
          <a:fontRef idx="minor">
            <a:schemeClr val="tx1"/>
          </a:fontRef>
        </p:style>
        <p:txBody>
          <a:bodyPr rtlCol="0" anchor="ctr"/>
          <a:lstStyle/>
          <a:p>
            <a:pPr algn="ctr"/>
            <a:endParaRPr lang="es-AR"/>
          </a:p>
        </p:txBody>
      </p:sp>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132</a:t>
            </a:fld>
            <a:endParaRPr lang="es-ES" altLang="es-AR"/>
          </a:p>
        </p:txBody>
      </p:sp>
    </p:spTree>
    <p:extLst>
      <p:ext uri="{BB962C8B-B14F-4D97-AF65-F5344CB8AC3E}">
        <p14:creationId xmlns:p14="http://schemas.microsoft.com/office/powerpoint/2010/main" val="4281607257"/>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1 Título"/>
          <p:cNvSpPr>
            <a:spLocks noGrp="1"/>
          </p:cNvSpPr>
          <p:nvPr>
            <p:ph type="title"/>
          </p:nvPr>
        </p:nvSpPr>
        <p:spPr>
          <a:xfrm>
            <a:off x="457200" y="274638"/>
            <a:ext cx="8229600" cy="654050"/>
          </a:xfrm>
        </p:spPr>
        <p:txBody>
          <a:bodyPr/>
          <a:lstStyle/>
          <a:p>
            <a:r>
              <a:rPr lang="es-AR" altLang="es-AR" b="1" dirty="0"/>
              <a:t>Navegación accesible</a:t>
            </a:r>
          </a:p>
        </p:txBody>
      </p:sp>
      <p:sp>
        <p:nvSpPr>
          <p:cNvPr id="57347" name="2 Marcador de contenido"/>
          <p:cNvSpPr>
            <a:spLocks noGrp="1"/>
          </p:cNvSpPr>
          <p:nvPr>
            <p:ph idx="1"/>
          </p:nvPr>
        </p:nvSpPr>
        <p:spPr>
          <a:xfrm>
            <a:off x="430213" y="1916113"/>
            <a:ext cx="8229600" cy="4249191"/>
          </a:xfrm>
        </p:spPr>
        <p:txBody>
          <a:bodyPr/>
          <a:lstStyle/>
          <a:p>
            <a:r>
              <a:rPr lang="es-AR" dirty="0"/>
              <a:t>Enlaces accesibles</a:t>
            </a:r>
          </a:p>
          <a:p>
            <a:pPr marL="0" indent="0">
              <a:buNone/>
            </a:pPr>
            <a:endParaRPr lang="es-AR" dirty="0"/>
          </a:p>
          <a:p>
            <a:pPr lvl="1"/>
            <a:r>
              <a:rPr lang="es-AR" dirty="0"/>
              <a:t>Ejemplos de textos de enlaces descriptivos:</a:t>
            </a:r>
          </a:p>
          <a:p>
            <a:pPr lvl="1"/>
            <a:endParaRPr lang="es-AR" dirty="0"/>
          </a:p>
          <a:p>
            <a:pPr lvl="2"/>
            <a:r>
              <a:rPr lang="es-AR" b="1" u="sng" dirty="0">
                <a:solidFill>
                  <a:srgbClr val="0070C0"/>
                </a:solidFill>
              </a:rPr>
              <a:t>Artículo “PDF Accesibles” del blog de Olga Carreras</a:t>
            </a:r>
          </a:p>
          <a:p>
            <a:pPr marL="914400" lvl="2" indent="0">
              <a:buNone/>
            </a:pPr>
            <a:endParaRPr lang="es-AR" b="1" u="sng" dirty="0">
              <a:solidFill>
                <a:srgbClr val="0070C0"/>
              </a:solidFill>
            </a:endParaRPr>
          </a:p>
          <a:p>
            <a:pPr lvl="2"/>
            <a:r>
              <a:rPr lang="es-AR" b="1" u="sng" dirty="0">
                <a:solidFill>
                  <a:srgbClr val="0070C0"/>
                </a:solidFill>
              </a:rPr>
              <a:t>Glosario de términos (PDF, 100KB)</a:t>
            </a:r>
          </a:p>
          <a:p>
            <a:pPr lvl="2"/>
            <a:endParaRPr lang="es-AR" b="1" u="sng" dirty="0">
              <a:solidFill>
                <a:srgbClr val="0070C0"/>
              </a:solidFill>
            </a:endParaRPr>
          </a:p>
          <a:p>
            <a:pPr lvl="2"/>
            <a:r>
              <a:rPr lang="es-AR" b="1" u="sng" dirty="0">
                <a:solidFill>
                  <a:srgbClr val="0070C0"/>
                </a:solidFill>
              </a:rPr>
              <a:t>Formulario de contacto (se abre en ventana nueva)</a:t>
            </a:r>
          </a:p>
          <a:p>
            <a:pPr lvl="2"/>
            <a:endParaRPr lang="es-AR" dirty="0"/>
          </a:p>
          <a:p>
            <a:pPr lvl="1"/>
            <a:endParaRPr lang="es-AR" dirty="0"/>
          </a:p>
          <a:p>
            <a:pPr lvl="2"/>
            <a:endParaRPr lang="es-AR" dirty="0"/>
          </a:p>
          <a:p>
            <a:pPr marL="3657600" lvl="8" indent="0">
              <a:buNone/>
            </a:pPr>
            <a:r>
              <a:rPr lang="es-AR" dirty="0"/>
              <a:t>		</a:t>
            </a:r>
          </a:p>
        </p:txBody>
      </p:sp>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133</a:t>
            </a:fld>
            <a:endParaRPr lang="es-ES" altLang="es-AR"/>
          </a:p>
        </p:txBody>
      </p:sp>
    </p:spTree>
    <p:extLst>
      <p:ext uri="{BB962C8B-B14F-4D97-AF65-F5344CB8AC3E}">
        <p14:creationId xmlns:p14="http://schemas.microsoft.com/office/powerpoint/2010/main" val="1170798958"/>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1 Título"/>
          <p:cNvSpPr>
            <a:spLocks noGrp="1"/>
          </p:cNvSpPr>
          <p:nvPr>
            <p:ph type="title"/>
          </p:nvPr>
        </p:nvSpPr>
        <p:spPr>
          <a:xfrm>
            <a:off x="457200" y="274638"/>
            <a:ext cx="8229600" cy="654050"/>
          </a:xfrm>
        </p:spPr>
        <p:txBody>
          <a:bodyPr/>
          <a:lstStyle/>
          <a:p>
            <a:r>
              <a:rPr lang="es-AR" altLang="es-AR" b="1" dirty="0"/>
              <a:t>Navegación accesible</a:t>
            </a:r>
          </a:p>
        </p:txBody>
      </p:sp>
      <p:sp>
        <p:nvSpPr>
          <p:cNvPr id="57347" name="2 Marcador de contenido"/>
          <p:cNvSpPr>
            <a:spLocks noGrp="1"/>
          </p:cNvSpPr>
          <p:nvPr>
            <p:ph idx="1"/>
          </p:nvPr>
        </p:nvSpPr>
        <p:spPr>
          <a:xfrm>
            <a:off x="430213" y="1916113"/>
            <a:ext cx="8229600" cy="4609231"/>
          </a:xfrm>
        </p:spPr>
        <p:txBody>
          <a:bodyPr/>
          <a:lstStyle/>
          <a:p>
            <a:r>
              <a:rPr lang="es-AR" dirty="0"/>
              <a:t>Enlaces accesibles</a:t>
            </a:r>
          </a:p>
          <a:p>
            <a:pPr marL="0" indent="0">
              <a:buNone/>
            </a:pPr>
            <a:endParaRPr lang="es-AR" dirty="0"/>
          </a:p>
          <a:p>
            <a:pPr lvl="1"/>
            <a:r>
              <a:rPr lang="es-AR" dirty="0"/>
              <a:t>Texto de enlace descriptivo fuera del contexto</a:t>
            </a:r>
          </a:p>
          <a:p>
            <a:pPr lvl="2"/>
            <a:r>
              <a:rPr lang="es-AR" dirty="0"/>
              <a:t>Identifica claramente el contenido o información que se encuentra en el documento destino, o la acción o funcionalidad que invocan.</a:t>
            </a:r>
          </a:p>
          <a:p>
            <a:pPr lvl="2"/>
            <a:r>
              <a:rPr lang="es-AR" dirty="0"/>
              <a:t>Mismo texto de enlace = mismo destino.</a:t>
            </a:r>
          </a:p>
          <a:p>
            <a:pPr lvl="2"/>
            <a:r>
              <a:rPr lang="es-AR" dirty="0"/>
              <a:t>Mismo destino = mismo texto de enlace.</a:t>
            </a:r>
          </a:p>
          <a:p>
            <a:pPr lvl="2"/>
            <a:r>
              <a:rPr lang="es-AR" dirty="0"/>
              <a:t>La URL del enlace no se considera descriptiva.</a:t>
            </a:r>
          </a:p>
          <a:p>
            <a:pPr marL="914400" lvl="2" indent="0">
              <a:buNone/>
            </a:pPr>
            <a:r>
              <a:rPr lang="es-AR" dirty="0"/>
              <a:t>							 </a:t>
            </a:r>
            <a:r>
              <a:rPr lang="es-AR" b="1" dirty="0">
                <a:solidFill>
                  <a:srgbClr val="FF0000"/>
                </a:solidFill>
              </a:rPr>
              <a:t>MAL</a:t>
            </a:r>
          </a:p>
          <a:p>
            <a:pPr marL="457200" lvl="1" indent="0">
              <a:buNone/>
            </a:pPr>
            <a:r>
              <a:rPr lang="es-AR" dirty="0"/>
              <a:t>								 </a:t>
            </a:r>
          </a:p>
          <a:p>
            <a:pPr marL="457200" lvl="1" indent="0">
              <a:buNone/>
            </a:pPr>
            <a:r>
              <a:rPr lang="es-AR" dirty="0"/>
              <a:t>								 </a:t>
            </a:r>
            <a:r>
              <a:rPr lang="es-AR" b="1" dirty="0">
                <a:solidFill>
                  <a:srgbClr val="00B050"/>
                </a:solidFill>
              </a:rPr>
              <a:t>BIEN</a:t>
            </a:r>
          </a:p>
          <a:p>
            <a:pPr lvl="1"/>
            <a:endParaRPr lang="es-AR" dirty="0"/>
          </a:p>
          <a:p>
            <a:pPr lvl="2"/>
            <a:endParaRPr lang="es-AR" dirty="0"/>
          </a:p>
          <a:p>
            <a:pPr marL="3657600" lvl="8" indent="0">
              <a:buNone/>
            </a:pPr>
            <a:r>
              <a:rPr lang="es-AR" dirty="0"/>
              <a:t>		</a:t>
            </a:r>
          </a:p>
        </p:txBody>
      </p:sp>
      <p:sp>
        <p:nvSpPr>
          <p:cNvPr id="4" name="6 CuadroTexto"/>
          <p:cNvSpPr txBox="1"/>
          <p:nvPr/>
        </p:nvSpPr>
        <p:spPr>
          <a:xfrm>
            <a:off x="1259632" y="5181204"/>
            <a:ext cx="6552728" cy="707886"/>
          </a:xfrm>
          <a:prstGeom prst="rect">
            <a:avLst/>
          </a:prstGeom>
          <a:noFill/>
          <a:ln>
            <a:solidFill>
              <a:schemeClr val="accent1"/>
            </a:solidFill>
          </a:ln>
        </p:spPr>
        <p:txBody>
          <a:bodyPr wrap="square" rtlCol="0">
            <a:spAutoFit/>
          </a:bodyPr>
          <a:lstStyle/>
          <a:p>
            <a:r>
              <a:rPr lang="es-AR" sz="2000" b="1" u="sng" dirty="0">
                <a:solidFill>
                  <a:srgbClr val="0070C0"/>
                </a:solidFill>
              </a:rPr>
              <a:t>http://www.usableyaccesible/articulos/PDF/pdf-accesibles.html</a:t>
            </a:r>
          </a:p>
        </p:txBody>
      </p:sp>
      <p:sp>
        <p:nvSpPr>
          <p:cNvPr id="5" name="7 CuadroTexto"/>
          <p:cNvSpPr txBox="1"/>
          <p:nvPr/>
        </p:nvSpPr>
        <p:spPr>
          <a:xfrm>
            <a:off x="1238656" y="5944562"/>
            <a:ext cx="6573704" cy="400110"/>
          </a:xfrm>
          <a:prstGeom prst="rect">
            <a:avLst/>
          </a:prstGeom>
          <a:noFill/>
          <a:ln>
            <a:solidFill>
              <a:schemeClr val="accent1"/>
            </a:solidFill>
          </a:ln>
        </p:spPr>
        <p:txBody>
          <a:bodyPr wrap="square" rtlCol="0">
            <a:spAutoFit/>
          </a:bodyPr>
          <a:lstStyle/>
          <a:p>
            <a:r>
              <a:rPr lang="es-AR" sz="2000" b="1" u="sng" dirty="0">
                <a:solidFill>
                  <a:srgbClr val="0070C0"/>
                </a:solidFill>
              </a:rPr>
              <a:t>Artículo “PDF Accesibles” del blog de Olga Carreras</a:t>
            </a:r>
          </a:p>
        </p:txBody>
      </p:sp>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134</a:t>
            </a:fld>
            <a:endParaRPr lang="es-ES" altLang="es-AR"/>
          </a:p>
        </p:txBody>
      </p:sp>
    </p:spTree>
    <p:extLst>
      <p:ext uri="{BB962C8B-B14F-4D97-AF65-F5344CB8AC3E}">
        <p14:creationId xmlns:p14="http://schemas.microsoft.com/office/powerpoint/2010/main" val="1137200084"/>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1 Título"/>
          <p:cNvSpPr>
            <a:spLocks noGrp="1"/>
          </p:cNvSpPr>
          <p:nvPr>
            <p:ph type="title"/>
          </p:nvPr>
        </p:nvSpPr>
        <p:spPr>
          <a:xfrm>
            <a:off x="457200" y="274638"/>
            <a:ext cx="8229600" cy="654050"/>
          </a:xfrm>
        </p:spPr>
        <p:txBody>
          <a:bodyPr/>
          <a:lstStyle/>
          <a:p>
            <a:r>
              <a:rPr lang="es-AR" altLang="es-AR" b="1" dirty="0"/>
              <a:t>Navegación accesible</a:t>
            </a:r>
          </a:p>
        </p:txBody>
      </p:sp>
      <p:sp>
        <p:nvSpPr>
          <p:cNvPr id="57347" name="2 Marcador de contenido"/>
          <p:cNvSpPr>
            <a:spLocks noGrp="1"/>
          </p:cNvSpPr>
          <p:nvPr>
            <p:ph idx="1"/>
          </p:nvPr>
        </p:nvSpPr>
        <p:spPr>
          <a:xfrm>
            <a:off x="430213" y="1916113"/>
            <a:ext cx="8229600" cy="4249191"/>
          </a:xfrm>
        </p:spPr>
        <p:txBody>
          <a:bodyPr/>
          <a:lstStyle/>
          <a:p>
            <a:r>
              <a:rPr lang="es-AR" dirty="0"/>
              <a:t>Enlaces accesibles</a:t>
            </a:r>
          </a:p>
          <a:p>
            <a:pPr marL="0" indent="0">
              <a:buNone/>
            </a:pPr>
            <a:endParaRPr lang="es-AR" dirty="0"/>
          </a:p>
          <a:p>
            <a:pPr lvl="1"/>
            <a:r>
              <a:rPr lang="es-AR" dirty="0"/>
              <a:t>Texto de enlace descriptivo fuera del contexto</a:t>
            </a:r>
          </a:p>
          <a:p>
            <a:pPr lvl="1"/>
            <a:endParaRPr lang="es-AR" dirty="0"/>
          </a:p>
          <a:p>
            <a:pPr lvl="2"/>
            <a:r>
              <a:rPr lang="es-AR" dirty="0"/>
              <a:t>Indicar:</a:t>
            </a:r>
          </a:p>
          <a:p>
            <a:pPr lvl="2"/>
            <a:endParaRPr lang="es-AR" dirty="0"/>
          </a:p>
          <a:p>
            <a:pPr lvl="3"/>
            <a:r>
              <a:rPr lang="es-AR" dirty="0"/>
              <a:t>El formato y tamaño del documento (no HTML) de destino.</a:t>
            </a:r>
          </a:p>
          <a:p>
            <a:pPr lvl="3"/>
            <a:r>
              <a:rPr lang="es-AR" dirty="0"/>
              <a:t>Si se abre ventana nueva.</a:t>
            </a:r>
          </a:p>
          <a:p>
            <a:pPr lvl="3"/>
            <a:r>
              <a:rPr lang="es-AR" dirty="0"/>
              <a:t>Si navega a un sitio web diferente.</a:t>
            </a:r>
          </a:p>
          <a:p>
            <a:pPr lvl="3"/>
            <a:r>
              <a:rPr lang="es-AR" dirty="0"/>
              <a:t>Si abre otro programa (por ejemplo, gestor de correo).</a:t>
            </a:r>
          </a:p>
          <a:p>
            <a:pPr marL="457200" lvl="1" indent="0">
              <a:buNone/>
            </a:pPr>
            <a:endParaRPr lang="es-AR" dirty="0"/>
          </a:p>
          <a:p>
            <a:pPr lvl="1"/>
            <a:endParaRPr lang="es-AR" dirty="0"/>
          </a:p>
          <a:p>
            <a:pPr lvl="2"/>
            <a:endParaRPr lang="es-AR" dirty="0"/>
          </a:p>
          <a:p>
            <a:pPr marL="3657600" lvl="8" indent="0">
              <a:buNone/>
            </a:pPr>
            <a:r>
              <a:rPr lang="es-AR" dirty="0"/>
              <a:t>		</a:t>
            </a:r>
          </a:p>
        </p:txBody>
      </p:sp>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135</a:t>
            </a:fld>
            <a:endParaRPr lang="es-ES" altLang="es-AR"/>
          </a:p>
        </p:txBody>
      </p:sp>
    </p:spTree>
    <p:extLst>
      <p:ext uri="{BB962C8B-B14F-4D97-AF65-F5344CB8AC3E}">
        <p14:creationId xmlns:p14="http://schemas.microsoft.com/office/powerpoint/2010/main" val="2699742558"/>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1 Título"/>
          <p:cNvSpPr>
            <a:spLocks noGrp="1"/>
          </p:cNvSpPr>
          <p:nvPr>
            <p:ph type="title"/>
          </p:nvPr>
        </p:nvSpPr>
        <p:spPr>
          <a:xfrm>
            <a:off x="457200" y="274638"/>
            <a:ext cx="8229600" cy="654050"/>
          </a:xfrm>
        </p:spPr>
        <p:txBody>
          <a:bodyPr/>
          <a:lstStyle/>
          <a:p>
            <a:r>
              <a:rPr lang="es-AR" altLang="es-AR" b="1" dirty="0"/>
              <a:t>Navegación accesible</a:t>
            </a:r>
          </a:p>
        </p:txBody>
      </p:sp>
      <p:sp>
        <p:nvSpPr>
          <p:cNvPr id="57347" name="2 Marcador de contenido"/>
          <p:cNvSpPr>
            <a:spLocks noGrp="1"/>
          </p:cNvSpPr>
          <p:nvPr>
            <p:ph idx="1"/>
          </p:nvPr>
        </p:nvSpPr>
        <p:spPr>
          <a:xfrm>
            <a:off x="430213" y="1916113"/>
            <a:ext cx="8229600" cy="4537223"/>
          </a:xfrm>
        </p:spPr>
        <p:txBody>
          <a:bodyPr/>
          <a:lstStyle/>
          <a:p>
            <a:r>
              <a:rPr lang="es-AR" dirty="0"/>
              <a:t>Enlaces accesibles</a:t>
            </a:r>
          </a:p>
          <a:p>
            <a:pPr marL="0" indent="0">
              <a:buNone/>
            </a:pPr>
            <a:endParaRPr lang="es-AR" dirty="0"/>
          </a:p>
          <a:p>
            <a:pPr lvl="1"/>
            <a:r>
              <a:rPr lang="es-AR" dirty="0"/>
              <a:t>Propósito de los enlaces (WCAG 2.0)</a:t>
            </a:r>
          </a:p>
          <a:p>
            <a:pPr lvl="1"/>
            <a:endParaRPr lang="es-AR" dirty="0"/>
          </a:p>
          <a:p>
            <a:pPr lvl="2"/>
            <a:r>
              <a:rPr lang="es-AR" b="1" dirty="0"/>
              <a:t>Criterio 2.4.4 Propósito de los enlaces (en contexto)</a:t>
            </a:r>
          </a:p>
          <a:p>
            <a:pPr lvl="2">
              <a:buNone/>
            </a:pPr>
            <a:r>
              <a:rPr lang="es-AR" dirty="0"/>
              <a:t>	El propósito de cada enlace puede ser </a:t>
            </a:r>
            <a:r>
              <a:rPr lang="es-AR" u="sng" dirty="0"/>
              <a:t>determinado</a:t>
            </a:r>
            <a:r>
              <a:rPr lang="es-AR" dirty="0"/>
              <a:t> con solo el texto del enlace o </a:t>
            </a:r>
            <a:r>
              <a:rPr lang="es-AR" u="sng" dirty="0"/>
              <a:t>a través del texto del enlace sumado al contexto del enlace determinado por software</a:t>
            </a:r>
            <a:r>
              <a:rPr lang="es-AR" dirty="0"/>
              <a:t>, excepto cuando el propósito del enlace resultara ambiguo para los usuarios en general. [Nivel A]</a:t>
            </a:r>
          </a:p>
          <a:p>
            <a:pPr lvl="2">
              <a:buNone/>
            </a:pPr>
            <a:endParaRPr lang="es-AR" dirty="0"/>
          </a:p>
          <a:p>
            <a:pPr lvl="2"/>
            <a:r>
              <a:rPr lang="es-AR" dirty="0"/>
              <a:t>Texto del enlace + contexto del enlace determinado por software</a:t>
            </a:r>
          </a:p>
          <a:p>
            <a:pPr lvl="2"/>
            <a:endParaRPr lang="es-AR" dirty="0"/>
          </a:p>
          <a:p>
            <a:pPr marL="3657600" lvl="8" indent="0">
              <a:buNone/>
            </a:pPr>
            <a:r>
              <a:rPr lang="es-AR" dirty="0"/>
              <a:t>		</a:t>
            </a:r>
          </a:p>
        </p:txBody>
      </p:sp>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136</a:t>
            </a:fld>
            <a:endParaRPr lang="es-ES" altLang="es-AR"/>
          </a:p>
        </p:txBody>
      </p:sp>
    </p:spTree>
    <p:extLst>
      <p:ext uri="{BB962C8B-B14F-4D97-AF65-F5344CB8AC3E}">
        <p14:creationId xmlns:p14="http://schemas.microsoft.com/office/powerpoint/2010/main" val="3825574802"/>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1 Título"/>
          <p:cNvSpPr>
            <a:spLocks noGrp="1"/>
          </p:cNvSpPr>
          <p:nvPr>
            <p:ph type="title"/>
          </p:nvPr>
        </p:nvSpPr>
        <p:spPr>
          <a:xfrm>
            <a:off x="457200" y="274638"/>
            <a:ext cx="8229600" cy="654050"/>
          </a:xfrm>
        </p:spPr>
        <p:txBody>
          <a:bodyPr/>
          <a:lstStyle/>
          <a:p>
            <a:r>
              <a:rPr lang="es-AR" altLang="es-AR" b="1" dirty="0"/>
              <a:t>Navegación accesible</a:t>
            </a:r>
          </a:p>
        </p:txBody>
      </p:sp>
      <p:sp>
        <p:nvSpPr>
          <p:cNvPr id="57347" name="2 Marcador de contenido"/>
          <p:cNvSpPr>
            <a:spLocks noGrp="1"/>
          </p:cNvSpPr>
          <p:nvPr>
            <p:ph idx="1"/>
          </p:nvPr>
        </p:nvSpPr>
        <p:spPr>
          <a:xfrm>
            <a:off x="430213" y="1916113"/>
            <a:ext cx="8229600" cy="4537223"/>
          </a:xfrm>
        </p:spPr>
        <p:txBody>
          <a:bodyPr/>
          <a:lstStyle/>
          <a:p>
            <a:r>
              <a:rPr lang="es-AR" dirty="0"/>
              <a:t>Enlaces accesibles</a:t>
            </a:r>
          </a:p>
          <a:p>
            <a:pPr marL="0" indent="0">
              <a:buNone/>
            </a:pPr>
            <a:endParaRPr lang="es-AR" dirty="0"/>
          </a:p>
          <a:p>
            <a:pPr lvl="1"/>
            <a:r>
              <a:rPr lang="es-AR" dirty="0"/>
              <a:t>Texto del enlace + contexto del enlace determinado por software</a:t>
            </a:r>
          </a:p>
          <a:p>
            <a:pPr lvl="2"/>
            <a:endParaRPr lang="es-AR" dirty="0"/>
          </a:p>
          <a:p>
            <a:pPr lvl="2"/>
            <a:r>
              <a:rPr lang="es-AR" dirty="0"/>
              <a:t>La información adicional:</a:t>
            </a:r>
          </a:p>
          <a:p>
            <a:pPr lvl="3"/>
            <a:r>
              <a:rPr lang="es-AR" dirty="0"/>
              <a:t>Se puede obtener a partir de su relación con el enlace.</a:t>
            </a:r>
          </a:p>
          <a:p>
            <a:pPr lvl="3"/>
            <a:r>
              <a:rPr lang="es-AR" dirty="0"/>
              <a:t>Se puede presentar al usuario combinada con el texto del enlace.</a:t>
            </a:r>
          </a:p>
          <a:p>
            <a:pPr lvl="3"/>
            <a:r>
              <a:rPr lang="es-AR" dirty="0"/>
              <a:t>Los productos de apoyo:</a:t>
            </a:r>
          </a:p>
          <a:p>
            <a:pPr lvl="4"/>
            <a:r>
              <a:rPr lang="es-AR" dirty="0"/>
              <a:t>Extraer esta información.</a:t>
            </a:r>
          </a:p>
          <a:p>
            <a:pPr lvl="4"/>
            <a:r>
              <a:rPr lang="es-AR" dirty="0"/>
              <a:t>Presentarla al usuario de diferentes maneras.</a:t>
            </a:r>
            <a:endParaRPr lang="es-AR" b="1" dirty="0">
              <a:solidFill>
                <a:srgbClr val="00B050"/>
              </a:solidFill>
            </a:endParaRPr>
          </a:p>
          <a:p>
            <a:pPr lvl="2"/>
            <a:endParaRPr lang="es-AR" dirty="0"/>
          </a:p>
          <a:p>
            <a:pPr marL="3657600" lvl="8" indent="0">
              <a:buNone/>
            </a:pPr>
            <a:r>
              <a:rPr lang="es-AR" dirty="0"/>
              <a:t>		</a:t>
            </a:r>
          </a:p>
        </p:txBody>
      </p:sp>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137</a:t>
            </a:fld>
            <a:endParaRPr lang="es-ES" altLang="es-AR"/>
          </a:p>
        </p:txBody>
      </p:sp>
    </p:spTree>
    <p:extLst>
      <p:ext uri="{BB962C8B-B14F-4D97-AF65-F5344CB8AC3E}">
        <p14:creationId xmlns:p14="http://schemas.microsoft.com/office/powerpoint/2010/main" val="667709308"/>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1 Título"/>
          <p:cNvSpPr>
            <a:spLocks noGrp="1"/>
          </p:cNvSpPr>
          <p:nvPr>
            <p:ph type="title"/>
          </p:nvPr>
        </p:nvSpPr>
        <p:spPr>
          <a:xfrm>
            <a:off x="457200" y="274638"/>
            <a:ext cx="8229600" cy="654050"/>
          </a:xfrm>
        </p:spPr>
        <p:txBody>
          <a:bodyPr/>
          <a:lstStyle/>
          <a:p>
            <a:r>
              <a:rPr lang="es-AR" altLang="es-AR" b="1" dirty="0"/>
              <a:t>Navegación accesible</a:t>
            </a:r>
          </a:p>
        </p:txBody>
      </p:sp>
      <p:sp>
        <p:nvSpPr>
          <p:cNvPr id="57347" name="2 Marcador de contenido"/>
          <p:cNvSpPr>
            <a:spLocks noGrp="1"/>
          </p:cNvSpPr>
          <p:nvPr>
            <p:ph idx="1"/>
          </p:nvPr>
        </p:nvSpPr>
        <p:spPr>
          <a:xfrm>
            <a:off x="430213" y="1916113"/>
            <a:ext cx="8229600" cy="4537223"/>
          </a:xfrm>
        </p:spPr>
        <p:txBody>
          <a:bodyPr/>
          <a:lstStyle/>
          <a:p>
            <a:r>
              <a:rPr lang="es-AR" dirty="0"/>
              <a:t>Enlaces accesibles</a:t>
            </a:r>
          </a:p>
          <a:p>
            <a:pPr marL="0" indent="0">
              <a:buNone/>
            </a:pPr>
            <a:endParaRPr lang="es-AR" dirty="0"/>
          </a:p>
          <a:p>
            <a:pPr lvl="1"/>
            <a:r>
              <a:rPr lang="es-AR" dirty="0"/>
              <a:t>Contextos que se pueden determinar por software:</a:t>
            </a:r>
          </a:p>
          <a:p>
            <a:pPr marL="457200" lvl="1" indent="0">
              <a:buNone/>
            </a:pPr>
            <a:endParaRPr lang="es-AR" b="1" dirty="0">
              <a:solidFill>
                <a:srgbClr val="00B050"/>
              </a:solidFill>
            </a:endParaRPr>
          </a:p>
          <a:p>
            <a:pPr lvl="2"/>
            <a:r>
              <a:rPr lang="es-AR" dirty="0"/>
              <a:t>Texto de la frase que contiene el enlace. (G53)</a:t>
            </a:r>
          </a:p>
          <a:p>
            <a:pPr lvl="2"/>
            <a:r>
              <a:rPr lang="es-AR" dirty="0"/>
              <a:t>El párrafo (&lt;p&gt;) que contiene el enlace. (H78)	</a:t>
            </a:r>
          </a:p>
          <a:p>
            <a:pPr lvl="2"/>
            <a:r>
              <a:rPr lang="es-AR" dirty="0"/>
              <a:t>El elemento de lista (&lt;li&gt;) que contiene el enlace. (H77)</a:t>
            </a:r>
          </a:p>
          <a:p>
            <a:pPr lvl="2"/>
            <a:r>
              <a:rPr lang="es-AR" dirty="0"/>
              <a:t>En listas anidadas, el elemento de la lista padre (&lt;li&gt;) que contiene la lista en la se que se encuentra el enlace. (H81)</a:t>
            </a:r>
          </a:p>
          <a:p>
            <a:pPr lvl="2"/>
            <a:r>
              <a:rPr lang="es-AR" dirty="0"/>
              <a:t>La celda (&lt;</a:t>
            </a:r>
            <a:r>
              <a:rPr lang="es-AR" dirty="0" err="1"/>
              <a:t>td</a:t>
            </a:r>
            <a:r>
              <a:rPr lang="es-AR" dirty="0"/>
              <a:t>&gt;) de la tabla que contiene el enlace y sus encabezados asociados (&lt;</a:t>
            </a:r>
            <a:r>
              <a:rPr lang="es-AR" dirty="0" err="1"/>
              <a:t>th</a:t>
            </a:r>
            <a:r>
              <a:rPr lang="es-AR" dirty="0"/>
              <a:t>&gt;). (H79)</a:t>
            </a:r>
          </a:p>
          <a:p>
            <a:pPr marL="3657600" lvl="8" indent="0">
              <a:buNone/>
            </a:pPr>
            <a:r>
              <a:rPr lang="es-AR" dirty="0"/>
              <a:t>		</a:t>
            </a:r>
          </a:p>
        </p:txBody>
      </p:sp>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138</a:t>
            </a:fld>
            <a:endParaRPr lang="es-ES" altLang="es-AR"/>
          </a:p>
        </p:txBody>
      </p:sp>
    </p:spTree>
    <p:extLst>
      <p:ext uri="{BB962C8B-B14F-4D97-AF65-F5344CB8AC3E}">
        <p14:creationId xmlns:p14="http://schemas.microsoft.com/office/powerpoint/2010/main" val="1331951184"/>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1 Título"/>
          <p:cNvSpPr>
            <a:spLocks noGrp="1"/>
          </p:cNvSpPr>
          <p:nvPr>
            <p:ph type="title"/>
          </p:nvPr>
        </p:nvSpPr>
        <p:spPr>
          <a:xfrm>
            <a:off x="457200" y="274638"/>
            <a:ext cx="8229600" cy="654050"/>
          </a:xfrm>
        </p:spPr>
        <p:txBody>
          <a:bodyPr/>
          <a:lstStyle/>
          <a:p>
            <a:r>
              <a:rPr lang="es-AR" altLang="es-AR" b="1" dirty="0"/>
              <a:t>Navegación accesible</a:t>
            </a:r>
          </a:p>
        </p:txBody>
      </p:sp>
      <p:sp>
        <p:nvSpPr>
          <p:cNvPr id="57347" name="2 Marcador de contenido"/>
          <p:cNvSpPr>
            <a:spLocks noGrp="1"/>
          </p:cNvSpPr>
          <p:nvPr>
            <p:ph idx="1"/>
          </p:nvPr>
        </p:nvSpPr>
        <p:spPr>
          <a:xfrm>
            <a:off x="430213" y="1916113"/>
            <a:ext cx="8229600" cy="4537223"/>
          </a:xfrm>
        </p:spPr>
        <p:txBody>
          <a:bodyPr/>
          <a:lstStyle/>
          <a:p>
            <a:r>
              <a:rPr lang="es-AR" dirty="0"/>
              <a:t>Enlaces accesibles</a:t>
            </a:r>
          </a:p>
          <a:p>
            <a:pPr marL="0" indent="0">
              <a:buNone/>
            </a:pPr>
            <a:endParaRPr lang="es-AR" dirty="0"/>
          </a:p>
          <a:p>
            <a:pPr lvl="1"/>
            <a:r>
              <a:rPr lang="es-AR" dirty="0"/>
              <a:t>Contextos que se pueden determinar por software:</a:t>
            </a:r>
          </a:p>
          <a:p>
            <a:pPr marL="457200" lvl="1" indent="0">
              <a:buNone/>
            </a:pPr>
            <a:endParaRPr lang="es-AR" b="1" dirty="0">
              <a:solidFill>
                <a:srgbClr val="00B050"/>
              </a:solidFill>
            </a:endParaRPr>
          </a:p>
          <a:p>
            <a:pPr lvl="2"/>
            <a:r>
              <a:rPr lang="es-AR" dirty="0"/>
              <a:t>Texto de la frase que contiene el enlace. (G53)</a:t>
            </a:r>
          </a:p>
          <a:p>
            <a:pPr lvl="2"/>
            <a:endParaRPr lang="es-AR" dirty="0"/>
          </a:p>
          <a:p>
            <a:pPr lvl="3"/>
            <a:r>
              <a:rPr lang="es-AR" dirty="0"/>
              <a:t>Ejemplo: El módulo </a:t>
            </a:r>
            <a:r>
              <a:rPr lang="es-AR" dirty="0" err="1"/>
              <a:t>Philae</a:t>
            </a:r>
            <a:r>
              <a:rPr lang="es-AR" dirty="0"/>
              <a:t> llegó al cometa…</a:t>
            </a:r>
            <a:r>
              <a:rPr lang="es-AR" b="1" u="sng" dirty="0">
                <a:solidFill>
                  <a:srgbClr val="0070C0"/>
                </a:solidFill>
              </a:rPr>
              <a:t>(más información)</a:t>
            </a:r>
            <a:endParaRPr lang="es-AR" dirty="0"/>
          </a:p>
          <a:p>
            <a:pPr lvl="2"/>
            <a:endParaRPr lang="es-AR" dirty="0"/>
          </a:p>
          <a:p>
            <a:pPr marL="3657600" lvl="8" indent="0">
              <a:buNone/>
            </a:pPr>
            <a:r>
              <a:rPr lang="es-AR" dirty="0"/>
              <a:t>		</a:t>
            </a:r>
          </a:p>
        </p:txBody>
      </p:sp>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139</a:t>
            </a:fld>
            <a:endParaRPr lang="es-ES" altLang="es-AR"/>
          </a:p>
        </p:txBody>
      </p:sp>
    </p:spTree>
    <p:extLst>
      <p:ext uri="{BB962C8B-B14F-4D97-AF65-F5344CB8AC3E}">
        <p14:creationId xmlns:p14="http://schemas.microsoft.com/office/powerpoint/2010/main" val="141362439"/>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1 Título"/>
          <p:cNvSpPr>
            <a:spLocks noGrp="1"/>
          </p:cNvSpPr>
          <p:nvPr>
            <p:ph type="title"/>
          </p:nvPr>
        </p:nvSpPr>
        <p:spPr>
          <a:xfrm>
            <a:off x="457200" y="274638"/>
            <a:ext cx="8229600" cy="654050"/>
          </a:xfrm>
        </p:spPr>
        <p:txBody>
          <a:bodyPr/>
          <a:lstStyle/>
          <a:p>
            <a:r>
              <a:rPr lang="es-AR" altLang="es-AR" b="1" dirty="0"/>
              <a:t>Navegación accesible</a:t>
            </a:r>
          </a:p>
        </p:txBody>
      </p:sp>
      <p:sp>
        <p:nvSpPr>
          <p:cNvPr id="57347" name="2 Marcador de contenido"/>
          <p:cNvSpPr>
            <a:spLocks noGrp="1"/>
          </p:cNvSpPr>
          <p:nvPr>
            <p:ph idx="1"/>
          </p:nvPr>
        </p:nvSpPr>
        <p:spPr>
          <a:xfrm>
            <a:off x="430213" y="1916113"/>
            <a:ext cx="8229600" cy="4537223"/>
          </a:xfrm>
        </p:spPr>
        <p:txBody>
          <a:bodyPr/>
          <a:lstStyle/>
          <a:p>
            <a:r>
              <a:rPr lang="es-AR" dirty="0"/>
              <a:t>Enlaces accesibles</a:t>
            </a:r>
          </a:p>
          <a:p>
            <a:pPr marL="0" indent="0">
              <a:buNone/>
            </a:pPr>
            <a:endParaRPr lang="es-AR" dirty="0"/>
          </a:p>
          <a:p>
            <a:pPr lvl="1"/>
            <a:r>
              <a:rPr lang="es-AR" dirty="0"/>
              <a:t>Contextos que se pueden determinar por software:</a:t>
            </a:r>
          </a:p>
          <a:p>
            <a:pPr marL="457200" lvl="1" indent="0">
              <a:buNone/>
            </a:pPr>
            <a:endParaRPr lang="es-AR" b="1" dirty="0">
              <a:solidFill>
                <a:srgbClr val="00B050"/>
              </a:solidFill>
            </a:endParaRPr>
          </a:p>
          <a:p>
            <a:pPr lvl="2"/>
            <a:r>
              <a:rPr lang="es-AR" dirty="0"/>
              <a:t>El párrafo (&lt;p&gt;) que contiene el enlace. (H78)	</a:t>
            </a:r>
          </a:p>
          <a:p>
            <a:pPr marL="914400" lvl="2" indent="0">
              <a:buNone/>
            </a:pPr>
            <a:endParaRPr lang="es-AR" dirty="0"/>
          </a:p>
          <a:p>
            <a:pPr marL="914400" lvl="2" indent="0">
              <a:buNone/>
            </a:pPr>
            <a:r>
              <a:rPr lang="es-AR" dirty="0"/>
              <a:t>							</a:t>
            </a:r>
            <a:r>
              <a:rPr lang="es-AR" b="1" dirty="0">
                <a:solidFill>
                  <a:srgbClr val="FF0000"/>
                </a:solidFill>
              </a:rPr>
              <a:t>MAL</a:t>
            </a:r>
          </a:p>
          <a:p>
            <a:pPr marL="3657600" lvl="8" indent="0">
              <a:buNone/>
            </a:pPr>
            <a:r>
              <a:rPr lang="es-AR" dirty="0"/>
              <a:t>		</a:t>
            </a:r>
          </a:p>
          <a:p>
            <a:pPr marL="3657600" lvl="8" indent="0">
              <a:buNone/>
            </a:pPr>
            <a:endParaRPr lang="es-AR" dirty="0"/>
          </a:p>
          <a:p>
            <a:pPr marL="3657600" lvl="8" indent="0">
              <a:buNone/>
            </a:pPr>
            <a:r>
              <a:rPr lang="es-AR" dirty="0"/>
              <a:t>				</a:t>
            </a:r>
            <a:r>
              <a:rPr lang="es-AR" b="1" dirty="0">
                <a:solidFill>
                  <a:srgbClr val="00B050"/>
                </a:solidFill>
              </a:rPr>
              <a:t>BIEN</a:t>
            </a:r>
          </a:p>
        </p:txBody>
      </p:sp>
      <p:sp>
        <p:nvSpPr>
          <p:cNvPr id="4" name="5 CuadroTexto"/>
          <p:cNvSpPr txBox="1"/>
          <p:nvPr/>
        </p:nvSpPr>
        <p:spPr>
          <a:xfrm>
            <a:off x="1331639" y="3933056"/>
            <a:ext cx="6120681" cy="707886"/>
          </a:xfrm>
          <a:prstGeom prst="rect">
            <a:avLst/>
          </a:prstGeom>
          <a:noFill/>
          <a:ln>
            <a:solidFill>
              <a:schemeClr val="accent1"/>
            </a:solidFill>
          </a:ln>
        </p:spPr>
        <p:txBody>
          <a:bodyPr wrap="square" rtlCol="0">
            <a:spAutoFit/>
          </a:bodyPr>
          <a:lstStyle/>
          <a:p>
            <a:r>
              <a:rPr lang="es-AR" sz="2000" b="1" dirty="0"/>
              <a:t>&lt;p&gt; El módulo </a:t>
            </a:r>
            <a:r>
              <a:rPr lang="es-AR" sz="2000" b="1" dirty="0" err="1"/>
              <a:t>Philae</a:t>
            </a:r>
            <a:r>
              <a:rPr lang="es-AR" sz="2000" b="1" dirty="0"/>
              <a:t> llegó al cometa…&lt;/p&gt;</a:t>
            </a:r>
          </a:p>
          <a:p>
            <a:r>
              <a:rPr lang="es-AR" sz="2000" b="1" dirty="0">
                <a:solidFill>
                  <a:srgbClr val="0070C0"/>
                </a:solidFill>
              </a:rPr>
              <a:t>&lt;p&gt;</a:t>
            </a:r>
            <a:r>
              <a:rPr lang="es-AR" sz="2000" b="1" dirty="0"/>
              <a:t> &lt;a </a:t>
            </a:r>
            <a:r>
              <a:rPr lang="es-AR" sz="2000" b="1" dirty="0" err="1"/>
              <a:t>href</a:t>
            </a:r>
            <a:r>
              <a:rPr lang="es-AR" sz="2000" b="1" dirty="0"/>
              <a:t>=“[</a:t>
            </a:r>
            <a:r>
              <a:rPr lang="es-AR" sz="2000" b="1" dirty="0" err="1"/>
              <a:t>url</a:t>
            </a:r>
            <a:r>
              <a:rPr lang="es-AR" sz="2000" b="1" dirty="0"/>
              <a:t>]”&gt;(más información) &lt;/a&gt;</a:t>
            </a:r>
            <a:r>
              <a:rPr lang="es-AR" sz="2000" b="1" dirty="0">
                <a:solidFill>
                  <a:srgbClr val="0070C0"/>
                </a:solidFill>
              </a:rPr>
              <a:t>&lt;/p&gt;</a:t>
            </a:r>
          </a:p>
        </p:txBody>
      </p:sp>
      <p:sp>
        <p:nvSpPr>
          <p:cNvPr id="5" name="10 CuadroTexto"/>
          <p:cNvSpPr txBox="1"/>
          <p:nvPr/>
        </p:nvSpPr>
        <p:spPr>
          <a:xfrm>
            <a:off x="1341390" y="4926822"/>
            <a:ext cx="6120681" cy="707886"/>
          </a:xfrm>
          <a:prstGeom prst="rect">
            <a:avLst/>
          </a:prstGeom>
          <a:noFill/>
          <a:ln>
            <a:solidFill>
              <a:schemeClr val="accent1"/>
            </a:solidFill>
          </a:ln>
        </p:spPr>
        <p:txBody>
          <a:bodyPr wrap="square" rtlCol="0">
            <a:spAutoFit/>
          </a:bodyPr>
          <a:lstStyle/>
          <a:p>
            <a:r>
              <a:rPr lang="es-AR" sz="2000" b="1" dirty="0"/>
              <a:t>&lt;p&gt; El módulo </a:t>
            </a:r>
            <a:r>
              <a:rPr lang="es-AR" sz="2000" b="1" dirty="0" err="1"/>
              <a:t>Philae</a:t>
            </a:r>
            <a:r>
              <a:rPr lang="es-AR" sz="2000" b="1" dirty="0"/>
              <a:t> llegó al cometa…</a:t>
            </a:r>
          </a:p>
          <a:p>
            <a:r>
              <a:rPr lang="es-AR" sz="2000" b="1" dirty="0"/>
              <a:t>&lt;a </a:t>
            </a:r>
            <a:r>
              <a:rPr lang="es-AR" sz="2000" b="1" dirty="0" err="1"/>
              <a:t>href</a:t>
            </a:r>
            <a:r>
              <a:rPr lang="es-AR" sz="2000" b="1" dirty="0"/>
              <a:t>=“[</a:t>
            </a:r>
            <a:r>
              <a:rPr lang="es-AR" sz="2000" b="1" dirty="0" err="1"/>
              <a:t>url</a:t>
            </a:r>
            <a:r>
              <a:rPr lang="es-AR" sz="2000" b="1" dirty="0"/>
              <a:t>]”&gt;(más información) &lt;/a&gt; &lt;/p&gt;</a:t>
            </a:r>
          </a:p>
        </p:txBody>
      </p:sp>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140</a:t>
            </a:fld>
            <a:endParaRPr lang="es-ES" altLang="es-AR"/>
          </a:p>
        </p:txBody>
      </p:sp>
    </p:spTree>
    <p:extLst>
      <p:ext uri="{BB962C8B-B14F-4D97-AF65-F5344CB8AC3E}">
        <p14:creationId xmlns:p14="http://schemas.microsoft.com/office/powerpoint/2010/main" val="2153579474"/>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1 Título"/>
          <p:cNvSpPr>
            <a:spLocks noGrp="1"/>
          </p:cNvSpPr>
          <p:nvPr>
            <p:ph type="title"/>
          </p:nvPr>
        </p:nvSpPr>
        <p:spPr>
          <a:xfrm>
            <a:off x="457200" y="274638"/>
            <a:ext cx="8229600" cy="654050"/>
          </a:xfrm>
        </p:spPr>
        <p:txBody>
          <a:bodyPr/>
          <a:lstStyle/>
          <a:p>
            <a:r>
              <a:rPr lang="es-AR" altLang="es-AR" b="1" dirty="0"/>
              <a:t>Navegación accesible</a:t>
            </a:r>
          </a:p>
        </p:txBody>
      </p:sp>
      <p:sp>
        <p:nvSpPr>
          <p:cNvPr id="57347" name="2 Marcador de contenido"/>
          <p:cNvSpPr>
            <a:spLocks noGrp="1"/>
          </p:cNvSpPr>
          <p:nvPr>
            <p:ph idx="1"/>
          </p:nvPr>
        </p:nvSpPr>
        <p:spPr>
          <a:xfrm>
            <a:off x="430213" y="1916113"/>
            <a:ext cx="8229600" cy="4537223"/>
          </a:xfrm>
        </p:spPr>
        <p:txBody>
          <a:bodyPr/>
          <a:lstStyle/>
          <a:p>
            <a:r>
              <a:rPr lang="es-AR" dirty="0"/>
              <a:t>Enlaces accesibles</a:t>
            </a:r>
          </a:p>
          <a:p>
            <a:pPr marL="0" indent="0">
              <a:buNone/>
            </a:pPr>
            <a:endParaRPr lang="es-AR" dirty="0"/>
          </a:p>
          <a:p>
            <a:pPr lvl="1"/>
            <a:r>
              <a:rPr lang="es-AR" dirty="0"/>
              <a:t>Contextos que se pueden determinar por software:</a:t>
            </a:r>
          </a:p>
          <a:p>
            <a:pPr marL="457200" lvl="1" indent="0">
              <a:buNone/>
            </a:pPr>
            <a:endParaRPr lang="es-AR" b="1" dirty="0">
              <a:solidFill>
                <a:srgbClr val="00B050"/>
              </a:solidFill>
            </a:endParaRPr>
          </a:p>
          <a:p>
            <a:pPr lvl="2"/>
            <a:r>
              <a:rPr lang="es-AR" dirty="0"/>
              <a:t>En listas anidadas, el elemento de la lista padre (&lt;li&gt;) que contiene la lista en la se que se encuentra el enlace. (H81)</a:t>
            </a:r>
          </a:p>
          <a:p>
            <a:pPr lvl="2"/>
            <a:endParaRPr lang="es-AR" dirty="0"/>
          </a:p>
          <a:p>
            <a:pPr marL="3657600" lvl="8" indent="0">
              <a:buNone/>
            </a:pPr>
            <a:r>
              <a:rPr lang="es-AR" dirty="0"/>
              <a:t>		</a:t>
            </a:r>
          </a:p>
        </p:txBody>
      </p:sp>
      <p:sp>
        <p:nvSpPr>
          <p:cNvPr id="4" name="11 CuadroTexto"/>
          <p:cNvSpPr txBox="1"/>
          <p:nvPr/>
        </p:nvSpPr>
        <p:spPr>
          <a:xfrm>
            <a:off x="971600" y="4206567"/>
            <a:ext cx="7560840" cy="1938992"/>
          </a:xfrm>
          <a:prstGeom prst="rect">
            <a:avLst/>
          </a:prstGeom>
          <a:noFill/>
          <a:ln>
            <a:solidFill>
              <a:schemeClr val="accent1"/>
            </a:solidFill>
          </a:ln>
        </p:spPr>
        <p:txBody>
          <a:bodyPr wrap="square" rtlCol="0">
            <a:spAutoFit/>
          </a:bodyPr>
          <a:lstStyle/>
          <a:p>
            <a:r>
              <a:rPr lang="es-AR" sz="2000" b="1" dirty="0"/>
              <a:t>&lt;</a:t>
            </a:r>
            <a:r>
              <a:rPr lang="es-AR" sz="2000" b="1" dirty="0" err="1"/>
              <a:t>li</a:t>
            </a:r>
            <a:r>
              <a:rPr lang="es-AR" sz="2000" b="1" dirty="0"/>
              <a:t>&gt; Informe anual 2015-2016</a:t>
            </a:r>
          </a:p>
          <a:p>
            <a:r>
              <a:rPr lang="es-AR" sz="2000" b="1" dirty="0"/>
              <a:t>	&lt;</a:t>
            </a:r>
            <a:r>
              <a:rPr lang="es-AR" sz="2000" b="1" dirty="0" err="1"/>
              <a:t>ul</a:t>
            </a:r>
            <a:r>
              <a:rPr lang="es-AR" sz="2000" b="1" dirty="0"/>
              <a:t>&gt;</a:t>
            </a:r>
          </a:p>
          <a:p>
            <a:r>
              <a:rPr lang="es-AR" sz="2000" b="1" dirty="0"/>
              <a:t>	&lt;</a:t>
            </a:r>
            <a:r>
              <a:rPr lang="es-AR" sz="2000" b="1" dirty="0" err="1"/>
              <a:t>li</a:t>
            </a:r>
            <a:r>
              <a:rPr lang="es-AR" sz="2000" b="1" dirty="0"/>
              <a:t>&gt;  &lt;a </a:t>
            </a:r>
            <a:r>
              <a:rPr lang="es-AR" sz="2000" b="1" dirty="0" err="1"/>
              <a:t>href</a:t>
            </a:r>
            <a:r>
              <a:rPr lang="es-AR" sz="2000" b="1" dirty="0"/>
              <a:t>=“Informe15_16.html”&gt;(HTML) &lt;/a&gt; &lt;/</a:t>
            </a:r>
            <a:r>
              <a:rPr lang="es-AR" sz="2000" b="1" dirty="0" err="1"/>
              <a:t>li</a:t>
            </a:r>
            <a:r>
              <a:rPr lang="es-AR" sz="2000" b="1" dirty="0"/>
              <a:t>&gt;</a:t>
            </a:r>
          </a:p>
          <a:p>
            <a:r>
              <a:rPr lang="es-AR" sz="2000" b="1" dirty="0"/>
              <a:t>	&lt;</a:t>
            </a:r>
            <a:r>
              <a:rPr lang="es-AR" sz="2000" b="1" dirty="0" err="1"/>
              <a:t>li</a:t>
            </a:r>
            <a:r>
              <a:rPr lang="es-AR" sz="2000" b="1" dirty="0"/>
              <a:t>&gt;  &lt;a </a:t>
            </a:r>
            <a:r>
              <a:rPr lang="es-AR" sz="2000" b="1" dirty="0" err="1"/>
              <a:t>href</a:t>
            </a:r>
            <a:r>
              <a:rPr lang="es-AR" sz="2000" b="1" dirty="0"/>
              <a:t>=“Informe15_16.pdf”&gt; (PDF) &lt;/a&gt; &lt;/</a:t>
            </a:r>
            <a:r>
              <a:rPr lang="es-AR" sz="2000" b="1" dirty="0" err="1"/>
              <a:t>li</a:t>
            </a:r>
            <a:r>
              <a:rPr lang="es-AR" sz="2000" b="1" dirty="0"/>
              <a:t>&gt;</a:t>
            </a:r>
          </a:p>
          <a:p>
            <a:r>
              <a:rPr lang="es-AR" sz="2000" b="1" dirty="0"/>
              <a:t>	&lt;/</a:t>
            </a:r>
            <a:r>
              <a:rPr lang="es-AR" sz="2000" b="1" dirty="0" err="1"/>
              <a:t>ul</a:t>
            </a:r>
            <a:r>
              <a:rPr lang="es-AR" sz="2000" b="1" dirty="0"/>
              <a:t>&gt;</a:t>
            </a:r>
          </a:p>
          <a:p>
            <a:r>
              <a:rPr lang="es-AR" sz="2000" b="1" dirty="0"/>
              <a:t>&lt;/</a:t>
            </a:r>
            <a:r>
              <a:rPr lang="es-AR" sz="2000" b="1" dirty="0" err="1"/>
              <a:t>li</a:t>
            </a:r>
            <a:r>
              <a:rPr lang="es-AR" sz="2000" b="1" dirty="0"/>
              <a:t>&gt; […]</a:t>
            </a:r>
          </a:p>
        </p:txBody>
      </p:sp>
      <p:sp>
        <p:nvSpPr>
          <p:cNvPr id="5" name="12 CuadroTexto"/>
          <p:cNvSpPr txBox="1"/>
          <p:nvPr/>
        </p:nvSpPr>
        <p:spPr>
          <a:xfrm>
            <a:off x="971600" y="4244666"/>
            <a:ext cx="3528392" cy="400110"/>
          </a:xfrm>
          <a:prstGeom prst="rect">
            <a:avLst/>
          </a:prstGeom>
          <a:noFill/>
          <a:ln>
            <a:solidFill>
              <a:schemeClr val="accent1"/>
            </a:solidFill>
          </a:ln>
        </p:spPr>
        <p:txBody>
          <a:bodyPr wrap="square" rtlCol="0">
            <a:spAutoFit/>
          </a:bodyPr>
          <a:lstStyle/>
          <a:p>
            <a:endParaRPr lang="es-AR" sz="2000" dirty="0"/>
          </a:p>
        </p:txBody>
      </p:sp>
      <p:sp>
        <p:nvSpPr>
          <p:cNvPr id="6" name="13 CuadroTexto"/>
          <p:cNvSpPr txBox="1"/>
          <p:nvPr/>
        </p:nvSpPr>
        <p:spPr>
          <a:xfrm>
            <a:off x="1864364" y="4886732"/>
            <a:ext cx="6452052" cy="707886"/>
          </a:xfrm>
          <a:prstGeom prst="rect">
            <a:avLst/>
          </a:prstGeom>
          <a:noFill/>
          <a:ln>
            <a:solidFill>
              <a:schemeClr val="accent1"/>
            </a:solidFill>
          </a:ln>
        </p:spPr>
        <p:txBody>
          <a:bodyPr wrap="square" rtlCol="0">
            <a:spAutoFit/>
          </a:bodyPr>
          <a:lstStyle/>
          <a:p>
            <a:endParaRPr lang="es-AR" sz="2000" dirty="0"/>
          </a:p>
          <a:p>
            <a:endParaRPr lang="es-AR" sz="2000" dirty="0"/>
          </a:p>
        </p:txBody>
      </p:sp>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141</a:t>
            </a:fld>
            <a:endParaRPr lang="es-ES" altLang="es-AR"/>
          </a:p>
        </p:txBody>
      </p:sp>
    </p:spTree>
    <p:extLst>
      <p:ext uri="{BB962C8B-B14F-4D97-AF65-F5344CB8AC3E}">
        <p14:creationId xmlns:p14="http://schemas.microsoft.com/office/powerpoint/2010/main" val="1975417754"/>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1 Título"/>
          <p:cNvSpPr>
            <a:spLocks noGrp="1"/>
          </p:cNvSpPr>
          <p:nvPr>
            <p:ph type="title"/>
          </p:nvPr>
        </p:nvSpPr>
        <p:spPr>
          <a:xfrm>
            <a:off x="457200" y="274638"/>
            <a:ext cx="8229600" cy="654050"/>
          </a:xfrm>
        </p:spPr>
        <p:txBody>
          <a:bodyPr/>
          <a:lstStyle/>
          <a:p>
            <a:r>
              <a:rPr lang="es-AR" altLang="es-AR" b="1" dirty="0"/>
              <a:t>Navegación accesible</a:t>
            </a:r>
          </a:p>
        </p:txBody>
      </p:sp>
      <p:sp>
        <p:nvSpPr>
          <p:cNvPr id="57347" name="2 Marcador de contenido"/>
          <p:cNvSpPr>
            <a:spLocks noGrp="1"/>
          </p:cNvSpPr>
          <p:nvPr>
            <p:ph idx="1"/>
          </p:nvPr>
        </p:nvSpPr>
        <p:spPr>
          <a:xfrm>
            <a:off x="430213" y="1916113"/>
            <a:ext cx="8229600" cy="4537223"/>
          </a:xfrm>
        </p:spPr>
        <p:txBody>
          <a:bodyPr/>
          <a:lstStyle/>
          <a:p>
            <a:r>
              <a:rPr lang="es-AR" dirty="0"/>
              <a:t>Enlaces accesibles</a:t>
            </a:r>
          </a:p>
          <a:p>
            <a:pPr marL="0" indent="0">
              <a:buNone/>
            </a:pPr>
            <a:endParaRPr lang="es-AR" dirty="0"/>
          </a:p>
          <a:p>
            <a:pPr lvl="1"/>
            <a:r>
              <a:rPr lang="es-AR" dirty="0"/>
              <a:t>Atributo TITLE:</a:t>
            </a:r>
          </a:p>
          <a:p>
            <a:pPr marL="457200" lvl="1" indent="0">
              <a:buNone/>
            </a:pPr>
            <a:endParaRPr lang="es-AR" b="1" dirty="0">
              <a:solidFill>
                <a:srgbClr val="00B050"/>
              </a:solidFill>
            </a:endParaRPr>
          </a:p>
          <a:p>
            <a:pPr lvl="2"/>
            <a:r>
              <a:rPr lang="es-AR" dirty="0"/>
              <a:t>Otra manera de complementar el texto del enlace es incluyendo la información adicional que aclara o describe con mas detalle el propósito del enlace en el atributo TITLE.</a:t>
            </a:r>
          </a:p>
          <a:p>
            <a:pPr lvl="2"/>
            <a:r>
              <a:rPr lang="es-AR" dirty="0"/>
              <a:t>Últimas versiones del lector de pantalla anuncian: texto del enlace + </a:t>
            </a:r>
            <a:r>
              <a:rPr lang="es-AR" dirty="0" err="1"/>
              <a:t>title</a:t>
            </a:r>
            <a:r>
              <a:rPr lang="es-AR" dirty="0"/>
              <a:t>.</a:t>
            </a:r>
          </a:p>
          <a:p>
            <a:pPr lvl="2"/>
            <a:r>
              <a:rPr lang="es-AR" dirty="0"/>
              <a:t>Se debe usar para incluir información adicional y nunca información relevante.</a:t>
            </a:r>
          </a:p>
          <a:p>
            <a:pPr marL="3657600" lvl="8" indent="0">
              <a:buNone/>
            </a:pPr>
            <a:r>
              <a:rPr lang="es-AR" dirty="0"/>
              <a:t>		</a:t>
            </a:r>
          </a:p>
        </p:txBody>
      </p:sp>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142</a:t>
            </a:fld>
            <a:endParaRPr lang="es-ES" altLang="es-AR"/>
          </a:p>
        </p:txBody>
      </p:sp>
    </p:spTree>
    <p:extLst>
      <p:ext uri="{BB962C8B-B14F-4D97-AF65-F5344CB8AC3E}">
        <p14:creationId xmlns:p14="http://schemas.microsoft.com/office/powerpoint/2010/main" val="658409982"/>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1 Título"/>
          <p:cNvSpPr>
            <a:spLocks noGrp="1"/>
          </p:cNvSpPr>
          <p:nvPr>
            <p:ph type="title"/>
          </p:nvPr>
        </p:nvSpPr>
        <p:spPr>
          <a:xfrm>
            <a:off x="457200" y="274638"/>
            <a:ext cx="8229600" cy="654050"/>
          </a:xfrm>
        </p:spPr>
        <p:txBody>
          <a:bodyPr/>
          <a:lstStyle/>
          <a:p>
            <a:r>
              <a:rPr lang="es-AR" altLang="es-AR" b="1" dirty="0"/>
              <a:t>Navegación accesible</a:t>
            </a:r>
          </a:p>
        </p:txBody>
      </p:sp>
      <p:sp>
        <p:nvSpPr>
          <p:cNvPr id="57347" name="2 Marcador de contenido"/>
          <p:cNvSpPr>
            <a:spLocks noGrp="1"/>
          </p:cNvSpPr>
          <p:nvPr>
            <p:ph idx="1"/>
          </p:nvPr>
        </p:nvSpPr>
        <p:spPr>
          <a:xfrm>
            <a:off x="430213" y="1916113"/>
            <a:ext cx="8229600" cy="4537223"/>
          </a:xfrm>
        </p:spPr>
        <p:txBody>
          <a:bodyPr/>
          <a:lstStyle/>
          <a:p>
            <a:r>
              <a:rPr lang="es-AR" dirty="0"/>
              <a:t>Enlaces accesibles</a:t>
            </a:r>
          </a:p>
          <a:p>
            <a:pPr marL="0" indent="0">
              <a:buNone/>
            </a:pPr>
            <a:endParaRPr lang="es-AR" dirty="0"/>
          </a:p>
          <a:p>
            <a:pPr lvl="1"/>
            <a:r>
              <a:rPr lang="es-AR" dirty="0"/>
              <a:t>Enlaces “saltar a”</a:t>
            </a:r>
          </a:p>
          <a:p>
            <a:pPr lvl="1"/>
            <a:endParaRPr lang="es-AR" dirty="0"/>
          </a:p>
          <a:p>
            <a:pPr lvl="2"/>
            <a:r>
              <a:rPr lang="es-AR" b="1" dirty="0"/>
              <a:t>Criterio 2.4.1 Evitar bloques</a:t>
            </a:r>
          </a:p>
          <a:p>
            <a:pPr lvl="2">
              <a:buNone/>
            </a:pPr>
            <a:r>
              <a:rPr lang="es-AR" dirty="0"/>
              <a:t>	Existe un mecanismo para evitar los bloques de contenido que se repiten en múltiples páginas web. [Nivel A]</a:t>
            </a:r>
          </a:p>
          <a:p>
            <a:pPr marL="914400" lvl="2" indent="0">
              <a:buNone/>
            </a:pPr>
            <a:endParaRPr lang="es-AR" dirty="0"/>
          </a:p>
          <a:p>
            <a:pPr marL="3657600" lvl="8" indent="0">
              <a:buNone/>
            </a:pPr>
            <a:r>
              <a:rPr lang="es-AR" dirty="0"/>
              <a:t>		</a:t>
            </a:r>
          </a:p>
        </p:txBody>
      </p:sp>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143</a:t>
            </a:fld>
            <a:endParaRPr lang="es-ES" altLang="es-AR"/>
          </a:p>
        </p:txBody>
      </p:sp>
    </p:spTree>
    <p:extLst>
      <p:ext uri="{BB962C8B-B14F-4D97-AF65-F5344CB8AC3E}">
        <p14:creationId xmlns:p14="http://schemas.microsoft.com/office/powerpoint/2010/main" val="3347897890"/>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1 Título"/>
          <p:cNvSpPr>
            <a:spLocks noGrp="1"/>
          </p:cNvSpPr>
          <p:nvPr>
            <p:ph type="title"/>
          </p:nvPr>
        </p:nvSpPr>
        <p:spPr>
          <a:xfrm>
            <a:off x="457200" y="274638"/>
            <a:ext cx="8229600" cy="654050"/>
          </a:xfrm>
        </p:spPr>
        <p:txBody>
          <a:bodyPr/>
          <a:lstStyle/>
          <a:p>
            <a:r>
              <a:rPr lang="es-AR" altLang="es-AR" b="1" dirty="0"/>
              <a:t>Navegación accesible</a:t>
            </a:r>
          </a:p>
        </p:txBody>
      </p:sp>
      <p:sp>
        <p:nvSpPr>
          <p:cNvPr id="57347" name="2 Marcador de contenido"/>
          <p:cNvSpPr>
            <a:spLocks noGrp="1"/>
          </p:cNvSpPr>
          <p:nvPr>
            <p:ph idx="1"/>
          </p:nvPr>
        </p:nvSpPr>
        <p:spPr>
          <a:xfrm>
            <a:off x="455514" y="1462088"/>
            <a:ext cx="8229600" cy="723980"/>
          </a:xfrm>
        </p:spPr>
        <p:txBody>
          <a:bodyPr/>
          <a:lstStyle/>
          <a:p>
            <a:r>
              <a:rPr lang="es-AR" dirty="0"/>
              <a:t>Enlaces accesibles</a:t>
            </a:r>
          </a:p>
          <a:p>
            <a:pPr lvl="1"/>
            <a:r>
              <a:rPr lang="es-AR" dirty="0"/>
              <a:t>Enlaces “saltar a”</a:t>
            </a:r>
          </a:p>
          <a:p>
            <a:pPr lvl="1"/>
            <a:endParaRPr lang="es-AR" dirty="0"/>
          </a:p>
          <a:p>
            <a:pPr marL="914400" lvl="2" indent="0">
              <a:buNone/>
            </a:pPr>
            <a:endParaRPr lang="es-AR" dirty="0"/>
          </a:p>
          <a:p>
            <a:pPr marL="3657600" lvl="8" indent="0">
              <a:buNone/>
            </a:pPr>
            <a:r>
              <a:rPr lang="es-AR" dirty="0"/>
              <a:t>		</a:t>
            </a:r>
          </a:p>
        </p:txBody>
      </p:sp>
      <p:pic>
        <p:nvPicPr>
          <p:cNvPr id="4" name="Picture 2"/>
          <p:cNvPicPr>
            <a:picLocks noChangeAspect="1" noChangeArrowheads="1"/>
          </p:cNvPicPr>
          <p:nvPr/>
        </p:nvPicPr>
        <p:blipFill>
          <a:blip r:embed="rId3" cstate="print"/>
          <a:srcRect b="70127"/>
          <a:stretch>
            <a:fillRect/>
          </a:stretch>
        </p:blipFill>
        <p:spPr bwMode="auto">
          <a:xfrm>
            <a:off x="225779" y="2348880"/>
            <a:ext cx="8918221" cy="1498600"/>
          </a:xfrm>
          <a:prstGeom prst="rect">
            <a:avLst/>
          </a:prstGeom>
          <a:noFill/>
          <a:ln w="9525">
            <a:noFill/>
            <a:miter lim="800000"/>
            <a:headEnd/>
            <a:tailEnd/>
          </a:ln>
          <a:effectLst/>
        </p:spPr>
      </p:pic>
      <p:sp>
        <p:nvSpPr>
          <p:cNvPr id="5" name="4 CuadroTexto"/>
          <p:cNvSpPr txBox="1"/>
          <p:nvPr/>
        </p:nvSpPr>
        <p:spPr>
          <a:xfrm>
            <a:off x="7731480" y="2615580"/>
            <a:ext cx="609600" cy="276999"/>
          </a:xfrm>
          <a:prstGeom prst="rect">
            <a:avLst/>
          </a:prstGeom>
          <a:noFill/>
          <a:ln w="25400">
            <a:solidFill>
              <a:schemeClr val="accent1"/>
            </a:solidFill>
          </a:ln>
        </p:spPr>
        <p:txBody>
          <a:bodyPr wrap="square" rtlCol="0">
            <a:spAutoFit/>
          </a:bodyPr>
          <a:lstStyle/>
          <a:p>
            <a:endParaRPr lang="es-AR" sz="1200" dirty="0"/>
          </a:p>
        </p:txBody>
      </p:sp>
      <p:cxnSp>
        <p:nvCxnSpPr>
          <p:cNvPr id="6" name="11 Conector recto de flecha"/>
          <p:cNvCxnSpPr/>
          <p:nvPr/>
        </p:nvCxnSpPr>
        <p:spPr>
          <a:xfrm rot="10800000" flipV="1">
            <a:off x="4277080" y="2882280"/>
            <a:ext cx="3352800" cy="368300"/>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pic>
        <p:nvPicPr>
          <p:cNvPr id="7" name="Picture 3"/>
          <p:cNvPicPr>
            <a:picLocks noChangeAspect="1" noChangeArrowheads="1"/>
          </p:cNvPicPr>
          <p:nvPr/>
        </p:nvPicPr>
        <p:blipFill>
          <a:blip r:embed="rId4" cstate="print"/>
          <a:srcRect t="16049" r="51597" b="78148"/>
          <a:stretch>
            <a:fillRect/>
          </a:stretch>
        </p:blipFill>
        <p:spPr bwMode="auto">
          <a:xfrm>
            <a:off x="539552" y="4077072"/>
            <a:ext cx="8242300" cy="555794"/>
          </a:xfrm>
          <a:prstGeom prst="rect">
            <a:avLst/>
          </a:prstGeom>
          <a:noFill/>
          <a:ln w="9525">
            <a:noFill/>
            <a:miter lim="800000"/>
            <a:headEnd/>
            <a:tailEnd/>
          </a:ln>
          <a:effectLst/>
        </p:spPr>
      </p:pic>
      <p:pic>
        <p:nvPicPr>
          <p:cNvPr id="8" name="Picture 4"/>
          <p:cNvPicPr>
            <a:picLocks noChangeAspect="1" noChangeArrowheads="1"/>
          </p:cNvPicPr>
          <p:nvPr/>
        </p:nvPicPr>
        <p:blipFill>
          <a:blip r:embed="rId5" cstate="print"/>
          <a:srcRect t="40617" r="51111" b="45556"/>
          <a:stretch>
            <a:fillRect/>
          </a:stretch>
        </p:blipFill>
        <p:spPr bwMode="auto">
          <a:xfrm>
            <a:off x="552252" y="4739372"/>
            <a:ext cx="8191500" cy="1303194"/>
          </a:xfrm>
          <a:prstGeom prst="rect">
            <a:avLst/>
          </a:prstGeom>
          <a:noFill/>
          <a:ln w="9525">
            <a:noFill/>
            <a:miter lim="800000"/>
            <a:headEnd/>
            <a:tailEnd/>
          </a:ln>
          <a:effectLst/>
        </p:spPr>
      </p:pic>
      <p:sp>
        <p:nvSpPr>
          <p:cNvPr id="9" name="7 CuadroTexto"/>
          <p:cNvSpPr txBox="1"/>
          <p:nvPr/>
        </p:nvSpPr>
        <p:spPr>
          <a:xfrm>
            <a:off x="1047552" y="4175667"/>
            <a:ext cx="6464300" cy="215444"/>
          </a:xfrm>
          <a:prstGeom prst="rect">
            <a:avLst/>
          </a:prstGeom>
          <a:noFill/>
          <a:ln w="25400">
            <a:solidFill>
              <a:schemeClr val="accent1"/>
            </a:solidFill>
          </a:ln>
        </p:spPr>
        <p:txBody>
          <a:bodyPr wrap="square" rtlCol="0">
            <a:spAutoFit/>
          </a:bodyPr>
          <a:lstStyle/>
          <a:p>
            <a:endParaRPr lang="es-AR" sz="800" dirty="0"/>
          </a:p>
        </p:txBody>
      </p:sp>
      <p:sp>
        <p:nvSpPr>
          <p:cNvPr id="10" name="9 CuadroTexto"/>
          <p:cNvSpPr txBox="1"/>
          <p:nvPr/>
        </p:nvSpPr>
        <p:spPr>
          <a:xfrm>
            <a:off x="996752" y="5255166"/>
            <a:ext cx="6464300" cy="830997"/>
          </a:xfrm>
          <a:prstGeom prst="rect">
            <a:avLst/>
          </a:prstGeom>
          <a:noFill/>
          <a:ln w="25400">
            <a:solidFill>
              <a:schemeClr val="accent1"/>
            </a:solidFill>
          </a:ln>
        </p:spPr>
        <p:txBody>
          <a:bodyPr wrap="square" rtlCol="0">
            <a:spAutoFit/>
          </a:bodyPr>
          <a:lstStyle/>
          <a:p>
            <a:endParaRPr lang="es-AR" sz="800" dirty="0"/>
          </a:p>
          <a:p>
            <a:endParaRPr lang="es-AR" sz="800" dirty="0"/>
          </a:p>
          <a:p>
            <a:endParaRPr lang="es-AR" sz="800" dirty="0"/>
          </a:p>
          <a:p>
            <a:endParaRPr lang="es-AR" sz="800" dirty="0"/>
          </a:p>
          <a:p>
            <a:endParaRPr lang="es-AR" sz="800" dirty="0"/>
          </a:p>
          <a:p>
            <a:endParaRPr lang="es-AR" sz="800" dirty="0"/>
          </a:p>
        </p:txBody>
      </p:sp>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144</a:t>
            </a:fld>
            <a:endParaRPr lang="es-ES" altLang="es-AR"/>
          </a:p>
        </p:txBody>
      </p:sp>
    </p:spTree>
    <p:extLst>
      <p:ext uri="{BB962C8B-B14F-4D97-AF65-F5344CB8AC3E}">
        <p14:creationId xmlns:p14="http://schemas.microsoft.com/office/powerpoint/2010/main" val="2200615909"/>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1 Título"/>
          <p:cNvSpPr>
            <a:spLocks noGrp="1"/>
          </p:cNvSpPr>
          <p:nvPr>
            <p:ph type="title"/>
          </p:nvPr>
        </p:nvSpPr>
        <p:spPr>
          <a:xfrm>
            <a:off x="457200" y="274638"/>
            <a:ext cx="8229600" cy="654050"/>
          </a:xfrm>
        </p:spPr>
        <p:txBody>
          <a:bodyPr/>
          <a:lstStyle/>
          <a:p>
            <a:r>
              <a:rPr lang="es-AR" altLang="es-AR" b="1" dirty="0"/>
              <a:t>Navegación accesible</a:t>
            </a:r>
          </a:p>
        </p:txBody>
      </p:sp>
      <p:sp>
        <p:nvSpPr>
          <p:cNvPr id="57347" name="2 Marcador de contenido"/>
          <p:cNvSpPr>
            <a:spLocks noGrp="1"/>
          </p:cNvSpPr>
          <p:nvPr>
            <p:ph idx="1"/>
          </p:nvPr>
        </p:nvSpPr>
        <p:spPr>
          <a:xfrm>
            <a:off x="430213" y="1916113"/>
            <a:ext cx="8229600" cy="4537223"/>
          </a:xfrm>
        </p:spPr>
        <p:txBody>
          <a:bodyPr/>
          <a:lstStyle/>
          <a:p>
            <a:r>
              <a:rPr lang="es-AR" dirty="0"/>
              <a:t>Enlaces accesibles</a:t>
            </a:r>
          </a:p>
          <a:p>
            <a:pPr marL="0" indent="0">
              <a:buNone/>
            </a:pPr>
            <a:endParaRPr lang="es-AR" dirty="0"/>
          </a:p>
          <a:p>
            <a:pPr lvl="1"/>
            <a:r>
              <a:rPr lang="es-AR" dirty="0"/>
              <a:t>Enlaces “saltar a”</a:t>
            </a:r>
          </a:p>
          <a:p>
            <a:pPr lvl="1"/>
            <a:endParaRPr lang="es-AR" dirty="0"/>
          </a:p>
          <a:p>
            <a:pPr lvl="2"/>
            <a:r>
              <a:rPr lang="es-AR" dirty="0"/>
              <a:t> Recomendaciones:</a:t>
            </a:r>
          </a:p>
          <a:p>
            <a:pPr marL="914400" lvl="2" indent="0">
              <a:buNone/>
            </a:pPr>
            <a:endParaRPr lang="es-AR" dirty="0"/>
          </a:p>
          <a:p>
            <a:pPr lvl="3"/>
            <a:r>
              <a:rPr lang="es-AR" dirty="0"/>
              <a:t> Al principio de la página.</a:t>
            </a:r>
          </a:p>
          <a:p>
            <a:pPr lvl="3"/>
            <a:r>
              <a:rPr lang="es-AR" dirty="0"/>
              <a:t> 2 o 3 enlaces “saltar a” son suficientes.</a:t>
            </a:r>
          </a:p>
          <a:p>
            <a:pPr lvl="3"/>
            <a:r>
              <a:rPr lang="es-AR" dirty="0"/>
              <a:t> Saltar navegación, Saltar a contenido principal.</a:t>
            </a:r>
          </a:p>
          <a:p>
            <a:pPr lvl="3"/>
            <a:r>
              <a:rPr lang="es-AR" dirty="0"/>
              <a:t> Siempre visibles.</a:t>
            </a:r>
          </a:p>
          <a:p>
            <a:pPr marL="914400" lvl="2" indent="0">
              <a:buNone/>
            </a:pPr>
            <a:endParaRPr lang="es-AR" dirty="0"/>
          </a:p>
          <a:p>
            <a:pPr marL="3657600" lvl="8" indent="0">
              <a:buNone/>
            </a:pPr>
            <a:r>
              <a:rPr lang="es-AR" dirty="0"/>
              <a:t>		</a:t>
            </a:r>
          </a:p>
        </p:txBody>
      </p:sp>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145</a:t>
            </a:fld>
            <a:endParaRPr lang="es-ES" altLang="es-AR"/>
          </a:p>
        </p:txBody>
      </p:sp>
    </p:spTree>
    <p:extLst>
      <p:ext uri="{BB962C8B-B14F-4D97-AF65-F5344CB8AC3E}">
        <p14:creationId xmlns:p14="http://schemas.microsoft.com/office/powerpoint/2010/main" val="4066438962"/>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1 Título"/>
          <p:cNvSpPr>
            <a:spLocks noGrp="1"/>
          </p:cNvSpPr>
          <p:nvPr>
            <p:ph type="title"/>
          </p:nvPr>
        </p:nvSpPr>
        <p:spPr>
          <a:xfrm>
            <a:off x="457200" y="274638"/>
            <a:ext cx="8229600" cy="654050"/>
          </a:xfrm>
        </p:spPr>
        <p:txBody>
          <a:bodyPr/>
          <a:lstStyle/>
          <a:p>
            <a:r>
              <a:rPr lang="es-AR" altLang="es-AR" b="1" dirty="0"/>
              <a:t>Navegación accesible</a:t>
            </a:r>
          </a:p>
        </p:txBody>
      </p:sp>
      <p:sp>
        <p:nvSpPr>
          <p:cNvPr id="57347" name="2 Marcador de contenido"/>
          <p:cNvSpPr>
            <a:spLocks noGrp="1"/>
          </p:cNvSpPr>
          <p:nvPr>
            <p:ph idx="1"/>
          </p:nvPr>
        </p:nvSpPr>
        <p:spPr>
          <a:xfrm>
            <a:off x="430213" y="1916113"/>
            <a:ext cx="8229600" cy="4537223"/>
          </a:xfrm>
        </p:spPr>
        <p:txBody>
          <a:bodyPr/>
          <a:lstStyle/>
          <a:p>
            <a:r>
              <a:rPr lang="es-AR" dirty="0"/>
              <a:t>Navegación por teclado</a:t>
            </a:r>
          </a:p>
          <a:p>
            <a:endParaRPr lang="es-AR" dirty="0"/>
          </a:p>
          <a:p>
            <a:pPr lvl="1"/>
            <a:r>
              <a:rPr lang="es-AR" dirty="0"/>
              <a:t> Usuarios de lector de pantalla.</a:t>
            </a:r>
          </a:p>
          <a:p>
            <a:pPr lvl="1"/>
            <a:endParaRPr lang="es-AR" dirty="0"/>
          </a:p>
          <a:p>
            <a:pPr lvl="1"/>
            <a:r>
              <a:rPr lang="es-AR" dirty="0"/>
              <a:t> Usuarios con movilidad reducida:</a:t>
            </a:r>
          </a:p>
          <a:p>
            <a:pPr lvl="2"/>
            <a:r>
              <a:rPr lang="es-AR" dirty="0"/>
              <a:t> Teclados alternativos.</a:t>
            </a:r>
          </a:p>
          <a:p>
            <a:pPr lvl="2"/>
            <a:r>
              <a:rPr lang="es-AR" dirty="0"/>
              <a:t> Licornios, punteros de cabeza, apuntadores de boca.</a:t>
            </a:r>
          </a:p>
          <a:p>
            <a:pPr lvl="2"/>
            <a:r>
              <a:rPr lang="es-AR" dirty="0"/>
              <a:t> Pulsadores o dispositivos de soplado.</a:t>
            </a:r>
          </a:p>
          <a:p>
            <a:pPr lvl="2"/>
            <a:endParaRPr lang="es-AR" dirty="0"/>
          </a:p>
          <a:p>
            <a:pPr lvl="1"/>
            <a:r>
              <a:rPr lang="es-AR" dirty="0"/>
              <a:t> Usuarios “expertos”.</a:t>
            </a:r>
          </a:p>
          <a:p>
            <a:pPr lvl="1"/>
            <a:endParaRPr lang="es-AR" dirty="0"/>
          </a:p>
          <a:p>
            <a:pPr lvl="1"/>
            <a:r>
              <a:rPr lang="es-AR" dirty="0"/>
              <a:t> No se dispone de un mouse o no funciona.</a:t>
            </a:r>
          </a:p>
          <a:p>
            <a:pPr marL="914400" lvl="2" indent="0">
              <a:buNone/>
            </a:pPr>
            <a:endParaRPr lang="es-AR" dirty="0"/>
          </a:p>
          <a:p>
            <a:pPr marL="3657600" lvl="8" indent="0">
              <a:buNone/>
            </a:pPr>
            <a:r>
              <a:rPr lang="es-AR" dirty="0"/>
              <a:t>		</a:t>
            </a:r>
          </a:p>
        </p:txBody>
      </p:sp>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146</a:t>
            </a:fld>
            <a:endParaRPr lang="es-ES" altLang="es-AR"/>
          </a:p>
        </p:txBody>
      </p:sp>
    </p:spTree>
    <p:extLst>
      <p:ext uri="{BB962C8B-B14F-4D97-AF65-F5344CB8AC3E}">
        <p14:creationId xmlns:p14="http://schemas.microsoft.com/office/powerpoint/2010/main" val="4105526391"/>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1 Título"/>
          <p:cNvSpPr>
            <a:spLocks noGrp="1"/>
          </p:cNvSpPr>
          <p:nvPr>
            <p:ph type="title"/>
          </p:nvPr>
        </p:nvSpPr>
        <p:spPr>
          <a:xfrm>
            <a:off x="457200" y="274638"/>
            <a:ext cx="8229600" cy="654050"/>
          </a:xfrm>
        </p:spPr>
        <p:txBody>
          <a:bodyPr/>
          <a:lstStyle/>
          <a:p>
            <a:r>
              <a:rPr lang="es-AR" altLang="es-AR" b="1" dirty="0"/>
              <a:t>Navegación accesible</a:t>
            </a:r>
          </a:p>
        </p:txBody>
      </p:sp>
      <p:sp>
        <p:nvSpPr>
          <p:cNvPr id="57347" name="2 Marcador de contenido"/>
          <p:cNvSpPr>
            <a:spLocks noGrp="1"/>
          </p:cNvSpPr>
          <p:nvPr>
            <p:ph idx="1"/>
          </p:nvPr>
        </p:nvSpPr>
        <p:spPr>
          <a:xfrm>
            <a:off x="430213" y="1916113"/>
            <a:ext cx="8229600" cy="4537223"/>
          </a:xfrm>
        </p:spPr>
        <p:txBody>
          <a:bodyPr/>
          <a:lstStyle/>
          <a:p>
            <a:r>
              <a:rPr lang="es-AR" dirty="0"/>
              <a:t>Navegación por teclado</a:t>
            </a:r>
          </a:p>
          <a:p>
            <a:endParaRPr lang="es-AR" dirty="0"/>
          </a:p>
          <a:p>
            <a:pPr lvl="1"/>
            <a:r>
              <a:rPr lang="es-AR" b="1" dirty="0"/>
              <a:t> Pauta 2.1 Accesible por teclado</a:t>
            </a:r>
          </a:p>
          <a:p>
            <a:pPr marL="914400" lvl="2" indent="0">
              <a:buNone/>
            </a:pPr>
            <a:r>
              <a:rPr lang="es-AR" dirty="0"/>
              <a:t> </a:t>
            </a:r>
          </a:p>
          <a:p>
            <a:pPr lvl="2"/>
            <a:r>
              <a:rPr lang="es-AR" b="1" dirty="0"/>
              <a:t>Criterio 2.1.1 Teclado</a:t>
            </a:r>
            <a:r>
              <a:rPr lang="es-AR" dirty="0"/>
              <a:t>: toda funcionalidad del contenido es operable a través de una interfaz de teclado sin que se requiera una determinada velocidad para cada pulsación individual de las teclas […]. [Nivel A]</a:t>
            </a:r>
          </a:p>
          <a:p>
            <a:pPr marL="3657600" lvl="8" indent="0">
              <a:buNone/>
            </a:pPr>
            <a:r>
              <a:rPr lang="es-AR" dirty="0"/>
              <a:t>		</a:t>
            </a:r>
          </a:p>
        </p:txBody>
      </p:sp>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147</a:t>
            </a:fld>
            <a:endParaRPr lang="es-ES" altLang="es-AR"/>
          </a:p>
        </p:txBody>
      </p:sp>
    </p:spTree>
    <p:extLst>
      <p:ext uri="{BB962C8B-B14F-4D97-AF65-F5344CB8AC3E}">
        <p14:creationId xmlns:p14="http://schemas.microsoft.com/office/powerpoint/2010/main" val="3503867348"/>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1 Título"/>
          <p:cNvSpPr>
            <a:spLocks noGrp="1"/>
          </p:cNvSpPr>
          <p:nvPr>
            <p:ph type="title"/>
          </p:nvPr>
        </p:nvSpPr>
        <p:spPr>
          <a:xfrm>
            <a:off x="457200" y="274638"/>
            <a:ext cx="8229600" cy="654050"/>
          </a:xfrm>
        </p:spPr>
        <p:txBody>
          <a:bodyPr/>
          <a:lstStyle/>
          <a:p>
            <a:r>
              <a:rPr lang="es-AR" altLang="es-AR" b="1" dirty="0"/>
              <a:t>Navegación accesible</a:t>
            </a:r>
          </a:p>
        </p:txBody>
      </p:sp>
      <p:sp>
        <p:nvSpPr>
          <p:cNvPr id="57347" name="2 Marcador de contenido"/>
          <p:cNvSpPr>
            <a:spLocks noGrp="1"/>
          </p:cNvSpPr>
          <p:nvPr>
            <p:ph idx="1"/>
          </p:nvPr>
        </p:nvSpPr>
        <p:spPr>
          <a:xfrm>
            <a:off x="430213" y="1916113"/>
            <a:ext cx="8229600" cy="4537223"/>
          </a:xfrm>
        </p:spPr>
        <p:txBody>
          <a:bodyPr/>
          <a:lstStyle/>
          <a:p>
            <a:r>
              <a:rPr lang="es-AR" dirty="0"/>
              <a:t>Navegación por teclado</a:t>
            </a:r>
          </a:p>
          <a:p>
            <a:endParaRPr lang="es-AR" dirty="0"/>
          </a:p>
          <a:p>
            <a:pPr lvl="1"/>
            <a:r>
              <a:rPr lang="es-AR" dirty="0"/>
              <a:t>Problemas habituales con el foco de teclado:</a:t>
            </a:r>
          </a:p>
          <a:p>
            <a:pPr lvl="1"/>
            <a:endParaRPr lang="es-AR" dirty="0"/>
          </a:p>
          <a:p>
            <a:pPr lvl="2"/>
            <a:r>
              <a:rPr lang="es-AR" dirty="0"/>
              <a:t>El orden del foco no tiene sentido.</a:t>
            </a:r>
          </a:p>
          <a:p>
            <a:pPr lvl="2"/>
            <a:r>
              <a:rPr lang="es-AR" dirty="0"/>
              <a:t>Trampas para el foco.</a:t>
            </a:r>
          </a:p>
          <a:p>
            <a:pPr lvl="2"/>
            <a:r>
              <a:rPr lang="es-AR" dirty="0"/>
              <a:t>Recibir el foco provoca automáticamente un cambio de contexto sin avisar previamente al usuario.</a:t>
            </a:r>
          </a:p>
          <a:p>
            <a:pPr lvl="1"/>
            <a:endParaRPr lang="es-AR" dirty="0"/>
          </a:p>
          <a:p>
            <a:pPr marL="3657600" lvl="8" indent="0">
              <a:buNone/>
            </a:pPr>
            <a:r>
              <a:rPr lang="es-AR" dirty="0"/>
              <a:t>		</a:t>
            </a:r>
          </a:p>
        </p:txBody>
      </p:sp>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148</a:t>
            </a:fld>
            <a:endParaRPr lang="es-ES" altLang="es-AR"/>
          </a:p>
        </p:txBody>
      </p:sp>
    </p:spTree>
    <p:extLst>
      <p:ext uri="{BB962C8B-B14F-4D97-AF65-F5344CB8AC3E}">
        <p14:creationId xmlns:p14="http://schemas.microsoft.com/office/powerpoint/2010/main" val="565223304"/>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1 Título"/>
          <p:cNvSpPr>
            <a:spLocks noGrp="1"/>
          </p:cNvSpPr>
          <p:nvPr>
            <p:ph type="title"/>
          </p:nvPr>
        </p:nvSpPr>
        <p:spPr>
          <a:xfrm>
            <a:off x="457200" y="274638"/>
            <a:ext cx="8229600" cy="654050"/>
          </a:xfrm>
        </p:spPr>
        <p:txBody>
          <a:bodyPr/>
          <a:lstStyle/>
          <a:p>
            <a:r>
              <a:rPr lang="es-AR" altLang="es-AR" b="1" dirty="0"/>
              <a:t>Navegación accesible</a:t>
            </a:r>
          </a:p>
        </p:txBody>
      </p:sp>
      <p:sp>
        <p:nvSpPr>
          <p:cNvPr id="57347" name="2 Marcador de contenido"/>
          <p:cNvSpPr>
            <a:spLocks noGrp="1"/>
          </p:cNvSpPr>
          <p:nvPr>
            <p:ph idx="1"/>
          </p:nvPr>
        </p:nvSpPr>
        <p:spPr>
          <a:xfrm>
            <a:off x="430213" y="1916113"/>
            <a:ext cx="8229600" cy="4537223"/>
          </a:xfrm>
        </p:spPr>
        <p:txBody>
          <a:bodyPr/>
          <a:lstStyle/>
          <a:p>
            <a:r>
              <a:rPr lang="es-AR" dirty="0"/>
              <a:t>Navegación por teclado</a:t>
            </a:r>
          </a:p>
          <a:p>
            <a:endParaRPr lang="es-AR" dirty="0"/>
          </a:p>
          <a:p>
            <a:pPr lvl="1"/>
            <a:r>
              <a:rPr lang="es-AR" dirty="0"/>
              <a:t>Problemas habituales con el foco de teclado:</a:t>
            </a:r>
          </a:p>
          <a:p>
            <a:pPr lvl="1"/>
            <a:endParaRPr lang="es-AR" dirty="0"/>
          </a:p>
          <a:p>
            <a:pPr lvl="2"/>
            <a:r>
              <a:rPr lang="es-AR" dirty="0"/>
              <a:t>El orden del foco no tiene sentido.</a:t>
            </a:r>
          </a:p>
          <a:p>
            <a:pPr lvl="2"/>
            <a:endParaRPr lang="es-AR" dirty="0"/>
          </a:p>
          <a:p>
            <a:pPr lvl="3" algn="just"/>
            <a:r>
              <a:rPr lang="es-AR" dirty="0"/>
              <a:t> </a:t>
            </a:r>
            <a:r>
              <a:rPr lang="es-AR" b="1" dirty="0"/>
              <a:t>Criterio 2.4.3 Orden del foco </a:t>
            </a:r>
            <a:r>
              <a:rPr lang="es-AR" dirty="0"/>
              <a:t>[Nivel A]</a:t>
            </a:r>
          </a:p>
          <a:p>
            <a:pPr lvl="3" algn="just"/>
            <a:r>
              <a:rPr lang="es-AR" dirty="0"/>
              <a:t> Orden del contenido correcto en el código HTML.</a:t>
            </a:r>
          </a:p>
          <a:p>
            <a:pPr lvl="3" algn="just"/>
            <a:r>
              <a:rPr lang="es-AR" dirty="0"/>
              <a:t> Si se cambia el orden del foco (por ejemplo con </a:t>
            </a:r>
            <a:r>
              <a:rPr lang="es-AR" b="1" dirty="0" err="1"/>
              <a:t>tabindex</a:t>
            </a:r>
            <a:r>
              <a:rPr lang="es-AR" dirty="0"/>
              <a:t>) debe seguir teniendo sentido.</a:t>
            </a:r>
          </a:p>
          <a:p>
            <a:pPr lvl="2"/>
            <a:endParaRPr lang="es-AR" dirty="0"/>
          </a:p>
          <a:p>
            <a:pPr lvl="1"/>
            <a:endParaRPr lang="es-AR" dirty="0"/>
          </a:p>
          <a:p>
            <a:pPr marL="3657600" lvl="8" indent="0">
              <a:buNone/>
            </a:pPr>
            <a:r>
              <a:rPr lang="es-AR" dirty="0"/>
              <a:t>		</a:t>
            </a:r>
          </a:p>
        </p:txBody>
      </p:sp>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149</a:t>
            </a:fld>
            <a:endParaRPr lang="es-ES" altLang="es-AR"/>
          </a:p>
        </p:txBody>
      </p:sp>
    </p:spTree>
    <p:extLst>
      <p:ext uri="{BB962C8B-B14F-4D97-AF65-F5344CB8AC3E}">
        <p14:creationId xmlns:p14="http://schemas.microsoft.com/office/powerpoint/2010/main" val="2923803792"/>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1 Título"/>
          <p:cNvSpPr>
            <a:spLocks noGrp="1"/>
          </p:cNvSpPr>
          <p:nvPr>
            <p:ph type="title"/>
          </p:nvPr>
        </p:nvSpPr>
        <p:spPr>
          <a:xfrm>
            <a:off x="457200" y="274638"/>
            <a:ext cx="8229600" cy="654050"/>
          </a:xfrm>
        </p:spPr>
        <p:txBody>
          <a:bodyPr/>
          <a:lstStyle/>
          <a:p>
            <a:r>
              <a:rPr lang="es-AR" altLang="es-AR" b="1" dirty="0"/>
              <a:t>Navegación accesible</a:t>
            </a:r>
          </a:p>
        </p:txBody>
      </p:sp>
      <p:sp>
        <p:nvSpPr>
          <p:cNvPr id="57347" name="2 Marcador de contenido"/>
          <p:cNvSpPr>
            <a:spLocks noGrp="1"/>
          </p:cNvSpPr>
          <p:nvPr>
            <p:ph idx="1"/>
          </p:nvPr>
        </p:nvSpPr>
        <p:spPr>
          <a:xfrm>
            <a:off x="430213" y="1916113"/>
            <a:ext cx="8229600" cy="4537223"/>
          </a:xfrm>
        </p:spPr>
        <p:txBody>
          <a:bodyPr/>
          <a:lstStyle/>
          <a:p>
            <a:r>
              <a:rPr lang="es-AR" dirty="0"/>
              <a:t>Navegación por teclado</a:t>
            </a:r>
          </a:p>
          <a:p>
            <a:endParaRPr lang="es-AR" dirty="0"/>
          </a:p>
          <a:p>
            <a:pPr lvl="1"/>
            <a:r>
              <a:rPr lang="es-AR" dirty="0"/>
              <a:t>Problemas habituales con el foco de teclado:</a:t>
            </a:r>
          </a:p>
          <a:p>
            <a:pPr lvl="1"/>
            <a:endParaRPr lang="es-AR" dirty="0"/>
          </a:p>
          <a:p>
            <a:pPr lvl="2"/>
            <a:r>
              <a:rPr lang="es-AR" dirty="0"/>
              <a:t>Trampas para el foco.</a:t>
            </a:r>
          </a:p>
          <a:p>
            <a:pPr lvl="2"/>
            <a:endParaRPr lang="es-AR" dirty="0"/>
          </a:p>
          <a:p>
            <a:pPr lvl="3"/>
            <a:r>
              <a:rPr lang="es-AR" dirty="0"/>
              <a:t> </a:t>
            </a:r>
            <a:r>
              <a:rPr lang="es-AR" b="1" dirty="0"/>
              <a:t>Criterio 2.1.2 Sin trampas para el foco del teclado </a:t>
            </a:r>
            <a:r>
              <a:rPr lang="es-AR" dirty="0"/>
              <a:t>[Nivel A])</a:t>
            </a:r>
          </a:p>
          <a:p>
            <a:pPr lvl="3"/>
            <a:r>
              <a:rPr lang="es-AR" dirty="0"/>
              <a:t> Zonas de la página a la que podemos llegar mediante el teclado, pero de las cuales solo podemos salir, para regresar a otra parte de la página, mediante el mouse.</a:t>
            </a:r>
          </a:p>
          <a:p>
            <a:pPr marL="3657600" lvl="8" indent="0">
              <a:buNone/>
            </a:pPr>
            <a:r>
              <a:rPr lang="es-AR" dirty="0"/>
              <a:t>		</a:t>
            </a:r>
          </a:p>
        </p:txBody>
      </p:sp>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150</a:t>
            </a:fld>
            <a:endParaRPr lang="es-ES" altLang="es-AR"/>
          </a:p>
        </p:txBody>
      </p:sp>
    </p:spTree>
    <p:extLst>
      <p:ext uri="{BB962C8B-B14F-4D97-AF65-F5344CB8AC3E}">
        <p14:creationId xmlns:p14="http://schemas.microsoft.com/office/powerpoint/2010/main" val="2385162732"/>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1 Título"/>
          <p:cNvSpPr>
            <a:spLocks noGrp="1"/>
          </p:cNvSpPr>
          <p:nvPr>
            <p:ph type="title"/>
          </p:nvPr>
        </p:nvSpPr>
        <p:spPr>
          <a:xfrm>
            <a:off x="457200" y="274638"/>
            <a:ext cx="8229600" cy="654050"/>
          </a:xfrm>
        </p:spPr>
        <p:txBody>
          <a:bodyPr/>
          <a:lstStyle/>
          <a:p>
            <a:r>
              <a:rPr lang="es-AR" altLang="es-AR" b="1" dirty="0"/>
              <a:t>Navegación accesible</a:t>
            </a:r>
          </a:p>
        </p:txBody>
      </p:sp>
      <p:sp>
        <p:nvSpPr>
          <p:cNvPr id="57347" name="2 Marcador de contenido"/>
          <p:cNvSpPr>
            <a:spLocks noGrp="1"/>
          </p:cNvSpPr>
          <p:nvPr>
            <p:ph idx="1"/>
          </p:nvPr>
        </p:nvSpPr>
        <p:spPr>
          <a:xfrm>
            <a:off x="430213" y="1916113"/>
            <a:ext cx="8229600" cy="4537223"/>
          </a:xfrm>
        </p:spPr>
        <p:txBody>
          <a:bodyPr/>
          <a:lstStyle/>
          <a:p>
            <a:r>
              <a:rPr lang="es-AR" dirty="0"/>
              <a:t>Navegación por teclado</a:t>
            </a:r>
          </a:p>
          <a:p>
            <a:endParaRPr lang="es-AR" dirty="0"/>
          </a:p>
          <a:p>
            <a:pPr lvl="1"/>
            <a:r>
              <a:rPr lang="es-AR" dirty="0"/>
              <a:t>Problemas habituales con el foco de teclado:</a:t>
            </a:r>
          </a:p>
          <a:p>
            <a:pPr lvl="1"/>
            <a:endParaRPr lang="es-AR" dirty="0"/>
          </a:p>
          <a:p>
            <a:pPr lvl="2"/>
            <a:r>
              <a:rPr lang="es-AR" dirty="0"/>
              <a:t>Recibir el foco provoca un cambio de contexto.</a:t>
            </a:r>
          </a:p>
          <a:p>
            <a:pPr lvl="2"/>
            <a:endParaRPr lang="es-AR" dirty="0"/>
          </a:p>
          <a:p>
            <a:pPr lvl="3"/>
            <a:r>
              <a:rPr lang="es-AR" b="1" dirty="0"/>
              <a:t>Criterio 3.2.1 Al recibir el foco </a:t>
            </a:r>
            <a:r>
              <a:rPr lang="es-AR" dirty="0"/>
              <a:t>[Nivel A] y </a:t>
            </a:r>
            <a:r>
              <a:rPr lang="es-AR" b="1" dirty="0"/>
              <a:t>Criterio 3.2.2 Al recibir entradas</a:t>
            </a:r>
            <a:r>
              <a:rPr lang="es-AR" dirty="0"/>
              <a:t> [Nivel A])</a:t>
            </a:r>
          </a:p>
          <a:p>
            <a:pPr lvl="3"/>
            <a:r>
              <a:rPr lang="es-AR" sz="1600" dirty="0"/>
              <a:t> </a:t>
            </a:r>
            <a:r>
              <a:rPr lang="es-AR" dirty="0"/>
              <a:t>Los cambios de contexto solo deberían producirse cuando el usuario realiza una acción que habitualmente se utilice para solicitar un cambio de contexto, como hacer clic en un enlace o botón.</a:t>
            </a:r>
          </a:p>
          <a:p>
            <a:pPr lvl="1"/>
            <a:endParaRPr lang="es-AR" dirty="0"/>
          </a:p>
          <a:p>
            <a:pPr marL="3657600" lvl="8" indent="0">
              <a:buNone/>
            </a:pPr>
            <a:r>
              <a:rPr lang="es-AR" dirty="0"/>
              <a:t>		</a:t>
            </a:r>
          </a:p>
        </p:txBody>
      </p:sp>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151</a:t>
            </a:fld>
            <a:endParaRPr lang="es-ES" altLang="es-AR"/>
          </a:p>
        </p:txBody>
      </p:sp>
    </p:spTree>
    <p:extLst>
      <p:ext uri="{BB962C8B-B14F-4D97-AF65-F5344CB8AC3E}">
        <p14:creationId xmlns:p14="http://schemas.microsoft.com/office/powerpoint/2010/main" val="4055100860"/>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1 Título"/>
          <p:cNvSpPr>
            <a:spLocks noGrp="1"/>
          </p:cNvSpPr>
          <p:nvPr>
            <p:ph type="title"/>
          </p:nvPr>
        </p:nvSpPr>
        <p:spPr>
          <a:xfrm>
            <a:off x="457200" y="274638"/>
            <a:ext cx="8229600" cy="654050"/>
          </a:xfrm>
        </p:spPr>
        <p:txBody>
          <a:bodyPr/>
          <a:lstStyle/>
          <a:p>
            <a:r>
              <a:rPr lang="es-AR" altLang="es-AR" b="1" dirty="0"/>
              <a:t>Navegación accesible</a:t>
            </a:r>
          </a:p>
        </p:txBody>
      </p:sp>
      <p:sp>
        <p:nvSpPr>
          <p:cNvPr id="57347" name="2 Marcador de contenido"/>
          <p:cNvSpPr>
            <a:spLocks noGrp="1"/>
          </p:cNvSpPr>
          <p:nvPr>
            <p:ph idx="1"/>
          </p:nvPr>
        </p:nvSpPr>
        <p:spPr>
          <a:xfrm>
            <a:off x="430213" y="1916113"/>
            <a:ext cx="8229600" cy="4537223"/>
          </a:xfrm>
        </p:spPr>
        <p:txBody>
          <a:bodyPr/>
          <a:lstStyle/>
          <a:p>
            <a:r>
              <a:rPr lang="es-AR" dirty="0"/>
              <a:t>Navegación por teclado</a:t>
            </a:r>
          </a:p>
          <a:p>
            <a:endParaRPr lang="es-AR" dirty="0"/>
          </a:p>
          <a:p>
            <a:pPr lvl="1"/>
            <a:r>
              <a:rPr lang="es-AR" dirty="0"/>
              <a:t>Cambio de contexto:</a:t>
            </a:r>
          </a:p>
          <a:p>
            <a:pPr lvl="2"/>
            <a:r>
              <a:rPr lang="es-AR" dirty="0"/>
              <a:t> Es un cambio importante en el contenido de la página, que cuando se hace sin el consentimiento del usuario, puede desorientar a quienes no pueden ver la página o no pueden ver toda la página al mismo tiempo.</a:t>
            </a:r>
          </a:p>
          <a:p>
            <a:pPr lvl="2"/>
            <a:r>
              <a:rPr lang="es-AR" dirty="0"/>
              <a:t> Incluye cambios en:</a:t>
            </a:r>
          </a:p>
          <a:p>
            <a:pPr lvl="3"/>
            <a:r>
              <a:rPr lang="es-AR" dirty="0"/>
              <a:t> abrir un lector de PDF, </a:t>
            </a:r>
          </a:p>
          <a:p>
            <a:pPr lvl="3"/>
            <a:r>
              <a:rPr lang="es-AR" dirty="0"/>
              <a:t> mover automáticamente el foco a otro elemento, </a:t>
            </a:r>
          </a:p>
          <a:p>
            <a:pPr lvl="3"/>
            <a:r>
              <a:rPr lang="es-AR" dirty="0"/>
              <a:t> abrir otra ventana, otra pestaña, </a:t>
            </a:r>
          </a:p>
          <a:p>
            <a:pPr lvl="3"/>
            <a:r>
              <a:rPr lang="es-AR" dirty="0"/>
              <a:t> enviar un formulario, ir a otra página, etc.</a:t>
            </a:r>
          </a:p>
          <a:p>
            <a:pPr lvl="2"/>
            <a:endParaRPr lang="es-AR" dirty="0"/>
          </a:p>
          <a:p>
            <a:pPr lvl="1"/>
            <a:endParaRPr lang="es-AR" dirty="0"/>
          </a:p>
          <a:p>
            <a:pPr marL="3657600" lvl="8" indent="0">
              <a:buNone/>
            </a:pPr>
            <a:r>
              <a:rPr lang="es-AR" dirty="0"/>
              <a:t>		</a:t>
            </a:r>
          </a:p>
        </p:txBody>
      </p:sp>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152</a:t>
            </a:fld>
            <a:endParaRPr lang="es-ES" altLang="es-AR"/>
          </a:p>
        </p:txBody>
      </p:sp>
    </p:spTree>
    <p:extLst>
      <p:ext uri="{BB962C8B-B14F-4D97-AF65-F5344CB8AC3E}">
        <p14:creationId xmlns:p14="http://schemas.microsoft.com/office/powerpoint/2010/main" val="2532654863"/>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1 Título"/>
          <p:cNvSpPr>
            <a:spLocks noGrp="1"/>
          </p:cNvSpPr>
          <p:nvPr>
            <p:ph type="title"/>
          </p:nvPr>
        </p:nvSpPr>
        <p:spPr>
          <a:xfrm>
            <a:off x="457200" y="274638"/>
            <a:ext cx="8229600" cy="654050"/>
          </a:xfrm>
        </p:spPr>
        <p:txBody>
          <a:bodyPr/>
          <a:lstStyle/>
          <a:p>
            <a:r>
              <a:rPr lang="es-AR" altLang="es-AR" b="1"/>
              <a:t>Organización</a:t>
            </a:r>
          </a:p>
        </p:txBody>
      </p:sp>
      <p:sp>
        <p:nvSpPr>
          <p:cNvPr id="35843" name="2 Marcador de contenido"/>
          <p:cNvSpPr>
            <a:spLocks noGrp="1"/>
          </p:cNvSpPr>
          <p:nvPr>
            <p:ph idx="1"/>
          </p:nvPr>
        </p:nvSpPr>
        <p:spPr/>
        <p:txBody>
          <a:bodyPr/>
          <a:lstStyle/>
          <a:p>
            <a:r>
              <a:rPr lang="es-AR" altLang="es-AR" dirty="0"/>
              <a:t>Introducción.</a:t>
            </a:r>
          </a:p>
          <a:p>
            <a:r>
              <a:rPr lang="es-AR" altLang="es-AR" dirty="0"/>
              <a:t>¿Qué es la accesibilidad web?</a:t>
            </a:r>
          </a:p>
          <a:p>
            <a:r>
              <a:rPr lang="es-AR" altLang="es-AR" dirty="0"/>
              <a:t>Pautas y leyes.</a:t>
            </a:r>
          </a:p>
          <a:p>
            <a:r>
              <a:rPr lang="es-AR" altLang="es-AR" dirty="0"/>
              <a:t>Contenido accesible.</a:t>
            </a:r>
          </a:p>
          <a:p>
            <a:r>
              <a:rPr lang="es-AR" altLang="es-AR" dirty="0"/>
              <a:t>Navegación accesible.</a:t>
            </a:r>
          </a:p>
          <a:p>
            <a:r>
              <a:rPr lang="es-AR" altLang="es-AR" b="1" dirty="0">
                <a:solidFill>
                  <a:srgbClr val="0070C0"/>
                </a:solidFill>
              </a:rPr>
              <a:t>Diseño accesible.</a:t>
            </a:r>
          </a:p>
          <a:p>
            <a:r>
              <a:rPr lang="es-AR" altLang="es-AR" dirty="0"/>
              <a:t>Análisis y evaluación de la accesibilidad web.</a:t>
            </a:r>
          </a:p>
          <a:p>
            <a:r>
              <a:rPr lang="es-AR" altLang="es-AR" dirty="0"/>
              <a:t>Conclusiones.</a:t>
            </a:r>
          </a:p>
        </p:txBody>
      </p:sp>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153</a:t>
            </a:fld>
            <a:endParaRPr lang="es-ES" altLang="es-AR"/>
          </a:p>
        </p:txBody>
      </p:sp>
    </p:spTree>
    <p:extLst>
      <p:ext uri="{BB962C8B-B14F-4D97-AF65-F5344CB8AC3E}">
        <p14:creationId xmlns:p14="http://schemas.microsoft.com/office/powerpoint/2010/main" val="754913995"/>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1 Título"/>
          <p:cNvSpPr>
            <a:spLocks noGrp="1"/>
          </p:cNvSpPr>
          <p:nvPr>
            <p:ph type="title"/>
          </p:nvPr>
        </p:nvSpPr>
        <p:spPr>
          <a:xfrm>
            <a:off x="457200" y="274638"/>
            <a:ext cx="8229600" cy="654050"/>
          </a:xfrm>
        </p:spPr>
        <p:txBody>
          <a:bodyPr/>
          <a:lstStyle/>
          <a:p>
            <a:r>
              <a:rPr lang="es-AR" altLang="es-AR" b="1" dirty="0"/>
              <a:t>Diseño accesible</a:t>
            </a:r>
          </a:p>
        </p:txBody>
      </p:sp>
      <p:sp>
        <p:nvSpPr>
          <p:cNvPr id="57347" name="2 Marcador de contenido"/>
          <p:cNvSpPr>
            <a:spLocks noGrp="1"/>
          </p:cNvSpPr>
          <p:nvPr>
            <p:ph idx="1"/>
          </p:nvPr>
        </p:nvSpPr>
        <p:spPr>
          <a:xfrm>
            <a:off x="430213" y="1916113"/>
            <a:ext cx="8229600" cy="4537223"/>
          </a:xfrm>
        </p:spPr>
        <p:txBody>
          <a:bodyPr/>
          <a:lstStyle/>
          <a:p>
            <a:r>
              <a:rPr lang="es-AR" dirty="0"/>
              <a:t>Introducción</a:t>
            </a:r>
          </a:p>
          <a:p>
            <a:pPr marL="0" indent="0">
              <a:buNone/>
            </a:pPr>
            <a:endParaRPr lang="es-AR" dirty="0"/>
          </a:p>
          <a:p>
            <a:pPr lvl="1" algn="just"/>
            <a:r>
              <a:rPr lang="es-AR" dirty="0"/>
              <a:t> </a:t>
            </a:r>
            <a:r>
              <a:rPr lang="es-AR" b="1" dirty="0"/>
              <a:t>Pauta 1.4 Distinguible</a:t>
            </a:r>
            <a:r>
              <a:rPr lang="es-AR" dirty="0"/>
              <a:t>: Facilitar a los usuarios ver y oír el contenido, incluyendo la separación entre el primer plano y el fondo en la que se proporcionan algunos consejos sobre el uso del color, del contraste y del tamaño del texto.</a:t>
            </a:r>
          </a:p>
          <a:p>
            <a:pPr lvl="2"/>
            <a:endParaRPr lang="es-AR" dirty="0"/>
          </a:p>
          <a:p>
            <a:pPr lvl="1"/>
            <a:endParaRPr lang="es-AR" dirty="0"/>
          </a:p>
          <a:p>
            <a:pPr marL="3657600" lvl="8" indent="0">
              <a:buNone/>
            </a:pPr>
            <a:r>
              <a:rPr lang="es-AR" dirty="0"/>
              <a:t>		</a:t>
            </a:r>
          </a:p>
        </p:txBody>
      </p:sp>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154</a:t>
            </a:fld>
            <a:endParaRPr lang="es-ES" altLang="es-AR"/>
          </a:p>
        </p:txBody>
      </p:sp>
    </p:spTree>
    <p:extLst>
      <p:ext uri="{BB962C8B-B14F-4D97-AF65-F5344CB8AC3E}">
        <p14:creationId xmlns:p14="http://schemas.microsoft.com/office/powerpoint/2010/main" val="1012654548"/>
      </p:ext>
    </p:ext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1 Título"/>
          <p:cNvSpPr>
            <a:spLocks noGrp="1"/>
          </p:cNvSpPr>
          <p:nvPr>
            <p:ph type="title"/>
          </p:nvPr>
        </p:nvSpPr>
        <p:spPr>
          <a:xfrm>
            <a:off x="457200" y="274638"/>
            <a:ext cx="8229600" cy="654050"/>
          </a:xfrm>
        </p:spPr>
        <p:txBody>
          <a:bodyPr/>
          <a:lstStyle/>
          <a:p>
            <a:r>
              <a:rPr lang="es-AR" altLang="es-AR" b="1" dirty="0"/>
              <a:t>Diseño accesible</a:t>
            </a:r>
          </a:p>
        </p:txBody>
      </p:sp>
      <p:sp>
        <p:nvSpPr>
          <p:cNvPr id="57347" name="2 Marcador de contenido"/>
          <p:cNvSpPr>
            <a:spLocks noGrp="1"/>
          </p:cNvSpPr>
          <p:nvPr>
            <p:ph idx="1"/>
          </p:nvPr>
        </p:nvSpPr>
        <p:spPr>
          <a:xfrm>
            <a:off x="430213" y="1916113"/>
            <a:ext cx="8229600" cy="4537223"/>
          </a:xfrm>
        </p:spPr>
        <p:txBody>
          <a:bodyPr/>
          <a:lstStyle/>
          <a:p>
            <a:r>
              <a:rPr lang="es-AR" dirty="0"/>
              <a:t>Contraste</a:t>
            </a:r>
          </a:p>
          <a:p>
            <a:pPr marL="0" indent="0">
              <a:buNone/>
            </a:pPr>
            <a:endParaRPr lang="es-AR" dirty="0"/>
          </a:p>
          <a:p>
            <a:pPr lvl="1"/>
            <a:r>
              <a:rPr lang="es-AR" dirty="0"/>
              <a:t>Seleccionar colores que tengan un alto contraste para lograr un DISEÑO UNIVERSAL.</a:t>
            </a:r>
          </a:p>
          <a:p>
            <a:pPr lvl="1"/>
            <a:r>
              <a:rPr lang="es-AR" dirty="0"/>
              <a:t>Combinación de colores de alto contraste puede ayudar a todos los usuarios.</a:t>
            </a:r>
          </a:p>
          <a:p>
            <a:pPr lvl="1"/>
            <a:r>
              <a:rPr lang="es-AR" dirty="0"/>
              <a:t>Situaciones:</a:t>
            </a:r>
          </a:p>
          <a:p>
            <a:pPr lvl="2" algn="just"/>
            <a:r>
              <a:rPr lang="es-AR" dirty="0"/>
              <a:t>Día muy soleado en la playa o en la nieve, una gran cantidad de luminosidad produce que no se vean correctamente en la pantallas.</a:t>
            </a:r>
          </a:p>
          <a:p>
            <a:pPr lvl="2"/>
            <a:r>
              <a:rPr lang="es-AR" dirty="0"/>
              <a:t>Cuando se emplea un video proyector, ya sea porque tiene la lámpara gastada o porque la sala donde se está empleando tiene mucha iluminación.</a:t>
            </a:r>
          </a:p>
          <a:p>
            <a:pPr lvl="2"/>
            <a:endParaRPr lang="es-AR" dirty="0"/>
          </a:p>
          <a:p>
            <a:pPr lvl="1"/>
            <a:endParaRPr lang="es-AR" dirty="0"/>
          </a:p>
          <a:p>
            <a:pPr marL="3657600" lvl="8" indent="0">
              <a:buNone/>
            </a:pPr>
            <a:r>
              <a:rPr lang="es-AR" dirty="0"/>
              <a:t>		</a:t>
            </a:r>
          </a:p>
        </p:txBody>
      </p:sp>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155</a:t>
            </a:fld>
            <a:endParaRPr lang="es-ES" altLang="es-AR"/>
          </a:p>
        </p:txBody>
      </p:sp>
    </p:spTree>
    <p:extLst>
      <p:ext uri="{BB962C8B-B14F-4D97-AF65-F5344CB8AC3E}">
        <p14:creationId xmlns:p14="http://schemas.microsoft.com/office/powerpoint/2010/main" val="165518518"/>
      </p:ext>
    </p:extLst>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1 Título"/>
          <p:cNvSpPr>
            <a:spLocks noGrp="1"/>
          </p:cNvSpPr>
          <p:nvPr>
            <p:ph type="title"/>
          </p:nvPr>
        </p:nvSpPr>
        <p:spPr>
          <a:xfrm>
            <a:off x="457200" y="274638"/>
            <a:ext cx="8229600" cy="654050"/>
          </a:xfrm>
        </p:spPr>
        <p:txBody>
          <a:bodyPr/>
          <a:lstStyle/>
          <a:p>
            <a:r>
              <a:rPr lang="es-AR" altLang="es-AR" b="1" dirty="0"/>
              <a:t>Diseño accesible</a:t>
            </a:r>
          </a:p>
        </p:txBody>
      </p:sp>
      <p:sp>
        <p:nvSpPr>
          <p:cNvPr id="57347" name="2 Marcador de contenido"/>
          <p:cNvSpPr>
            <a:spLocks noGrp="1"/>
          </p:cNvSpPr>
          <p:nvPr>
            <p:ph idx="1"/>
          </p:nvPr>
        </p:nvSpPr>
        <p:spPr>
          <a:xfrm>
            <a:off x="430213" y="1916113"/>
            <a:ext cx="8229600" cy="4537223"/>
          </a:xfrm>
        </p:spPr>
        <p:txBody>
          <a:bodyPr/>
          <a:lstStyle/>
          <a:p>
            <a:r>
              <a:rPr lang="es-AR" dirty="0"/>
              <a:t>Contraste</a:t>
            </a:r>
          </a:p>
          <a:p>
            <a:pPr marL="0" indent="0">
              <a:buNone/>
            </a:pPr>
            <a:endParaRPr lang="es-AR" dirty="0"/>
          </a:p>
          <a:p>
            <a:pPr lvl="1"/>
            <a:r>
              <a:rPr lang="es-AR" dirty="0"/>
              <a:t>Combinación de colores</a:t>
            </a:r>
          </a:p>
          <a:p>
            <a:pPr lvl="1"/>
            <a:endParaRPr lang="es-AR" dirty="0"/>
          </a:p>
          <a:p>
            <a:pPr lvl="1"/>
            <a:endParaRPr lang="es-AR" dirty="0"/>
          </a:p>
          <a:p>
            <a:pPr lvl="1"/>
            <a:endParaRPr lang="es-AR" dirty="0"/>
          </a:p>
          <a:p>
            <a:pPr lvl="1"/>
            <a:endParaRPr lang="es-AR" dirty="0"/>
          </a:p>
          <a:p>
            <a:pPr lvl="1"/>
            <a:endParaRPr lang="es-AR" dirty="0"/>
          </a:p>
          <a:p>
            <a:pPr lvl="1"/>
            <a:endParaRPr lang="es-AR" dirty="0"/>
          </a:p>
          <a:p>
            <a:pPr marL="457200" lvl="1" indent="0">
              <a:buNone/>
            </a:pPr>
            <a:endParaRPr lang="es-AR" dirty="0"/>
          </a:p>
          <a:p>
            <a:pPr marL="457200" lvl="1" indent="0">
              <a:buNone/>
            </a:pPr>
            <a:r>
              <a:rPr lang="es-AR" dirty="0"/>
              <a:t>Ayuda a que una página web se visualice correctamente.</a:t>
            </a:r>
          </a:p>
          <a:p>
            <a:pPr lvl="2"/>
            <a:endParaRPr lang="es-AR" dirty="0"/>
          </a:p>
          <a:p>
            <a:pPr lvl="1"/>
            <a:endParaRPr lang="es-AR" dirty="0"/>
          </a:p>
          <a:p>
            <a:pPr marL="3657600" lvl="8" indent="0">
              <a:buNone/>
            </a:pPr>
            <a:r>
              <a:rPr lang="es-AR" dirty="0"/>
              <a:t>		</a:t>
            </a:r>
          </a:p>
        </p:txBody>
      </p:sp>
      <p:pic>
        <p:nvPicPr>
          <p:cNvPr id="4" name="Picture 2" descr="http://www.catedracosgaya.com.ar/tipoblog/2014/wp-content/uploads/2014/05/Pub-blog-imagen-num-5RGB.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71600" y="3068960"/>
            <a:ext cx="6504039" cy="1857208"/>
          </a:xfrm>
          <a:prstGeom prst="rect">
            <a:avLst/>
          </a:prstGeom>
          <a:noFill/>
          <a:extLst>
            <a:ext uri="{909E8E84-426E-40DD-AFC4-6F175D3DCCD1}">
              <a14:hiddenFill xmlns:a14="http://schemas.microsoft.com/office/drawing/2010/main">
                <a:solidFill>
                  <a:srgbClr val="FFFFFF"/>
                </a:solidFill>
              </a14:hiddenFill>
            </a:ext>
          </a:extLst>
        </p:spPr>
      </p:pic>
      <p:sp>
        <p:nvSpPr>
          <p:cNvPr id="5" name="Flecha: hacia arriba 4"/>
          <p:cNvSpPr/>
          <p:nvPr/>
        </p:nvSpPr>
        <p:spPr>
          <a:xfrm>
            <a:off x="1797509" y="4697979"/>
            <a:ext cx="634181" cy="914400"/>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156</a:t>
            </a:fld>
            <a:endParaRPr lang="es-ES" altLang="es-AR"/>
          </a:p>
        </p:txBody>
      </p:sp>
    </p:spTree>
    <p:extLst>
      <p:ext uri="{BB962C8B-B14F-4D97-AF65-F5344CB8AC3E}">
        <p14:creationId xmlns:p14="http://schemas.microsoft.com/office/powerpoint/2010/main" val="2592912051"/>
      </p:ext>
    </p:extLst>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1 Título"/>
          <p:cNvSpPr>
            <a:spLocks noGrp="1"/>
          </p:cNvSpPr>
          <p:nvPr>
            <p:ph type="title"/>
          </p:nvPr>
        </p:nvSpPr>
        <p:spPr>
          <a:xfrm>
            <a:off x="457200" y="274638"/>
            <a:ext cx="8229600" cy="654050"/>
          </a:xfrm>
        </p:spPr>
        <p:txBody>
          <a:bodyPr/>
          <a:lstStyle/>
          <a:p>
            <a:r>
              <a:rPr lang="es-AR" altLang="es-AR" b="1" dirty="0"/>
              <a:t>Diseño accesible</a:t>
            </a:r>
          </a:p>
        </p:txBody>
      </p:sp>
      <p:sp>
        <p:nvSpPr>
          <p:cNvPr id="57347" name="2 Marcador de contenido"/>
          <p:cNvSpPr>
            <a:spLocks noGrp="1"/>
          </p:cNvSpPr>
          <p:nvPr>
            <p:ph idx="1"/>
          </p:nvPr>
        </p:nvSpPr>
        <p:spPr>
          <a:xfrm>
            <a:off x="430213" y="1916113"/>
            <a:ext cx="3637731" cy="4537223"/>
          </a:xfrm>
        </p:spPr>
        <p:txBody>
          <a:bodyPr/>
          <a:lstStyle/>
          <a:p>
            <a:r>
              <a:rPr lang="es-AR" dirty="0"/>
              <a:t>Contraste</a:t>
            </a:r>
          </a:p>
          <a:p>
            <a:pPr marL="0" indent="0">
              <a:buNone/>
            </a:pPr>
            <a:endParaRPr lang="es-AR" dirty="0"/>
          </a:p>
          <a:p>
            <a:pPr lvl="1"/>
            <a:r>
              <a:rPr lang="es-AR" dirty="0"/>
              <a:t>Ejemplo de lo que NO se debe hacer:</a:t>
            </a:r>
          </a:p>
          <a:p>
            <a:pPr lvl="2"/>
            <a:r>
              <a:rPr lang="es-AR" sz="1800" dirty="0"/>
              <a:t>Simulación de cómo verá esta página web una persona que presente sensibilidad reducida al contraste </a:t>
            </a:r>
            <a:r>
              <a:rPr lang="es-AR" sz="1800" dirty="0">
                <a:sym typeface="Wingdings" pitchFamily="2" charset="2"/>
              </a:rPr>
              <a:t> Página apagada y es más aburrida. Importante: Hay ciertas partes de la página que pueden llegar a desaparecer.</a:t>
            </a:r>
            <a:endParaRPr lang="es-AR" sz="1800" dirty="0"/>
          </a:p>
          <a:p>
            <a:pPr lvl="2"/>
            <a:endParaRPr lang="es-AR" dirty="0"/>
          </a:p>
          <a:p>
            <a:pPr lvl="1"/>
            <a:endParaRPr lang="es-AR" dirty="0"/>
          </a:p>
          <a:p>
            <a:pPr marL="3657600" lvl="8" indent="0">
              <a:buNone/>
            </a:pPr>
            <a:r>
              <a:rPr lang="es-AR" dirty="0"/>
              <a:t>		</a:t>
            </a:r>
          </a:p>
        </p:txBody>
      </p:sp>
      <p:pic>
        <p:nvPicPr>
          <p:cNvPr id="4" name="Picture 2"/>
          <p:cNvPicPr>
            <a:picLocks noChangeAspect="1" noChangeArrowheads="1"/>
          </p:cNvPicPr>
          <p:nvPr/>
        </p:nvPicPr>
        <p:blipFill>
          <a:blip r:embed="rId3" cstate="print"/>
          <a:srcRect/>
          <a:stretch>
            <a:fillRect/>
          </a:stretch>
        </p:blipFill>
        <p:spPr bwMode="auto">
          <a:xfrm>
            <a:off x="4107615" y="3140968"/>
            <a:ext cx="4608513" cy="2592288"/>
          </a:xfrm>
          <a:prstGeom prst="rect">
            <a:avLst/>
          </a:prstGeom>
          <a:noFill/>
          <a:ln w="9525">
            <a:noFill/>
            <a:miter lim="800000"/>
            <a:headEnd/>
            <a:tailEnd/>
          </a:ln>
          <a:effectLst/>
        </p:spPr>
      </p:pic>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157</a:t>
            </a:fld>
            <a:endParaRPr lang="es-ES" altLang="es-AR"/>
          </a:p>
        </p:txBody>
      </p:sp>
    </p:spTree>
    <p:extLst>
      <p:ext uri="{BB962C8B-B14F-4D97-AF65-F5344CB8AC3E}">
        <p14:creationId xmlns:p14="http://schemas.microsoft.com/office/powerpoint/2010/main" val="1855273297"/>
      </p:ext>
    </p:extLst>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1 Título"/>
          <p:cNvSpPr>
            <a:spLocks noGrp="1"/>
          </p:cNvSpPr>
          <p:nvPr>
            <p:ph type="title"/>
          </p:nvPr>
        </p:nvSpPr>
        <p:spPr>
          <a:xfrm>
            <a:off x="457200" y="274638"/>
            <a:ext cx="8229600" cy="654050"/>
          </a:xfrm>
        </p:spPr>
        <p:txBody>
          <a:bodyPr/>
          <a:lstStyle/>
          <a:p>
            <a:r>
              <a:rPr lang="es-AR" altLang="es-AR" b="1" dirty="0"/>
              <a:t>Diseño accesible</a:t>
            </a:r>
          </a:p>
        </p:txBody>
      </p:sp>
      <p:sp>
        <p:nvSpPr>
          <p:cNvPr id="57347" name="2 Marcador de contenido"/>
          <p:cNvSpPr>
            <a:spLocks noGrp="1"/>
          </p:cNvSpPr>
          <p:nvPr>
            <p:ph idx="1"/>
          </p:nvPr>
        </p:nvSpPr>
        <p:spPr>
          <a:xfrm>
            <a:off x="430213" y="1916113"/>
            <a:ext cx="8229600" cy="4537223"/>
          </a:xfrm>
        </p:spPr>
        <p:txBody>
          <a:bodyPr/>
          <a:lstStyle/>
          <a:p>
            <a:r>
              <a:rPr lang="es-AR" dirty="0"/>
              <a:t>Contraste</a:t>
            </a:r>
          </a:p>
          <a:p>
            <a:pPr marL="0" indent="0">
              <a:buNone/>
            </a:pPr>
            <a:endParaRPr lang="es-AR" dirty="0"/>
          </a:p>
          <a:p>
            <a:pPr lvl="1"/>
            <a:r>
              <a:rPr lang="es-AR" dirty="0"/>
              <a:t> ¿Cómo saber si una combinación de colores tiene el suficiente contraste?</a:t>
            </a:r>
          </a:p>
          <a:p>
            <a:pPr lvl="1"/>
            <a:endParaRPr lang="es-AR" dirty="0"/>
          </a:p>
          <a:p>
            <a:pPr lvl="2"/>
            <a:r>
              <a:rPr lang="es-AR" sz="1800" b="1" dirty="0"/>
              <a:t> Criterio 1.4.3 Contraste (mínimo): </a:t>
            </a:r>
            <a:r>
              <a:rPr lang="es-AR" sz="1800" dirty="0"/>
              <a:t>La presentación visual de texto e imágenes de texto tiene una relación de contraste de, al menos 4,5:1. [Nivel AA]</a:t>
            </a:r>
          </a:p>
          <a:p>
            <a:pPr lvl="2"/>
            <a:endParaRPr lang="es-AR" sz="1800" dirty="0"/>
          </a:p>
          <a:p>
            <a:pPr lvl="2"/>
            <a:r>
              <a:rPr lang="es-AR" sz="1800" b="1" dirty="0"/>
              <a:t>Criterio 1.4.6 Contraste (mejorado)</a:t>
            </a:r>
            <a:r>
              <a:rPr lang="es-AR" sz="1800" dirty="0"/>
              <a:t>: La presentación visual de texto e imágenes de texto tiene una relación de contraste de, al menos 7:1. [Nivel AAA]</a:t>
            </a:r>
          </a:p>
          <a:p>
            <a:pPr lvl="2"/>
            <a:endParaRPr lang="es-AR" dirty="0"/>
          </a:p>
          <a:p>
            <a:pPr lvl="1"/>
            <a:endParaRPr lang="es-AR" dirty="0"/>
          </a:p>
          <a:p>
            <a:pPr marL="3657600" lvl="8" indent="0">
              <a:buNone/>
            </a:pPr>
            <a:r>
              <a:rPr lang="es-AR" dirty="0"/>
              <a:t>		</a:t>
            </a:r>
          </a:p>
        </p:txBody>
      </p:sp>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158</a:t>
            </a:fld>
            <a:endParaRPr lang="es-ES" altLang="es-AR"/>
          </a:p>
        </p:txBody>
      </p:sp>
    </p:spTree>
    <p:extLst>
      <p:ext uri="{BB962C8B-B14F-4D97-AF65-F5344CB8AC3E}">
        <p14:creationId xmlns:p14="http://schemas.microsoft.com/office/powerpoint/2010/main" val="2324865808"/>
      </p:ext>
    </p:extLst>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1 Título"/>
          <p:cNvSpPr>
            <a:spLocks noGrp="1"/>
          </p:cNvSpPr>
          <p:nvPr>
            <p:ph type="title"/>
          </p:nvPr>
        </p:nvSpPr>
        <p:spPr>
          <a:xfrm>
            <a:off x="457200" y="274638"/>
            <a:ext cx="8229600" cy="654050"/>
          </a:xfrm>
        </p:spPr>
        <p:txBody>
          <a:bodyPr/>
          <a:lstStyle/>
          <a:p>
            <a:r>
              <a:rPr lang="es-AR" altLang="es-AR" b="1" dirty="0"/>
              <a:t>Diseño accesible</a:t>
            </a:r>
          </a:p>
        </p:txBody>
      </p:sp>
      <p:sp>
        <p:nvSpPr>
          <p:cNvPr id="57347" name="2 Marcador de contenido"/>
          <p:cNvSpPr>
            <a:spLocks noGrp="1"/>
          </p:cNvSpPr>
          <p:nvPr>
            <p:ph idx="1"/>
          </p:nvPr>
        </p:nvSpPr>
        <p:spPr>
          <a:xfrm>
            <a:off x="430213" y="1916113"/>
            <a:ext cx="8229600" cy="4537223"/>
          </a:xfrm>
        </p:spPr>
        <p:txBody>
          <a:bodyPr/>
          <a:lstStyle/>
          <a:p>
            <a:r>
              <a:rPr lang="es-AR" dirty="0"/>
              <a:t>Contraste</a:t>
            </a:r>
          </a:p>
          <a:p>
            <a:pPr marL="0" indent="0">
              <a:buNone/>
            </a:pPr>
            <a:endParaRPr lang="es-AR" dirty="0"/>
          </a:p>
          <a:p>
            <a:pPr lvl="1"/>
            <a:r>
              <a:rPr lang="es-AR" dirty="0"/>
              <a:t> ¿Cómo calcular el nivel de contraste entre dos colores?</a:t>
            </a:r>
          </a:p>
          <a:p>
            <a:pPr lvl="1"/>
            <a:endParaRPr lang="es-AR" dirty="0"/>
          </a:p>
          <a:p>
            <a:pPr marL="914400" lvl="2" indent="0">
              <a:buNone/>
            </a:pPr>
            <a:r>
              <a:rPr lang="es-AR" dirty="0"/>
              <a:t>		(L1 + 0,05) / (L2 + 0,05)</a:t>
            </a:r>
          </a:p>
          <a:p>
            <a:pPr lvl="2"/>
            <a:endParaRPr lang="es-AR" dirty="0"/>
          </a:p>
          <a:p>
            <a:pPr lvl="3"/>
            <a:r>
              <a:rPr lang="es-AR" dirty="0"/>
              <a:t>L1 es la luminosidad relativa del más claro de los colores.</a:t>
            </a:r>
          </a:p>
          <a:p>
            <a:pPr lvl="3"/>
            <a:r>
              <a:rPr lang="es-AR" dirty="0"/>
              <a:t>L2 es la luminosidad relativa del más oscuro de los colores.</a:t>
            </a:r>
          </a:p>
          <a:p>
            <a:pPr lvl="3"/>
            <a:endParaRPr lang="es-AR" dirty="0"/>
          </a:p>
          <a:p>
            <a:pPr lvl="2"/>
            <a:r>
              <a:rPr lang="es-AR" dirty="0"/>
              <a:t>Herramienta </a:t>
            </a:r>
            <a:r>
              <a:rPr lang="es-AR" dirty="0">
                <a:sym typeface="Wingdings" pitchFamily="2" charset="2"/>
              </a:rPr>
              <a:t> Color </a:t>
            </a:r>
            <a:r>
              <a:rPr lang="es-AR" dirty="0" err="1">
                <a:sym typeface="Wingdings" pitchFamily="2" charset="2"/>
              </a:rPr>
              <a:t>Contrast</a:t>
            </a:r>
            <a:r>
              <a:rPr lang="es-AR" dirty="0">
                <a:sym typeface="Wingdings" pitchFamily="2" charset="2"/>
              </a:rPr>
              <a:t> </a:t>
            </a:r>
            <a:r>
              <a:rPr lang="es-AR" dirty="0" err="1">
                <a:sym typeface="Wingdings" pitchFamily="2" charset="2"/>
              </a:rPr>
              <a:t>Checker</a:t>
            </a:r>
            <a:r>
              <a:rPr lang="es-AR" dirty="0">
                <a:sym typeface="Wingdings" pitchFamily="2" charset="2"/>
              </a:rPr>
              <a:t> de </a:t>
            </a:r>
            <a:r>
              <a:rPr lang="es-AR" dirty="0" err="1">
                <a:sym typeface="Wingdings" pitchFamily="2" charset="2"/>
              </a:rPr>
              <a:t>WebAIM</a:t>
            </a:r>
            <a:endParaRPr lang="es-AR" dirty="0"/>
          </a:p>
          <a:p>
            <a:pPr lvl="2"/>
            <a:endParaRPr lang="es-AR" dirty="0"/>
          </a:p>
          <a:p>
            <a:pPr lvl="1"/>
            <a:endParaRPr lang="es-AR" dirty="0"/>
          </a:p>
          <a:p>
            <a:pPr marL="3657600" lvl="8" indent="0">
              <a:buNone/>
            </a:pPr>
            <a:r>
              <a:rPr lang="es-AR" dirty="0"/>
              <a:t>		</a:t>
            </a:r>
          </a:p>
        </p:txBody>
      </p:sp>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159</a:t>
            </a:fld>
            <a:endParaRPr lang="es-ES" altLang="es-AR"/>
          </a:p>
        </p:txBody>
      </p:sp>
    </p:spTree>
    <p:extLst>
      <p:ext uri="{BB962C8B-B14F-4D97-AF65-F5344CB8AC3E}">
        <p14:creationId xmlns:p14="http://schemas.microsoft.com/office/powerpoint/2010/main" val="2700992372"/>
      </p:ext>
    </p:extLst>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1 Título"/>
          <p:cNvSpPr>
            <a:spLocks noGrp="1"/>
          </p:cNvSpPr>
          <p:nvPr>
            <p:ph type="title"/>
          </p:nvPr>
        </p:nvSpPr>
        <p:spPr>
          <a:xfrm>
            <a:off x="457200" y="274638"/>
            <a:ext cx="8229600" cy="654050"/>
          </a:xfrm>
        </p:spPr>
        <p:txBody>
          <a:bodyPr/>
          <a:lstStyle/>
          <a:p>
            <a:r>
              <a:rPr lang="es-AR" altLang="es-AR" b="1" dirty="0"/>
              <a:t>Diseño accesible</a:t>
            </a:r>
          </a:p>
        </p:txBody>
      </p:sp>
      <p:sp>
        <p:nvSpPr>
          <p:cNvPr id="57347" name="2 Marcador de contenido"/>
          <p:cNvSpPr>
            <a:spLocks noGrp="1"/>
          </p:cNvSpPr>
          <p:nvPr>
            <p:ph idx="1"/>
          </p:nvPr>
        </p:nvSpPr>
        <p:spPr>
          <a:xfrm>
            <a:off x="460648" y="1412777"/>
            <a:ext cx="8229600" cy="864095"/>
          </a:xfrm>
        </p:spPr>
        <p:txBody>
          <a:bodyPr/>
          <a:lstStyle/>
          <a:p>
            <a:r>
              <a:rPr lang="es-AR" dirty="0"/>
              <a:t>Contraste</a:t>
            </a:r>
          </a:p>
          <a:p>
            <a:pPr lvl="1"/>
            <a:r>
              <a:rPr lang="es-AR" dirty="0">
                <a:sym typeface="Wingdings" pitchFamily="2" charset="2"/>
              </a:rPr>
              <a:t>Color </a:t>
            </a:r>
            <a:r>
              <a:rPr lang="es-AR" dirty="0" err="1">
                <a:sym typeface="Wingdings" pitchFamily="2" charset="2"/>
              </a:rPr>
              <a:t>Contrast</a:t>
            </a:r>
            <a:r>
              <a:rPr lang="es-AR" dirty="0">
                <a:sym typeface="Wingdings" pitchFamily="2" charset="2"/>
              </a:rPr>
              <a:t> </a:t>
            </a:r>
            <a:r>
              <a:rPr lang="es-AR" dirty="0" err="1">
                <a:sym typeface="Wingdings" pitchFamily="2" charset="2"/>
              </a:rPr>
              <a:t>Checker</a:t>
            </a:r>
            <a:r>
              <a:rPr lang="es-AR" dirty="0">
                <a:sym typeface="Wingdings" pitchFamily="2" charset="2"/>
              </a:rPr>
              <a:t> de </a:t>
            </a:r>
            <a:r>
              <a:rPr lang="es-AR" dirty="0" err="1">
                <a:sym typeface="Wingdings" pitchFamily="2" charset="2"/>
              </a:rPr>
              <a:t>WebAIM</a:t>
            </a:r>
            <a:endParaRPr lang="es-AR" dirty="0"/>
          </a:p>
          <a:p>
            <a:pPr lvl="2"/>
            <a:endParaRPr lang="es-AR" dirty="0"/>
          </a:p>
          <a:p>
            <a:pPr lvl="1"/>
            <a:endParaRPr lang="es-AR" dirty="0"/>
          </a:p>
          <a:p>
            <a:pPr marL="3657600" lvl="8" indent="0">
              <a:buNone/>
            </a:pPr>
            <a:r>
              <a:rPr lang="es-AR" dirty="0"/>
              <a:t>		</a:t>
            </a:r>
          </a:p>
        </p:txBody>
      </p:sp>
      <p:pic>
        <p:nvPicPr>
          <p:cNvPr id="4" name="Picture 2"/>
          <p:cNvPicPr>
            <a:picLocks noChangeAspect="1" noChangeArrowheads="1"/>
          </p:cNvPicPr>
          <p:nvPr/>
        </p:nvPicPr>
        <p:blipFill>
          <a:blip r:embed="rId3" cstate="print"/>
          <a:srcRect l="16150" t="6400" r="17050" b="18311"/>
          <a:stretch>
            <a:fillRect/>
          </a:stretch>
        </p:blipFill>
        <p:spPr bwMode="auto">
          <a:xfrm>
            <a:off x="1115616" y="2276872"/>
            <a:ext cx="6912768" cy="4382571"/>
          </a:xfrm>
          <a:prstGeom prst="rect">
            <a:avLst/>
          </a:prstGeom>
          <a:noFill/>
          <a:ln w="9525">
            <a:noFill/>
            <a:miter lim="800000"/>
            <a:headEnd/>
            <a:tailEnd/>
          </a:ln>
          <a:effectLst/>
        </p:spPr>
      </p:pic>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160</a:t>
            </a:fld>
            <a:endParaRPr lang="es-ES" altLang="es-AR"/>
          </a:p>
        </p:txBody>
      </p:sp>
    </p:spTree>
    <p:extLst>
      <p:ext uri="{BB962C8B-B14F-4D97-AF65-F5344CB8AC3E}">
        <p14:creationId xmlns:p14="http://schemas.microsoft.com/office/powerpoint/2010/main" val="3795350702"/>
      </p:ext>
    </p:extLst>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1 Título"/>
          <p:cNvSpPr>
            <a:spLocks noGrp="1"/>
          </p:cNvSpPr>
          <p:nvPr>
            <p:ph type="title"/>
          </p:nvPr>
        </p:nvSpPr>
        <p:spPr>
          <a:xfrm>
            <a:off x="457200" y="274638"/>
            <a:ext cx="8229600" cy="654050"/>
          </a:xfrm>
        </p:spPr>
        <p:txBody>
          <a:bodyPr/>
          <a:lstStyle/>
          <a:p>
            <a:r>
              <a:rPr lang="es-AR" altLang="es-AR" b="1" dirty="0"/>
              <a:t>Diseño accesible</a:t>
            </a:r>
          </a:p>
        </p:txBody>
      </p:sp>
      <p:sp>
        <p:nvSpPr>
          <p:cNvPr id="57347" name="2 Marcador de contenido"/>
          <p:cNvSpPr>
            <a:spLocks noGrp="1"/>
          </p:cNvSpPr>
          <p:nvPr>
            <p:ph idx="1"/>
          </p:nvPr>
        </p:nvSpPr>
        <p:spPr>
          <a:xfrm>
            <a:off x="430213" y="1916113"/>
            <a:ext cx="8229600" cy="4537223"/>
          </a:xfrm>
        </p:spPr>
        <p:txBody>
          <a:bodyPr/>
          <a:lstStyle/>
          <a:p>
            <a:r>
              <a:rPr lang="es-AR" dirty="0"/>
              <a:t>Color </a:t>
            </a:r>
          </a:p>
          <a:p>
            <a:endParaRPr lang="es-AR" dirty="0"/>
          </a:p>
          <a:p>
            <a:pPr lvl="1"/>
            <a:r>
              <a:rPr lang="es-AR" b="1" dirty="0"/>
              <a:t> </a:t>
            </a:r>
            <a:r>
              <a:rPr lang="es-AR" b="1" dirty="0">
                <a:sym typeface="Wingdings" pitchFamily="2" charset="2"/>
              </a:rPr>
              <a:t>Criterio 1.4.1 Uso del Color</a:t>
            </a:r>
            <a:r>
              <a:rPr lang="es-AR" dirty="0">
                <a:sym typeface="Wingdings" pitchFamily="2" charset="2"/>
              </a:rPr>
              <a:t>: El color no se usa como único medio visual para transmitir la información, indicar una acción, solicitar una respuesta o distinguir un elemento visual. [Nivel A]</a:t>
            </a:r>
          </a:p>
          <a:p>
            <a:pPr lvl="1"/>
            <a:endParaRPr lang="es-AR" dirty="0"/>
          </a:p>
          <a:p>
            <a:pPr lvl="2"/>
            <a:endParaRPr lang="es-AR" dirty="0"/>
          </a:p>
          <a:p>
            <a:pPr lvl="1"/>
            <a:endParaRPr lang="es-AR" dirty="0"/>
          </a:p>
          <a:p>
            <a:pPr marL="3657600" lvl="8" indent="0">
              <a:buNone/>
            </a:pPr>
            <a:r>
              <a:rPr lang="es-AR" dirty="0"/>
              <a:t>		</a:t>
            </a:r>
          </a:p>
        </p:txBody>
      </p:sp>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161</a:t>
            </a:fld>
            <a:endParaRPr lang="es-ES" altLang="es-AR"/>
          </a:p>
        </p:txBody>
      </p:sp>
    </p:spTree>
    <p:extLst>
      <p:ext uri="{BB962C8B-B14F-4D97-AF65-F5344CB8AC3E}">
        <p14:creationId xmlns:p14="http://schemas.microsoft.com/office/powerpoint/2010/main" val="2501807460"/>
      </p:ext>
    </p:extLst>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1 Título"/>
          <p:cNvSpPr>
            <a:spLocks noGrp="1"/>
          </p:cNvSpPr>
          <p:nvPr>
            <p:ph type="title"/>
          </p:nvPr>
        </p:nvSpPr>
        <p:spPr>
          <a:xfrm>
            <a:off x="457200" y="274638"/>
            <a:ext cx="8229600" cy="654050"/>
          </a:xfrm>
        </p:spPr>
        <p:txBody>
          <a:bodyPr/>
          <a:lstStyle/>
          <a:p>
            <a:r>
              <a:rPr lang="es-AR" altLang="es-AR" b="1" dirty="0"/>
              <a:t>Diseño accesible</a:t>
            </a:r>
          </a:p>
        </p:txBody>
      </p:sp>
      <p:sp>
        <p:nvSpPr>
          <p:cNvPr id="57347" name="2 Marcador de contenido"/>
          <p:cNvSpPr>
            <a:spLocks noGrp="1"/>
          </p:cNvSpPr>
          <p:nvPr>
            <p:ph idx="1"/>
          </p:nvPr>
        </p:nvSpPr>
        <p:spPr>
          <a:xfrm>
            <a:off x="457200" y="1412777"/>
            <a:ext cx="8229600" cy="2160240"/>
          </a:xfrm>
        </p:spPr>
        <p:txBody>
          <a:bodyPr/>
          <a:lstStyle/>
          <a:p>
            <a:r>
              <a:rPr lang="es-AR" dirty="0"/>
              <a:t>Color </a:t>
            </a:r>
          </a:p>
          <a:p>
            <a:endParaRPr lang="es-AR" dirty="0"/>
          </a:p>
          <a:p>
            <a:pPr lvl="1"/>
            <a:r>
              <a:rPr lang="es-AR" dirty="0"/>
              <a:t>Mecanismos para lograr que los colores de fondo y primer plano puedan ser elegidos por el usuario.</a:t>
            </a:r>
          </a:p>
          <a:p>
            <a:pPr lvl="1"/>
            <a:r>
              <a:rPr lang="es-AR" dirty="0"/>
              <a:t>Los navegadores web permiten cambiar los colores de fondo y primer plano:</a:t>
            </a:r>
          </a:p>
          <a:p>
            <a:pPr lvl="1"/>
            <a:endParaRPr lang="es-AR" dirty="0"/>
          </a:p>
          <a:p>
            <a:pPr lvl="2"/>
            <a:endParaRPr lang="es-AR" dirty="0"/>
          </a:p>
          <a:p>
            <a:pPr lvl="1"/>
            <a:endParaRPr lang="es-AR" dirty="0"/>
          </a:p>
          <a:p>
            <a:pPr marL="3657600" lvl="8" indent="0">
              <a:buNone/>
            </a:pPr>
            <a:r>
              <a:rPr lang="es-AR" dirty="0"/>
              <a:t>		</a:t>
            </a:r>
          </a:p>
        </p:txBody>
      </p:sp>
      <p:pic>
        <p:nvPicPr>
          <p:cNvPr id="4" name="Picture 2"/>
          <p:cNvPicPr>
            <a:picLocks noChangeAspect="1" noChangeArrowheads="1"/>
          </p:cNvPicPr>
          <p:nvPr/>
        </p:nvPicPr>
        <p:blipFill>
          <a:blip r:embed="rId3" cstate="print"/>
          <a:srcRect r="64100" b="45098"/>
          <a:stretch>
            <a:fillRect/>
          </a:stretch>
        </p:blipFill>
        <p:spPr bwMode="auto">
          <a:xfrm>
            <a:off x="620109" y="3573017"/>
            <a:ext cx="3147219" cy="2707341"/>
          </a:xfrm>
          <a:prstGeom prst="rect">
            <a:avLst/>
          </a:prstGeom>
          <a:noFill/>
          <a:ln w="9525">
            <a:noFill/>
            <a:miter lim="800000"/>
            <a:headEnd/>
            <a:tailEnd/>
          </a:ln>
          <a:effectLst/>
        </p:spPr>
      </p:pic>
      <p:pic>
        <p:nvPicPr>
          <p:cNvPr id="5" name="Picture 3"/>
          <p:cNvPicPr>
            <a:picLocks noChangeAspect="1" noChangeArrowheads="1"/>
          </p:cNvPicPr>
          <p:nvPr/>
        </p:nvPicPr>
        <p:blipFill>
          <a:blip r:embed="rId4" cstate="print"/>
          <a:srcRect r="36950" b="36622"/>
          <a:stretch>
            <a:fillRect/>
          </a:stretch>
        </p:blipFill>
        <p:spPr bwMode="auto">
          <a:xfrm>
            <a:off x="4067944" y="3579138"/>
            <a:ext cx="4919472" cy="2781589"/>
          </a:xfrm>
          <a:prstGeom prst="rect">
            <a:avLst/>
          </a:prstGeom>
          <a:noFill/>
          <a:ln w="9525">
            <a:noFill/>
            <a:miter lim="800000"/>
            <a:headEnd/>
            <a:tailEnd/>
          </a:ln>
          <a:effectLst/>
        </p:spPr>
      </p:pic>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162</a:t>
            </a:fld>
            <a:endParaRPr lang="es-ES" altLang="es-AR"/>
          </a:p>
        </p:txBody>
      </p:sp>
    </p:spTree>
    <p:extLst>
      <p:ext uri="{BB962C8B-B14F-4D97-AF65-F5344CB8AC3E}">
        <p14:creationId xmlns:p14="http://schemas.microsoft.com/office/powerpoint/2010/main" val="3459182624"/>
      </p:ext>
    </p:extLst>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1 Título"/>
          <p:cNvSpPr>
            <a:spLocks noGrp="1"/>
          </p:cNvSpPr>
          <p:nvPr>
            <p:ph type="title"/>
          </p:nvPr>
        </p:nvSpPr>
        <p:spPr>
          <a:xfrm>
            <a:off x="457200" y="274638"/>
            <a:ext cx="8229600" cy="654050"/>
          </a:xfrm>
        </p:spPr>
        <p:txBody>
          <a:bodyPr/>
          <a:lstStyle/>
          <a:p>
            <a:r>
              <a:rPr lang="es-AR" altLang="es-AR" b="1" dirty="0"/>
              <a:t>Diseño accesible</a:t>
            </a:r>
          </a:p>
        </p:txBody>
      </p:sp>
      <p:sp>
        <p:nvSpPr>
          <p:cNvPr id="57347" name="2 Marcador de contenido"/>
          <p:cNvSpPr>
            <a:spLocks noGrp="1"/>
          </p:cNvSpPr>
          <p:nvPr>
            <p:ph idx="1"/>
          </p:nvPr>
        </p:nvSpPr>
        <p:spPr>
          <a:xfrm>
            <a:off x="430213" y="1916113"/>
            <a:ext cx="8229600" cy="4537223"/>
          </a:xfrm>
        </p:spPr>
        <p:txBody>
          <a:bodyPr/>
          <a:lstStyle/>
          <a:p>
            <a:r>
              <a:rPr lang="es-AR" dirty="0"/>
              <a:t>Color </a:t>
            </a:r>
          </a:p>
          <a:p>
            <a:endParaRPr lang="es-AR" dirty="0"/>
          </a:p>
          <a:p>
            <a:pPr lvl="1"/>
            <a:r>
              <a:rPr lang="es-AR" dirty="0"/>
              <a:t>Esta función era interesante hace años, cuando el diseño de las páginas web era muy simple.</a:t>
            </a:r>
          </a:p>
          <a:p>
            <a:pPr lvl="1"/>
            <a:r>
              <a:rPr lang="es-AR" dirty="0"/>
              <a:t>Hoy en día no soluciona todas las situaciones problemáticas que pueden existir.</a:t>
            </a:r>
          </a:p>
          <a:p>
            <a:pPr lvl="1"/>
            <a:r>
              <a:rPr lang="es-AR" dirty="0"/>
              <a:t>Lo más adecuado es que el desarrollador de un sitio web proporcione algún mecanismo para lograr  que los colores de fondo y primer plano puedan ser elegidos por el usuario.</a:t>
            </a:r>
          </a:p>
          <a:p>
            <a:pPr lvl="1"/>
            <a:r>
              <a:rPr lang="es-AR" dirty="0"/>
              <a:t>Esto se logra con el empleo de CSS (Técnica C15)</a:t>
            </a:r>
          </a:p>
          <a:p>
            <a:pPr lvl="1"/>
            <a:endParaRPr lang="es-AR" dirty="0"/>
          </a:p>
          <a:p>
            <a:pPr marL="3657600" lvl="8" indent="0">
              <a:buNone/>
            </a:pPr>
            <a:r>
              <a:rPr lang="es-AR" dirty="0"/>
              <a:t>		</a:t>
            </a:r>
          </a:p>
        </p:txBody>
      </p:sp>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163</a:t>
            </a:fld>
            <a:endParaRPr lang="es-ES" altLang="es-AR"/>
          </a:p>
        </p:txBody>
      </p:sp>
    </p:spTree>
    <p:extLst>
      <p:ext uri="{BB962C8B-B14F-4D97-AF65-F5344CB8AC3E}">
        <p14:creationId xmlns:p14="http://schemas.microsoft.com/office/powerpoint/2010/main" val="2963750195"/>
      </p:ext>
    </p:extLst>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1 Título"/>
          <p:cNvSpPr>
            <a:spLocks noGrp="1"/>
          </p:cNvSpPr>
          <p:nvPr>
            <p:ph type="title"/>
          </p:nvPr>
        </p:nvSpPr>
        <p:spPr>
          <a:xfrm>
            <a:off x="457200" y="274638"/>
            <a:ext cx="8229600" cy="654050"/>
          </a:xfrm>
        </p:spPr>
        <p:txBody>
          <a:bodyPr/>
          <a:lstStyle/>
          <a:p>
            <a:r>
              <a:rPr lang="es-AR" altLang="es-AR" b="1" dirty="0"/>
              <a:t>Diseño accesible</a:t>
            </a:r>
          </a:p>
        </p:txBody>
      </p:sp>
      <p:pic>
        <p:nvPicPr>
          <p:cNvPr id="4" name="Picture 2"/>
          <p:cNvPicPr>
            <a:picLocks noChangeAspect="1" noChangeArrowheads="1"/>
          </p:cNvPicPr>
          <p:nvPr/>
        </p:nvPicPr>
        <p:blipFill>
          <a:blip r:embed="rId3" cstate="print"/>
          <a:srcRect t="-44" b="2323"/>
          <a:stretch>
            <a:fillRect/>
          </a:stretch>
        </p:blipFill>
        <p:spPr bwMode="auto">
          <a:xfrm>
            <a:off x="611559" y="2078266"/>
            <a:ext cx="8303125" cy="4564110"/>
          </a:xfrm>
          <a:prstGeom prst="rect">
            <a:avLst/>
          </a:prstGeom>
          <a:noFill/>
          <a:ln w="9525">
            <a:noFill/>
            <a:miter lim="800000"/>
            <a:headEnd/>
            <a:tailEnd/>
          </a:ln>
          <a:effectLst/>
        </p:spPr>
      </p:pic>
      <p:sp>
        <p:nvSpPr>
          <p:cNvPr id="5" name="4 CuadroTexto"/>
          <p:cNvSpPr txBox="1"/>
          <p:nvPr/>
        </p:nvSpPr>
        <p:spPr>
          <a:xfrm>
            <a:off x="611559" y="1370380"/>
            <a:ext cx="6996583" cy="707886"/>
          </a:xfrm>
          <a:prstGeom prst="rect">
            <a:avLst/>
          </a:prstGeom>
          <a:noFill/>
        </p:spPr>
        <p:txBody>
          <a:bodyPr wrap="square" rtlCol="0">
            <a:spAutoFit/>
          </a:bodyPr>
          <a:lstStyle/>
          <a:p>
            <a:r>
              <a:rPr lang="es-AR" sz="2000" dirty="0"/>
              <a:t>Cada usuario elija la mejor combinación de colores que se adecue a sus necesidades.</a:t>
            </a:r>
          </a:p>
        </p:txBody>
      </p:sp>
      <p:cxnSp>
        <p:nvCxnSpPr>
          <p:cNvPr id="6" name="6 Conector recto de flecha"/>
          <p:cNvCxnSpPr/>
          <p:nvPr/>
        </p:nvCxnSpPr>
        <p:spPr>
          <a:xfrm>
            <a:off x="3739088" y="1916832"/>
            <a:ext cx="40824" cy="603126"/>
          </a:xfrm>
          <a:prstGeom prst="straightConnector1">
            <a:avLst/>
          </a:prstGeom>
          <a:ln w="25400">
            <a:tailEnd type="arrow"/>
          </a:ln>
        </p:spPr>
        <p:style>
          <a:lnRef idx="1">
            <a:schemeClr val="accent1"/>
          </a:lnRef>
          <a:fillRef idx="0">
            <a:schemeClr val="accent1"/>
          </a:fillRef>
          <a:effectRef idx="0">
            <a:schemeClr val="accent1"/>
          </a:effectRef>
          <a:fontRef idx="minor">
            <a:schemeClr val="tx1"/>
          </a:fontRef>
        </p:style>
      </p:cxnSp>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164</a:t>
            </a:fld>
            <a:endParaRPr lang="es-ES" altLang="es-AR"/>
          </a:p>
        </p:txBody>
      </p:sp>
    </p:spTree>
    <p:extLst>
      <p:ext uri="{BB962C8B-B14F-4D97-AF65-F5344CB8AC3E}">
        <p14:creationId xmlns:p14="http://schemas.microsoft.com/office/powerpoint/2010/main" val="502966963"/>
      </p:ext>
    </p:extLst>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1 Título"/>
          <p:cNvSpPr>
            <a:spLocks noGrp="1"/>
          </p:cNvSpPr>
          <p:nvPr>
            <p:ph type="title"/>
          </p:nvPr>
        </p:nvSpPr>
        <p:spPr>
          <a:xfrm>
            <a:off x="457200" y="274638"/>
            <a:ext cx="8229600" cy="654050"/>
          </a:xfrm>
        </p:spPr>
        <p:txBody>
          <a:bodyPr/>
          <a:lstStyle/>
          <a:p>
            <a:r>
              <a:rPr lang="es-AR" altLang="es-AR" b="1"/>
              <a:t>Organización</a:t>
            </a:r>
          </a:p>
        </p:txBody>
      </p:sp>
      <p:sp>
        <p:nvSpPr>
          <p:cNvPr id="35843" name="2 Marcador de contenido"/>
          <p:cNvSpPr>
            <a:spLocks noGrp="1"/>
          </p:cNvSpPr>
          <p:nvPr>
            <p:ph idx="1"/>
          </p:nvPr>
        </p:nvSpPr>
        <p:spPr/>
        <p:txBody>
          <a:bodyPr/>
          <a:lstStyle/>
          <a:p>
            <a:r>
              <a:rPr lang="es-AR" altLang="es-AR" dirty="0"/>
              <a:t>Introducción.</a:t>
            </a:r>
          </a:p>
          <a:p>
            <a:r>
              <a:rPr lang="es-AR" altLang="es-AR" dirty="0"/>
              <a:t>¿Qué es la accesibilidad web?</a:t>
            </a:r>
          </a:p>
          <a:p>
            <a:r>
              <a:rPr lang="es-AR" altLang="es-AR" dirty="0"/>
              <a:t>Pautas y leyes.</a:t>
            </a:r>
          </a:p>
          <a:p>
            <a:r>
              <a:rPr lang="es-AR" altLang="es-AR" dirty="0"/>
              <a:t>Contenido accesible.</a:t>
            </a:r>
          </a:p>
          <a:p>
            <a:r>
              <a:rPr lang="es-AR" altLang="es-AR" dirty="0"/>
              <a:t>Navegación accesible.</a:t>
            </a:r>
          </a:p>
          <a:p>
            <a:r>
              <a:rPr lang="es-AR" altLang="es-AR" dirty="0"/>
              <a:t>Diseño accesible.</a:t>
            </a:r>
          </a:p>
          <a:p>
            <a:r>
              <a:rPr lang="es-AR" altLang="es-AR" b="1" dirty="0">
                <a:solidFill>
                  <a:srgbClr val="0070C0"/>
                </a:solidFill>
              </a:rPr>
              <a:t>Análisis y evaluación de la accesibilidad web.</a:t>
            </a:r>
          </a:p>
          <a:p>
            <a:r>
              <a:rPr lang="es-AR" altLang="es-AR" dirty="0"/>
              <a:t>Conclusiones.</a:t>
            </a:r>
          </a:p>
        </p:txBody>
      </p:sp>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165</a:t>
            </a:fld>
            <a:endParaRPr lang="es-ES" altLang="es-AR"/>
          </a:p>
        </p:txBody>
      </p:sp>
    </p:spTree>
    <p:extLst>
      <p:ext uri="{BB962C8B-B14F-4D97-AF65-F5344CB8AC3E}">
        <p14:creationId xmlns:p14="http://schemas.microsoft.com/office/powerpoint/2010/main" val="505288311"/>
      </p:ext>
    </p:extLst>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1 Título"/>
          <p:cNvSpPr>
            <a:spLocks noGrp="1"/>
          </p:cNvSpPr>
          <p:nvPr>
            <p:ph type="title"/>
          </p:nvPr>
        </p:nvSpPr>
        <p:spPr>
          <a:xfrm>
            <a:off x="457200" y="274638"/>
            <a:ext cx="8229600" cy="654050"/>
          </a:xfrm>
        </p:spPr>
        <p:txBody>
          <a:bodyPr/>
          <a:lstStyle/>
          <a:p>
            <a:r>
              <a:rPr lang="es-AR" altLang="es-AR" b="1" dirty="0"/>
              <a:t>Análisis y evaluación de AW</a:t>
            </a:r>
          </a:p>
        </p:txBody>
      </p:sp>
      <p:sp>
        <p:nvSpPr>
          <p:cNvPr id="57347" name="2 Marcador de contenido"/>
          <p:cNvSpPr>
            <a:spLocks noGrp="1"/>
          </p:cNvSpPr>
          <p:nvPr>
            <p:ph idx="1"/>
          </p:nvPr>
        </p:nvSpPr>
        <p:spPr>
          <a:xfrm>
            <a:off x="430213" y="1916113"/>
            <a:ext cx="8229600" cy="4537223"/>
          </a:xfrm>
        </p:spPr>
        <p:txBody>
          <a:bodyPr/>
          <a:lstStyle/>
          <a:p>
            <a:r>
              <a:rPr lang="es-AR" dirty="0"/>
              <a:t>Metodología de evaluación: WCAG-EM</a:t>
            </a:r>
          </a:p>
          <a:p>
            <a:endParaRPr lang="es-AR" dirty="0"/>
          </a:p>
          <a:p>
            <a:pPr lvl="1"/>
            <a:r>
              <a:rPr lang="es-AR" dirty="0"/>
              <a:t>Pretende proporcionar  una metodología armonizada internacionalmente para la evaluación de todo tipo de sitios web de acuerdo con las WCAG 2.0.</a:t>
            </a:r>
          </a:p>
          <a:p>
            <a:pPr lvl="1"/>
            <a:endParaRPr lang="es-AR" dirty="0"/>
          </a:p>
          <a:p>
            <a:pPr lvl="1"/>
            <a:r>
              <a:rPr lang="es-AR" dirty="0"/>
              <a:t>Describe el procedimiento para guiar a los evaluadores y promover buenas prácticas.</a:t>
            </a:r>
          </a:p>
          <a:p>
            <a:pPr lvl="1"/>
            <a:endParaRPr lang="es-AR" dirty="0"/>
          </a:p>
          <a:p>
            <a:pPr lvl="1"/>
            <a:r>
              <a:rPr lang="es-AR" dirty="0"/>
              <a:t>El evaluador debe tener conocimientos de: </a:t>
            </a:r>
          </a:p>
          <a:p>
            <a:pPr lvl="2"/>
            <a:r>
              <a:rPr lang="es-AR" dirty="0"/>
              <a:t> WCAG 2.0, </a:t>
            </a:r>
          </a:p>
          <a:p>
            <a:pPr lvl="2"/>
            <a:r>
              <a:rPr lang="es-AR" dirty="0"/>
              <a:t> diseño accesible, y</a:t>
            </a:r>
          </a:p>
          <a:p>
            <a:pPr lvl="2"/>
            <a:r>
              <a:rPr lang="es-AR" dirty="0"/>
              <a:t> cómo las personas usan la Web. </a:t>
            </a:r>
          </a:p>
          <a:p>
            <a:pPr lvl="1"/>
            <a:endParaRPr lang="es-AR" dirty="0"/>
          </a:p>
          <a:p>
            <a:pPr marL="3657600" lvl="8" indent="0">
              <a:buNone/>
            </a:pPr>
            <a:r>
              <a:rPr lang="es-AR" dirty="0"/>
              <a:t>		</a:t>
            </a:r>
          </a:p>
        </p:txBody>
      </p:sp>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166</a:t>
            </a:fld>
            <a:endParaRPr lang="es-ES" altLang="es-AR"/>
          </a:p>
        </p:txBody>
      </p:sp>
    </p:spTree>
    <p:extLst>
      <p:ext uri="{BB962C8B-B14F-4D97-AF65-F5344CB8AC3E}">
        <p14:creationId xmlns:p14="http://schemas.microsoft.com/office/powerpoint/2010/main" val="1341344404"/>
      </p:ext>
    </p:extLst>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1 Título"/>
          <p:cNvSpPr>
            <a:spLocks noGrp="1"/>
          </p:cNvSpPr>
          <p:nvPr>
            <p:ph type="title"/>
          </p:nvPr>
        </p:nvSpPr>
        <p:spPr>
          <a:xfrm>
            <a:off x="457200" y="274638"/>
            <a:ext cx="8229600" cy="654050"/>
          </a:xfrm>
        </p:spPr>
        <p:txBody>
          <a:bodyPr/>
          <a:lstStyle/>
          <a:p>
            <a:r>
              <a:rPr lang="es-AR" altLang="es-AR" b="1" dirty="0"/>
              <a:t>Análisis y evaluación de AW</a:t>
            </a:r>
          </a:p>
        </p:txBody>
      </p:sp>
      <p:sp>
        <p:nvSpPr>
          <p:cNvPr id="57347" name="2 Marcador de contenido"/>
          <p:cNvSpPr>
            <a:spLocks noGrp="1"/>
          </p:cNvSpPr>
          <p:nvPr>
            <p:ph idx="1"/>
          </p:nvPr>
        </p:nvSpPr>
        <p:spPr>
          <a:xfrm>
            <a:off x="430213" y="1916113"/>
            <a:ext cx="8229600" cy="4537223"/>
          </a:xfrm>
        </p:spPr>
        <p:txBody>
          <a:bodyPr/>
          <a:lstStyle/>
          <a:p>
            <a:pPr algn="just"/>
            <a:r>
              <a:rPr lang="es-AR" dirty="0"/>
              <a:t>Metodología de evaluación: WCAG-EM</a:t>
            </a:r>
          </a:p>
          <a:p>
            <a:pPr algn="just"/>
            <a:endParaRPr lang="es-AR" dirty="0"/>
          </a:p>
          <a:p>
            <a:pPr lvl="1" algn="just"/>
            <a:r>
              <a:rPr lang="es-AR" dirty="0"/>
              <a:t>Pasos del procedimiento de evaluación:</a:t>
            </a:r>
          </a:p>
          <a:p>
            <a:pPr lvl="1" algn="just"/>
            <a:endParaRPr lang="es-AR" dirty="0"/>
          </a:p>
          <a:p>
            <a:pPr marL="914400" lvl="2" indent="0" algn="just">
              <a:buNone/>
            </a:pPr>
            <a:r>
              <a:rPr lang="es-AR" dirty="0"/>
              <a:t> 1.  Definir el alcance de la evaluación.</a:t>
            </a:r>
          </a:p>
          <a:p>
            <a:pPr marL="914400" lvl="2" indent="0" algn="just">
              <a:buNone/>
            </a:pPr>
            <a:r>
              <a:rPr lang="es-AR" dirty="0"/>
              <a:t> 2.  Explorar el sitio web.</a:t>
            </a:r>
          </a:p>
          <a:p>
            <a:pPr marL="914400" lvl="2" indent="0" algn="just">
              <a:buNone/>
            </a:pPr>
            <a:r>
              <a:rPr lang="es-AR" dirty="0"/>
              <a:t> 3.  Seleccionar una muestra representativa.</a:t>
            </a:r>
          </a:p>
          <a:p>
            <a:pPr marL="914400" lvl="2" indent="0" algn="just">
              <a:buNone/>
            </a:pPr>
            <a:r>
              <a:rPr lang="es-AR" dirty="0"/>
              <a:t> 4.  Auditar la muestra seleccionada.</a:t>
            </a:r>
          </a:p>
          <a:p>
            <a:pPr marL="914400" lvl="2" indent="0" algn="just">
              <a:buNone/>
            </a:pPr>
            <a:r>
              <a:rPr lang="es-AR" dirty="0"/>
              <a:t> 5.  Registrar los resultados de la evaluación. </a:t>
            </a:r>
          </a:p>
          <a:p>
            <a:pPr lvl="2" algn="just"/>
            <a:endParaRPr lang="es-AR" dirty="0"/>
          </a:p>
          <a:p>
            <a:pPr lvl="1"/>
            <a:endParaRPr lang="es-AR" dirty="0"/>
          </a:p>
          <a:p>
            <a:pPr marL="3657600" lvl="8" indent="0">
              <a:buNone/>
            </a:pPr>
            <a:r>
              <a:rPr lang="es-AR" dirty="0"/>
              <a:t>		</a:t>
            </a:r>
          </a:p>
        </p:txBody>
      </p:sp>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167</a:t>
            </a:fld>
            <a:endParaRPr lang="es-ES" altLang="es-AR"/>
          </a:p>
        </p:txBody>
      </p:sp>
    </p:spTree>
    <p:extLst>
      <p:ext uri="{BB962C8B-B14F-4D97-AF65-F5344CB8AC3E}">
        <p14:creationId xmlns:p14="http://schemas.microsoft.com/office/powerpoint/2010/main" val="2969968049"/>
      </p:ext>
    </p:extLst>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1 Título"/>
          <p:cNvSpPr>
            <a:spLocks noGrp="1"/>
          </p:cNvSpPr>
          <p:nvPr>
            <p:ph type="title"/>
          </p:nvPr>
        </p:nvSpPr>
        <p:spPr>
          <a:xfrm>
            <a:off x="457200" y="274638"/>
            <a:ext cx="8229600" cy="654050"/>
          </a:xfrm>
        </p:spPr>
        <p:txBody>
          <a:bodyPr/>
          <a:lstStyle/>
          <a:p>
            <a:r>
              <a:rPr lang="es-AR" altLang="es-AR" b="1" dirty="0"/>
              <a:t>Análisis y evaluación de AW</a:t>
            </a:r>
          </a:p>
        </p:txBody>
      </p:sp>
      <p:sp>
        <p:nvSpPr>
          <p:cNvPr id="57347" name="2 Marcador de contenido"/>
          <p:cNvSpPr>
            <a:spLocks noGrp="1"/>
          </p:cNvSpPr>
          <p:nvPr>
            <p:ph idx="1"/>
          </p:nvPr>
        </p:nvSpPr>
        <p:spPr>
          <a:xfrm>
            <a:off x="430213" y="1916113"/>
            <a:ext cx="8229600" cy="4537223"/>
          </a:xfrm>
        </p:spPr>
        <p:txBody>
          <a:bodyPr/>
          <a:lstStyle/>
          <a:p>
            <a:pPr algn="just"/>
            <a:r>
              <a:rPr lang="es-AR" dirty="0"/>
              <a:t>Metodología de evaluación: WCAG-EM</a:t>
            </a:r>
          </a:p>
          <a:p>
            <a:pPr algn="just"/>
            <a:endParaRPr lang="es-AR" dirty="0"/>
          </a:p>
          <a:p>
            <a:pPr lvl="1" algn="just"/>
            <a:r>
              <a:rPr lang="es-AR" dirty="0"/>
              <a:t>Pasos del procedimiento de evaluación:</a:t>
            </a:r>
          </a:p>
          <a:p>
            <a:pPr lvl="1" algn="just"/>
            <a:endParaRPr lang="es-AR" dirty="0"/>
          </a:p>
          <a:p>
            <a:pPr marL="914400" lvl="2" indent="0" algn="just">
              <a:buNone/>
            </a:pPr>
            <a:r>
              <a:rPr lang="es-AR" b="1" dirty="0">
                <a:solidFill>
                  <a:srgbClr val="0070C0"/>
                </a:solidFill>
              </a:rPr>
              <a:t> 1.  Definir el alcance de la evaluación.</a:t>
            </a:r>
          </a:p>
          <a:p>
            <a:pPr marL="914400" lvl="2" indent="0" algn="just">
              <a:buNone/>
            </a:pPr>
            <a:r>
              <a:rPr lang="es-AR" dirty="0"/>
              <a:t> 2.  Explorar el sitio web.</a:t>
            </a:r>
          </a:p>
          <a:p>
            <a:pPr marL="914400" lvl="2" indent="0" algn="just">
              <a:buNone/>
            </a:pPr>
            <a:r>
              <a:rPr lang="es-AR" dirty="0"/>
              <a:t> 3.  Seleccionar una muestra representativa.</a:t>
            </a:r>
          </a:p>
          <a:p>
            <a:pPr marL="914400" lvl="2" indent="0" algn="just">
              <a:buNone/>
            </a:pPr>
            <a:r>
              <a:rPr lang="es-AR" dirty="0"/>
              <a:t> 4.  Auditar la muestra seleccionada.</a:t>
            </a:r>
          </a:p>
          <a:p>
            <a:pPr marL="914400" lvl="2" indent="0" algn="just">
              <a:buNone/>
            </a:pPr>
            <a:r>
              <a:rPr lang="es-AR" dirty="0"/>
              <a:t> 5.  Registrar los resultados de la evaluación. </a:t>
            </a:r>
          </a:p>
          <a:p>
            <a:pPr lvl="2" algn="just"/>
            <a:endParaRPr lang="es-AR" dirty="0"/>
          </a:p>
          <a:p>
            <a:pPr lvl="1"/>
            <a:endParaRPr lang="es-AR" dirty="0"/>
          </a:p>
          <a:p>
            <a:pPr marL="3657600" lvl="8" indent="0">
              <a:buNone/>
            </a:pPr>
            <a:r>
              <a:rPr lang="es-AR" dirty="0"/>
              <a:t>		</a:t>
            </a:r>
          </a:p>
        </p:txBody>
      </p:sp>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168</a:t>
            </a:fld>
            <a:endParaRPr lang="es-ES" altLang="es-AR"/>
          </a:p>
        </p:txBody>
      </p:sp>
    </p:spTree>
    <p:extLst>
      <p:ext uri="{BB962C8B-B14F-4D97-AF65-F5344CB8AC3E}">
        <p14:creationId xmlns:p14="http://schemas.microsoft.com/office/powerpoint/2010/main" val="2641441148"/>
      </p:ext>
    </p:extLst>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1 Título"/>
          <p:cNvSpPr>
            <a:spLocks noGrp="1"/>
          </p:cNvSpPr>
          <p:nvPr>
            <p:ph type="title"/>
          </p:nvPr>
        </p:nvSpPr>
        <p:spPr>
          <a:xfrm>
            <a:off x="457200" y="274638"/>
            <a:ext cx="8229600" cy="654050"/>
          </a:xfrm>
        </p:spPr>
        <p:txBody>
          <a:bodyPr/>
          <a:lstStyle/>
          <a:p>
            <a:r>
              <a:rPr lang="es-AR" altLang="es-AR" b="1" dirty="0"/>
              <a:t>Análisis y evaluación de AW</a:t>
            </a:r>
          </a:p>
        </p:txBody>
      </p:sp>
      <p:sp>
        <p:nvSpPr>
          <p:cNvPr id="57347" name="2 Marcador de contenido"/>
          <p:cNvSpPr>
            <a:spLocks noGrp="1"/>
          </p:cNvSpPr>
          <p:nvPr>
            <p:ph idx="1"/>
          </p:nvPr>
        </p:nvSpPr>
        <p:spPr>
          <a:xfrm>
            <a:off x="430213" y="1916113"/>
            <a:ext cx="8229600" cy="4537223"/>
          </a:xfrm>
        </p:spPr>
        <p:txBody>
          <a:bodyPr/>
          <a:lstStyle/>
          <a:p>
            <a:pPr marL="457200" indent="-457200" algn="just">
              <a:buAutoNum type="arabicPeriod"/>
            </a:pPr>
            <a:r>
              <a:rPr lang="es-AR" dirty="0"/>
              <a:t>Definir el alcance de la evaluación:</a:t>
            </a:r>
          </a:p>
          <a:p>
            <a:pPr marL="0" indent="0" algn="just">
              <a:buNone/>
            </a:pPr>
            <a:endParaRPr lang="es-AR" dirty="0"/>
          </a:p>
          <a:p>
            <a:pPr marL="457200" lvl="1" indent="0" algn="just">
              <a:buNone/>
            </a:pPr>
            <a:r>
              <a:rPr lang="es-AR" dirty="0"/>
              <a:t>1a  Definir el alcance del sitio.</a:t>
            </a:r>
          </a:p>
          <a:p>
            <a:pPr marL="457200" lvl="1" indent="0" algn="just">
              <a:buNone/>
            </a:pPr>
            <a:endParaRPr lang="es-AR" dirty="0"/>
          </a:p>
          <a:p>
            <a:pPr marL="457200" lvl="1" indent="0">
              <a:buNone/>
            </a:pPr>
            <a:r>
              <a:rPr lang="es-AR" dirty="0"/>
              <a:t>1b  Definir cual es el nivel de adecuación (A, AA, AAA) que se va a evaluar.</a:t>
            </a:r>
          </a:p>
          <a:p>
            <a:pPr marL="457200" lvl="1" indent="0" algn="just">
              <a:buNone/>
            </a:pPr>
            <a:endParaRPr lang="es-AR" dirty="0"/>
          </a:p>
          <a:p>
            <a:pPr marL="457200" lvl="1" indent="0" algn="just">
              <a:buNone/>
            </a:pPr>
            <a:r>
              <a:rPr lang="es-AR" dirty="0"/>
              <a:t>1c  Definir el soporte de la accesibilidad.</a:t>
            </a:r>
          </a:p>
          <a:p>
            <a:pPr marL="457200" lvl="1" indent="0" algn="just">
              <a:buNone/>
            </a:pPr>
            <a:endParaRPr lang="es-AR" dirty="0"/>
          </a:p>
          <a:p>
            <a:pPr marL="457200" lvl="1" indent="0" algn="just">
              <a:buNone/>
            </a:pPr>
            <a:r>
              <a:rPr lang="es-AR" dirty="0"/>
              <a:t>1d (opcional) Definir los requisitos de evaluación adicionales.</a:t>
            </a:r>
          </a:p>
          <a:p>
            <a:pPr lvl="2" algn="just"/>
            <a:endParaRPr lang="es-AR" dirty="0"/>
          </a:p>
          <a:p>
            <a:pPr lvl="1"/>
            <a:endParaRPr lang="es-AR" dirty="0"/>
          </a:p>
          <a:p>
            <a:pPr marL="3657600" lvl="8" indent="0">
              <a:buNone/>
            </a:pPr>
            <a:r>
              <a:rPr lang="es-AR" dirty="0"/>
              <a:t>		</a:t>
            </a:r>
          </a:p>
        </p:txBody>
      </p:sp>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169</a:t>
            </a:fld>
            <a:endParaRPr lang="es-ES" altLang="es-AR"/>
          </a:p>
        </p:txBody>
      </p:sp>
    </p:spTree>
    <p:extLst>
      <p:ext uri="{BB962C8B-B14F-4D97-AF65-F5344CB8AC3E}">
        <p14:creationId xmlns:p14="http://schemas.microsoft.com/office/powerpoint/2010/main" val="924248017"/>
      </p:ext>
    </p:extLst>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1 Título"/>
          <p:cNvSpPr>
            <a:spLocks noGrp="1"/>
          </p:cNvSpPr>
          <p:nvPr>
            <p:ph type="title"/>
          </p:nvPr>
        </p:nvSpPr>
        <p:spPr>
          <a:xfrm>
            <a:off x="457200" y="274638"/>
            <a:ext cx="8229600" cy="654050"/>
          </a:xfrm>
        </p:spPr>
        <p:txBody>
          <a:bodyPr/>
          <a:lstStyle/>
          <a:p>
            <a:r>
              <a:rPr lang="es-AR" altLang="es-AR" b="1" dirty="0"/>
              <a:t>Análisis y evaluación de AW</a:t>
            </a:r>
          </a:p>
        </p:txBody>
      </p:sp>
      <p:sp>
        <p:nvSpPr>
          <p:cNvPr id="57347" name="2 Marcador de contenido"/>
          <p:cNvSpPr>
            <a:spLocks noGrp="1"/>
          </p:cNvSpPr>
          <p:nvPr>
            <p:ph idx="1"/>
          </p:nvPr>
        </p:nvSpPr>
        <p:spPr>
          <a:xfrm>
            <a:off x="430213" y="1916113"/>
            <a:ext cx="8229600" cy="4537223"/>
          </a:xfrm>
        </p:spPr>
        <p:txBody>
          <a:bodyPr/>
          <a:lstStyle/>
          <a:p>
            <a:pPr algn="just"/>
            <a:r>
              <a:rPr lang="es-AR" dirty="0"/>
              <a:t>Metodología de evaluación: WCAG-EM</a:t>
            </a:r>
          </a:p>
          <a:p>
            <a:pPr algn="just"/>
            <a:endParaRPr lang="es-AR" dirty="0"/>
          </a:p>
          <a:p>
            <a:pPr lvl="1" algn="just"/>
            <a:r>
              <a:rPr lang="es-AR" dirty="0"/>
              <a:t>Pasos del procedimiento de evaluación:</a:t>
            </a:r>
          </a:p>
          <a:p>
            <a:pPr lvl="1" algn="just"/>
            <a:endParaRPr lang="es-AR" dirty="0"/>
          </a:p>
          <a:p>
            <a:pPr marL="914400" lvl="2" indent="0" algn="just">
              <a:buNone/>
            </a:pPr>
            <a:r>
              <a:rPr lang="es-AR" dirty="0"/>
              <a:t> 1.  Definir el alcance de la evaluación.</a:t>
            </a:r>
          </a:p>
          <a:p>
            <a:pPr marL="914400" lvl="2" indent="0" algn="just">
              <a:buNone/>
            </a:pPr>
            <a:r>
              <a:rPr lang="es-AR" b="1" dirty="0">
                <a:solidFill>
                  <a:srgbClr val="0070C0"/>
                </a:solidFill>
              </a:rPr>
              <a:t> 2.  Explorar el sitio web.</a:t>
            </a:r>
          </a:p>
          <a:p>
            <a:pPr marL="914400" lvl="2" indent="0" algn="just">
              <a:buNone/>
            </a:pPr>
            <a:r>
              <a:rPr lang="es-AR" dirty="0"/>
              <a:t> 3.  Seleccionar una muestra representativa.</a:t>
            </a:r>
          </a:p>
          <a:p>
            <a:pPr marL="914400" lvl="2" indent="0">
              <a:buNone/>
            </a:pPr>
            <a:r>
              <a:rPr lang="es-AR" dirty="0"/>
              <a:t> 4.  Auditar la muestra seleccionada.</a:t>
            </a:r>
          </a:p>
          <a:p>
            <a:pPr marL="914400" lvl="2" indent="0" algn="just">
              <a:buNone/>
            </a:pPr>
            <a:r>
              <a:rPr lang="es-AR" dirty="0"/>
              <a:t> 5.  Registrar los resultados de la evaluación. </a:t>
            </a:r>
          </a:p>
          <a:p>
            <a:pPr lvl="2" algn="just"/>
            <a:endParaRPr lang="es-AR" dirty="0"/>
          </a:p>
          <a:p>
            <a:pPr lvl="1"/>
            <a:endParaRPr lang="es-AR" dirty="0"/>
          </a:p>
          <a:p>
            <a:pPr marL="3657600" lvl="8" indent="0">
              <a:buNone/>
            </a:pPr>
            <a:r>
              <a:rPr lang="es-AR" dirty="0"/>
              <a:t>		</a:t>
            </a:r>
          </a:p>
        </p:txBody>
      </p:sp>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170</a:t>
            </a:fld>
            <a:endParaRPr lang="es-ES" altLang="es-AR"/>
          </a:p>
        </p:txBody>
      </p:sp>
    </p:spTree>
    <p:extLst>
      <p:ext uri="{BB962C8B-B14F-4D97-AF65-F5344CB8AC3E}">
        <p14:creationId xmlns:p14="http://schemas.microsoft.com/office/powerpoint/2010/main" val="908333820"/>
      </p:ext>
    </p:extLst>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1 Título"/>
          <p:cNvSpPr>
            <a:spLocks noGrp="1"/>
          </p:cNvSpPr>
          <p:nvPr>
            <p:ph type="title"/>
          </p:nvPr>
        </p:nvSpPr>
        <p:spPr>
          <a:xfrm>
            <a:off x="457200" y="274638"/>
            <a:ext cx="8229600" cy="654050"/>
          </a:xfrm>
        </p:spPr>
        <p:txBody>
          <a:bodyPr/>
          <a:lstStyle/>
          <a:p>
            <a:r>
              <a:rPr lang="es-AR" altLang="es-AR" b="1" dirty="0"/>
              <a:t>Análisis y evaluación de AW</a:t>
            </a:r>
          </a:p>
        </p:txBody>
      </p:sp>
      <p:sp>
        <p:nvSpPr>
          <p:cNvPr id="57347" name="2 Marcador de contenido"/>
          <p:cNvSpPr>
            <a:spLocks noGrp="1"/>
          </p:cNvSpPr>
          <p:nvPr>
            <p:ph idx="1"/>
          </p:nvPr>
        </p:nvSpPr>
        <p:spPr>
          <a:xfrm>
            <a:off x="430213" y="1916113"/>
            <a:ext cx="8229600" cy="4537223"/>
          </a:xfrm>
        </p:spPr>
        <p:txBody>
          <a:bodyPr/>
          <a:lstStyle/>
          <a:p>
            <a:pPr marL="457200" indent="-457200">
              <a:buAutoNum type="arabicPeriod" startAt="2"/>
            </a:pPr>
            <a:r>
              <a:rPr lang="es-AR" dirty="0"/>
              <a:t>Explorar el sitio web:</a:t>
            </a:r>
          </a:p>
          <a:p>
            <a:pPr marL="0" indent="0">
              <a:buNone/>
            </a:pPr>
            <a:endParaRPr lang="es-AR" dirty="0"/>
          </a:p>
          <a:p>
            <a:pPr marL="457200" lvl="1" indent="0">
              <a:buNone/>
            </a:pPr>
            <a:r>
              <a:rPr lang="es-AR" dirty="0"/>
              <a:t>2a  Identificar las páginas  (o estados de las páginas) relevantes.</a:t>
            </a:r>
          </a:p>
          <a:p>
            <a:pPr marL="457200" lvl="1" indent="0">
              <a:buNone/>
            </a:pPr>
            <a:endParaRPr lang="es-AR" dirty="0"/>
          </a:p>
          <a:p>
            <a:pPr marL="457200" lvl="1" indent="0">
              <a:buNone/>
            </a:pPr>
            <a:r>
              <a:rPr lang="es-AR" dirty="0"/>
              <a:t>2b  Identificar las funcionalidades clave del sitio.</a:t>
            </a:r>
          </a:p>
          <a:p>
            <a:pPr marL="457200" lvl="1" indent="0">
              <a:buNone/>
            </a:pPr>
            <a:endParaRPr lang="es-AR" dirty="0"/>
          </a:p>
          <a:p>
            <a:pPr marL="457200" lvl="1" indent="0">
              <a:buNone/>
            </a:pPr>
            <a:r>
              <a:rPr lang="es-AR" dirty="0"/>
              <a:t>2c  Identificar los diferentes tipos de páginas y estados de página.</a:t>
            </a:r>
          </a:p>
          <a:p>
            <a:pPr marL="457200" lvl="1" indent="0">
              <a:buNone/>
            </a:pPr>
            <a:endParaRPr lang="es-AR" dirty="0"/>
          </a:p>
          <a:p>
            <a:pPr marL="457200" lvl="1" indent="0">
              <a:buNone/>
            </a:pPr>
            <a:r>
              <a:rPr lang="es-AR" dirty="0"/>
              <a:t>2d  Identificar las tecnologías de las que se dependen.</a:t>
            </a:r>
          </a:p>
          <a:p>
            <a:pPr marL="457200" lvl="1" indent="0">
              <a:buNone/>
            </a:pPr>
            <a:endParaRPr lang="es-AR" dirty="0"/>
          </a:p>
          <a:p>
            <a:pPr marL="457200" lvl="1" indent="0">
              <a:buNone/>
            </a:pPr>
            <a:r>
              <a:rPr lang="es-AR" dirty="0"/>
              <a:t>2e  Identificar otras páginas (o estados de páginas) relevantes.</a:t>
            </a:r>
          </a:p>
          <a:p>
            <a:pPr lvl="2" algn="just"/>
            <a:endParaRPr lang="es-AR" dirty="0"/>
          </a:p>
          <a:p>
            <a:pPr lvl="1"/>
            <a:endParaRPr lang="es-AR" dirty="0"/>
          </a:p>
          <a:p>
            <a:pPr marL="3657600" lvl="8" indent="0">
              <a:buNone/>
            </a:pPr>
            <a:r>
              <a:rPr lang="es-AR" dirty="0"/>
              <a:t>		</a:t>
            </a:r>
          </a:p>
        </p:txBody>
      </p:sp>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171</a:t>
            </a:fld>
            <a:endParaRPr lang="es-ES" altLang="es-AR"/>
          </a:p>
        </p:txBody>
      </p:sp>
    </p:spTree>
    <p:extLst>
      <p:ext uri="{BB962C8B-B14F-4D97-AF65-F5344CB8AC3E}">
        <p14:creationId xmlns:p14="http://schemas.microsoft.com/office/powerpoint/2010/main" val="4201045082"/>
      </p:ext>
    </p:extLst>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1 Título"/>
          <p:cNvSpPr>
            <a:spLocks noGrp="1"/>
          </p:cNvSpPr>
          <p:nvPr>
            <p:ph type="title"/>
          </p:nvPr>
        </p:nvSpPr>
        <p:spPr>
          <a:xfrm>
            <a:off x="457200" y="274638"/>
            <a:ext cx="8229600" cy="654050"/>
          </a:xfrm>
        </p:spPr>
        <p:txBody>
          <a:bodyPr/>
          <a:lstStyle/>
          <a:p>
            <a:r>
              <a:rPr lang="es-AR" altLang="es-AR" b="1" dirty="0"/>
              <a:t>Análisis y evaluación de AW</a:t>
            </a:r>
          </a:p>
        </p:txBody>
      </p:sp>
      <p:sp>
        <p:nvSpPr>
          <p:cNvPr id="57347" name="2 Marcador de contenido"/>
          <p:cNvSpPr>
            <a:spLocks noGrp="1"/>
          </p:cNvSpPr>
          <p:nvPr>
            <p:ph idx="1"/>
          </p:nvPr>
        </p:nvSpPr>
        <p:spPr>
          <a:xfrm>
            <a:off x="430213" y="1916113"/>
            <a:ext cx="8229600" cy="4537223"/>
          </a:xfrm>
        </p:spPr>
        <p:txBody>
          <a:bodyPr/>
          <a:lstStyle/>
          <a:p>
            <a:pPr algn="just"/>
            <a:r>
              <a:rPr lang="es-AR" dirty="0"/>
              <a:t>Metodología de evaluación: WCAG-EM</a:t>
            </a:r>
          </a:p>
          <a:p>
            <a:pPr algn="just"/>
            <a:endParaRPr lang="es-AR" dirty="0"/>
          </a:p>
          <a:p>
            <a:pPr lvl="1" algn="just"/>
            <a:r>
              <a:rPr lang="es-AR" dirty="0"/>
              <a:t>Pasos del procedimiento de evaluación:</a:t>
            </a:r>
          </a:p>
          <a:p>
            <a:pPr lvl="1" algn="just"/>
            <a:endParaRPr lang="es-AR" dirty="0"/>
          </a:p>
          <a:p>
            <a:pPr marL="914400" lvl="2" indent="0" algn="just">
              <a:buNone/>
            </a:pPr>
            <a:r>
              <a:rPr lang="es-AR" dirty="0"/>
              <a:t> 1.  Definir el alcance de la evaluación.</a:t>
            </a:r>
          </a:p>
          <a:p>
            <a:pPr marL="914400" lvl="2" indent="0" algn="just">
              <a:buNone/>
            </a:pPr>
            <a:r>
              <a:rPr lang="es-AR" dirty="0"/>
              <a:t> 2.  Explorar el sitio web.</a:t>
            </a:r>
          </a:p>
          <a:p>
            <a:pPr marL="914400" lvl="2" indent="0" algn="just">
              <a:buNone/>
            </a:pPr>
            <a:r>
              <a:rPr lang="es-AR" b="1" dirty="0">
                <a:solidFill>
                  <a:srgbClr val="0070C0"/>
                </a:solidFill>
              </a:rPr>
              <a:t> 3.  Seleccionar una muestra representativa.</a:t>
            </a:r>
          </a:p>
          <a:p>
            <a:pPr marL="914400" lvl="2" indent="0" algn="just">
              <a:buNone/>
            </a:pPr>
            <a:r>
              <a:rPr lang="es-AR" dirty="0"/>
              <a:t> 4.  Auditar la muestra seleccionada.</a:t>
            </a:r>
          </a:p>
          <a:p>
            <a:pPr marL="914400" lvl="2" indent="0" algn="just">
              <a:buNone/>
            </a:pPr>
            <a:r>
              <a:rPr lang="es-AR" dirty="0"/>
              <a:t> 5.  Registrar los resultados de la evaluación. </a:t>
            </a:r>
          </a:p>
          <a:p>
            <a:pPr lvl="2" algn="just"/>
            <a:endParaRPr lang="es-AR" dirty="0"/>
          </a:p>
          <a:p>
            <a:pPr lvl="1"/>
            <a:endParaRPr lang="es-AR" dirty="0"/>
          </a:p>
          <a:p>
            <a:pPr marL="3657600" lvl="8" indent="0">
              <a:buNone/>
            </a:pPr>
            <a:r>
              <a:rPr lang="es-AR" dirty="0"/>
              <a:t>		</a:t>
            </a:r>
          </a:p>
        </p:txBody>
      </p:sp>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172</a:t>
            </a:fld>
            <a:endParaRPr lang="es-ES" altLang="es-AR"/>
          </a:p>
        </p:txBody>
      </p:sp>
    </p:spTree>
    <p:extLst>
      <p:ext uri="{BB962C8B-B14F-4D97-AF65-F5344CB8AC3E}">
        <p14:creationId xmlns:p14="http://schemas.microsoft.com/office/powerpoint/2010/main" val="2842994913"/>
      </p:ext>
    </p:extLst>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1 Título"/>
          <p:cNvSpPr>
            <a:spLocks noGrp="1"/>
          </p:cNvSpPr>
          <p:nvPr>
            <p:ph type="title"/>
          </p:nvPr>
        </p:nvSpPr>
        <p:spPr>
          <a:xfrm>
            <a:off x="457200" y="274638"/>
            <a:ext cx="8229600" cy="654050"/>
          </a:xfrm>
        </p:spPr>
        <p:txBody>
          <a:bodyPr/>
          <a:lstStyle/>
          <a:p>
            <a:r>
              <a:rPr lang="es-AR" altLang="es-AR" b="1" dirty="0"/>
              <a:t>Análisis y evaluación de AW</a:t>
            </a:r>
          </a:p>
        </p:txBody>
      </p:sp>
      <p:sp>
        <p:nvSpPr>
          <p:cNvPr id="57347" name="2 Marcador de contenido"/>
          <p:cNvSpPr>
            <a:spLocks noGrp="1"/>
          </p:cNvSpPr>
          <p:nvPr>
            <p:ph idx="1"/>
          </p:nvPr>
        </p:nvSpPr>
        <p:spPr>
          <a:xfrm>
            <a:off x="430213" y="1916113"/>
            <a:ext cx="8229600" cy="4537223"/>
          </a:xfrm>
        </p:spPr>
        <p:txBody>
          <a:bodyPr/>
          <a:lstStyle/>
          <a:p>
            <a:pPr marL="457200" indent="-457200">
              <a:buAutoNum type="arabicPeriod" startAt="3"/>
            </a:pPr>
            <a:r>
              <a:rPr lang="es-AR" dirty="0"/>
              <a:t>Seleccionar una muestra representativa:</a:t>
            </a:r>
          </a:p>
          <a:p>
            <a:pPr marL="0" indent="0">
              <a:buNone/>
            </a:pPr>
            <a:endParaRPr lang="es-AR" dirty="0"/>
          </a:p>
          <a:p>
            <a:pPr marL="457200" lvl="1" indent="0">
              <a:buNone/>
            </a:pPr>
            <a:r>
              <a:rPr lang="es-AR" dirty="0"/>
              <a:t>3a Incluir una muestra estructurada.</a:t>
            </a:r>
          </a:p>
          <a:p>
            <a:pPr marL="457200" lvl="1" indent="0">
              <a:buNone/>
            </a:pPr>
            <a:endParaRPr lang="es-AR" dirty="0"/>
          </a:p>
          <a:p>
            <a:pPr marL="457200" lvl="1" indent="0">
              <a:buNone/>
            </a:pPr>
            <a:r>
              <a:rPr lang="es-AR" dirty="0"/>
              <a:t>3b Incluir una muestra al azar.</a:t>
            </a:r>
          </a:p>
          <a:p>
            <a:pPr marL="457200" lvl="1" indent="0">
              <a:buNone/>
            </a:pPr>
            <a:endParaRPr lang="es-AR" dirty="0"/>
          </a:p>
          <a:p>
            <a:pPr marL="457200" lvl="1" indent="0">
              <a:buNone/>
            </a:pPr>
            <a:r>
              <a:rPr lang="es-AR" dirty="0"/>
              <a:t>3c Incluir en la muestra procesos completos.</a:t>
            </a:r>
          </a:p>
          <a:p>
            <a:pPr lvl="2" algn="just"/>
            <a:endParaRPr lang="es-AR" dirty="0"/>
          </a:p>
          <a:p>
            <a:pPr lvl="1"/>
            <a:endParaRPr lang="es-AR" dirty="0"/>
          </a:p>
          <a:p>
            <a:pPr marL="3657600" lvl="8" indent="0">
              <a:buNone/>
            </a:pPr>
            <a:r>
              <a:rPr lang="es-AR" dirty="0"/>
              <a:t>		</a:t>
            </a:r>
          </a:p>
        </p:txBody>
      </p:sp>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173</a:t>
            </a:fld>
            <a:endParaRPr lang="es-ES" altLang="es-AR"/>
          </a:p>
        </p:txBody>
      </p:sp>
    </p:spTree>
    <p:extLst>
      <p:ext uri="{BB962C8B-B14F-4D97-AF65-F5344CB8AC3E}">
        <p14:creationId xmlns:p14="http://schemas.microsoft.com/office/powerpoint/2010/main" val="2526405432"/>
      </p:ext>
    </p:extLst>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1 Título"/>
          <p:cNvSpPr>
            <a:spLocks noGrp="1"/>
          </p:cNvSpPr>
          <p:nvPr>
            <p:ph type="title"/>
          </p:nvPr>
        </p:nvSpPr>
        <p:spPr>
          <a:xfrm>
            <a:off x="457200" y="274638"/>
            <a:ext cx="8229600" cy="654050"/>
          </a:xfrm>
        </p:spPr>
        <p:txBody>
          <a:bodyPr/>
          <a:lstStyle/>
          <a:p>
            <a:r>
              <a:rPr lang="es-AR" altLang="es-AR" b="1" dirty="0"/>
              <a:t>Análisis y evaluación de AW</a:t>
            </a:r>
          </a:p>
        </p:txBody>
      </p:sp>
      <p:sp>
        <p:nvSpPr>
          <p:cNvPr id="57347" name="2 Marcador de contenido"/>
          <p:cNvSpPr>
            <a:spLocks noGrp="1"/>
          </p:cNvSpPr>
          <p:nvPr>
            <p:ph idx="1"/>
          </p:nvPr>
        </p:nvSpPr>
        <p:spPr>
          <a:xfrm>
            <a:off x="430213" y="1916113"/>
            <a:ext cx="8229600" cy="4537223"/>
          </a:xfrm>
        </p:spPr>
        <p:txBody>
          <a:bodyPr/>
          <a:lstStyle/>
          <a:p>
            <a:pPr algn="just"/>
            <a:r>
              <a:rPr lang="es-AR" dirty="0"/>
              <a:t>Metodología de evaluación: WCAG-EM</a:t>
            </a:r>
          </a:p>
          <a:p>
            <a:pPr algn="just"/>
            <a:endParaRPr lang="es-AR" dirty="0"/>
          </a:p>
          <a:p>
            <a:pPr lvl="1" algn="just"/>
            <a:r>
              <a:rPr lang="es-AR" dirty="0"/>
              <a:t>Pasos del procedimiento de evaluación:</a:t>
            </a:r>
          </a:p>
          <a:p>
            <a:pPr lvl="1" algn="just"/>
            <a:endParaRPr lang="es-AR" dirty="0"/>
          </a:p>
          <a:p>
            <a:pPr marL="914400" lvl="2" indent="0" algn="just">
              <a:buNone/>
            </a:pPr>
            <a:r>
              <a:rPr lang="es-AR" dirty="0"/>
              <a:t> 1.  Definir el alcance de la evaluación.</a:t>
            </a:r>
          </a:p>
          <a:p>
            <a:pPr marL="914400" lvl="2" indent="0" algn="just">
              <a:buNone/>
            </a:pPr>
            <a:r>
              <a:rPr lang="es-AR" dirty="0"/>
              <a:t> 2.  Explorar el sitio web.</a:t>
            </a:r>
          </a:p>
          <a:p>
            <a:pPr marL="914400" lvl="2" indent="0" algn="just">
              <a:buNone/>
            </a:pPr>
            <a:r>
              <a:rPr lang="es-AR" dirty="0"/>
              <a:t> 3.  Seleccionar una muestra representativa.</a:t>
            </a:r>
          </a:p>
          <a:p>
            <a:pPr marL="914400" lvl="2" indent="0" algn="just">
              <a:buNone/>
            </a:pPr>
            <a:r>
              <a:rPr lang="es-AR" b="1" dirty="0">
                <a:solidFill>
                  <a:srgbClr val="0070C0"/>
                </a:solidFill>
              </a:rPr>
              <a:t> 4.  Auditar la muestra seleccionada.</a:t>
            </a:r>
          </a:p>
          <a:p>
            <a:pPr marL="914400" lvl="2" indent="0" algn="just">
              <a:buNone/>
            </a:pPr>
            <a:r>
              <a:rPr lang="es-AR" dirty="0"/>
              <a:t> 5.  Registrar los resultados de la evaluación. </a:t>
            </a:r>
          </a:p>
          <a:p>
            <a:pPr lvl="2" algn="just"/>
            <a:endParaRPr lang="es-AR" dirty="0"/>
          </a:p>
          <a:p>
            <a:pPr lvl="1"/>
            <a:endParaRPr lang="es-AR" dirty="0"/>
          </a:p>
          <a:p>
            <a:pPr marL="3657600" lvl="8" indent="0">
              <a:buNone/>
            </a:pPr>
            <a:r>
              <a:rPr lang="es-AR" dirty="0"/>
              <a:t>		</a:t>
            </a:r>
          </a:p>
        </p:txBody>
      </p:sp>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174</a:t>
            </a:fld>
            <a:endParaRPr lang="es-ES" altLang="es-AR"/>
          </a:p>
        </p:txBody>
      </p:sp>
    </p:spTree>
    <p:extLst>
      <p:ext uri="{BB962C8B-B14F-4D97-AF65-F5344CB8AC3E}">
        <p14:creationId xmlns:p14="http://schemas.microsoft.com/office/powerpoint/2010/main" val="2642261877"/>
      </p:ext>
    </p:extLst>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1 Título"/>
          <p:cNvSpPr>
            <a:spLocks noGrp="1"/>
          </p:cNvSpPr>
          <p:nvPr>
            <p:ph type="title"/>
          </p:nvPr>
        </p:nvSpPr>
        <p:spPr>
          <a:xfrm>
            <a:off x="457200" y="274638"/>
            <a:ext cx="8229600" cy="654050"/>
          </a:xfrm>
        </p:spPr>
        <p:txBody>
          <a:bodyPr/>
          <a:lstStyle/>
          <a:p>
            <a:r>
              <a:rPr lang="es-AR" altLang="es-AR" b="1" dirty="0"/>
              <a:t>Análisis y evaluación de AW</a:t>
            </a:r>
          </a:p>
        </p:txBody>
      </p:sp>
      <p:sp>
        <p:nvSpPr>
          <p:cNvPr id="57347" name="2 Marcador de contenido"/>
          <p:cNvSpPr>
            <a:spLocks noGrp="1"/>
          </p:cNvSpPr>
          <p:nvPr>
            <p:ph idx="1"/>
          </p:nvPr>
        </p:nvSpPr>
        <p:spPr>
          <a:xfrm>
            <a:off x="430213" y="1916113"/>
            <a:ext cx="8229600" cy="4537223"/>
          </a:xfrm>
        </p:spPr>
        <p:txBody>
          <a:bodyPr/>
          <a:lstStyle/>
          <a:p>
            <a:pPr marL="457200" indent="-457200">
              <a:buAutoNum type="arabicPeriod" startAt="4"/>
            </a:pPr>
            <a:r>
              <a:rPr lang="es-AR" dirty="0"/>
              <a:t>Auditar la muestra seleccionada:</a:t>
            </a:r>
          </a:p>
          <a:p>
            <a:pPr marL="0" indent="0">
              <a:buNone/>
            </a:pPr>
            <a:endParaRPr lang="es-AR" dirty="0"/>
          </a:p>
          <a:p>
            <a:pPr marL="457200" lvl="1" indent="0">
              <a:buNone/>
            </a:pPr>
            <a:r>
              <a:rPr lang="es-AR" dirty="0"/>
              <a:t>4a Revisar todas las páginas iniciales.</a:t>
            </a:r>
          </a:p>
          <a:p>
            <a:pPr marL="457200" lvl="1" indent="0">
              <a:buNone/>
            </a:pPr>
            <a:endParaRPr lang="es-AR" dirty="0"/>
          </a:p>
          <a:p>
            <a:pPr marL="457200" lvl="1" indent="0">
              <a:buNone/>
            </a:pPr>
            <a:r>
              <a:rPr lang="es-AR" dirty="0"/>
              <a:t>4b Evaluar todos los procesos completos.</a:t>
            </a:r>
          </a:p>
          <a:p>
            <a:pPr marL="457200" lvl="1" indent="0">
              <a:buNone/>
            </a:pPr>
            <a:endParaRPr lang="es-AR" dirty="0"/>
          </a:p>
          <a:p>
            <a:pPr marL="457200" lvl="1" indent="0">
              <a:buNone/>
            </a:pPr>
            <a:r>
              <a:rPr lang="es-AR" dirty="0"/>
              <a:t>4c Comparar las páginas de la muestra que se seleccionaron de forma estructurada con las páginas de la muestra que se seleccionaron aleatoriamente.</a:t>
            </a:r>
          </a:p>
          <a:p>
            <a:pPr marL="914400" lvl="2" indent="0" algn="just">
              <a:buNone/>
            </a:pPr>
            <a:r>
              <a:rPr lang="es-AR" dirty="0"/>
              <a:t>. </a:t>
            </a:r>
          </a:p>
          <a:p>
            <a:pPr lvl="2" algn="just"/>
            <a:endParaRPr lang="es-AR" dirty="0"/>
          </a:p>
          <a:p>
            <a:pPr lvl="1"/>
            <a:endParaRPr lang="es-AR" dirty="0"/>
          </a:p>
          <a:p>
            <a:pPr marL="3657600" lvl="8" indent="0">
              <a:buNone/>
            </a:pPr>
            <a:r>
              <a:rPr lang="es-AR" dirty="0"/>
              <a:t>		</a:t>
            </a:r>
          </a:p>
        </p:txBody>
      </p:sp>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175</a:t>
            </a:fld>
            <a:endParaRPr lang="es-ES" altLang="es-AR"/>
          </a:p>
        </p:txBody>
      </p:sp>
    </p:spTree>
    <p:extLst>
      <p:ext uri="{BB962C8B-B14F-4D97-AF65-F5344CB8AC3E}">
        <p14:creationId xmlns:p14="http://schemas.microsoft.com/office/powerpoint/2010/main" val="4081786935"/>
      </p:ext>
    </p:extLst>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1 Título"/>
          <p:cNvSpPr>
            <a:spLocks noGrp="1"/>
          </p:cNvSpPr>
          <p:nvPr>
            <p:ph type="title"/>
          </p:nvPr>
        </p:nvSpPr>
        <p:spPr>
          <a:xfrm>
            <a:off x="457200" y="274638"/>
            <a:ext cx="8229600" cy="654050"/>
          </a:xfrm>
        </p:spPr>
        <p:txBody>
          <a:bodyPr/>
          <a:lstStyle/>
          <a:p>
            <a:r>
              <a:rPr lang="es-AR" altLang="es-AR" b="1" dirty="0"/>
              <a:t>Análisis y evaluación de AW</a:t>
            </a:r>
          </a:p>
        </p:txBody>
      </p:sp>
      <p:sp>
        <p:nvSpPr>
          <p:cNvPr id="57347" name="2 Marcador de contenido"/>
          <p:cNvSpPr>
            <a:spLocks noGrp="1"/>
          </p:cNvSpPr>
          <p:nvPr>
            <p:ph idx="1"/>
          </p:nvPr>
        </p:nvSpPr>
        <p:spPr>
          <a:xfrm>
            <a:off x="430213" y="1916113"/>
            <a:ext cx="8229600" cy="4537223"/>
          </a:xfrm>
        </p:spPr>
        <p:txBody>
          <a:bodyPr/>
          <a:lstStyle/>
          <a:p>
            <a:pPr algn="just"/>
            <a:r>
              <a:rPr lang="es-AR" dirty="0"/>
              <a:t>Metodología de evaluación: WCAG-EM</a:t>
            </a:r>
          </a:p>
          <a:p>
            <a:pPr algn="just"/>
            <a:endParaRPr lang="es-AR" dirty="0"/>
          </a:p>
          <a:p>
            <a:pPr lvl="1" algn="just"/>
            <a:r>
              <a:rPr lang="es-AR" dirty="0"/>
              <a:t>Pasos del procedimiento de evaluación:</a:t>
            </a:r>
          </a:p>
          <a:p>
            <a:pPr lvl="1" algn="just"/>
            <a:endParaRPr lang="es-AR" dirty="0"/>
          </a:p>
          <a:p>
            <a:pPr marL="914400" lvl="2" indent="0" algn="just">
              <a:buNone/>
            </a:pPr>
            <a:r>
              <a:rPr lang="es-AR" dirty="0"/>
              <a:t> 1.  Definir el alcance de la evaluación.</a:t>
            </a:r>
          </a:p>
          <a:p>
            <a:pPr marL="914400" lvl="2" indent="0" algn="just">
              <a:buNone/>
            </a:pPr>
            <a:r>
              <a:rPr lang="es-AR" dirty="0"/>
              <a:t> 2.  Explorar el sitio web.</a:t>
            </a:r>
          </a:p>
          <a:p>
            <a:pPr marL="914400" lvl="2" indent="0" algn="just">
              <a:buNone/>
            </a:pPr>
            <a:r>
              <a:rPr lang="es-AR" dirty="0"/>
              <a:t> 3.  Seleccionar una muestra representativa.</a:t>
            </a:r>
          </a:p>
          <a:p>
            <a:pPr marL="914400" lvl="2" indent="0" algn="just">
              <a:buNone/>
            </a:pPr>
            <a:r>
              <a:rPr lang="es-AR" dirty="0"/>
              <a:t> 4.  Auditar la muestra seleccionada.</a:t>
            </a:r>
          </a:p>
          <a:p>
            <a:pPr marL="914400" lvl="2" indent="0" algn="just">
              <a:buNone/>
            </a:pPr>
            <a:r>
              <a:rPr lang="es-AR" dirty="0"/>
              <a:t> </a:t>
            </a:r>
            <a:r>
              <a:rPr lang="es-AR" b="1" dirty="0">
                <a:solidFill>
                  <a:srgbClr val="0070C0"/>
                </a:solidFill>
              </a:rPr>
              <a:t>5.  Registrar los resultados de la evaluación. </a:t>
            </a:r>
          </a:p>
          <a:p>
            <a:pPr lvl="2" algn="just"/>
            <a:endParaRPr lang="es-AR" dirty="0"/>
          </a:p>
          <a:p>
            <a:pPr lvl="1"/>
            <a:endParaRPr lang="es-AR" dirty="0"/>
          </a:p>
          <a:p>
            <a:pPr marL="3657600" lvl="8" indent="0">
              <a:buNone/>
            </a:pPr>
            <a:r>
              <a:rPr lang="es-AR" dirty="0"/>
              <a:t>		</a:t>
            </a:r>
          </a:p>
        </p:txBody>
      </p:sp>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176</a:t>
            </a:fld>
            <a:endParaRPr lang="es-ES" altLang="es-AR"/>
          </a:p>
        </p:txBody>
      </p:sp>
    </p:spTree>
    <p:extLst>
      <p:ext uri="{BB962C8B-B14F-4D97-AF65-F5344CB8AC3E}">
        <p14:creationId xmlns:p14="http://schemas.microsoft.com/office/powerpoint/2010/main" val="168996316"/>
      </p:ext>
    </p:extLst>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1 Título"/>
          <p:cNvSpPr>
            <a:spLocks noGrp="1"/>
          </p:cNvSpPr>
          <p:nvPr>
            <p:ph type="title"/>
          </p:nvPr>
        </p:nvSpPr>
        <p:spPr>
          <a:xfrm>
            <a:off x="457200" y="274638"/>
            <a:ext cx="8229600" cy="654050"/>
          </a:xfrm>
        </p:spPr>
        <p:txBody>
          <a:bodyPr/>
          <a:lstStyle/>
          <a:p>
            <a:r>
              <a:rPr lang="es-AR" altLang="es-AR" b="1" dirty="0"/>
              <a:t>Análisis y evaluación de AW</a:t>
            </a:r>
          </a:p>
        </p:txBody>
      </p:sp>
      <p:sp>
        <p:nvSpPr>
          <p:cNvPr id="57347" name="2 Marcador de contenido"/>
          <p:cNvSpPr>
            <a:spLocks noGrp="1"/>
          </p:cNvSpPr>
          <p:nvPr>
            <p:ph idx="1"/>
          </p:nvPr>
        </p:nvSpPr>
        <p:spPr>
          <a:xfrm>
            <a:off x="430213" y="1916113"/>
            <a:ext cx="8229600" cy="4537223"/>
          </a:xfrm>
        </p:spPr>
        <p:txBody>
          <a:bodyPr/>
          <a:lstStyle/>
          <a:p>
            <a:pPr marL="457200" indent="-457200">
              <a:buAutoNum type="arabicPeriod" startAt="5"/>
            </a:pPr>
            <a:r>
              <a:rPr lang="es-AR" dirty="0"/>
              <a:t>Registrar los resultados de la evaluación:</a:t>
            </a:r>
          </a:p>
          <a:p>
            <a:pPr marL="0" indent="0">
              <a:buNone/>
            </a:pPr>
            <a:endParaRPr lang="es-AR" dirty="0"/>
          </a:p>
          <a:p>
            <a:pPr marL="457200" lvl="1" indent="0">
              <a:buNone/>
            </a:pPr>
            <a:r>
              <a:rPr lang="es-AR" dirty="0"/>
              <a:t>5a Proporcionar documentación para cada paso.</a:t>
            </a:r>
          </a:p>
          <a:p>
            <a:pPr marL="457200" lvl="1" indent="0">
              <a:buNone/>
            </a:pPr>
            <a:endParaRPr lang="es-AR" dirty="0"/>
          </a:p>
          <a:p>
            <a:pPr marL="457200" lvl="1" indent="0">
              <a:buNone/>
            </a:pPr>
            <a:r>
              <a:rPr lang="es-AR" dirty="0"/>
              <a:t>5b (opcional) Registrar los detalles específicos de la evaluación.</a:t>
            </a:r>
          </a:p>
          <a:p>
            <a:pPr marL="457200" lvl="1" indent="0">
              <a:buNone/>
            </a:pPr>
            <a:endParaRPr lang="es-AR" dirty="0"/>
          </a:p>
          <a:p>
            <a:pPr marL="457200" lvl="1" indent="0">
              <a:buNone/>
            </a:pPr>
            <a:r>
              <a:rPr lang="es-AR" dirty="0"/>
              <a:t>5c (opcional) Proporcionar una declaración.</a:t>
            </a:r>
          </a:p>
          <a:p>
            <a:pPr marL="457200" lvl="1" indent="0">
              <a:buNone/>
            </a:pPr>
            <a:endParaRPr lang="es-AR" dirty="0"/>
          </a:p>
          <a:p>
            <a:pPr marL="457200" lvl="1" indent="0">
              <a:buNone/>
            </a:pPr>
            <a:r>
              <a:rPr lang="es-AR" dirty="0"/>
              <a:t>5d (opcional) Proporcionar una puntuación.</a:t>
            </a:r>
          </a:p>
          <a:p>
            <a:pPr lvl="2" algn="just"/>
            <a:endParaRPr lang="es-AR" dirty="0"/>
          </a:p>
          <a:p>
            <a:pPr lvl="1"/>
            <a:endParaRPr lang="es-AR" dirty="0"/>
          </a:p>
          <a:p>
            <a:pPr marL="3657600" lvl="8" indent="0">
              <a:buNone/>
            </a:pPr>
            <a:r>
              <a:rPr lang="es-AR" dirty="0"/>
              <a:t>		</a:t>
            </a:r>
          </a:p>
        </p:txBody>
      </p:sp>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177</a:t>
            </a:fld>
            <a:endParaRPr lang="es-ES" altLang="es-AR"/>
          </a:p>
        </p:txBody>
      </p:sp>
    </p:spTree>
    <p:extLst>
      <p:ext uri="{BB962C8B-B14F-4D97-AF65-F5344CB8AC3E}">
        <p14:creationId xmlns:p14="http://schemas.microsoft.com/office/powerpoint/2010/main" val="3894864872"/>
      </p:ext>
    </p:extLst>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1 Título"/>
          <p:cNvSpPr>
            <a:spLocks noGrp="1"/>
          </p:cNvSpPr>
          <p:nvPr>
            <p:ph type="title"/>
          </p:nvPr>
        </p:nvSpPr>
        <p:spPr>
          <a:xfrm>
            <a:off x="457200" y="274638"/>
            <a:ext cx="8229600" cy="654050"/>
          </a:xfrm>
        </p:spPr>
        <p:txBody>
          <a:bodyPr/>
          <a:lstStyle/>
          <a:p>
            <a:r>
              <a:rPr lang="es-AR" altLang="es-AR" b="1" dirty="0"/>
              <a:t>Análisis y evaluación de AW</a:t>
            </a:r>
          </a:p>
        </p:txBody>
      </p:sp>
      <p:sp>
        <p:nvSpPr>
          <p:cNvPr id="57347" name="2 Marcador de contenido"/>
          <p:cNvSpPr>
            <a:spLocks noGrp="1"/>
          </p:cNvSpPr>
          <p:nvPr>
            <p:ph idx="1"/>
          </p:nvPr>
        </p:nvSpPr>
        <p:spPr>
          <a:xfrm>
            <a:off x="430213" y="1916113"/>
            <a:ext cx="8229600" cy="4537223"/>
          </a:xfrm>
        </p:spPr>
        <p:txBody>
          <a:bodyPr/>
          <a:lstStyle/>
          <a:p>
            <a:r>
              <a:rPr lang="es-AR" dirty="0"/>
              <a:t>Herramientas de evaluación automática:</a:t>
            </a:r>
          </a:p>
          <a:p>
            <a:pPr marL="0" indent="0">
              <a:buNone/>
            </a:pPr>
            <a:endParaRPr lang="es-AR" dirty="0"/>
          </a:p>
          <a:p>
            <a:pPr lvl="1"/>
            <a:r>
              <a:rPr lang="es-AR" dirty="0"/>
              <a:t> Son muy útiles para facilitar nuestro trabajo.</a:t>
            </a:r>
          </a:p>
          <a:p>
            <a:pPr lvl="1"/>
            <a:endParaRPr lang="es-AR" dirty="0"/>
          </a:p>
          <a:p>
            <a:pPr lvl="1"/>
            <a:r>
              <a:rPr lang="es-AR" dirty="0"/>
              <a:t> Nunca sustituyen a una evaluación manual realizada por un experto.</a:t>
            </a:r>
          </a:p>
          <a:p>
            <a:pPr lvl="1"/>
            <a:endParaRPr lang="es-AR" dirty="0"/>
          </a:p>
          <a:p>
            <a:pPr lvl="1"/>
            <a:r>
              <a:rPr lang="es-AR" dirty="0"/>
              <a:t> A continuación se enumeran algunas herramientas gratuitas de evaluación automática que pueden a ayudar a revisar un sitio web.</a:t>
            </a:r>
          </a:p>
          <a:p>
            <a:pPr algn="just"/>
            <a:endParaRPr lang="es-AR" dirty="0"/>
          </a:p>
          <a:p>
            <a:pPr lvl="1"/>
            <a:endParaRPr lang="es-AR" dirty="0"/>
          </a:p>
          <a:p>
            <a:pPr marL="3657600" lvl="8" indent="0">
              <a:buNone/>
            </a:pPr>
            <a:r>
              <a:rPr lang="es-AR" dirty="0"/>
              <a:t>		</a:t>
            </a:r>
          </a:p>
        </p:txBody>
      </p:sp>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178</a:t>
            </a:fld>
            <a:endParaRPr lang="es-ES" altLang="es-AR"/>
          </a:p>
        </p:txBody>
      </p:sp>
    </p:spTree>
    <p:extLst>
      <p:ext uri="{BB962C8B-B14F-4D97-AF65-F5344CB8AC3E}">
        <p14:creationId xmlns:p14="http://schemas.microsoft.com/office/powerpoint/2010/main" val="1999921323"/>
      </p:ext>
    </p:extLst>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1 Título"/>
          <p:cNvSpPr>
            <a:spLocks noGrp="1"/>
          </p:cNvSpPr>
          <p:nvPr>
            <p:ph type="title"/>
          </p:nvPr>
        </p:nvSpPr>
        <p:spPr>
          <a:xfrm>
            <a:off x="457200" y="274638"/>
            <a:ext cx="8229600" cy="654050"/>
          </a:xfrm>
        </p:spPr>
        <p:txBody>
          <a:bodyPr/>
          <a:lstStyle/>
          <a:p>
            <a:r>
              <a:rPr lang="es-AR" altLang="es-AR" b="1" dirty="0"/>
              <a:t>Análisis y evaluación de AW</a:t>
            </a:r>
          </a:p>
        </p:txBody>
      </p:sp>
      <p:sp>
        <p:nvSpPr>
          <p:cNvPr id="57347" name="2 Marcador de contenido"/>
          <p:cNvSpPr>
            <a:spLocks noGrp="1"/>
          </p:cNvSpPr>
          <p:nvPr>
            <p:ph idx="1"/>
          </p:nvPr>
        </p:nvSpPr>
        <p:spPr>
          <a:xfrm>
            <a:off x="430213" y="1916113"/>
            <a:ext cx="8229600" cy="4537223"/>
          </a:xfrm>
        </p:spPr>
        <p:txBody>
          <a:bodyPr/>
          <a:lstStyle/>
          <a:p>
            <a:r>
              <a:rPr lang="es-AR" dirty="0"/>
              <a:t>Herramientas de evaluación automática:</a:t>
            </a:r>
          </a:p>
          <a:p>
            <a:pPr marL="0" indent="0">
              <a:buNone/>
            </a:pPr>
            <a:endParaRPr lang="es-AR" dirty="0"/>
          </a:p>
          <a:p>
            <a:pPr lvl="1"/>
            <a:r>
              <a:rPr lang="es-AR" dirty="0"/>
              <a:t>Validadores de código HTML/CSS.</a:t>
            </a:r>
          </a:p>
          <a:p>
            <a:pPr lvl="1"/>
            <a:r>
              <a:rPr lang="es-AR" dirty="0"/>
              <a:t>Validadores de accesibilidad (WCAG 2.0).</a:t>
            </a:r>
          </a:p>
          <a:p>
            <a:pPr lvl="1"/>
            <a:r>
              <a:rPr lang="es-AR" dirty="0"/>
              <a:t>Extensiones para los navegadores.</a:t>
            </a:r>
          </a:p>
          <a:p>
            <a:pPr lvl="1"/>
            <a:r>
              <a:rPr lang="es-AR" dirty="0"/>
              <a:t>Contraste de color.</a:t>
            </a:r>
          </a:p>
          <a:p>
            <a:pPr algn="just"/>
            <a:endParaRPr lang="es-AR" dirty="0"/>
          </a:p>
          <a:p>
            <a:pPr lvl="1"/>
            <a:endParaRPr lang="es-AR" dirty="0"/>
          </a:p>
          <a:p>
            <a:pPr marL="3657600" lvl="8" indent="0">
              <a:buNone/>
            </a:pPr>
            <a:r>
              <a:rPr lang="es-AR" dirty="0"/>
              <a:t>		</a:t>
            </a:r>
          </a:p>
        </p:txBody>
      </p:sp>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179</a:t>
            </a:fld>
            <a:endParaRPr lang="es-ES" altLang="es-AR"/>
          </a:p>
        </p:txBody>
      </p:sp>
    </p:spTree>
    <p:extLst>
      <p:ext uri="{BB962C8B-B14F-4D97-AF65-F5344CB8AC3E}">
        <p14:creationId xmlns:p14="http://schemas.microsoft.com/office/powerpoint/2010/main" val="3974267413"/>
      </p:ext>
    </p:extLst>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1 Título"/>
          <p:cNvSpPr>
            <a:spLocks noGrp="1"/>
          </p:cNvSpPr>
          <p:nvPr>
            <p:ph type="title"/>
          </p:nvPr>
        </p:nvSpPr>
        <p:spPr>
          <a:xfrm>
            <a:off x="457200" y="274638"/>
            <a:ext cx="8229600" cy="654050"/>
          </a:xfrm>
        </p:spPr>
        <p:txBody>
          <a:bodyPr/>
          <a:lstStyle/>
          <a:p>
            <a:r>
              <a:rPr lang="es-AR" altLang="es-AR" b="1" dirty="0"/>
              <a:t>Análisis y evaluación de AW</a:t>
            </a:r>
          </a:p>
        </p:txBody>
      </p:sp>
      <p:sp>
        <p:nvSpPr>
          <p:cNvPr id="57347" name="2 Marcador de contenido"/>
          <p:cNvSpPr>
            <a:spLocks noGrp="1"/>
          </p:cNvSpPr>
          <p:nvPr>
            <p:ph idx="1"/>
          </p:nvPr>
        </p:nvSpPr>
        <p:spPr>
          <a:xfrm>
            <a:off x="430213" y="1916113"/>
            <a:ext cx="8229600" cy="4537223"/>
          </a:xfrm>
        </p:spPr>
        <p:txBody>
          <a:bodyPr/>
          <a:lstStyle/>
          <a:p>
            <a:r>
              <a:rPr lang="es-AR" dirty="0"/>
              <a:t>Herramientas de evaluación automática:</a:t>
            </a:r>
          </a:p>
          <a:p>
            <a:pPr marL="0" indent="0">
              <a:buNone/>
            </a:pPr>
            <a:endParaRPr lang="es-AR" dirty="0"/>
          </a:p>
          <a:p>
            <a:pPr lvl="1"/>
            <a:r>
              <a:rPr lang="es-AR" b="1" dirty="0">
                <a:solidFill>
                  <a:srgbClr val="0070C0"/>
                </a:solidFill>
              </a:rPr>
              <a:t>Validadores de código HTML/CSS.</a:t>
            </a:r>
          </a:p>
          <a:p>
            <a:pPr lvl="1"/>
            <a:r>
              <a:rPr lang="es-AR" dirty="0"/>
              <a:t>Validadores de accesibilidad (WCAG 2.0).</a:t>
            </a:r>
          </a:p>
          <a:p>
            <a:pPr lvl="1"/>
            <a:r>
              <a:rPr lang="es-AR" dirty="0"/>
              <a:t>Extensiones para los navegadores.</a:t>
            </a:r>
          </a:p>
          <a:p>
            <a:pPr lvl="1"/>
            <a:r>
              <a:rPr lang="es-AR" dirty="0"/>
              <a:t>Contraste de color.</a:t>
            </a:r>
          </a:p>
          <a:p>
            <a:pPr algn="just"/>
            <a:endParaRPr lang="es-AR" dirty="0"/>
          </a:p>
          <a:p>
            <a:pPr lvl="1"/>
            <a:endParaRPr lang="es-AR" dirty="0"/>
          </a:p>
          <a:p>
            <a:pPr marL="3657600" lvl="8" indent="0">
              <a:buNone/>
            </a:pPr>
            <a:r>
              <a:rPr lang="es-AR" dirty="0"/>
              <a:t>		</a:t>
            </a:r>
          </a:p>
        </p:txBody>
      </p:sp>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180</a:t>
            </a:fld>
            <a:endParaRPr lang="es-ES" altLang="es-AR"/>
          </a:p>
        </p:txBody>
      </p:sp>
    </p:spTree>
    <p:extLst>
      <p:ext uri="{BB962C8B-B14F-4D97-AF65-F5344CB8AC3E}">
        <p14:creationId xmlns:p14="http://schemas.microsoft.com/office/powerpoint/2010/main" val="825683388"/>
      </p:ext>
    </p:extLst>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1 Título"/>
          <p:cNvSpPr>
            <a:spLocks noGrp="1"/>
          </p:cNvSpPr>
          <p:nvPr>
            <p:ph type="title"/>
          </p:nvPr>
        </p:nvSpPr>
        <p:spPr>
          <a:xfrm>
            <a:off x="457200" y="274638"/>
            <a:ext cx="8229600" cy="654050"/>
          </a:xfrm>
        </p:spPr>
        <p:txBody>
          <a:bodyPr/>
          <a:lstStyle/>
          <a:p>
            <a:r>
              <a:rPr lang="es-AR" altLang="es-AR" b="1" dirty="0"/>
              <a:t>Análisis y evaluación de AW</a:t>
            </a:r>
          </a:p>
        </p:txBody>
      </p:sp>
      <p:sp>
        <p:nvSpPr>
          <p:cNvPr id="57347" name="2 Marcador de contenido"/>
          <p:cNvSpPr>
            <a:spLocks noGrp="1"/>
          </p:cNvSpPr>
          <p:nvPr>
            <p:ph idx="1"/>
          </p:nvPr>
        </p:nvSpPr>
        <p:spPr>
          <a:xfrm>
            <a:off x="430213" y="1916113"/>
            <a:ext cx="8229600" cy="4537223"/>
          </a:xfrm>
        </p:spPr>
        <p:txBody>
          <a:bodyPr/>
          <a:lstStyle/>
          <a:p>
            <a:r>
              <a:rPr lang="es-AR" dirty="0"/>
              <a:t>Validadores de código HTML/CSS</a:t>
            </a:r>
          </a:p>
          <a:p>
            <a:endParaRPr lang="es-AR" dirty="0"/>
          </a:p>
          <a:p>
            <a:pPr lvl="1"/>
            <a:r>
              <a:rPr lang="es-AR" dirty="0"/>
              <a:t> </a:t>
            </a:r>
            <a:r>
              <a:rPr lang="es-AR" b="1" dirty="0"/>
              <a:t>W3C </a:t>
            </a:r>
            <a:r>
              <a:rPr lang="es-AR" b="1" dirty="0" err="1"/>
              <a:t>Unicorn</a:t>
            </a:r>
            <a:r>
              <a:rPr lang="es-AR" b="1" dirty="0"/>
              <a:t>: </a:t>
            </a:r>
            <a:r>
              <a:rPr lang="es-AR" dirty="0">
                <a:hlinkClick r:id="rId3"/>
              </a:rPr>
              <a:t>http://validator.w3.org/unicorn</a:t>
            </a:r>
            <a:endParaRPr lang="es-AR" dirty="0"/>
          </a:p>
          <a:p>
            <a:pPr marL="457200" lvl="1" indent="0">
              <a:buNone/>
            </a:pPr>
            <a:endParaRPr lang="es-AR" dirty="0"/>
          </a:p>
          <a:p>
            <a:pPr lvl="2"/>
            <a:r>
              <a:rPr lang="es-AR" b="1" dirty="0"/>
              <a:t>Validación:</a:t>
            </a:r>
            <a:r>
              <a:rPr lang="es-AR" dirty="0"/>
              <a:t> (X)HTML, CSS (diferentes perfiles y medios), Mobile OK y RSS/</a:t>
            </a:r>
            <a:r>
              <a:rPr lang="es-AR" dirty="0" err="1"/>
              <a:t>Atom</a:t>
            </a:r>
            <a:r>
              <a:rPr lang="es-AR" dirty="0"/>
              <a:t>.</a:t>
            </a:r>
          </a:p>
          <a:p>
            <a:pPr lvl="2"/>
            <a:r>
              <a:rPr lang="es-AR" b="1" dirty="0"/>
              <a:t>Tipo de herramienta: </a:t>
            </a:r>
            <a:r>
              <a:rPr lang="es-AR" dirty="0"/>
              <a:t>online.</a:t>
            </a:r>
          </a:p>
          <a:p>
            <a:pPr lvl="2"/>
            <a:r>
              <a:rPr lang="es-AR" b="1" dirty="0"/>
              <a:t>Opciones:</a:t>
            </a:r>
            <a:r>
              <a:rPr lang="es-AR" dirty="0"/>
              <a:t> URL, </a:t>
            </a:r>
            <a:r>
              <a:rPr lang="es-AR" dirty="0" err="1"/>
              <a:t>upload</a:t>
            </a:r>
            <a:r>
              <a:rPr lang="es-AR" dirty="0"/>
              <a:t> de archivo e inclusión directa de código.</a:t>
            </a:r>
          </a:p>
          <a:p>
            <a:pPr lvl="2"/>
            <a:r>
              <a:rPr lang="es-AR" b="1" dirty="0"/>
              <a:t>Idioma:</a:t>
            </a:r>
            <a:r>
              <a:rPr lang="es-AR" dirty="0"/>
              <a:t> castellano.</a:t>
            </a:r>
          </a:p>
          <a:p>
            <a:pPr algn="just"/>
            <a:endParaRPr lang="es-AR" dirty="0"/>
          </a:p>
          <a:p>
            <a:pPr lvl="1"/>
            <a:endParaRPr lang="es-AR" dirty="0"/>
          </a:p>
          <a:p>
            <a:pPr marL="3657600" lvl="8" indent="0">
              <a:buNone/>
            </a:pPr>
            <a:r>
              <a:rPr lang="es-AR" dirty="0"/>
              <a:t>		</a:t>
            </a:r>
          </a:p>
        </p:txBody>
      </p:sp>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181</a:t>
            </a:fld>
            <a:endParaRPr lang="es-ES" altLang="es-AR"/>
          </a:p>
        </p:txBody>
      </p:sp>
    </p:spTree>
    <p:extLst>
      <p:ext uri="{BB962C8B-B14F-4D97-AF65-F5344CB8AC3E}">
        <p14:creationId xmlns:p14="http://schemas.microsoft.com/office/powerpoint/2010/main" val="1235164424"/>
      </p:ext>
    </p:extLst>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1 Título"/>
          <p:cNvSpPr>
            <a:spLocks noGrp="1"/>
          </p:cNvSpPr>
          <p:nvPr>
            <p:ph type="title"/>
          </p:nvPr>
        </p:nvSpPr>
        <p:spPr>
          <a:xfrm>
            <a:off x="457200" y="274638"/>
            <a:ext cx="8229600" cy="654050"/>
          </a:xfrm>
        </p:spPr>
        <p:txBody>
          <a:bodyPr/>
          <a:lstStyle/>
          <a:p>
            <a:r>
              <a:rPr lang="es-AR" altLang="es-AR" b="1" dirty="0"/>
              <a:t>Análisis y evaluación de AW</a:t>
            </a:r>
          </a:p>
        </p:txBody>
      </p:sp>
      <p:sp>
        <p:nvSpPr>
          <p:cNvPr id="57347" name="2 Marcador de contenido"/>
          <p:cNvSpPr>
            <a:spLocks noGrp="1"/>
          </p:cNvSpPr>
          <p:nvPr>
            <p:ph idx="1"/>
          </p:nvPr>
        </p:nvSpPr>
        <p:spPr>
          <a:xfrm>
            <a:off x="430213" y="1916113"/>
            <a:ext cx="8229600" cy="4537223"/>
          </a:xfrm>
        </p:spPr>
        <p:txBody>
          <a:bodyPr/>
          <a:lstStyle/>
          <a:p>
            <a:r>
              <a:rPr lang="es-AR" dirty="0"/>
              <a:t>Validadores de código HTML/CSS</a:t>
            </a:r>
          </a:p>
          <a:p>
            <a:endParaRPr lang="es-AR" dirty="0"/>
          </a:p>
          <a:p>
            <a:pPr lvl="1"/>
            <a:r>
              <a:rPr lang="es-AR" dirty="0"/>
              <a:t> </a:t>
            </a:r>
            <a:r>
              <a:rPr lang="es-AR" b="1" dirty="0"/>
              <a:t>W3C </a:t>
            </a:r>
            <a:r>
              <a:rPr lang="es-AR" b="1" dirty="0" err="1"/>
              <a:t>Markup</a:t>
            </a:r>
            <a:r>
              <a:rPr lang="es-AR" b="1" dirty="0"/>
              <a:t> </a:t>
            </a:r>
            <a:r>
              <a:rPr lang="es-AR" b="1" dirty="0" err="1"/>
              <a:t>Validation</a:t>
            </a:r>
            <a:r>
              <a:rPr lang="es-AR" b="1" dirty="0"/>
              <a:t> </a:t>
            </a:r>
            <a:r>
              <a:rPr lang="es-AR" b="1" dirty="0" err="1"/>
              <a:t>Service</a:t>
            </a:r>
            <a:r>
              <a:rPr lang="es-AR" b="1" dirty="0"/>
              <a:t>: </a:t>
            </a:r>
            <a:r>
              <a:rPr lang="es-AR" dirty="0">
                <a:hlinkClick r:id="rId3"/>
              </a:rPr>
              <a:t>http://validator.w3.org/</a:t>
            </a:r>
            <a:endParaRPr lang="es-AR" dirty="0"/>
          </a:p>
          <a:p>
            <a:pPr marL="457200" lvl="1" indent="0">
              <a:buNone/>
            </a:pPr>
            <a:endParaRPr lang="es-AR" dirty="0"/>
          </a:p>
          <a:p>
            <a:pPr lvl="2"/>
            <a:r>
              <a:rPr lang="es-AR" b="1" dirty="0"/>
              <a:t>Validación:</a:t>
            </a:r>
            <a:r>
              <a:rPr lang="es-AR" dirty="0"/>
              <a:t> (X)HTML.</a:t>
            </a:r>
          </a:p>
          <a:p>
            <a:pPr lvl="2"/>
            <a:r>
              <a:rPr lang="es-AR" b="1" dirty="0"/>
              <a:t>Tipo de herramienta: </a:t>
            </a:r>
            <a:r>
              <a:rPr lang="es-AR" dirty="0"/>
              <a:t>online.</a:t>
            </a:r>
          </a:p>
          <a:p>
            <a:pPr lvl="2"/>
            <a:r>
              <a:rPr lang="es-AR" b="1" dirty="0"/>
              <a:t>Opciones:</a:t>
            </a:r>
            <a:r>
              <a:rPr lang="es-AR" dirty="0"/>
              <a:t> URL, </a:t>
            </a:r>
            <a:r>
              <a:rPr lang="es-AR" dirty="0" err="1"/>
              <a:t>upload</a:t>
            </a:r>
            <a:r>
              <a:rPr lang="es-AR" dirty="0"/>
              <a:t> de archivo e inclusión directa de código.</a:t>
            </a:r>
          </a:p>
          <a:p>
            <a:pPr lvl="2"/>
            <a:r>
              <a:rPr lang="es-AR" b="1" dirty="0"/>
              <a:t>Idioma:</a:t>
            </a:r>
            <a:r>
              <a:rPr lang="es-AR" dirty="0"/>
              <a:t> inglés.</a:t>
            </a:r>
          </a:p>
          <a:p>
            <a:pPr algn="just"/>
            <a:endParaRPr lang="es-AR" dirty="0"/>
          </a:p>
          <a:p>
            <a:pPr lvl="1"/>
            <a:endParaRPr lang="es-AR" dirty="0"/>
          </a:p>
          <a:p>
            <a:pPr marL="3657600" lvl="8" indent="0">
              <a:buNone/>
            </a:pPr>
            <a:r>
              <a:rPr lang="es-AR" dirty="0"/>
              <a:t>		</a:t>
            </a:r>
          </a:p>
        </p:txBody>
      </p:sp>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182</a:t>
            </a:fld>
            <a:endParaRPr lang="es-ES" altLang="es-AR"/>
          </a:p>
        </p:txBody>
      </p:sp>
    </p:spTree>
    <p:extLst>
      <p:ext uri="{BB962C8B-B14F-4D97-AF65-F5344CB8AC3E}">
        <p14:creationId xmlns:p14="http://schemas.microsoft.com/office/powerpoint/2010/main" val="3682555723"/>
      </p:ext>
    </p:extLst>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1 Título"/>
          <p:cNvSpPr>
            <a:spLocks noGrp="1"/>
          </p:cNvSpPr>
          <p:nvPr>
            <p:ph type="title"/>
          </p:nvPr>
        </p:nvSpPr>
        <p:spPr>
          <a:xfrm>
            <a:off x="457200" y="274638"/>
            <a:ext cx="8229600" cy="654050"/>
          </a:xfrm>
        </p:spPr>
        <p:txBody>
          <a:bodyPr/>
          <a:lstStyle/>
          <a:p>
            <a:r>
              <a:rPr lang="es-AR" altLang="es-AR" b="1" dirty="0"/>
              <a:t>Análisis y evaluación de AW</a:t>
            </a:r>
          </a:p>
        </p:txBody>
      </p:sp>
      <p:sp>
        <p:nvSpPr>
          <p:cNvPr id="57347" name="2 Marcador de contenido"/>
          <p:cNvSpPr>
            <a:spLocks noGrp="1"/>
          </p:cNvSpPr>
          <p:nvPr>
            <p:ph idx="1"/>
          </p:nvPr>
        </p:nvSpPr>
        <p:spPr>
          <a:xfrm>
            <a:off x="430213" y="1916113"/>
            <a:ext cx="8229600" cy="4537223"/>
          </a:xfrm>
        </p:spPr>
        <p:txBody>
          <a:bodyPr/>
          <a:lstStyle/>
          <a:p>
            <a:r>
              <a:rPr lang="es-AR" dirty="0"/>
              <a:t>Validadores de código HTML/CSS</a:t>
            </a:r>
          </a:p>
          <a:p>
            <a:endParaRPr lang="es-AR" dirty="0"/>
          </a:p>
          <a:p>
            <a:pPr lvl="1"/>
            <a:r>
              <a:rPr lang="es-AR" dirty="0"/>
              <a:t> </a:t>
            </a:r>
            <a:r>
              <a:rPr lang="es-AR" b="1" dirty="0"/>
              <a:t>W3C CSS </a:t>
            </a:r>
            <a:r>
              <a:rPr lang="es-AR" b="1" dirty="0" err="1"/>
              <a:t>Validation</a:t>
            </a:r>
            <a:r>
              <a:rPr lang="es-AR" b="1" dirty="0"/>
              <a:t> </a:t>
            </a:r>
            <a:r>
              <a:rPr lang="es-AR" b="1" dirty="0" err="1"/>
              <a:t>Service</a:t>
            </a:r>
            <a:r>
              <a:rPr lang="es-AR" b="1" dirty="0"/>
              <a:t>: </a:t>
            </a:r>
            <a:r>
              <a:rPr lang="es-AR" dirty="0">
                <a:hlinkClick r:id="rId3"/>
              </a:rPr>
              <a:t>http://jigsaw.w3.org/css-validator/</a:t>
            </a:r>
            <a:endParaRPr lang="es-AR" dirty="0"/>
          </a:p>
          <a:p>
            <a:pPr lvl="1"/>
            <a:endParaRPr lang="es-AR" dirty="0"/>
          </a:p>
          <a:p>
            <a:pPr lvl="2"/>
            <a:r>
              <a:rPr lang="es-AR" b="1" dirty="0"/>
              <a:t>Validación:</a:t>
            </a:r>
            <a:r>
              <a:rPr lang="es-AR" dirty="0"/>
              <a:t> CSS.</a:t>
            </a:r>
          </a:p>
          <a:p>
            <a:pPr lvl="2"/>
            <a:r>
              <a:rPr lang="es-AR" b="1" dirty="0"/>
              <a:t>Tipo de herramienta: </a:t>
            </a:r>
            <a:r>
              <a:rPr lang="es-AR" dirty="0"/>
              <a:t>online.</a:t>
            </a:r>
          </a:p>
          <a:p>
            <a:pPr lvl="2"/>
            <a:r>
              <a:rPr lang="es-AR" b="1" dirty="0"/>
              <a:t>Opciones:</a:t>
            </a:r>
            <a:r>
              <a:rPr lang="es-AR" dirty="0"/>
              <a:t> URL (HTML con CSS o CSS),  </a:t>
            </a:r>
            <a:r>
              <a:rPr lang="es-AR" dirty="0" err="1"/>
              <a:t>upload</a:t>
            </a:r>
            <a:r>
              <a:rPr lang="es-AR" dirty="0"/>
              <a:t> de archivo e inclusión directa de código.</a:t>
            </a:r>
          </a:p>
          <a:p>
            <a:pPr lvl="2"/>
            <a:r>
              <a:rPr lang="es-AR" b="1" dirty="0"/>
              <a:t>Idioma:</a:t>
            </a:r>
            <a:r>
              <a:rPr lang="es-AR" dirty="0"/>
              <a:t> castellano.</a:t>
            </a:r>
          </a:p>
          <a:p>
            <a:pPr algn="just"/>
            <a:endParaRPr lang="es-AR" dirty="0"/>
          </a:p>
          <a:p>
            <a:pPr lvl="1"/>
            <a:endParaRPr lang="es-AR" dirty="0"/>
          </a:p>
          <a:p>
            <a:pPr marL="3657600" lvl="8" indent="0">
              <a:buNone/>
            </a:pPr>
            <a:r>
              <a:rPr lang="es-AR" dirty="0"/>
              <a:t>		</a:t>
            </a:r>
          </a:p>
        </p:txBody>
      </p:sp>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183</a:t>
            </a:fld>
            <a:endParaRPr lang="es-ES" altLang="es-AR"/>
          </a:p>
        </p:txBody>
      </p:sp>
    </p:spTree>
    <p:extLst>
      <p:ext uri="{BB962C8B-B14F-4D97-AF65-F5344CB8AC3E}">
        <p14:creationId xmlns:p14="http://schemas.microsoft.com/office/powerpoint/2010/main" val="2265252799"/>
      </p:ext>
    </p:extLst>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1 Título"/>
          <p:cNvSpPr>
            <a:spLocks noGrp="1"/>
          </p:cNvSpPr>
          <p:nvPr>
            <p:ph type="title"/>
          </p:nvPr>
        </p:nvSpPr>
        <p:spPr>
          <a:xfrm>
            <a:off x="457200" y="274638"/>
            <a:ext cx="8229600" cy="654050"/>
          </a:xfrm>
        </p:spPr>
        <p:txBody>
          <a:bodyPr/>
          <a:lstStyle/>
          <a:p>
            <a:r>
              <a:rPr lang="es-AR" altLang="es-AR" b="1" dirty="0"/>
              <a:t>Análisis y evaluación de AW</a:t>
            </a:r>
          </a:p>
        </p:txBody>
      </p:sp>
      <p:sp>
        <p:nvSpPr>
          <p:cNvPr id="57347" name="2 Marcador de contenido"/>
          <p:cNvSpPr>
            <a:spLocks noGrp="1"/>
          </p:cNvSpPr>
          <p:nvPr>
            <p:ph idx="1"/>
          </p:nvPr>
        </p:nvSpPr>
        <p:spPr>
          <a:xfrm>
            <a:off x="430213" y="1916113"/>
            <a:ext cx="8229600" cy="4537223"/>
          </a:xfrm>
        </p:spPr>
        <p:txBody>
          <a:bodyPr/>
          <a:lstStyle/>
          <a:p>
            <a:r>
              <a:rPr lang="es-AR" dirty="0"/>
              <a:t>Herramientas de evaluación automática:</a:t>
            </a:r>
          </a:p>
          <a:p>
            <a:pPr marL="0" indent="0">
              <a:buNone/>
            </a:pPr>
            <a:endParaRPr lang="es-AR" dirty="0"/>
          </a:p>
          <a:p>
            <a:pPr lvl="1"/>
            <a:r>
              <a:rPr lang="es-AR" dirty="0"/>
              <a:t>Validadores de código HTML/CSS.</a:t>
            </a:r>
          </a:p>
          <a:p>
            <a:pPr lvl="1"/>
            <a:r>
              <a:rPr lang="es-AR" b="1" dirty="0">
                <a:solidFill>
                  <a:srgbClr val="0070C0"/>
                </a:solidFill>
              </a:rPr>
              <a:t>Validadores de accesibilidad (WCAG 2.0).</a:t>
            </a:r>
          </a:p>
          <a:p>
            <a:pPr lvl="1"/>
            <a:r>
              <a:rPr lang="es-AR" dirty="0"/>
              <a:t>Extensiones para los navegadores.</a:t>
            </a:r>
          </a:p>
          <a:p>
            <a:pPr lvl="1"/>
            <a:r>
              <a:rPr lang="es-AR" dirty="0"/>
              <a:t>Contraste de color.</a:t>
            </a:r>
          </a:p>
          <a:p>
            <a:pPr algn="just"/>
            <a:endParaRPr lang="es-AR" dirty="0"/>
          </a:p>
          <a:p>
            <a:pPr lvl="1"/>
            <a:endParaRPr lang="es-AR" dirty="0"/>
          </a:p>
          <a:p>
            <a:pPr marL="3657600" lvl="8" indent="0">
              <a:buNone/>
            </a:pPr>
            <a:r>
              <a:rPr lang="es-AR" dirty="0"/>
              <a:t>		</a:t>
            </a:r>
          </a:p>
        </p:txBody>
      </p:sp>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184</a:t>
            </a:fld>
            <a:endParaRPr lang="es-ES" altLang="es-AR"/>
          </a:p>
        </p:txBody>
      </p:sp>
    </p:spTree>
    <p:extLst>
      <p:ext uri="{BB962C8B-B14F-4D97-AF65-F5344CB8AC3E}">
        <p14:creationId xmlns:p14="http://schemas.microsoft.com/office/powerpoint/2010/main" val="2689391424"/>
      </p:ext>
    </p:extLst>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1 Título"/>
          <p:cNvSpPr>
            <a:spLocks noGrp="1"/>
          </p:cNvSpPr>
          <p:nvPr>
            <p:ph type="title"/>
          </p:nvPr>
        </p:nvSpPr>
        <p:spPr>
          <a:xfrm>
            <a:off x="457200" y="274638"/>
            <a:ext cx="8229600" cy="654050"/>
          </a:xfrm>
        </p:spPr>
        <p:txBody>
          <a:bodyPr/>
          <a:lstStyle/>
          <a:p>
            <a:r>
              <a:rPr lang="es-AR" altLang="es-AR" b="1" dirty="0"/>
              <a:t>Análisis y evaluación de AW</a:t>
            </a:r>
          </a:p>
        </p:txBody>
      </p:sp>
      <p:sp>
        <p:nvSpPr>
          <p:cNvPr id="57347" name="2 Marcador de contenido"/>
          <p:cNvSpPr>
            <a:spLocks noGrp="1"/>
          </p:cNvSpPr>
          <p:nvPr>
            <p:ph idx="1"/>
          </p:nvPr>
        </p:nvSpPr>
        <p:spPr>
          <a:xfrm>
            <a:off x="430213" y="1916113"/>
            <a:ext cx="8229600" cy="4537223"/>
          </a:xfrm>
        </p:spPr>
        <p:txBody>
          <a:bodyPr/>
          <a:lstStyle/>
          <a:p>
            <a:r>
              <a:rPr lang="es-AR" dirty="0"/>
              <a:t>Validadores de accesibilidad (WCAG 2.0)</a:t>
            </a:r>
          </a:p>
          <a:p>
            <a:endParaRPr lang="es-AR" dirty="0"/>
          </a:p>
          <a:p>
            <a:pPr lvl="1"/>
            <a:r>
              <a:rPr lang="es-AR" dirty="0"/>
              <a:t> </a:t>
            </a:r>
            <a:r>
              <a:rPr lang="es-AR" b="1" dirty="0"/>
              <a:t>TAW: </a:t>
            </a:r>
            <a:r>
              <a:rPr lang="es-AR" dirty="0">
                <a:hlinkClick r:id="rId3"/>
              </a:rPr>
              <a:t>http://www.tawdis.net/</a:t>
            </a:r>
            <a:endParaRPr lang="es-AR" dirty="0"/>
          </a:p>
          <a:p>
            <a:pPr lvl="1"/>
            <a:endParaRPr lang="es-AR" dirty="0"/>
          </a:p>
          <a:p>
            <a:pPr lvl="2"/>
            <a:r>
              <a:rPr lang="es-AR" b="1" dirty="0"/>
              <a:t>Validación:</a:t>
            </a:r>
            <a:r>
              <a:rPr lang="es-AR" dirty="0"/>
              <a:t> WCAG 2.0 (A, AA, AAA) y </a:t>
            </a:r>
            <a:r>
              <a:rPr lang="es-AR" dirty="0" err="1"/>
              <a:t>mobileOK</a:t>
            </a:r>
            <a:r>
              <a:rPr lang="es-AR" dirty="0"/>
              <a:t>.</a:t>
            </a:r>
          </a:p>
          <a:p>
            <a:pPr lvl="2"/>
            <a:r>
              <a:rPr lang="es-AR" b="1" dirty="0"/>
              <a:t>Tipo de herramienta: </a:t>
            </a:r>
            <a:r>
              <a:rPr lang="es-AR" dirty="0"/>
              <a:t>online. La versión local y la extensión para Firefox validan de acuerdo a las WCAG 1.0.</a:t>
            </a:r>
          </a:p>
          <a:p>
            <a:pPr lvl="2"/>
            <a:r>
              <a:rPr lang="es-AR" b="1" dirty="0"/>
              <a:t>Opciones:</a:t>
            </a:r>
            <a:r>
              <a:rPr lang="es-AR" dirty="0"/>
              <a:t> URL. No permiten validación de un sitio completo salvo con su herramienta “TAW Monitor” que es pago.</a:t>
            </a:r>
          </a:p>
          <a:p>
            <a:pPr lvl="2"/>
            <a:r>
              <a:rPr lang="es-AR" b="1" dirty="0"/>
              <a:t>Idioma:</a:t>
            </a:r>
            <a:r>
              <a:rPr lang="es-AR" dirty="0"/>
              <a:t> castellano.</a:t>
            </a:r>
          </a:p>
          <a:p>
            <a:pPr algn="just"/>
            <a:endParaRPr lang="es-AR" dirty="0"/>
          </a:p>
          <a:p>
            <a:pPr lvl="1"/>
            <a:endParaRPr lang="es-AR" dirty="0"/>
          </a:p>
          <a:p>
            <a:pPr marL="3657600" lvl="8" indent="0">
              <a:buNone/>
            </a:pPr>
            <a:r>
              <a:rPr lang="es-AR" dirty="0"/>
              <a:t>		</a:t>
            </a:r>
          </a:p>
        </p:txBody>
      </p:sp>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185</a:t>
            </a:fld>
            <a:endParaRPr lang="es-ES" altLang="es-AR"/>
          </a:p>
        </p:txBody>
      </p:sp>
    </p:spTree>
    <p:extLst>
      <p:ext uri="{BB962C8B-B14F-4D97-AF65-F5344CB8AC3E}">
        <p14:creationId xmlns:p14="http://schemas.microsoft.com/office/powerpoint/2010/main" val="2673491114"/>
      </p:ext>
    </p:extLst>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1 Título"/>
          <p:cNvSpPr>
            <a:spLocks noGrp="1"/>
          </p:cNvSpPr>
          <p:nvPr>
            <p:ph type="title"/>
          </p:nvPr>
        </p:nvSpPr>
        <p:spPr>
          <a:xfrm>
            <a:off x="457200" y="274638"/>
            <a:ext cx="8229600" cy="654050"/>
          </a:xfrm>
        </p:spPr>
        <p:txBody>
          <a:bodyPr/>
          <a:lstStyle/>
          <a:p>
            <a:r>
              <a:rPr lang="es-AR" altLang="es-AR" b="1" dirty="0"/>
              <a:t>Análisis y evaluación de AW</a:t>
            </a:r>
          </a:p>
        </p:txBody>
      </p:sp>
      <p:sp>
        <p:nvSpPr>
          <p:cNvPr id="57347" name="2 Marcador de contenido"/>
          <p:cNvSpPr>
            <a:spLocks noGrp="1"/>
          </p:cNvSpPr>
          <p:nvPr>
            <p:ph idx="1"/>
          </p:nvPr>
        </p:nvSpPr>
        <p:spPr>
          <a:xfrm>
            <a:off x="430213" y="1916113"/>
            <a:ext cx="8229600" cy="4537223"/>
          </a:xfrm>
        </p:spPr>
        <p:txBody>
          <a:bodyPr/>
          <a:lstStyle/>
          <a:p>
            <a:r>
              <a:rPr lang="es-AR" dirty="0"/>
              <a:t>Validadores de accesibilidad (WCAG 2.0)</a:t>
            </a:r>
          </a:p>
          <a:p>
            <a:endParaRPr lang="es-AR" dirty="0"/>
          </a:p>
          <a:p>
            <a:pPr lvl="1"/>
            <a:r>
              <a:rPr lang="es-AR" dirty="0"/>
              <a:t> </a:t>
            </a:r>
            <a:r>
              <a:rPr lang="es-AR" b="1" dirty="0"/>
              <a:t>HERA FFX 2.2: </a:t>
            </a:r>
            <a:r>
              <a:rPr lang="es-AR" dirty="0">
                <a:hlinkClick r:id="rId3"/>
              </a:rPr>
              <a:t>http://www.sidar.org/recur/aplica/heraffx.php</a:t>
            </a:r>
            <a:endParaRPr lang="es-AR" dirty="0"/>
          </a:p>
          <a:p>
            <a:pPr lvl="1"/>
            <a:endParaRPr lang="es-AR" dirty="0"/>
          </a:p>
          <a:p>
            <a:pPr lvl="2"/>
            <a:r>
              <a:rPr lang="es-AR" b="1" dirty="0"/>
              <a:t>Validación:</a:t>
            </a:r>
            <a:r>
              <a:rPr lang="es-AR" dirty="0"/>
              <a:t> WCAG 2.0 (A, AA, AAA).</a:t>
            </a:r>
          </a:p>
          <a:p>
            <a:pPr lvl="2"/>
            <a:r>
              <a:rPr lang="es-AR" b="1" dirty="0"/>
              <a:t>Tipo de herramienta: </a:t>
            </a:r>
            <a:r>
              <a:rPr lang="es-AR" dirty="0"/>
              <a:t>extensión para Firefox. La versión online valida de acuerdo a las WCAG 1.0.</a:t>
            </a:r>
          </a:p>
          <a:p>
            <a:pPr lvl="2"/>
            <a:r>
              <a:rPr lang="es-AR" b="1" dirty="0"/>
              <a:t>Opciones:</a:t>
            </a:r>
            <a:r>
              <a:rPr lang="es-AR" dirty="0"/>
              <a:t> valida la página a la que se ha navegado. </a:t>
            </a:r>
          </a:p>
          <a:p>
            <a:pPr lvl="2"/>
            <a:r>
              <a:rPr lang="es-AR" b="1" dirty="0"/>
              <a:t>Idioma:</a:t>
            </a:r>
            <a:r>
              <a:rPr lang="es-AR" dirty="0"/>
              <a:t> castellano.</a:t>
            </a:r>
          </a:p>
          <a:p>
            <a:pPr algn="just"/>
            <a:endParaRPr lang="es-AR" dirty="0"/>
          </a:p>
          <a:p>
            <a:pPr lvl="1"/>
            <a:endParaRPr lang="es-AR" dirty="0"/>
          </a:p>
          <a:p>
            <a:pPr marL="3657600" lvl="8" indent="0">
              <a:buNone/>
            </a:pPr>
            <a:r>
              <a:rPr lang="es-AR" dirty="0"/>
              <a:t>		</a:t>
            </a:r>
          </a:p>
        </p:txBody>
      </p:sp>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186</a:t>
            </a:fld>
            <a:endParaRPr lang="es-ES" altLang="es-AR"/>
          </a:p>
        </p:txBody>
      </p:sp>
    </p:spTree>
    <p:extLst>
      <p:ext uri="{BB962C8B-B14F-4D97-AF65-F5344CB8AC3E}">
        <p14:creationId xmlns:p14="http://schemas.microsoft.com/office/powerpoint/2010/main" val="2563500806"/>
      </p:ext>
    </p:extLst>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1 Título"/>
          <p:cNvSpPr>
            <a:spLocks noGrp="1"/>
          </p:cNvSpPr>
          <p:nvPr>
            <p:ph type="title"/>
          </p:nvPr>
        </p:nvSpPr>
        <p:spPr>
          <a:xfrm>
            <a:off x="457200" y="274638"/>
            <a:ext cx="8229600" cy="654050"/>
          </a:xfrm>
        </p:spPr>
        <p:txBody>
          <a:bodyPr/>
          <a:lstStyle/>
          <a:p>
            <a:r>
              <a:rPr lang="es-AR" altLang="es-AR" b="1" dirty="0"/>
              <a:t>Análisis y evaluación de AW</a:t>
            </a:r>
          </a:p>
        </p:txBody>
      </p:sp>
      <p:sp>
        <p:nvSpPr>
          <p:cNvPr id="57347" name="2 Marcador de contenido"/>
          <p:cNvSpPr>
            <a:spLocks noGrp="1"/>
          </p:cNvSpPr>
          <p:nvPr>
            <p:ph idx="1"/>
          </p:nvPr>
        </p:nvSpPr>
        <p:spPr>
          <a:xfrm>
            <a:off x="430213" y="1916113"/>
            <a:ext cx="8229600" cy="4537223"/>
          </a:xfrm>
        </p:spPr>
        <p:txBody>
          <a:bodyPr/>
          <a:lstStyle/>
          <a:p>
            <a:r>
              <a:rPr lang="es-AR" dirty="0"/>
              <a:t>Validadores de accesibilidad (WCAG 2.0)</a:t>
            </a:r>
          </a:p>
          <a:p>
            <a:endParaRPr lang="es-AR" dirty="0"/>
          </a:p>
          <a:p>
            <a:pPr lvl="1"/>
            <a:r>
              <a:rPr lang="es-AR" dirty="0"/>
              <a:t> </a:t>
            </a:r>
            <a:r>
              <a:rPr lang="es-AR" b="1" dirty="0"/>
              <a:t>WAVE: </a:t>
            </a:r>
            <a:r>
              <a:rPr lang="es-AR" dirty="0">
                <a:hlinkClick r:id="rId3"/>
              </a:rPr>
              <a:t>http://wave.webaim.org/</a:t>
            </a:r>
            <a:endParaRPr lang="es-AR" dirty="0"/>
          </a:p>
          <a:p>
            <a:pPr lvl="1"/>
            <a:endParaRPr lang="es-AR" dirty="0"/>
          </a:p>
          <a:p>
            <a:pPr lvl="2"/>
            <a:r>
              <a:rPr lang="es-AR" b="1" dirty="0"/>
              <a:t>Validación:</a:t>
            </a:r>
            <a:r>
              <a:rPr lang="es-AR" dirty="0"/>
              <a:t> WCAG 2.0 (A, AA).</a:t>
            </a:r>
          </a:p>
          <a:p>
            <a:pPr lvl="2"/>
            <a:r>
              <a:rPr lang="es-AR" b="1" dirty="0"/>
              <a:t>Tipo de herramienta: </a:t>
            </a:r>
            <a:r>
              <a:rPr lang="es-AR" dirty="0"/>
              <a:t>online.</a:t>
            </a:r>
          </a:p>
          <a:p>
            <a:pPr lvl="2"/>
            <a:r>
              <a:rPr lang="es-AR" b="1" dirty="0"/>
              <a:t>Opciones:</a:t>
            </a:r>
            <a:r>
              <a:rPr lang="es-AR" dirty="0"/>
              <a:t> URL. No admite validación de sitio completo. </a:t>
            </a:r>
          </a:p>
          <a:p>
            <a:pPr lvl="2"/>
            <a:r>
              <a:rPr lang="es-AR" b="1" dirty="0"/>
              <a:t>Idioma:</a:t>
            </a:r>
            <a:r>
              <a:rPr lang="es-AR" dirty="0"/>
              <a:t> inglés.</a:t>
            </a:r>
          </a:p>
          <a:p>
            <a:pPr algn="just"/>
            <a:endParaRPr lang="es-AR" dirty="0"/>
          </a:p>
          <a:p>
            <a:pPr lvl="1"/>
            <a:endParaRPr lang="es-AR" dirty="0"/>
          </a:p>
          <a:p>
            <a:pPr marL="3657600" lvl="8" indent="0">
              <a:buNone/>
            </a:pPr>
            <a:r>
              <a:rPr lang="es-AR" dirty="0"/>
              <a:t>		</a:t>
            </a:r>
          </a:p>
        </p:txBody>
      </p:sp>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187</a:t>
            </a:fld>
            <a:endParaRPr lang="es-ES" altLang="es-AR"/>
          </a:p>
        </p:txBody>
      </p:sp>
    </p:spTree>
    <p:extLst>
      <p:ext uri="{BB962C8B-B14F-4D97-AF65-F5344CB8AC3E}">
        <p14:creationId xmlns:p14="http://schemas.microsoft.com/office/powerpoint/2010/main" val="1205514372"/>
      </p:ext>
    </p:extLst>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1 Título"/>
          <p:cNvSpPr>
            <a:spLocks noGrp="1"/>
          </p:cNvSpPr>
          <p:nvPr>
            <p:ph type="title"/>
          </p:nvPr>
        </p:nvSpPr>
        <p:spPr>
          <a:xfrm>
            <a:off x="457200" y="274638"/>
            <a:ext cx="8229600" cy="654050"/>
          </a:xfrm>
        </p:spPr>
        <p:txBody>
          <a:bodyPr/>
          <a:lstStyle/>
          <a:p>
            <a:r>
              <a:rPr lang="es-AR" altLang="es-AR" b="1" dirty="0"/>
              <a:t>Análisis y evaluación de AW</a:t>
            </a:r>
          </a:p>
        </p:txBody>
      </p:sp>
      <p:sp>
        <p:nvSpPr>
          <p:cNvPr id="57347" name="2 Marcador de contenido"/>
          <p:cNvSpPr>
            <a:spLocks noGrp="1"/>
          </p:cNvSpPr>
          <p:nvPr>
            <p:ph idx="1"/>
          </p:nvPr>
        </p:nvSpPr>
        <p:spPr>
          <a:xfrm>
            <a:off x="430213" y="1916113"/>
            <a:ext cx="8229600" cy="4537223"/>
          </a:xfrm>
        </p:spPr>
        <p:txBody>
          <a:bodyPr/>
          <a:lstStyle/>
          <a:p>
            <a:r>
              <a:rPr lang="es-AR" dirty="0"/>
              <a:t>Validadores de accesibilidad (WCAG 2.0)</a:t>
            </a:r>
          </a:p>
          <a:p>
            <a:endParaRPr lang="es-AR" dirty="0"/>
          </a:p>
          <a:p>
            <a:pPr lvl="1"/>
            <a:r>
              <a:rPr lang="es-AR" dirty="0"/>
              <a:t> </a:t>
            </a:r>
            <a:r>
              <a:rPr lang="es-AR" b="1" dirty="0" err="1"/>
              <a:t>eXaminator</a:t>
            </a:r>
            <a:r>
              <a:rPr lang="es-AR" b="1" dirty="0"/>
              <a:t>: </a:t>
            </a:r>
            <a:r>
              <a:rPr lang="es-AR" dirty="0">
                <a:hlinkClick r:id="rId3"/>
              </a:rPr>
              <a:t>http://examinator.ws/</a:t>
            </a:r>
            <a:endParaRPr lang="es-AR" dirty="0"/>
          </a:p>
          <a:p>
            <a:pPr lvl="1"/>
            <a:endParaRPr lang="es-AR" dirty="0"/>
          </a:p>
          <a:p>
            <a:pPr lvl="2"/>
            <a:r>
              <a:rPr lang="es-AR" b="1" dirty="0"/>
              <a:t>Validación:</a:t>
            </a:r>
            <a:r>
              <a:rPr lang="es-AR" dirty="0"/>
              <a:t> usa como referencia técnicas de las WCAG 2.0 para otorgar una puntuación a  la página.</a:t>
            </a:r>
          </a:p>
          <a:p>
            <a:pPr lvl="2"/>
            <a:r>
              <a:rPr lang="es-AR" b="1" dirty="0"/>
              <a:t>Tipo de herramienta: </a:t>
            </a:r>
            <a:r>
              <a:rPr lang="es-AR" dirty="0"/>
              <a:t>online, sólo permite revisar una cantidad limitada de páginas por día.</a:t>
            </a:r>
          </a:p>
          <a:p>
            <a:pPr lvl="2"/>
            <a:r>
              <a:rPr lang="es-AR" b="1" dirty="0"/>
              <a:t>Opciones:</a:t>
            </a:r>
            <a:r>
              <a:rPr lang="es-AR" dirty="0"/>
              <a:t> URL, </a:t>
            </a:r>
            <a:r>
              <a:rPr lang="es-AR" dirty="0" err="1"/>
              <a:t>upload</a:t>
            </a:r>
            <a:r>
              <a:rPr lang="es-AR" dirty="0"/>
              <a:t> de archivo e inclusión directa de código. </a:t>
            </a:r>
          </a:p>
          <a:p>
            <a:pPr lvl="2"/>
            <a:r>
              <a:rPr lang="es-AR" b="1" dirty="0"/>
              <a:t>Idioma:</a:t>
            </a:r>
            <a:r>
              <a:rPr lang="es-AR" dirty="0"/>
              <a:t> castellano.</a:t>
            </a:r>
          </a:p>
          <a:p>
            <a:pPr algn="just"/>
            <a:endParaRPr lang="es-AR" dirty="0"/>
          </a:p>
          <a:p>
            <a:pPr lvl="1"/>
            <a:endParaRPr lang="es-AR" dirty="0"/>
          </a:p>
          <a:p>
            <a:pPr marL="3657600" lvl="8" indent="0">
              <a:buNone/>
            </a:pPr>
            <a:r>
              <a:rPr lang="es-AR" dirty="0"/>
              <a:t>		</a:t>
            </a:r>
          </a:p>
        </p:txBody>
      </p:sp>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188</a:t>
            </a:fld>
            <a:endParaRPr lang="es-ES" altLang="es-AR"/>
          </a:p>
        </p:txBody>
      </p:sp>
    </p:spTree>
    <p:extLst>
      <p:ext uri="{BB962C8B-B14F-4D97-AF65-F5344CB8AC3E}">
        <p14:creationId xmlns:p14="http://schemas.microsoft.com/office/powerpoint/2010/main" val="1266682056"/>
      </p:ext>
    </p:extLst>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1 Título"/>
          <p:cNvSpPr>
            <a:spLocks noGrp="1"/>
          </p:cNvSpPr>
          <p:nvPr>
            <p:ph type="title"/>
          </p:nvPr>
        </p:nvSpPr>
        <p:spPr>
          <a:xfrm>
            <a:off x="457200" y="274638"/>
            <a:ext cx="8229600" cy="654050"/>
          </a:xfrm>
        </p:spPr>
        <p:txBody>
          <a:bodyPr/>
          <a:lstStyle/>
          <a:p>
            <a:r>
              <a:rPr lang="es-AR" altLang="es-AR" b="1" dirty="0"/>
              <a:t>Análisis y evaluación de AW</a:t>
            </a:r>
          </a:p>
        </p:txBody>
      </p:sp>
      <p:sp>
        <p:nvSpPr>
          <p:cNvPr id="57347" name="2 Marcador de contenido"/>
          <p:cNvSpPr>
            <a:spLocks noGrp="1"/>
          </p:cNvSpPr>
          <p:nvPr>
            <p:ph idx="1"/>
          </p:nvPr>
        </p:nvSpPr>
        <p:spPr>
          <a:xfrm>
            <a:off x="430213" y="1916113"/>
            <a:ext cx="8229600" cy="4537223"/>
          </a:xfrm>
        </p:spPr>
        <p:txBody>
          <a:bodyPr/>
          <a:lstStyle/>
          <a:p>
            <a:r>
              <a:rPr lang="es-AR" dirty="0"/>
              <a:t>Validadores de accesibilidad (WCAG 2.0)</a:t>
            </a:r>
          </a:p>
          <a:p>
            <a:endParaRPr lang="es-AR" dirty="0"/>
          </a:p>
          <a:p>
            <a:pPr lvl="1"/>
            <a:r>
              <a:rPr lang="es-AR" dirty="0"/>
              <a:t> Sólo la revisión de los resultados por parte de un experto puede legitimar los resultados.</a:t>
            </a:r>
          </a:p>
          <a:p>
            <a:pPr lvl="1"/>
            <a:endParaRPr lang="es-AR" dirty="0"/>
          </a:p>
          <a:p>
            <a:pPr lvl="1"/>
            <a:r>
              <a:rPr lang="es-AR" dirty="0"/>
              <a:t> Las herramientas de evaluación automática de accesibilidad </a:t>
            </a:r>
            <a:r>
              <a:rPr lang="es-AR" b="1" dirty="0"/>
              <a:t>pueden reportar falsos positivos y falsos negativos.</a:t>
            </a:r>
          </a:p>
          <a:p>
            <a:pPr algn="just"/>
            <a:endParaRPr lang="es-AR" dirty="0"/>
          </a:p>
          <a:p>
            <a:pPr lvl="1"/>
            <a:endParaRPr lang="es-AR" dirty="0"/>
          </a:p>
          <a:p>
            <a:pPr marL="3657600" lvl="8" indent="0">
              <a:buNone/>
            </a:pPr>
            <a:r>
              <a:rPr lang="es-AR" dirty="0"/>
              <a:t>		</a:t>
            </a:r>
          </a:p>
        </p:txBody>
      </p:sp>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189</a:t>
            </a:fld>
            <a:endParaRPr lang="es-ES" altLang="es-AR"/>
          </a:p>
        </p:txBody>
      </p:sp>
    </p:spTree>
    <p:extLst>
      <p:ext uri="{BB962C8B-B14F-4D97-AF65-F5344CB8AC3E}">
        <p14:creationId xmlns:p14="http://schemas.microsoft.com/office/powerpoint/2010/main" val="274263641"/>
      </p:ext>
    </p:extLst>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1 Título"/>
          <p:cNvSpPr>
            <a:spLocks noGrp="1"/>
          </p:cNvSpPr>
          <p:nvPr>
            <p:ph type="title"/>
          </p:nvPr>
        </p:nvSpPr>
        <p:spPr>
          <a:xfrm>
            <a:off x="457200" y="274638"/>
            <a:ext cx="8229600" cy="654050"/>
          </a:xfrm>
        </p:spPr>
        <p:txBody>
          <a:bodyPr/>
          <a:lstStyle/>
          <a:p>
            <a:r>
              <a:rPr lang="es-AR" altLang="es-AR" b="1" dirty="0"/>
              <a:t>Análisis y evaluación de AW</a:t>
            </a:r>
          </a:p>
        </p:txBody>
      </p:sp>
      <p:sp>
        <p:nvSpPr>
          <p:cNvPr id="57347" name="2 Marcador de contenido"/>
          <p:cNvSpPr>
            <a:spLocks noGrp="1"/>
          </p:cNvSpPr>
          <p:nvPr>
            <p:ph idx="1"/>
          </p:nvPr>
        </p:nvSpPr>
        <p:spPr>
          <a:xfrm>
            <a:off x="430213" y="1916113"/>
            <a:ext cx="8229600" cy="4537223"/>
          </a:xfrm>
        </p:spPr>
        <p:txBody>
          <a:bodyPr/>
          <a:lstStyle/>
          <a:p>
            <a:r>
              <a:rPr lang="es-AR" dirty="0"/>
              <a:t>Validadores de accesibilidad (WCAG 2.0)</a:t>
            </a:r>
          </a:p>
          <a:p>
            <a:endParaRPr lang="es-AR" dirty="0"/>
          </a:p>
          <a:p>
            <a:pPr lvl="1"/>
            <a:r>
              <a:rPr lang="es-AR" b="1" dirty="0"/>
              <a:t> Falso Error: Imagen que es un enlace y tiene ALT vacío… pero que va acompañada por un texto dentro del enlace.</a:t>
            </a:r>
          </a:p>
          <a:p>
            <a:pPr lvl="2"/>
            <a:r>
              <a:rPr lang="es-AR" dirty="0"/>
              <a:t>&lt;a </a:t>
            </a:r>
            <a:r>
              <a:rPr lang="es-AR" dirty="0" err="1"/>
              <a:t>href</a:t>
            </a:r>
            <a:r>
              <a:rPr lang="es-AR" dirty="0"/>
              <a:t>=“ayuda.html”&gt;&lt;</a:t>
            </a:r>
            <a:r>
              <a:rPr lang="es-AR" dirty="0" err="1"/>
              <a:t>img</a:t>
            </a:r>
            <a:r>
              <a:rPr lang="es-AR" dirty="0"/>
              <a:t> </a:t>
            </a:r>
            <a:r>
              <a:rPr lang="es-AR" dirty="0" err="1"/>
              <a:t>src</a:t>
            </a:r>
            <a:r>
              <a:rPr lang="es-AR" dirty="0"/>
              <a:t>=“</a:t>
            </a:r>
            <a:r>
              <a:rPr lang="es-AR" dirty="0" err="1"/>
              <a:t>image</a:t>
            </a:r>
            <a:r>
              <a:rPr lang="es-AR" dirty="0"/>
              <a:t>/ayuda.gif” </a:t>
            </a:r>
            <a:r>
              <a:rPr lang="es-AR" dirty="0" err="1"/>
              <a:t>alt</a:t>
            </a:r>
            <a:r>
              <a:rPr lang="es-AR" dirty="0"/>
              <a:t>=“” /&gt; Ayuda &lt;/a&gt;</a:t>
            </a:r>
          </a:p>
          <a:p>
            <a:pPr lvl="2"/>
            <a:r>
              <a:rPr lang="es-AR" dirty="0"/>
              <a:t>Hay validadores automáticos que de accesibilidad basados en las WCAG 2.0 que anuncian un error cuando encuentran una imagen dentro de un enlace si dicha imagen tienen ALT vacío, sin tener en cuenta que puede ser un caso como el descripto. </a:t>
            </a:r>
          </a:p>
          <a:p>
            <a:pPr algn="just"/>
            <a:endParaRPr lang="es-AR" dirty="0"/>
          </a:p>
          <a:p>
            <a:pPr lvl="1"/>
            <a:endParaRPr lang="es-AR" dirty="0"/>
          </a:p>
          <a:p>
            <a:pPr marL="3657600" lvl="8" indent="0">
              <a:buNone/>
            </a:pPr>
            <a:r>
              <a:rPr lang="es-AR" dirty="0"/>
              <a:t>		</a:t>
            </a:r>
          </a:p>
        </p:txBody>
      </p:sp>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190</a:t>
            </a:fld>
            <a:endParaRPr lang="es-ES" altLang="es-AR"/>
          </a:p>
        </p:txBody>
      </p:sp>
    </p:spTree>
    <p:extLst>
      <p:ext uri="{BB962C8B-B14F-4D97-AF65-F5344CB8AC3E}">
        <p14:creationId xmlns:p14="http://schemas.microsoft.com/office/powerpoint/2010/main" val="1560180300"/>
      </p:ext>
    </p:extLst>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1 Título"/>
          <p:cNvSpPr>
            <a:spLocks noGrp="1"/>
          </p:cNvSpPr>
          <p:nvPr>
            <p:ph type="title"/>
          </p:nvPr>
        </p:nvSpPr>
        <p:spPr>
          <a:xfrm>
            <a:off x="457200" y="274638"/>
            <a:ext cx="8229600" cy="654050"/>
          </a:xfrm>
        </p:spPr>
        <p:txBody>
          <a:bodyPr/>
          <a:lstStyle/>
          <a:p>
            <a:r>
              <a:rPr lang="es-AR" altLang="es-AR" b="1" dirty="0"/>
              <a:t>Análisis y evaluación de AW</a:t>
            </a:r>
          </a:p>
        </p:txBody>
      </p:sp>
      <p:sp>
        <p:nvSpPr>
          <p:cNvPr id="57347" name="2 Marcador de contenido"/>
          <p:cNvSpPr>
            <a:spLocks noGrp="1"/>
          </p:cNvSpPr>
          <p:nvPr>
            <p:ph idx="1"/>
          </p:nvPr>
        </p:nvSpPr>
        <p:spPr>
          <a:xfrm>
            <a:off x="430213" y="1916113"/>
            <a:ext cx="8229600" cy="4537223"/>
          </a:xfrm>
        </p:spPr>
        <p:txBody>
          <a:bodyPr/>
          <a:lstStyle/>
          <a:p>
            <a:r>
              <a:rPr lang="es-AR" dirty="0"/>
              <a:t>Validadores de accesibilidad (WCAG 2.0)</a:t>
            </a:r>
          </a:p>
          <a:p>
            <a:endParaRPr lang="es-AR" dirty="0"/>
          </a:p>
          <a:p>
            <a:pPr lvl="1"/>
            <a:r>
              <a:rPr lang="es-AR" b="1" dirty="0"/>
              <a:t> Falso Error: Longitud de la descripción del ALT demasiado larga… pero tiene menos de 150 caracteres.</a:t>
            </a:r>
          </a:p>
          <a:p>
            <a:pPr lvl="2"/>
            <a:r>
              <a:rPr lang="es-AR" dirty="0">
                <a:sym typeface="Wingdings" pitchFamily="2" charset="2"/>
              </a:rPr>
              <a:t>Las WCAG 2.0 no especifican la longitud máxima del atributo ALT.</a:t>
            </a:r>
          </a:p>
          <a:p>
            <a:pPr lvl="2"/>
            <a:r>
              <a:rPr lang="es-AR" dirty="0">
                <a:sym typeface="Wingdings" pitchFamily="2" charset="2"/>
              </a:rPr>
              <a:t>El documento </a:t>
            </a:r>
            <a:r>
              <a:rPr lang="es-AR" i="1" u="sng" dirty="0" err="1">
                <a:sym typeface="Wingdings" pitchFamily="2" charset="2"/>
              </a:rPr>
              <a:t>Techniques</a:t>
            </a:r>
            <a:r>
              <a:rPr lang="es-AR" i="1" u="sng" dirty="0">
                <a:sym typeface="Wingdings" pitchFamily="2" charset="2"/>
              </a:rPr>
              <a:t> </a:t>
            </a:r>
            <a:r>
              <a:rPr lang="es-AR" i="1" u="sng" dirty="0" err="1">
                <a:sym typeface="Wingdings" pitchFamily="2" charset="2"/>
              </a:rPr>
              <a:t>For</a:t>
            </a:r>
            <a:r>
              <a:rPr lang="es-AR" i="1" u="sng" dirty="0">
                <a:sym typeface="Wingdings" pitchFamily="2" charset="2"/>
              </a:rPr>
              <a:t> </a:t>
            </a:r>
            <a:r>
              <a:rPr lang="es-AR" i="1" u="sng" dirty="0" err="1">
                <a:sym typeface="Wingdings" pitchFamily="2" charset="2"/>
              </a:rPr>
              <a:t>Accessibility</a:t>
            </a:r>
            <a:r>
              <a:rPr lang="es-AR" i="1" u="sng" dirty="0">
                <a:sym typeface="Wingdings" pitchFamily="2" charset="2"/>
              </a:rPr>
              <a:t> </a:t>
            </a:r>
            <a:r>
              <a:rPr lang="es-AR" i="1" u="sng" dirty="0" err="1">
                <a:sym typeface="Wingdings" pitchFamily="2" charset="2"/>
              </a:rPr>
              <a:t>Evaluation</a:t>
            </a:r>
            <a:r>
              <a:rPr lang="es-AR" i="1" u="sng" dirty="0">
                <a:sym typeface="Wingdings" pitchFamily="2" charset="2"/>
              </a:rPr>
              <a:t> And </a:t>
            </a:r>
            <a:r>
              <a:rPr lang="es-AR" i="1" u="sng" dirty="0" err="1">
                <a:sym typeface="Wingdings" pitchFamily="2" charset="2"/>
              </a:rPr>
              <a:t>Repair</a:t>
            </a:r>
            <a:r>
              <a:rPr lang="es-AR" i="1" u="sng" dirty="0">
                <a:sym typeface="Wingdings" pitchFamily="2" charset="2"/>
              </a:rPr>
              <a:t> Tools</a:t>
            </a:r>
            <a:r>
              <a:rPr lang="es-AR" dirty="0">
                <a:sym typeface="Wingdings" pitchFamily="2" charset="2"/>
              </a:rPr>
              <a:t> del W3C indica que la longitud máxima del atributo ALT será de 150 caracteres, aunque otros recursos indican no sobrepasar los 100 caracteres.</a:t>
            </a:r>
          </a:p>
          <a:p>
            <a:pPr lvl="2"/>
            <a:r>
              <a:rPr lang="es-AR" dirty="0">
                <a:sym typeface="Wingdings" pitchFamily="2" charset="2"/>
              </a:rPr>
              <a:t>Lo apropiado entonces sería que ante un texto alternativo entre 100-150 caracteres el validador ofreciera en todo caso una advertencia, pero no un error.</a:t>
            </a:r>
          </a:p>
          <a:p>
            <a:pPr algn="just"/>
            <a:endParaRPr lang="es-AR" dirty="0"/>
          </a:p>
          <a:p>
            <a:pPr lvl="1"/>
            <a:endParaRPr lang="es-AR" dirty="0"/>
          </a:p>
          <a:p>
            <a:pPr marL="3657600" lvl="8" indent="0">
              <a:buNone/>
            </a:pPr>
            <a:r>
              <a:rPr lang="es-AR" dirty="0"/>
              <a:t>		</a:t>
            </a:r>
          </a:p>
        </p:txBody>
      </p:sp>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191</a:t>
            </a:fld>
            <a:endParaRPr lang="es-ES" altLang="es-AR"/>
          </a:p>
        </p:txBody>
      </p:sp>
    </p:spTree>
    <p:extLst>
      <p:ext uri="{BB962C8B-B14F-4D97-AF65-F5344CB8AC3E}">
        <p14:creationId xmlns:p14="http://schemas.microsoft.com/office/powerpoint/2010/main" val="1441132423"/>
      </p:ext>
    </p:extLst>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1 Título"/>
          <p:cNvSpPr>
            <a:spLocks noGrp="1"/>
          </p:cNvSpPr>
          <p:nvPr>
            <p:ph type="title"/>
          </p:nvPr>
        </p:nvSpPr>
        <p:spPr>
          <a:xfrm>
            <a:off x="457200" y="274638"/>
            <a:ext cx="8229600" cy="654050"/>
          </a:xfrm>
        </p:spPr>
        <p:txBody>
          <a:bodyPr/>
          <a:lstStyle/>
          <a:p>
            <a:r>
              <a:rPr lang="es-AR" altLang="es-AR" b="1" dirty="0"/>
              <a:t>Análisis y evaluación de AW</a:t>
            </a:r>
          </a:p>
        </p:txBody>
      </p:sp>
      <p:sp>
        <p:nvSpPr>
          <p:cNvPr id="57347" name="2 Marcador de contenido"/>
          <p:cNvSpPr>
            <a:spLocks noGrp="1"/>
          </p:cNvSpPr>
          <p:nvPr>
            <p:ph idx="1"/>
          </p:nvPr>
        </p:nvSpPr>
        <p:spPr>
          <a:xfrm>
            <a:off x="430213" y="1916113"/>
            <a:ext cx="8229600" cy="4537223"/>
          </a:xfrm>
        </p:spPr>
        <p:txBody>
          <a:bodyPr/>
          <a:lstStyle/>
          <a:p>
            <a:r>
              <a:rPr lang="es-AR" dirty="0"/>
              <a:t>Herramientas de evaluación automática:</a:t>
            </a:r>
          </a:p>
          <a:p>
            <a:pPr marL="0" indent="0">
              <a:buNone/>
            </a:pPr>
            <a:endParaRPr lang="es-AR" dirty="0"/>
          </a:p>
          <a:p>
            <a:pPr lvl="1"/>
            <a:r>
              <a:rPr lang="es-AR" dirty="0"/>
              <a:t>Validadores de código HTML/CSS.</a:t>
            </a:r>
          </a:p>
          <a:p>
            <a:pPr lvl="1"/>
            <a:r>
              <a:rPr lang="es-AR" dirty="0"/>
              <a:t>Validadores de accesibilidad (WCAG 2.0).</a:t>
            </a:r>
          </a:p>
          <a:p>
            <a:pPr lvl="1"/>
            <a:r>
              <a:rPr lang="es-AR" b="1" dirty="0">
                <a:solidFill>
                  <a:srgbClr val="0070C0"/>
                </a:solidFill>
              </a:rPr>
              <a:t>Extensiones para los navegadores.</a:t>
            </a:r>
          </a:p>
          <a:p>
            <a:pPr lvl="1"/>
            <a:r>
              <a:rPr lang="es-AR" dirty="0"/>
              <a:t>Contraste de color.</a:t>
            </a:r>
          </a:p>
          <a:p>
            <a:pPr algn="just"/>
            <a:endParaRPr lang="es-AR" dirty="0"/>
          </a:p>
          <a:p>
            <a:pPr lvl="1"/>
            <a:endParaRPr lang="es-AR" dirty="0"/>
          </a:p>
          <a:p>
            <a:pPr marL="3657600" lvl="8" indent="0">
              <a:buNone/>
            </a:pPr>
            <a:r>
              <a:rPr lang="es-AR" dirty="0"/>
              <a:t>		</a:t>
            </a:r>
          </a:p>
        </p:txBody>
      </p:sp>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192</a:t>
            </a:fld>
            <a:endParaRPr lang="es-ES" altLang="es-AR"/>
          </a:p>
        </p:txBody>
      </p:sp>
    </p:spTree>
    <p:extLst>
      <p:ext uri="{BB962C8B-B14F-4D97-AF65-F5344CB8AC3E}">
        <p14:creationId xmlns:p14="http://schemas.microsoft.com/office/powerpoint/2010/main" val="2884852194"/>
      </p:ext>
    </p:extLst>
  </p:cSld>
  <p:clrMapOvr>
    <a:masterClrMapping/>
  </p:clrMapOvr>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1 Título"/>
          <p:cNvSpPr>
            <a:spLocks noGrp="1"/>
          </p:cNvSpPr>
          <p:nvPr>
            <p:ph type="title"/>
          </p:nvPr>
        </p:nvSpPr>
        <p:spPr>
          <a:xfrm>
            <a:off x="457200" y="274638"/>
            <a:ext cx="8229600" cy="654050"/>
          </a:xfrm>
        </p:spPr>
        <p:txBody>
          <a:bodyPr/>
          <a:lstStyle/>
          <a:p>
            <a:r>
              <a:rPr lang="es-AR" altLang="es-AR" b="1" dirty="0"/>
              <a:t>Análisis y evaluación de AW</a:t>
            </a:r>
          </a:p>
        </p:txBody>
      </p:sp>
      <p:sp>
        <p:nvSpPr>
          <p:cNvPr id="57347" name="2 Marcador de contenido"/>
          <p:cNvSpPr>
            <a:spLocks noGrp="1"/>
          </p:cNvSpPr>
          <p:nvPr>
            <p:ph idx="1"/>
          </p:nvPr>
        </p:nvSpPr>
        <p:spPr>
          <a:xfrm>
            <a:off x="430213" y="1916113"/>
            <a:ext cx="8229600" cy="4537223"/>
          </a:xfrm>
        </p:spPr>
        <p:txBody>
          <a:bodyPr/>
          <a:lstStyle/>
          <a:p>
            <a:r>
              <a:rPr lang="es-AR" dirty="0">
                <a:sym typeface="Wingdings" pitchFamily="2" charset="2"/>
              </a:rPr>
              <a:t>Extensiones para los navegadores:</a:t>
            </a:r>
          </a:p>
          <a:p>
            <a:endParaRPr lang="es-AR" dirty="0">
              <a:sym typeface="Wingdings" pitchFamily="2" charset="2"/>
            </a:endParaRPr>
          </a:p>
          <a:p>
            <a:pPr lvl="1"/>
            <a:r>
              <a:rPr lang="es-AR" b="1" dirty="0">
                <a:sym typeface="Wingdings" pitchFamily="2" charset="2"/>
              </a:rPr>
              <a:t>Firefox </a:t>
            </a:r>
            <a:r>
              <a:rPr lang="es-AR" b="1" dirty="0" err="1">
                <a:sym typeface="Wingdings" pitchFamily="2" charset="2"/>
              </a:rPr>
              <a:t>Accessibility</a:t>
            </a:r>
            <a:r>
              <a:rPr lang="es-AR" b="1" dirty="0">
                <a:sym typeface="Wingdings" pitchFamily="2" charset="2"/>
              </a:rPr>
              <a:t> </a:t>
            </a:r>
            <a:r>
              <a:rPr lang="es-AR" b="1" dirty="0" err="1">
                <a:sym typeface="Wingdings" pitchFamily="2" charset="2"/>
              </a:rPr>
              <a:t>Extension</a:t>
            </a:r>
            <a:r>
              <a:rPr lang="es-AR" dirty="0">
                <a:sym typeface="Wingdings" pitchFamily="2" charset="2"/>
              </a:rPr>
              <a:t>:  </a:t>
            </a:r>
            <a:r>
              <a:rPr lang="es-AR" sz="1800" dirty="0">
                <a:sym typeface="Wingdings" pitchFamily="2" charset="2"/>
                <a:hlinkClick r:id="rId3"/>
              </a:rPr>
              <a:t>http://firefox.cita.uiuc.edu/</a:t>
            </a:r>
            <a:endParaRPr lang="es-AR" sz="1800" dirty="0">
              <a:sym typeface="Wingdings" pitchFamily="2" charset="2"/>
            </a:endParaRPr>
          </a:p>
          <a:p>
            <a:pPr lvl="1"/>
            <a:endParaRPr lang="es-AR" sz="1800" dirty="0">
              <a:sym typeface="Wingdings" pitchFamily="2" charset="2"/>
            </a:endParaRPr>
          </a:p>
          <a:p>
            <a:pPr lvl="1"/>
            <a:r>
              <a:rPr lang="es-AR" b="1" dirty="0">
                <a:sym typeface="Wingdings" pitchFamily="2" charset="2"/>
              </a:rPr>
              <a:t>Web </a:t>
            </a:r>
            <a:r>
              <a:rPr lang="es-AR" b="1" dirty="0" err="1">
                <a:sym typeface="Wingdings" pitchFamily="2" charset="2"/>
              </a:rPr>
              <a:t>Accessibility</a:t>
            </a:r>
            <a:r>
              <a:rPr lang="es-AR" b="1" dirty="0">
                <a:sym typeface="Wingdings" pitchFamily="2" charset="2"/>
              </a:rPr>
              <a:t> </a:t>
            </a:r>
            <a:r>
              <a:rPr lang="es-AR" b="1" dirty="0" err="1">
                <a:sym typeface="Wingdings" pitchFamily="2" charset="2"/>
              </a:rPr>
              <a:t>Toolbar</a:t>
            </a:r>
            <a:r>
              <a:rPr lang="es-AR" dirty="0">
                <a:sym typeface="Wingdings" pitchFamily="2" charset="2"/>
              </a:rPr>
              <a:t> (IE y Opera): </a:t>
            </a:r>
            <a:r>
              <a:rPr lang="es-AR" dirty="0">
                <a:sym typeface="Wingdings" pitchFamily="2" charset="2"/>
                <a:hlinkClick r:id="rId4"/>
              </a:rPr>
              <a:t>http://www.visionaustralia.org/digital-access-wat</a:t>
            </a:r>
            <a:endParaRPr lang="es-AR" dirty="0">
              <a:sym typeface="Wingdings" pitchFamily="2" charset="2"/>
            </a:endParaRPr>
          </a:p>
          <a:p>
            <a:pPr lvl="1"/>
            <a:endParaRPr lang="es-AR" dirty="0">
              <a:sym typeface="Wingdings" pitchFamily="2" charset="2"/>
            </a:endParaRPr>
          </a:p>
          <a:p>
            <a:pPr lvl="1"/>
            <a:r>
              <a:rPr lang="es-AR" b="1" dirty="0">
                <a:sym typeface="Wingdings" pitchFamily="2" charset="2"/>
              </a:rPr>
              <a:t>Web </a:t>
            </a:r>
            <a:r>
              <a:rPr lang="es-AR" b="1" dirty="0" err="1">
                <a:sym typeface="Wingdings" pitchFamily="2" charset="2"/>
              </a:rPr>
              <a:t>Developer</a:t>
            </a:r>
            <a:r>
              <a:rPr lang="es-AR" b="1" dirty="0">
                <a:sym typeface="Wingdings" pitchFamily="2" charset="2"/>
              </a:rPr>
              <a:t> </a:t>
            </a:r>
            <a:r>
              <a:rPr lang="es-AR" b="1" dirty="0" err="1">
                <a:sym typeface="Wingdings" pitchFamily="2" charset="2"/>
              </a:rPr>
              <a:t>Toolbar</a:t>
            </a:r>
            <a:r>
              <a:rPr lang="es-AR" dirty="0">
                <a:sym typeface="Wingdings" pitchFamily="2" charset="2"/>
              </a:rPr>
              <a:t> (Firefox, Opera, Chrome): </a:t>
            </a:r>
            <a:r>
              <a:rPr lang="es-AR" dirty="0">
                <a:sym typeface="Wingdings" pitchFamily="2" charset="2"/>
                <a:hlinkClick r:id="rId5"/>
              </a:rPr>
              <a:t>http://chrispederick.com/work/web-developer/</a:t>
            </a:r>
            <a:endParaRPr lang="es-AR" dirty="0">
              <a:sym typeface="Wingdings" pitchFamily="2" charset="2"/>
            </a:endParaRPr>
          </a:p>
          <a:p>
            <a:pPr lvl="1"/>
            <a:endParaRPr lang="es-AR" dirty="0">
              <a:sym typeface="Wingdings" pitchFamily="2" charset="2"/>
            </a:endParaRPr>
          </a:p>
          <a:p>
            <a:pPr lvl="1"/>
            <a:r>
              <a:rPr lang="es-AR" b="1" dirty="0" err="1">
                <a:sym typeface="Wingdings" pitchFamily="2" charset="2"/>
              </a:rPr>
              <a:t>Accessibility</a:t>
            </a:r>
            <a:r>
              <a:rPr lang="es-AR" b="1" dirty="0">
                <a:sym typeface="Wingdings" pitchFamily="2" charset="2"/>
              </a:rPr>
              <a:t> </a:t>
            </a:r>
            <a:r>
              <a:rPr lang="es-AR" b="1" dirty="0" err="1">
                <a:sym typeface="Wingdings" pitchFamily="2" charset="2"/>
              </a:rPr>
              <a:t>Developer</a:t>
            </a:r>
            <a:r>
              <a:rPr lang="es-AR" b="1" dirty="0">
                <a:sym typeface="Wingdings" pitchFamily="2" charset="2"/>
              </a:rPr>
              <a:t> Tools </a:t>
            </a:r>
            <a:r>
              <a:rPr lang="es-AR" dirty="0">
                <a:sym typeface="Wingdings" pitchFamily="2" charset="2"/>
              </a:rPr>
              <a:t>(Chrome): </a:t>
            </a:r>
            <a:r>
              <a:rPr lang="es-AR" dirty="0">
                <a:sym typeface="Wingdings" pitchFamily="2" charset="2"/>
                <a:hlinkClick r:id="rId6"/>
              </a:rPr>
              <a:t>https://chrome.google.com/webstore/detail/accessibility-developer-t/fpkknkljclfencbdbgkenhalefipecmb</a:t>
            </a:r>
            <a:endParaRPr lang="es-AR" dirty="0">
              <a:sym typeface="Wingdings" pitchFamily="2" charset="2"/>
            </a:endParaRPr>
          </a:p>
          <a:p>
            <a:pPr algn="just"/>
            <a:endParaRPr lang="es-AR" dirty="0"/>
          </a:p>
          <a:p>
            <a:pPr lvl="1"/>
            <a:endParaRPr lang="es-AR" dirty="0"/>
          </a:p>
          <a:p>
            <a:pPr marL="3657600" lvl="8" indent="0">
              <a:buNone/>
            </a:pPr>
            <a:r>
              <a:rPr lang="es-AR" dirty="0"/>
              <a:t>		</a:t>
            </a:r>
          </a:p>
        </p:txBody>
      </p:sp>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193</a:t>
            </a:fld>
            <a:endParaRPr lang="es-ES" altLang="es-AR"/>
          </a:p>
        </p:txBody>
      </p:sp>
    </p:spTree>
    <p:extLst>
      <p:ext uri="{BB962C8B-B14F-4D97-AF65-F5344CB8AC3E}">
        <p14:creationId xmlns:p14="http://schemas.microsoft.com/office/powerpoint/2010/main" val="1567621986"/>
      </p:ext>
    </p:extLst>
  </p:cSld>
  <p:clrMapOvr>
    <a:masterClrMapping/>
  </p:clrMapOvr>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1 Título"/>
          <p:cNvSpPr>
            <a:spLocks noGrp="1"/>
          </p:cNvSpPr>
          <p:nvPr>
            <p:ph type="title"/>
          </p:nvPr>
        </p:nvSpPr>
        <p:spPr>
          <a:xfrm>
            <a:off x="457200" y="274638"/>
            <a:ext cx="8229600" cy="654050"/>
          </a:xfrm>
        </p:spPr>
        <p:txBody>
          <a:bodyPr/>
          <a:lstStyle/>
          <a:p>
            <a:r>
              <a:rPr lang="es-AR" altLang="es-AR" b="1" dirty="0"/>
              <a:t>Análisis y evaluación de AW</a:t>
            </a:r>
          </a:p>
        </p:txBody>
      </p:sp>
      <p:sp>
        <p:nvSpPr>
          <p:cNvPr id="57347" name="2 Marcador de contenido"/>
          <p:cNvSpPr>
            <a:spLocks noGrp="1"/>
          </p:cNvSpPr>
          <p:nvPr>
            <p:ph idx="1"/>
          </p:nvPr>
        </p:nvSpPr>
        <p:spPr>
          <a:xfrm>
            <a:off x="430213" y="1916113"/>
            <a:ext cx="8229600" cy="4537223"/>
          </a:xfrm>
        </p:spPr>
        <p:txBody>
          <a:bodyPr/>
          <a:lstStyle/>
          <a:p>
            <a:r>
              <a:rPr lang="es-AR" dirty="0"/>
              <a:t>Herramientas de evaluación automática:</a:t>
            </a:r>
          </a:p>
          <a:p>
            <a:pPr marL="0" indent="0">
              <a:buNone/>
            </a:pPr>
            <a:endParaRPr lang="es-AR" dirty="0"/>
          </a:p>
          <a:p>
            <a:pPr lvl="1"/>
            <a:r>
              <a:rPr lang="es-AR" dirty="0"/>
              <a:t>Validadores de código HTML/CSS.</a:t>
            </a:r>
          </a:p>
          <a:p>
            <a:pPr lvl="1"/>
            <a:r>
              <a:rPr lang="es-AR" dirty="0"/>
              <a:t>Validadores de accesibilidad (WCAG 2.0).</a:t>
            </a:r>
          </a:p>
          <a:p>
            <a:pPr lvl="1"/>
            <a:r>
              <a:rPr lang="es-AR" dirty="0"/>
              <a:t>Extensiones para los navegadores.</a:t>
            </a:r>
          </a:p>
          <a:p>
            <a:pPr lvl="1"/>
            <a:r>
              <a:rPr lang="es-AR" b="1" dirty="0">
                <a:solidFill>
                  <a:srgbClr val="0070C0"/>
                </a:solidFill>
              </a:rPr>
              <a:t>Contraste de color.</a:t>
            </a:r>
          </a:p>
          <a:p>
            <a:pPr algn="just"/>
            <a:endParaRPr lang="es-AR" dirty="0"/>
          </a:p>
          <a:p>
            <a:pPr lvl="1"/>
            <a:endParaRPr lang="es-AR" dirty="0"/>
          </a:p>
          <a:p>
            <a:pPr marL="3657600" lvl="8" indent="0">
              <a:buNone/>
            </a:pPr>
            <a:r>
              <a:rPr lang="es-AR" dirty="0"/>
              <a:t>		</a:t>
            </a:r>
          </a:p>
        </p:txBody>
      </p:sp>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194</a:t>
            </a:fld>
            <a:endParaRPr lang="es-ES" altLang="es-AR"/>
          </a:p>
        </p:txBody>
      </p:sp>
    </p:spTree>
    <p:extLst>
      <p:ext uri="{BB962C8B-B14F-4D97-AF65-F5344CB8AC3E}">
        <p14:creationId xmlns:p14="http://schemas.microsoft.com/office/powerpoint/2010/main" val="2896567625"/>
      </p:ext>
    </p:extLst>
  </p:cSld>
  <p:clrMapOvr>
    <a:masterClrMapping/>
  </p:clrMapOvr>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1 Título"/>
          <p:cNvSpPr>
            <a:spLocks noGrp="1"/>
          </p:cNvSpPr>
          <p:nvPr>
            <p:ph type="title"/>
          </p:nvPr>
        </p:nvSpPr>
        <p:spPr>
          <a:xfrm>
            <a:off x="457200" y="274638"/>
            <a:ext cx="8229600" cy="654050"/>
          </a:xfrm>
        </p:spPr>
        <p:txBody>
          <a:bodyPr/>
          <a:lstStyle/>
          <a:p>
            <a:r>
              <a:rPr lang="es-AR" altLang="es-AR" b="1" dirty="0"/>
              <a:t>Análisis y evaluación de AW</a:t>
            </a:r>
          </a:p>
        </p:txBody>
      </p:sp>
      <p:sp>
        <p:nvSpPr>
          <p:cNvPr id="57347" name="2 Marcador de contenido"/>
          <p:cNvSpPr>
            <a:spLocks noGrp="1"/>
          </p:cNvSpPr>
          <p:nvPr>
            <p:ph idx="1"/>
          </p:nvPr>
        </p:nvSpPr>
        <p:spPr>
          <a:xfrm>
            <a:off x="430213" y="1916113"/>
            <a:ext cx="8229600" cy="4537223"/>
          </a:xfrm>
        </p:spPr>
        <p:txBody>
          <a:bodyPr/>
          <a:lstStyle/>
          <a:p>
            <a:r>
              <a:rPr lang="es-AR" dirty="0">
                <a:sym typeface="Wingdings" pitchFamily="2" charset="2"/>
              </a:rPr>
              <a:t>Contraste de Color:</a:t>
            </a:r>
          </a:p>
          <a:p>
            <a:endParaRPr lang="es-AR" dirty="0">
              <a:sym typeface="Wingdings" pitchFamily="2" charset="2"/>
            </a:endParaRPr>
          </a:p>
          <a:p>
            <a:pPr lvl="1"/>
            <a:r>
              <a:rPr lang="es-AR" b="1" dirty="0" err="1">
                <a:sym typeface="Wingdings" pitchFamily="2" charset="2"/>
              </a:rPr>
              <a:t>Colour</a:t>
            </a:r>
            <a:r>
              <a:rPr lang="es-AR" b="1" dirty="0">
                <a:sym typeface="Wingdings" pitchFamily="2" charset="2"/>
              </a:rPr>
              <a:t> </a:t>
            </a:r>
            <a:r>
              <a:rPr lang="es-AR" b="1" dirty="0" err="1">
                <a:sym typeface="Wingdings" pitchFamily="2" charset="2"/>
              </a:rPr>
              <a:t>Contrast</a:t>
            </a:r>
            <a:r>
              <a:rPr lang="es-AR" b="1" dirty="0">
                <a:sym typeface="Wingdings" pitchFamily="2" charset="2"/>
              </a:rPr>
              <a:t> </a:t>
            </a:r>
            <a:r>
              <a:rPr lang="es-AR" b="1" dirty="0" err="1">
                <a:sym typeface="Wingdings" pitchFamily="2" charset="2"/>
              </a:rPr>
              <a:t>Analyser</a:t>
            </a:r>
            <a:r>
              <a:rPr lang="es-AR" b="1" dirty="0">
                <a:sym typeface="Wingdings" pitchFamily="2" charset="2"/>
              </a:rPr>
              <a:t> </a:t>
            </a:r>
            <a:r>
              <a:rPr lang="es-AR" dirty="0">
                <a:sym typeface="Wingdings" pitchFamily="2" charset="2"/>
              </a:rPr>
              <a:t>(local): </a:t>
            </a:r>
            <a:r>
              <a:rPr lang="es-AR" dirty="0">
                <a:sym typeface="Wingdings" pitchFamily="2" charset="2"/>
                <a:hlinkClick r:id="rId3"/>
              </a:rPr>
              <a:t>http://www.paciellogroup.com/resources/contrastanalyser/</a:t>
            </a:r>
            <a:endParaRPr lang="es-AR" dirty="0">
              <a:sym typeface="Wingdings" pitchFamily="2" charset="2"/>
            </a:endParaRPr>
          </a:p>
          <a:p>
            <a:pPr lvl="1"/>
            <a:endParaRPr lang="es-AR" dirty="0">
              <a:sym typeface="Wingdings" pitchFamily="2" charset="2"/>
            </a:endParaRPr>
          </a:p>
          <a:p>
            <a:pPr lvl="1"/>
            <a:r>
              <a:rPr lang="es-AR" b="1" dirty="0">
                <a:sym typeface="Wingdings" pitchFamily="2" charset="2"/>
              </a:rPr>
              <a:t>WCAG </a:t>
            </a:r>
            <a:r>
              <a:rPr lang="es-AR" b="1" dirty="0" err="1">
                <a:sym typeface="Wingdings" pitchFamily="2" charset="2"/>
              </a:rPr>
              <a:t>Contrast</a:t>
            </a:r>
            <a:r>
              <a:rPr lang="es-AR" b="1" dirty="0">
                <a:sym typeface="Wingdings" pitchFamily="2" charset="2"/>
              </a:rPr>
              <a:t> </a:t>
            </a:r>
            <a:r>
              <a:rPr lang="es-AR" b="1" dirty="0" err="1">
                <a:sym typeface="Wingdings" pitchFamily="2" charset="2"/>
              </a:rPr>
              <a:t>checker</a:t>
            </a:r>
            <a:r>
              <a:rPr lang="es-AR" b="1" dirty="0">
                <a:sym typeface="Wingdings" pitchFamily="2" charset="2"/>
              </a:rPr>
              <a:t> </a:t>
            </a:r>
            <a:r>
              <a:rPr lang="es-AR" dirty="0">
                <a:sym typeface="Wingdings" pitchFamily="2" charset="2"/>
              </a:rPr>
              <a:t>(extensión Firefox): </a:t>
            </a:r>
            <a:r>
              <a:rPr lang="es-AR" dirty="0">
                <a:sym typeface="Wingdings" pitchFamily="2" charset="2"/>
                <a:hlinkClick r:id="rId4"/>
              </a:rPr>
              <a:t>https://addons.mozilla.org/en-US/firefox/addon/wcag-contrast-checker/</a:t>
            </a:r>
            <a:endParaRPr lang="es-AR" dirty="0">
              <a:sym typeface="Wingdings" pitchFamily="2" charset="2"/>
            </a:endParaRPr>
          </a:p>
          <a:p>
            <a:pPr lvl="1"/>
            <a:endParaRPr lang="es-AR" dirty="0">
              <a:sym typeface="Wingdings" pitchFamily="2" charset="2"/>
            </a:endParaRPr>
          </a:p>
          <a:p>
            <a:pPr lvl="1"/>
            <a:r>
              <a:rPr lang="es-AR" b="1" dirty="0" err="1">
                <a:sym typeface="Wingdings" pitchFamily="2" charset="2"/>
              </a:rPr>
              <a:t>Accessibility</a:t>
            </a:r>
            <a:r>
              <a:rPr lang="es-AR" b="1" dirty="0">
                <a:sym typeface="Wingdings" pitchFamily="2" charset="2"/>
              </a:rPr>
              <a:t> Color Wheel </a:t>
            </a:r>
            <a:r>
              <a:rPr lang="es-AR" dirty="0">
                <a:sym typeface="Wingdings" pitchFamily="2" charset="2"/>
              </a:rPr>
              <a:t>(online): </a:t>
            </a:r>
            <a:r>
              <a:rPr lang="es-AR" dirty="0">
                <a:sym typeface="Wingdings" pitchFamily="2" charset="2"/>
                <a:hlinkClick r:id="rId5"/>
              </a:rPr>
              <a:t>http://gmazzocato.altervista.org/colorwheel/wheel.php</a:t>
            </a:r>
            <a:endParaRPr lang="es-AR" dirty="0">
              <a:sym typeface="Wingdings" pitchFamily="2" charset="2"/>
            </a:endParaRPr>
          </a:p>
          <a:p>
            <a:pPr algn="just"/>
            <a:endParaRPr lang="es-AR" dirty="0"/>
          </a:p>
          <a:p>
            <a:pPr lvl="1"/>
            <a:endParaRPr lang="es-AR" dirty="0"/>
          </a:p>
          <a:p>
            <a:pPr marL="3657600" lvl="8" indent="0">
              <a:buNone/>
            </a:pPr>
            <a:r>
              <a:rPr lang="es-AR" dirty="0"/>
              <a:t>		</a:t>
            </a:r>
          </a:p>
        </p:txBody>
      </p:sp>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195</a:t>
            </a:fld>
            <a:endParaRPr lang="es-ES" altLang="es-AR"/>
          </a:p>
        </p:txBody>
      </p:sp>
    </p:spTree>
    <p:extLst>
      <p:ext uri="{BB962C8B-B14F-4D97-AF65-F5344CB8AC3E}">
        <p14:creationId xmlns:p14="http://schemas.microsoft.com/office/powerpoint/2010/main" val="238526228"/>
      </p:ext>
    </p:extLst>
  </p:cSld>
  <p:clrMapOvr>
    <a:masterClrMapping/>
  </p:clrMapOvr>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1 Título"/>
          <p:cNvSpPr>
            <a:spLocks noGrp="1"/>
          </p:cNvSpPr>
          <p:nvPr>
            <p:ph type="title"/>
          </p:nvPr>
        </p:nvSpPr>
        <p:spPr>
          <a:xfrm>
            <a:off x="457200" y="274638"/>
            <a:ext cx="8229600" cy="654050"/>
          </a:xfrm>
        </p:spPr>
        <p:txBody>
          <a:bodyPr/>
          <a:lstStyle/>
          <a:p>
            <a:r>
              <a:rPr lang="es-AR" altLang="es-AR" b="1" dirty="0"/>
              <a:t>Análisis y evaluación de AW</a:t>
            </a:r>
          </a:p>
        </p:txBody>
      </p:sp>
      <p:sp>
        <p:nvSpPr>
          <p:cNvPr id="57347" name="2 Marcador de contenido"/>
          <p:cNvSpPr>
            <a:spLocks noGrp="1"/>
          </p:cNvSpPr>
          <p:nvPr>
            <p:ph idx="1"/>
          </p:nvPr>
        </p:nvSpPr>
        <p:spPr>
          <a:xfrm>
            <a:off x="430213" y="1916113"/>
            <a:ext cx="2701627" cy="4537223"/>
          </a:xfrm>
        </p:spPr>
        <p:txBody>
          <a:bodyPr/>
          <a:lstStyle/>
          <a:p>
            <a:r>
              <a:rPr lang="es-AR" dirty="0">
                <a:sym typeface="Wingdings" pitchFamily="2" charset="2"/>
              </a:rPr>
              <a:t>Análisis de accesibilidad con TAW</a:t>
            </a:r>
          </a:p>
          <a:p>
            <a:endParaRPr lang="es-AR" dirty="0">
              <a:sym typeface="Wingdings" pitchFamily="2" charset="2"/>
            </a:endParaRPr>
          </a:p>
          <a:p>
            <a:pPr lvl="1"/>
            <a:r>
              <a:rPr lang="es-AR" dirty="0">
                <a:sym typeface="Wingdings" pitchFamily="2" charset="2"/>
              </a:rPr>
              <a:t>TAW es un analizador basado en las Pautas de Accesibilidad al Contenido Web 2.0 (WCAG).</a:t>
            </a:r>
          </a:p>
          <a:p>
            <a:pPr lvl="1"/>
            <a:r>
              <a:rPr lang="es-AR" dirty="0">
                <a:sym typeface="Wingdings" pitchFamily="2" charset="2"/>
              </a:rPr>
              <a:t>URL: </a:t>
            </a:r>
            <a:r>
              <a:rPr lang="es-AR" dirty="0">
                <a:sym typeface="Wingdings" pitchFamily="2" charset="2"/>
                <a:hlinkClick r:id="rId3"/>
              </a:rPr>
              <a:t>http://www.tawdis.net/</a:t>
            </a:r>
            <a:endParaRPr lang="es-AR" dirty="0">
              <a:sym typeface="Wingdings" pitchFamily="2" charset="2"/>
            </a:endParaRPr>
          </a:p>
          <a:p>
            <a:pPr algn="just"/>
            <a:endParaRPr lang="es-AR" dirty="0"/>
          </a:p>
          <a:p>
            <a:pPr lvl="1"/>
            <a:endParaRPr lang="es-AR" dirty="0"/>
          </a:p>
          <a:p>
            <a:pPr marL="3657600" lvl="8" indent="0">
              <a:buNone/>
            </a:pPr>
            <a:r>
              <a:rPr lang="es-AR" dirty="0"/>
              <a:t>		</a:t>
            </a:r>
          </a:p>
        </p:txBody>
      </p:sp>
      <p:pic>
        <p:nvPicPr>
          <p:cNvPr id="4" name="Picture 2"/>
          <p:cNvPicPr>
            <a:picLocks noChangeAspect="1" noChangeArrowheads="1"/>
          </p:cNvPicPr>
          <p:nvPr/>
        </p:nvPicPr>
        <p:blipFill>
          <a:blip r:embed="rId4" cstate="print"/>
          <a:srcRect l="16349" t="6349" r="16032" b="19718"/>
          <a:stretch>
            <a:fillRect/>
          </a:stretch>
        </p:blipFill>
        <p:spPr bwMode="auto">
          <a:xfrm>
            <a:off x="3288690" y="2852936"/>
            <a:ext cx="5400600" cy="3321495"/>
          </a:xfrm>
          <a:prstGeom prst="rect">
            <a:avLst/>
          </a:prstGeom>
          <a:noFill/>
          <a:ln w="9525">
            <a:noFill/>
            <a:miter lim="800000"/>
            <a:headEnd/>
            <a:tailEnd/>
          </a:ln>
          <a:effectLst/>
        </p:spPr>
      </p:pic>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196</a:t>
            </a:fld>
            <a:endParaRPr lang="es-ES" altLang="es-AR"/>
          </a:p>
        </p:txBody>
      </p:sp>
    </p:spTree>
    <p:extLst>
      <p:ext uri="{BB962C8B-B14F-4D97-AF65-F5344CB8AC3E}">
        <p14:creationId xmlns:p14="http://schemas.microsoft.com/office/powerpoint/2010/main" val="1186093832"/>
      </p:ext>
    </p:extLst>
  </p:cSld>
  <p:clrMapOvr>
    <a:masterClrMapping/>
  </p:clrMapOvr>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1 Título"/>
          <p:cNvSpPr>
            <a:spLocks noGrp="1"/>
          </p:cNvSpPr>
          <p:nvPr>
            <p:ph type="title"/>
          </p:nvPr>
        </p:nvSpPr>
        <p:spPr>
          <a:xfrm>
            <a:off x="457200" y="274638"/>
            <a:ext cx="8229600" cy="654050"/>
          </a:xfrm>
        </p:spPr>
        <p:txBody>
          <a:bodyPr/>
          <a:lstStyle/>
          <a:p>
            <a:r>
              <a:rPr lang="es-AR" altLang="es-AR" b="1" dirty="0"/>
              <a:t>Análisis y evaluación de AW</a:t>
            </a:r>
          </a:p>
        </p:txBody>
      </p:sp>
      <p:sp>
        <p:nvSpPr>
          <p:cNvPr id="57347" name="2 Marcador de contenido"/>
          <p:cNvSpPr>
            <a:spLocks noGrp="1"/>
          </p:cNvSpPr>
          <p:nvPr>
            <p:ph idx="1"/>
          </p:nvPr>
        </p:nvSpPr>
        <p:spPr>
          <a:xfrm>
            <a:off x="430213" y="1916113"/>
            <a:ext cx="8229600" cy="432767"/>
          </a:xfrm>
        </p:spPr>
        <p:txBody>
          <a:bodyPr/>
          <a:lstStyle/>
          <a:p>
            <a:r>
              <a:rPr lang="es-AR" dirty="0">
                <a:sym typeface="Wingdings" pitchFamily="2" charset="2"/>
              </a:rPr>
              <a:t>Análisis de accesibilidad con TAW</a:t>
            </a:r>
          </a:p>
          <a:p>
            <a:pPr algn="just"/>
            <a:endParaRPr lang="es-AR" dirty="0"/>
          </a:p>
          <a:p>
            <a:pPr lvl="1"/>
            <a:endParaRPr lang="es-AR" dirty="0"/>
          </a:p>
          <a:p>
            <a:pPr marL="3657600" lvl="8" indent="0">
              <a:buNone/>
            </a:pPr>
            <a:r>
              <a:rPr lang="es-AR" dirty="0"/>
              <a:t>		</a:t>
            </a:r>
          </a:p>
        </p:txBody>
      </p:sp>
      <p:pic>
        <p:nvPicPr>
          <p:cNvPr id="4" name="Picture 2"/>
          <p:cNvPicPr>
            <a:picLocks noChangeAspect="1" noChangeArrowheads="1"/>
          </p:cNvPicPr>
          <p:nvPr/>
        </p:nvPicPr>
        <p:blipFill>
          <a:blip r:embed="rId3" cstate="print"/>
          <a:srcRect l="30159" t="50652" r="29603" b="13228"/>
          <a:stretch>
            <a:fillRect/>
          </a:stretch>
        </p:blipFill>
        <p:spPr bwMode="auto">
          <a:xfrm>
            <a:off x="2575825" y="2510786"/>
            <a:ext cx="6432753" cy="3248097"/>
          </a:xfrm>
          <a:prstGeom prst="rect">
            <a:avLst/>
          </a:prstGeom>
          <a:noFill/>
          <a:ln w="9525">
            <a:noFill/>
            <a:miter lim="800000"/>
            <a:headEnd/>
            <a:tailEnd/>
          </a:ln>
          <a:effectLst/>
        </p:spPr>
      </p:pic>
      <p:sp>
        <p:nvSpPr>
          <p:cNvPr id="5" name="5 CuadroTexto"/>
          <p:cNvSpPr txBox="1"/>
          <p:nvPr/>
        </p:nvSpPr>
        <p:spPr>
          <a:xfrm>
            <a:off x="422221" y="2510786"/>
            <a:ext cx="1413475" cy="1015663"/>
          </a:xfrm>
          <a:prstGeom prst="rect">
            <a:avLst/>
          </a:prstGeom>
          <a:noFill/>
        </p:spPr>
        <p:txBody>
          <a:bodyPr wrap="square" rtlCol="0">
            <a:spAutoFit/>
          </a:bodyPr>
          <a:lstStyle/>
          <a:p>
            <a:pPr marL="0" lvl="1"/>
            <a:r>
              <a:rPr lang="es-AR" sz="2000" dirty="0">
                <a:sym typeface="Wingdings" pitchFamily="2" charset="2"/>
              </a:rPr>
              <a:t>1. Escribir la Web a analizar.</a:t>
            </a:r>
            <a:endParaRPr lang="es-AR" dirty="0"/>
          </a:p>
        </p:txBody>
      </p:sp>
      <p:sp>
        <p:nvSpPr>
          <p:cNvPr id="6" name="6 CuadroTexto"/>
          <p:cNvSpPr txBox="1"/>
          <p:nvPr/>
        </p:nvSpPr>
        <p:spPr>
          <a:xfrm>
            <a:off x="457200" y="3728321"/>
            <a:ext cx="1513950" cy="1015663"/>
          </a:xfrm>
          <a:prstGeom prst="rect">
            <a:avLst/>
          </a:prstGeom>
          <a:noFill/>
        </p:spPr>
        <p:txBody>
          <a:bodyPr wrap="square" rtlCol="0">
            <a:spAutoFit/>
          </a:bodyPr>
          <a:lstStyle/>
          <a:p>
            <a:r>
              <a:rPr lang="es-AR" sz="2000" dirty="0">
                <a:sym typeface="Wingdings" pitchFamily="2" charset="2"/>
              </a:rPr>
              <a:t>2. Revisar Opciones de análisis.</a:t>
            </a:r>
            <a:endParaRPr lang="es-AR" dirty="0"/>
          </a:p>
        </p:txBody>
      </p:sp>
      <p:sp>
        <p:nvSpPr>
          <p:cNvPr id="7" name="7 Flecha a la derecha con muesca"/>
          <p:cNvSpPr/>
          <p:nvPr/>
        </p:nvSpPr>
        <p:spPr>
          <a:xfrm>
            <a:off x="1911687" y="3081515"/>
            <a:ext cx="593916" cy="444934"/>
          </a:xfrm>
          <a:prstGeom prst="notched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8" name="9 Abrir llave"/>
          <p:cNvSpPr/>
          <p:nvPr/>
        </p:nvSpPr>
        <p:spPr>
          <a:xfrm>
            <a:off x="2191033" y="3728321"/>
            <a:ext cx="45719" cy="1175657"/>
          </a:xfrm>
          <a:prstGeom prst="leftBrace">
            <a:avLst/>
          </a:prstGeom>
          <a:ln w="25400"/>
        </p:spPr>
        <p:style>
          <a:lnRef idx="1">
            <a:schemeClr val="accent1"/>
          </a:lnRef>
          <a:fillRef idx="0">
            <a:schemeClr val="accent1"/>
          </a:fillRef>
          <a:effectRef idx="0">
            <a:schemeClr val="accent1"/>
          </a:effectRef>
          <a:fontRef idx="minor">
            <a:schemeClr val="tx1"/>
          </a:fontRef>
        </p:style>
        <p:txBody>
          <a:bodyPr rtlCol="0" anchor="ctr"/>
          <a:lstStyle/>
          <a:p>
            <a:pPr algn="ctr"/>
            <a:endParaRPr lang="es-AR"/>
          </a:p>
        </p:txBody>
      </p:sp>
      <p:sp>
        <p:nvSpPr>
          <p:cNvPr id="9" name="10 CuadroTexto"/>
          <p:cNvSpPr txBox="1"/>
          <p:nvPr/>
        </p:nvSpPr>
        <p:spPr>
          <a:xfrm>
            <a:off x="458505" y="4934671"/>
            <a:ext cx="1512645" cy="1015663"/>
          </a:xfrm>
          <a:prstGeom prst="rect">
            <a:avLst/>
          </a:prstGeom>
          <a:noFill/>
        </p:spPr>
        <p:txBody>
          <a:bodyPr wrap="square" rtlCol="0">
            <a:spAutoFit/>
          </a:bodyPr>
          <a:lstStyle/>
          <a:p>
            <a:r>
              <a:rPr lang="es-AR" sz="2000" dirty="0">
                <a:sym typeface="Wingdings" pitchFamily="2" charset="2"/>
              </a:rPr>
              <a:t>3. Clic en botón analizar.</a:t>
            </a:r>
            <a:endParaRPr lang="es-AR" dirty="0"/>
          </a:p>
        </p:txBody>
      </p:sp>
      <p:sp>
        <p:nvSpPr>
          <p:cNvPr id="11" name="7 Flecha a la derecha con muesca"/>
          <p:cNvSpPr/>
          <p:nvPr/>
        </p:nvSpPr>
        <p:spPr>
          <a:xfrm>
            <a:off x="1908803" y="5094665"/>
            <a:ext cx="593916" cy="444934"/>
          </a:xfrm>
          <a:prstGeom prst="notched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197</a:t>
            </a:fld>
            <a:endParaRPr lang="es-ES" altLang="es-AR"/>
          </a:p>
        </p:txBody>
      </p:sp>
    </p:spTree>
    <p:extLst>
      <p:ext uri="{BB962C8B-B14F-4D97-AF65-F5344CB8AC3E}">
        <p14:creationId xmlns:p14="http://schemas.microsoft.com/office/powerpoint/2010/main" val="322337246"/>
      </p:ext>
    </p:extLst>
  </p:cSld>
  <p:clrMapOvr>
    <a:masterClrMapping/>
  </p:clrMapOvr>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1 Título"/>
          <p:cNvSpPr>
            <a:spLocks noGrp="1"/>
          </p:cNvSpPr>
          <p:nvPr>
            <p:ph type="title"/>
          </p:nvPr>
        </p:nvSpPr>
        <p:spPr>
          <a:xfrm>
            <a:off x="457200" y="274638"/>
            <a:ext cx="8229600" cy="654050"/>
          </a:xfrm>
        </p:spPr>
        <p:txBody>
          <a:bodyPr/>
          <a:lstStyle/>
          <a:p>
            <a:r>
              <a:rPr lang="es-AR" altLang="es-AR" b="1" dirty="0"/>
              <a:t>Análisis y evaluación de AW</a:t>
            </a:r>
          </a:p>
        </p:txBody>
      </p:sp>
      <p:sp>
        <p:nvSpPr>
          <p:cNvPr id="57347" name="2 Marcador de contenido"/>
          <p:cNvSpPr>
            <a:spLocks noGrp="1"/>
          </p:cNvSpPr>
          <p:nvPr>
            <p:ph idx="1"/>
          </p:nvPr>
        </p:nvSpPr>
        <p:spPr>
          <a:xfrm>
            <a:off x="430213" y="1916113"/>
            <a:ext cx="8229600" cy="432767"/>
          </a:xfrm>
        </p:spPr>
        <p:txBody>
          <a:bodyPr/>
          <a:lstStyle/>
          <a:p>
            <a:r>
              <a:rPr lang="es-AR" dirty="0">
                <a:sym typeface="Wingdings" pitchFamily="2" charset="2"/>
              </a:rPr>
              <a:t>Análisis de accesibilidad con TAW (Resumen)</a:t>
            </a:r>
          </a:p>
          <a:p>
            <a:pPr algn="just"/>
            <a:endParaRPr lang="es-AR" dirty="0"/>
          </a:p>
          <a:p>
            <a:pPr lvl="1"/>
            <a:endParaRPr lang="es-AR" dirty="0"/>
          </a:p>
          <a:p>
            <a:pPr marL="3657600" lvl="8" indent="0">
              <a:buNone/>
            </a:pPr>
            <a:r>
              <a:rPr lang="es-AR" dirty="0"/>
              <a:t>		</a:t>
            </a:r>
          </a:p>
        </p:txBody>
      </p:sp>
      <p:sp>
        <p:nvSpPr>
          <p:cNvPr id="12" name="5 CuadroTexto"/>
          <p:cNvSpPr txBox="1"/>
          <p:nvPr/>
        </p:nvSpPr>
        <p:spPr>
          <a:xfrm>
            <a:off x="3150843" y="4509120"/>
            <a:ext cx="2653369" cy="1938992"/>
          </a:xfrm>
          <a:prstGeom prst="rect">
            <a:avLst/>
          </a:prstGeom>
          <a:noFill/>
        </p:spPr>
        <p:txBody>
          <a:bodyPr wrap="square" rtlCol="0">
            <a:spAutoFit/>
          </a:bodyPr>
          <a:lstStyle/>
          <a:p>
            <a:pPr marL="0" lvl="1"/>
            <a:r>
              <a:rPr lang="es-AR" sz="2000" dirty="0">
                <a:sym typeface="Wingdings" pitchFamily="2" charset="2"/>
              </a:rPr>
              <a:t>Posibles errores de accesibilidad que deberemos de comprobar de forma manual si realmente son un error o no.</a:t>
            </a:r>
            <a:endParaRPr lang="es-AR" dirty="0"/>
          </a:p>
        </p:txBody>
      </p:sp>
      <p:sp>
        <p:nvSpPr>
          <p:cNvPr id="13" name="6 CuadroTexto"/>
          <p:cNvSpPr txBox="1"/>
          <p:nvPr/>
        </p:nvSpPr>
        <p:spPr>
          <a:xfrm>
            <a:off x="6066557" y="4509120"/>
            <a:ext cx="2806121" cy="1938992"/>
          </a:xfrm>
          <a:prstGeom prst="rect">
            <a:avLst/>
          </a:prstGeom>
          <a:noFill/>
        </p:spPr>
        <p:txBody>
          <a:bodyPr wrap="square" rtlCol="0">
            <a:spAutoFit/>
          </a:bodyPr>
          <a:lstStyle/>
          <a:p>
            <a:r>
              <a:rPr lang="es-AR" sz="2000" dirty="0">
                <a:sym typeface="Wingdings" pitchFamily="2" charset="2"/>
              </a:rPr>
              <a:t>Indica los criterios que no se han podido comprobar de forma automática y por lo tanto debemos hacerlo de forma manual.</a:t>
            </a:r>
            <a:endParaRPr lang="es-AR" dirty="0"/>
          </a:p>
        </p:txBody>
      </p:sp>
      <p:sp>
        <p:nvSpPr>
          <p:cNvPr id="14" name="10 CuadroTexto"/>
          <p:cNvSpPr txBox="1"/>
          <p:nvPr/>
        </p:nvSpPr>
        <p:spPr>
          <a:xfrm>
            <a:off x="179512" y="4509120"/>
            <a:ext cx="2877141" cy="1631216"/>
          </a:xfrm>
          <a:prstGeom prst="rect">
            <a:avLst/>
          </a:prstGeom>
          <a:noFill/>
        </p:spPr>
        <p:txBody>
          <a:bodyPr wrap="square" rtlCol="0">
            <a:spAutoFit/>
          </a:bodyPr>
          <a:lstStyle/>
          <a:p>
            <a:r>
              <a:rPr lang="es-AR" sz="2000" dirty="0">
                <a:sym typeface="Wingdings" pitchFamily="2" charset="2"/>
              </a:rPr>
              <a:t>Problemas automáticos que ha detectado la herramienta en x criterios de éxito y que deberemos corregir.</a:t>
            </a:r>
            <a:endParaRPr lang="es-AR" dirty="0"/>
          </a:p>
        </p:txBody>
      </p:sp>
      <p:pic>
        <p:nvPicPr>
          <p:cNvPr id="15" name="Picture 2"/>
          <p:cNvPicPr>
            <a:picLocks noChangeAspect="1" noChangeArrowheads="1"/>
          </p:cNvPicPr>
          <p:nvPr/>
        </p:nvPicPr>
        <p:blipFill>
          <a:blip r:embed="rId3" cstate="print"/>
          <a:srcRect l="3175" t="43316" r="6746" b="38342"/>
          <a:stretch>
            <a:fillRect/>
          </a:stretch>
        </p:blipFill>
        <p:spPr bwMode="auto">
          <a:xfrm>
            <a:off x="457200" y="2564904"/>
            <a:ext cx="8415478" cy="963887"/>
          </a:xfrm>
          <a:prstGeom prst="rect">
            <a:avLst/>
          </a:prstGeom>
          <a:noFill/>
          <a:ln w="9525">
            <a:noFill/>
            <a:miter lim="800000"/>
            <a:headEnd/>
            <a:tailEnd/>
          </a:ln>
          <a:effectLst/>
        </p:spPr>
      </p:pic>
      <p:sp>
        <p:nvSpPr>
          <p:cNvPr id="16" name="12 Flecha arriba"/>
          <p:cNvSpPr/>
          <p:nvPr/>
        </p:nvSpPr>
        <p:spPr>
          <a:xfrm>
            <a:off x="1067289" y="3896606"/>
            <a:ext cx="1101585" cy="406694"/>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17" name="13 Flecha arriba"/>
          <p:cNvSpPr/>
          <p:nvPr/>
        </p:nvSpPr>
        <p:spPr>
          <a:xfrm>
            <a:off x="3926734" y="3905869"/>
            <a:ext cx="1101585" cy="406694"/>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18" name="14 Flecha arriba"/>
          <p:cNvSpPr/>
          <p:nvPr/>
        </p:nvSpPr>
        <p:spPr>
          <a:xfrm>
            <a:off x="6918824" y="3905869"/>
            <a:ext cx="1101585" cy="406694"/>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198</a:t>
            </a:fld>
            <a:endParaRPr lang="es-ES" altLang="es-AR"/>
          </a:p>
        </p:txBody>
      </p:sp>
    </p:spTree>
    <p:extLst>
      <p:ext uri="{BB962C8B-B14F-4D97-AF65-F5344CB8AC3E}">
        <p14:creationId xmlns:p14="http://schemas.microsoft.com/office/powerpoint/2010/main" val="644372126"/>
      </p:ext>
    </p:extLst>
  </p:cSld>
  <p:clrMapOvr>
    <a:masterClrMapping/>
  </p:clrMapOvr>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1 Título"/>
          <p:cNvSpPr>
            <a:spLocks noGrp="1"/>
          </p:cNvSpPr>
          <p:nvPr>
            <p:ph type="title"/>
          </p:nvPr>
        </p:nvSpPr>
        <p:spPr>
          <a:xfrm>
            <a:off x="457200" y="274638"/>
            <a:ext cx="8229600" cy="654050"/>
          </a:xfrm>
        </p:spPr>
        <p:txBody>
          <a:bodyPr/>
          <a:lstStyle/>
          <a:p>
            <a:r>
              <a:rPr lang="es-AR" altLang="es-AR" b="1" dirty="0"/>
              <a:t>Análisis y evaluación de AW</a:t>
            </a:r>
          </a:p>
        </p:txBody>
      </p:sp>
      <p:sp>
        <p:nvSpPr>
          <p:cNvPr id="57347" name="2 Marcador de contenido"/>
          <p:cNvSpPr>
            <a:spLocks noGrp="1"/>
          </p:cNvSpPr>
          <p:nvPr>
            <p:ph idx="1"/>
          </p:nvPr>
        </p:nvSpPr>
        <p:spPr>
          <a:xfrm>
            <a:off x="430213" y="1916113"/>
            <a:ext cx="8229600" cy="432767"/>
          </a:xfrm>
        </p:spPr>
        <p:txBody>
          <a:bodyPr/>
          <a:lstStyle/>
          <a:p>
            <a:r>
              <a:rPr lang="es-AR" dirty="0">
                <a:sym typeface="Wingdings" pitchFamily="2" charset="2"/>
              </a:rPr>
              <a:t>Análisis de accesibilidad con TAW (Vista Marcada)</a:t>
            </a:r>
          </a:p>
          <a:p>
            <a:pPr algn="just"/>
            <a:endParaRPr lang="es-AR" dirty="0"/>
          </a:p>
          <a:p>
            <a:pPr lvl="1"/>
            <a:endParaRPr lang="es-AR" dirty="0"/>
          </a:p>
          <a:p>
            <a:pPr marL="3657600" lvl="8" indent="0">
              <a:buNone/>
            </a:pPr>
            <a:r>
              <a:rPr lang="es-AR" dirty="0"/>
              <a:t>		</a:t>
            </a:r>
          </a:p>
        </p:txBody>
      </p:sp>
      <p:sp>
        <p:nvSpPr>
          <p:cNvPr id="14" name="10 CuadroTexto"/>
          <p:cNvSpPr txBox="1"/>
          <p:nvPr/>
        </p:nvSpPr>
        <p:spPr>
          <a:xfrm>
            <a:off x="430213" y="5733256"/>
            <a:ext cx="8507288" cy="707886"/>
          </a:xfrm>
          <a:prstGeom prst="rect">
            <a:avLst/>
          </a:prstGeom>
          <a:noFill/>
        </p:spPr>
        <p:txBody>
          <a:bodyPr wrap="square" rtlCol="0">
            <a:spAutoFit/>
          </a:bodyPr>
          <a:lstStyle/>
          <a:p>
            <a:r>
              <a:rPr lang="es-AR" sz="2000" dirty="0">
                <a:sym typeface="Wingdings" pitchFamily="2" charset="2"/>
              </a:rPr>
              <a:t>Podemos ver los errores y advertencias, detectados de forma automática por la herramienta en la visualización del sitio web.</a:t>
            </a:r>
            <a:endParaRPr lang="es-AR" sz="2000" dirty="0"/>
          </a:p>
        </p:txBody>
      </p:sp>
      <p:pic>
        <p:nvPicPr>
          <p:cNvPr id="11" name="Picture 2"/>
          <p:cNvPicPr>
            <a:picLocks noChangeAspect="1" noChangeArrowheads="1"/>
          </p:cNvPicPr>
          <p:nvPr/>
        </p:nvPicPr>
        <p:blipFill>
          <a:blip r:embed="rId3" cstate="print"/>
          <a:srcRect t="8042" r="5714" b="2928"/>
          <a:stretch>
            <a:fillRect/>
          </a:stretch>
        </p:blipFill>
        <p:spPr bwMode="auto">
          <a:xfrm>
            <a:off x="1331640" y="2348880"/>
            <a:ext cx="6120680" cy="3250969"/>
          </a:xfrm>
          <a:prstGeom prst="rect">
            <a:avLst/>
          </a:prstGeom>
          <a:noFill/>
          <a:ln w="9525">
            <a:noFill/>
            <a:miter lim="800000"/>
            <a:headEnd/>
            <a:tailEnd/>
          </a:ln>
          <a:effectLst/>
        </p:spPr>
      </p:pic>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199</a:t>
            </a:fld>
            <a:endParaRPr lang="es-ES" altLang="es-AR"/>
          </a:p>
        </p:txBody>
      </p:sp>
    </p:spTree>
    <p:extLst>
      <p:ext uri="{BB962C8B-B14F-4D97-AF65-F5344CB8AC3E}">
        <p14:creationId xmlns:p14="http://schemas.microsoft.com/office/powerpoint/2010/main" val="3394596311"/>
      </p:ext>
    </p:extLst>
  </p:cSld>
  <p:clrMapOvr>
    <a:masterClrMapping/>
  </p:clrMapOvr>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1 Título"/>
          <p:cNvSpPr>
            <a:spLocks noGrp="1"/>
          </p:cNvSpPr>
          <p:nvPr>
            <p:ph type="title"/>
          </p:nvPr>
        </p:nvSpPr>
        <p:spPr>
          <a:xfrm>
            <a:off x="457200" y="274638"/>
            <a:ext cx="8229600" cy="654050"/>
          </a:xfrm>
        </p:spPr>
        <p:txBody>
          <a:bodyPr/>
          <a:lstStyle/>
          <a:p>
            <a:r>
              <a:rPr lang="es-AR" altLang="es-AR" b="1" dirty="0"/>
              <a:t>Análisis y evaluación de AW</a:t>
            </a:r>
          </a:p>
        </p:txBody>
      </p:sp>
      <p:sp>
        <p:nvSpPr>
          <p:cNvPr id="57347" name="2 Marcador de contenido"/>
          <p:cNvSpPr>
            <a:spLocks noGrp="1"/>
          </p:cNvSpPr>
          <p:nvPr>
            <p:ph idx="1"/>
          </p:nvPr>
        </p:nvSpPr>
        <p:spPr>
          <a:xfrm>
            <a:off x="430213" y="1916113"/>
            <a:ext cx="8229600" cy="432767"/>
          </a:xfrm>
        </p:spPr>
        <p:txBody>
          <a:bodyPr/>
          <a:lstStyle/>
          <a:p>
            <a:r>
              <a:rPr lang="es-AR" dirty="0">
                <a:sym typeface="Wingdings" pitchFamily="2" charset="2"/>
              </a:rPr>
              <a:t>Análisis de accesibilidad con TAW (Detalle)</a:t>
            </a:r>
          </a:p>
          <a:p>
            <a:pPr algn="just"/>
            <a:endParaRPr lang="es-AR" dirty="0"/>
          </a:p>
          <a:p>
            <a:pPr lvl="1"/>
            <a:endParaRPr lang="es-AR" dirty="0"/>
          </a:p>
          <a:p>
            <a:pPr marL="3657600" lvl="8" indent="0">
              <a:buNone/>
            </a:pPr>
            <a:r>
              <a:rPr lang="es-AR" dirty="0"/>
              <a:t>		</a:t>
            </a:r>
          </a:p>
        </p:txBody>
      </p:sp>
      <p:sp>
        <p:nvSpPr>
          <p:cNvPr id="14" name="10 CuadroTexto"/>
          <p:cNvSpPr txBox="1"/>
          <p:nvPr/>
        </p:nvSpPr>
        <p:spPr>
          <a:xfrm>
            <a:off x="318356" y="5229200"/>
            <a:ext cx="8507288" cy="1015663"/>
          </a:xfrm>
          <a:prstGeom prst="rect">
            <a:avLst/>
          </a:prstGeom>
          <a:noFill/>
        </p:spPr>
        <p:txBody>
          <a:bodyPr wrap="square" rtlCol="0">
            <a:spAutoFit/>
          </a:bodyPr>
          <a:lstStyle/>
          <a:p>
            <a:r>
              <a:rPr lang="es-AR" sz="2000" dirty="0">
                <a:sym typeface="Wingdings" pitchFamily="2" charset="2"/>
              </a:rPr>
              <a:t>Para cada principio se muestra el criterio de conformidad afectado,  detallando las comprobaciones que hemos de realizar, según la tipología del elemento, indicando las técnicas en las que ha ocurrido el error.</a:t>
            </a:r>
            <a:endParaRPr lang="es-AR" sz="2000" dirty="0"/>
          </a:p>
        </p:txBody>
      </p:sp>
      <p:pic>
        <p:nvPicPr>
          <p:cNvPr id="6" name="Picture 2"/>
          <p:cNvPicPr>
            <a:picLocks noChangeAspect="1" noChangeArrowheads="1"/>
          </p:cNvPicPr>
          <p:nvPr/>
        </p:nvPicPr>
        <p:blipFill>
          <a:blip r:embed="rId3" cstate="print"/>
          <a:srcRect l="2540" t="38942" r="9180" b="10123"/>
          <a:stretch>
            <a:fillRect/>
          </a:stretch>
        </p:blipFill>
        <p:spPr bwMode="auto">
          <a:xfrm>
            <a:off x="424200" y="2348880"/>
            <a:ext cx="8513301" cy="2762966"/>
          </a:xfrm>
          <a:prstGeom prst="rect">
            <a:avLst/>
          </a:prstGeom>
          <a:noFill/>
          <a:ln w="9525">
            <a:noFill/>
            <a:miter lim="800000"/>
            <a:headEnd/>
            <a:tailEnd/>
          </a:ln>
          <a:effectLst/>
        </p:spPr>
      </p:pic>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200</a:t>
            </a:fld>
            <a:endParaRPr lang="es-ES" altLang="es-AR"/>
          </a:p>
        </p:txBody>
      </p:sp>
    </p:spTree>
    <p:extLst>
      <p:ext uri="{BB962C8B-B14F-4D97-AF65-F5344CB8AC3E}">
        <p14:creationId xmlns:p14="http://schemas.microsoft.com/office/powerpoint/2010/main" val="3104038650"/>
      </p:ext>
    </p:extLst>
  </p:cSld>
  <p:clrMapOvr>
    <a:masterClrMapping/>
  </p:clrMapOvr>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1 Título"/>
          <p:cNvSpPr>
            <a:spLocks noGrp="1"/>
          </p:cNvSpPr>
          <p:nvPr>
            <p:ph type="title"/>
          </p:nvPr>
        </p:nvSpPr>
        <p:spPr>
          <a:xfrm>
            <a:off x="457200" y="274638"/>
            <a:ext cx="8229600" cy="654050"/>
          </a:xfrm>
        </p:spPr>
        <p:txBody>
          <a:bodyPr/>
          <a:lstStyle/>
          <a:p>
            <a:r>
              <a:rPr lang="es-AR" altLang="es-AR" b="1" dirty="0"/>
              <a:t>Análisis y evaluación de AW</a:t>
            </a:r>
          </a:p>
        </p:txBody>
      </p:sp>
      <p:sp>
        <p:nvSpPr>
          <p:cNvPr id="57347" name="2 Marcador de contenido"/>
          <p:cNvSpPr>
            <a:spLocks noGrp="1"/>
          </p:cNvSpPr>
          <p:nvPr>
            <p:ph idx="1"/>
          </p:nvPr>
        </p:nvSpPr>
        <p:spPr>
          <a:xfrm>
            <a:off x="430213" y="1916113"/>
            <a:ext cx="8229600" cy="432767"/>
          </a:xfrm>
        </p:spPr>
        <p:txBody>
          <a:bodyPr/>
          <a:lstStyle/>
          <a:p>
            <a:r>
              <a:rPr lang="es-AR" dirty="0">
                <a:sym typeface="Wingdings" pitchFamily="2" charset="2"/>
              </a:rPr>
              <a:t>Análisis de accesibilidad con TAW (Listado)</a:t>
            </a:r>
          </a:p>
          <a:p>
            <a:pPr algn="just"/>
            <a:endParaRPr lang="es-AR" dirty="0"/>
          </a:p>
          <a:p>
            <a:pPr lvl="1"/>
            <a:endParaRPr lang="es-AR" dirty="0"/>
          </a:p>
          <a:p>
            <a:pPr marL="3657600" lvl="8" indent="0">
              <a:buNone/>
            </a:pPr>
            <a:r>
              <a:rPr lang="es-AR" dirty="0"/>
              <a:t>		</a:t>
            </a:r>
          </a:p>
        </p:txBody>
      </p:sp>
      <p:sp>
        <p:nvSpPr>
          <p:cNvPr id="14" name="10 CuadroTexto"/>
          <p:cNvSpPr txBox="1"/>
          <p:nvPr/>
        </p:nvSpPr>
        <p:spPr>
          <a:xfrm>
            <a:off x="370711" y="4869160"/>
            <a:ext cx="8507288" cy="1631216"/>
          </a:xfrm>
          <a:prstGeom prst="rect">
            <a:avLst/>
          </a:prstGeom>
          <a:noFill/>
        </p:spPr>
        <p:txBody>
          <a:bodyPr wrap="square" rtlCol="0">
            <a:spAutoFit/>
          </a:bodyPr>
          <a:lstStyle/>
          <a:p>
            <a:r>
              <a:rPr lang="es-AR" sz="2000" dirty="0">
                <a:sym typeface="Wingdings" pitchFamily="2" charset="2"/>
              </a:rPr>
              <a:t>En ella podemos obtener un resumen de los resultados a nivel de pauta y de criterio de conformidad.</a:t>
            </a:r>
          </a:p>
          <a:p>
            <a:r>
              <a:rPr lang="es-AR" sz="2000" dirty="0">
                <a:sym typeface="Wingdings" pitchFamily="2" charset="2"/>
              </a:rPr>
              <a:t>En los resultado aparece un nuevo símbolo, “</a:t>
            </a:r>
            <a:r>
              <a:rPr lang="es-AR" sz="2000" b="1" dirty="0">
                <a:sym typeface="Wingdings" pitchFamily="2" charset="2"/>
              </a:rPr>
              <a:t>na</a:t>
            </a:r>
            <a:r>
              <a:rPr lang="es-AR" sz="2000" dirty="0">
                <a:sym typeface="Wingdings" pitchFamily="2" charset="2"/>
              </a:rPr>
              <a:t>”, que indica que "no es aplicable"; es decir, que este criterio de conformidad no hemos de analizar.</a:t>
            </a:r>
          </a:p>
        </p:txBody>
      </p:sp>
      <p:pic>
        <p:nvPicPr>
          <p:cNvPr id="7" name="Picture 2"/>
          <p:cNvPicPr>
            <a:picLocks noChangeAspect="1" noChangeArrowheads="1"/>
          </p:cNvPicPr>
          <p:nvPr/>
        </p:nvPicPr>
        <p:blipFill>
          <a:blip r:embed="rId3" cstate="print"/>
          <a:srcRect l="2540" t="38942" r="2063" b="19294"/>
          <a:stretch>
            <a:fillRect/>
          </a:stretch>
        </p:blipFill>
        <p:spPr bwMode="auto">
          <a:xfrm>
            <a:off x="427824" y="2492896"/>
            <a:ext cx="8479916" cy="2088232"/>
          </a:xfrm>
          <a:prstGeom prst="rect">
            <a:avLst/>
          </a:prstGeom>
          <a:noFill/>
          <a:ln w="9525">
            <a:noFill/>
            <a:miter lim="800000"/>
            <a:headEnd/>
            <a:tailEnd/>
          </a:ln>
          <a:effectLst/>
        </p:spPr>
      </p:pic>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201</a:t>
            </a:fld>
            <a:endParaRPr lang="es-ES" altLang="es-AR"/>
          </a:p>
        </p:txBody>
      </p:sp>
    </p:spTree>
    <p:extLst>
      <p:ext uri="{BB962C8B-B14F-4D97-AF65-F5344CB8AC3E}">
        <p14:creationId xmlns:p14="http://schemas.microsoft.com/office/powerpoint/2010/main" val="1745013273"/>
      </p:ext>
    </p:extLst>
  </p:cSld>
  <p:clrMapOvr>
    <a:masterClrMapping/>
  </p:clrMapOvr>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1 Título"/>
          <p:cNvSpPr>
            <a:spLocks noGrp="1"/>
          </p:cNvSpPr>
          <p:nvPr>
            <p:ph type="title"/>
          </p:nvPr>
        </p:nvSpPr>
        <p:spPr>
          <a:xfrm>
            <a:off x="457200" y="274638"/>
            <a:ext cx="8229600" cy="654050"/>
          </a:xfrm>
        </p:spPr>
        <p:txBody>
          <a:bodyPr/>
          <a:lstStyle/>
          <a:p>
            <a:r>
              <a:rPr lang="es-AR" altLang="es-AR" b="1" dirty="0"/>
              <a:t>Análisis y evaluación de AW</a:t>
            </a:r>
          </a:p>
        </p:txBody>
      </p:sp>
      <p:sp>
        <p:nvSpPr>
          <p:cNvPr id="57347" name="2 Marcador de contenido"/>
          <p:cNvSpPr>
            <a:spLocks noGrp="1"/>
          </p:cNvSpPr>
          <p:nvPr>
            <p:ph idx="1"/>
          </p:nvPr>
        </p:nvSpPr>
        <p:spPr>
          <a:xfrm>
            <a:off x="457200" y="1628800"/>
            <a:ext cx="2701627" cy="5229200"/>
          </a:xfrm>
        </p:spPr>
        <p:txBody>
          <a:bodyPr/>
          <a:lstStyle/>
          <a:p>
            <a:r>
              <a:rPr lang="es-AR" dirty="0">
                <a:sym typeface="Wingdings" pitchFamily="2" charset="2"/>
              </a:rPr>
              <a:t>Análisis de accesibilidad con ARWeb</a:t>
            </a:r>
          </a:p>
          <a:p>
            <a:endParaRPr lang="es-AR" dirty="0">
              <a:sym typeface="Wingdings" pitchFamily="2" charset="2"/>
            </a:endParaRPr>
          </a:p>
          <a:p>
            <a:pPr lvl="1"/>
            <a:r>
              <a:rPr lang="es-AR" dirty="0">
                <a:sym typeface="Wingdings" pitchFamily="2" charset="2"/>
              </a:rPr>
              <a:t>ARWeb es un analizador basado en la norma vigente en Argentina.</a:t>
            </a:r>
          </a:p>
          <a:p>
            <a:pPr lvl="1"/>
            <a:r>
              <a:rPr lang="es-AR" dirty="0">
                <a:sym typeface="Wingdings" pitchFamily="2" charset="2"/>
              </a:rPr>
              <a:t>URL: </a:t>
            </a:r>
            <a:r>
              <a:rPr lang="es-AR" dirty="0">
                <a:sym typeface="Wingdings" pitchFamily="2" charset="2"/>
                <a:hlinkClick r:id="rId3"/>
              </a:rPr>
              <a:t>https://sites.google.com/site/uadeticarweb/arweb-deploy</a:t>
            </a:r>
            <a:endParaRPr lang="es-AR" dirty="0">
              <a:sym typeface="Wingdings" pitchFamily="2" charset="2"/>
            </a:endParaRPr>
          </a:p>
          <a:p>
            <a:pPr algn="just"/>
            <a:endParaRPr lang="es-AR" dirty="0"/>
          </a:p>
          <a:p>
            <a:pPr lvl="1"/>
            <a:endParaRPr lang="es-AR" dirty="0"/>
          </a:p>
          <a:p>
            <a:pPr marL="3657600" lvl="8" indent="0">
              <a:buNone/>
            </a:pPr>
            <a:r>
              <a:rPr lang="es-AR" dirty="0"/>
              <a:t>		</a:t>
            </a:r>
          </a:p>
        </p:txBody>
      </p:sp>
      <p:pic>
        <p:nvPicPr>
          <p:cNvPr id="5" name="Picture 2"/>
          <p:cNvPicPr>
            <a:picLocks noChangeAspect="1" noChangeArrowheads="1"/>
          </p:cNvPicPr>
          <p:nvPr/>
        </p:nvPicPr>
        <p:blipFill>
          <a:blip r:embed="rId4" cstate="print"/>
          <a:srcRect/>
          <a:stretch>
            <a:fillRect/>
          </a:stretch>
        </p:blipFill>
        <p:spPr bwMode="auto">
          <a:xfrm>
            <a:off x="3491880" y="2204864"/>
            <a:ext cx="5472609" cy="4104456"/>
          </a:xfrm>
          <a:prstGeom prst="rect">
            <a:avLst/>
          </a:prstGeom>
          <a:noFill/>
          <a:ln w="9525">
            <a:noFill/>
            <a:miter lim="800000"/>
            <a:headEnd/>
            <a:tailEnd/>
          </a:ln>
          <a:effectLst/>
        </p:spPr>
      </p:pic>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202</a:t>
            </a:fld>
            <a:endParaRPr lang="es-ES" altLang="es-AR"/>
          </a:p>
        </p:txBody>
      </p:sp>
    </p:spTree>
    <p:extLst>
      <p:ext uri="{BB962C8B-B14F-4D97-AF65-F5344CB8AC3E}">
        <p14:creationId xmlns:p14="http://schemas.microsoft.com/office/powerpoint/2010/main" val="1087398251"/>
      </p:ext>
    </p:extLst>
  </p:cSld>
  <p:clrMapOvr>
    <a:masterClrMapping/>
  </p:clrMapOvr>
</p:sld>
</file>

<file path=ppt/slides/slide2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1 Título"/>
          <p:cNvSpPr>
            <a:spLocks noGrp="1"/>
          </p:cNvSpPr>
          <p:nvPr>
            <p:ph type="title"/>
          </p:nvPr>
        </p:nvSpPr>
        <p:spPr>
          <a:xfrm>
            <a:off x="457200" y="274638"/>
            <a:ext cx="8229600" cy="654050"/>
          </a:xfrm>
        </p:spPr>
        <p:txBody>
          <a:bodyPr/>
          <a:lstStyle/>
          <a:p>
            <a:r>
              <a:rPr lang="es-AR" altLang="es-AR" b="1" dirty="0"/>
              <a:t>Análisis y evaluación de AW</a:t>
            </a:r>
          </a:p>
        </p:txBody>
      </p:sp>
      <p:sp>
        <p:nvSpPr>
          <p:cNvPr id="57347" name="2 Marcador de contenido"/>
          <p:cNvSpPr>
            <a:spLocks noGrp="1"/>
          </p:cNvSpPr>
          <p:nvPr>
            <p:ph idx="1"/>
          </p:nvPr>
        </p:nvSpPr>
        <p:spPr>
          <a:xfrm>
            <a:off x="422221" y="1495336"/>
            <a:ext cx="8229600" cy="432767"/>
          </a:xfrm>
        </p:spPr>
        <p:txBody>
          <a:bodyPr/>
          <a:lstStyle/>
          <a:p>
            <a:r>
              <a:rPr lang="es-AR" dirty="0">
                <a:sym typeface="Wingdings" pitchFamily="2" charset="2"/>
              </a:rPr>
              <a:t>Análisis de accesibilidad con ARWeb (Página Web)</a:t>
            </a:r>
          </a:p>
          <a:p>
            <a:pPr algn="just"/>
            <a:endParaRPr lang="es-AR" dirty="0"/>
          </a:p>
          <a:p>
            <a:pPr lvl="1"/>
            <a:endParaRPr lang="es-AR" dirty="0"/>
          </a:p>
          <a:p>
            <a:pPr marL="3657600" lvl="8" indent="0">
              <a:buNone/>
            </a:pPr>
            <a:r>
              <a:rPr lang="es-AR" dirty="0"/>
              <a:t>		</a:t>
            </a:r>
          </a:p>
        </p:txBody>
      </p:sp>
      <p:sp>
        <p:nvSpPr>
          <p:cNvPr id="5" name="5 CuadroTexto"/>
          <p:cNvSpPr txBox="1"/>
          <p:nvPr/>
        </p:nvSpPr>
        <p:spPr>
          <a:xfrm>
            <a:off x="422221" y="2005247"/>
            <a:ext cx="2107280" cy="1938992"/>
          </a:xfrm>
          <a:prstGeom prst="rect">
            <a:avLst/>
          </a:prstGeom>
          <a:noFill/>
        </p:spPr>
        <p:txBody>
          <a:bodyPr wrap="square" rtlCol="0">
            <a:spAutoFit/>
          </a:bodyPr>
          <a:lstStyle/>
          <a:p>
            <a:pPr marL="0" lvl="1"/>
            <a:r>
              <a:rPr lang="es-AR" sz="2000" dirty="0">
                <a:sym typeface="Wingdings" pitchFamily="2" charset="2"/>
              </a:rPr>
              <a:t>1. Escribir la Web a analizar o </a:t>
            </a:r>
            <a:r>
              <a:rPr lang="es-AR" sz="2000" dirty="0" err="1"/>
              <a:t>upload</a:t>
            </a:r>
            <a:r>
              <a:rPr lang="es-AR" sz="2000" dirty="0"/>
              <a:t> de archivo o inclusión directa de código.</a:t>
            </a:r>
          </a:p>
        </p:txBody>
      </p:sp>
      <p:sp>
        <p:nvSpPr>
          <p:cNvPr id="6" name="6 CuadroTexto"/>
          <p:cNvSpPr txBox="1"/>
          <p:nvPr/>
        </p:nvSpPr>
        <p:spPr>
          <a:xfrm>
            <a:off x="464948" y="3870347"/>
            <a:ext cx="1908872" cy="1015663"/>
          </a:xfrm>
          <a:prstGeom prst="rect">
            <a:avLst/>
          </a:prstGeom>
          <a:noFill/>
        </p:spPr>
        <p:txBody>
          <a:bodyPr wrap="square" rtlCol="0">
            <a:spAutoFit/>
          </a:bodyPr>
          <a:lstStyle/>
          <a:p>
            <a:r>
              <a:rPr lang="es-AR" sz="2000" dirty="0">
                <a:sym typeface="Wingdings" pitchFamily="2" charset="2"/>
              </a:rPr>
              <a:t>2. Seleccionar Principios a Verificar.</a:t>
            </a:r>
            <a:endParaRPr lang="es-AR" sz="2000" dirty="0"/>
          </a:p>
        </p:txBody>
      </p:sp>
      <p:sp>
        <p:nvSpPr>
          <p:cNvPr id="7" name="7 Flecha a la derecha con muesca"/>
          <p:cNvSpPr/>
          <p:nvPr/>
        </p:nvSpPr>
        <p:spPr>
          <a:xfrm>
            <a:off x="2529501" y="3499305"/>
            <a:ext cx="593916" cy="444934"/>
          </a:xfrm>
          <a:prstGeom prst="notched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8" name="9 Abrir llave"/>
          <p:cNvSpPr/>
          <p:nvPr/>
        </p:nvSpPr>
        <p:spPr>
          <a:xfrm>
            <a:off x="2662322" y="4119541"/>
            <a:ext cx="45719" cy="1175657"/>
          </a:xfrm>
          <a:prstGeom prst="leftBrace">
            <a:avLst/>
          </a:prstGeom>
          <a:ln w="25400"/>
        </p:spPr>
        <p:style>
          <a:lnRef idx="1">
            <a:schemeClr val="accent1"/>
          </a:lnRef>
          <a:fillRef idx="0">
            <a:schemeClr val="accent1"/>
          </a:fillRef>
          <a:effectRef idx="0">
            <a:schemeClr val="accent1"/>
          </a:effectRef>
          <a:fontRef idx="minor">
            <a:schemeClr val="tx1"/>
          </a:fontRef>
        </p:style>
        <p:txBody>
          <a:bodyPr rtlCol="0" anchor="ctr"/>
          <a:lstStyle/>
          <a:p>
            <a:pPr algn="ctr"/>
            <a:endParaRPr lang="es-AR"/>
          </a:p>
        </p:txBody>
      </p:sp>
      <p:sp>
        <p:nvSpPr>
          <p:cNvPr id="9" name="10 CuadroTexto"/>
          <p:cNvSpPr txBox="1"/>
          <p:nvPr/>
        </p:nvSpPr>
        <p:spPr>
          <a:xfrm>
            <a:off x="458505" y="4934671"/>
            <a:ext cx="1512645" cy="1015663"/>
          </a:xfrm>
          <a:prstGeom prst="rect">
            <a:avLst/>
          </a:prstGeom>
          <a:noFill/>
        </p:spPr>
        <p:txBody>
          <a:bodyPr wrap="square" rtlCol="0">
            <a:spAutoFit/>
          </a:bodyPr>
          <a:lstStyle/>
          <a:p>
            <a:r>
              <a:rPr lang="es-AR" sz="2000" dirty="0">
                <a:sym typeface="Wingdings" pitchFamily="2" charset="2"/>
              </a:rPr>
              <a:t>3. Clic en botón Validar.</a:t>
            </a:r>
            <a:endParaRPr lang="es-AR" sz="2000" dirty="0"/>
          </a:p>
        </p:txBody>
      </p:sp>
      <p:sp>
        <p:nvSpPr>
          <p:cNvPr id="11" name="7 Flecha a la derecha con muesca"/>
          <p:cNvSpPr/>
          <p:nvPr/>
        </p:nvSpPr>
        <p:spPr>
          <a:xfrm>
            <a:off x="2529501" y="5510303"/>
            <a:ext cx="593916" cy="444934"/>
          </a:xfrm>
          <a:prstGeom prst="notched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pic>
        <p:nvPicPr>
          <p:cNvPr id="12" name="Picture 2"/>
          <p:cNvPicPr>
            <a:picLocks noChangeAspect="1" noChangeArrowheads="1"/>
          </p:cNvPicPr>
          <p:nvPr/>
        </p:nvPicPr>
        <p:blipFill>
          <a:blip r:embed="rId3" cstate="print"/>
          <a:srcRect/>
          <a:stretch>
            <a:fillRect/>
          </a:stretch>
        </p:blipFill>
        <p:spPr bwMode="auto">
          <a:xfrm>
            <a:off x="3279098" y="2359698"/>
            <a:ext cx="5653314" cy="4239986"/>
          </a:xfrm>
          <a:prstGeom prst="rect">
            <a:avLst/>
          </a:prstGeom>
          <a:noFill/>
          <a:ln w="9525">
            <a:noFill/>
            <a:miter lim="800000"/>
            <a:headEnd/>
            <a:tailEnd/>
          </a:ln>
          <a:effectLst/>
        </p:spPr>
      </p:pic>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203</a:t>
            </a:fld>
            <a:endParaRPr lang="es-ES" altLang="es-AR"/>
          </a:p>
        </p:txBody>
      </p:sp>
    </p:spTree>
    <p:extLst>
      <p:ext uri="{BB962C8B-B14F-4D97-AF65-F5344CB8AC3E}">
        <p14:creationId xmlns:p14="http://schemas.microsoft.com/office/powerpoint/2010/main" val="1344056570"/>
      </p:ext>
    </p:extLst>
  </p:cSld>
  <p:clrMapOvr>
    <a:masterClrMapping/>
  </p:clrMapOvr>
</p:sld>
</file>

<file path=ppt/slides/slide2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1 Título"/>
          <p:cNvSpPr>
            <a:spLocks noGrp="1"/>
          </p:cNvSpPr>
          <p:nvPr>
            <p:ph type="title"/>
          </p:nvPr>
        </p:nvSpPr>
        <p:spPr>
          <a:xfrm>
            <a:off x="457200" y="274638"/>
            <a:ext cx="8229600" cy="654050"/>
          </a:xfrm>
        </p:spPr>
        <p:txBody>
          <a:bodyPr/>
          <a:lstStyle/>
          <a:p>
            <a:r>
              <a:rPr lang="es-AR" altLang="es-AR" b="1" dirty="0"/>
              <a:t>Análisis y evaluación de AW</a:t>
            </a:r>
          </a:p>
        </p:txBody>
      </p:sp>
      <p:sp>
        <p:nvSpPr>
          <p:cNvPr id="57347" name="2 Marcador de contenido"/>
          <p:cNvSpPr>
            <a:spLocks noGrp="1"/>
          </p:cNvSpPr>
          <p:nvPr>
            <p:ph idx="1"/>
          </p:nvPr>
        </p:nvSpPr>
        <p:spPr>
          <a:xfrm>
            <a:off x="422221" y="1495336"/>
            <a:ext cx="8229600" cy="432767"/>
          </a:xfrm>
        </p:spPr>
        <p:txBody>
          <a:bodyPr/>
          <a:lstStyle/>
          <a:p>
            <a:r>
              <a:rPr lang="es-AR" dirty="0">
                <a:sym typeface="Wingdings" pitchFamily="2" charset="2"/>
              </a:rPr>
              <a:t>Análisis de accesibilidad con ARWeb (URLs)</a:t>
            </a:r>
          </a:p>
          <a:p>
            <a:pPr algn="just"/>
            <a:endParaRPr lang="es-AR" dirty="0"/>
          </a:p>
          <a:p>
            <a:pPr lvl="1"/>
            <a:endParaRPr lang="es-AR" dirty="0"/>
          </a:p>
          <a:p>
            <a:pPr marL="3657600" lvl="8" indent="0">
              <a:buNone/>
            </a:pPr>
            <a:r>
              <a:rPr lang="es-AR" dirty="0"/>
              <a:t>		</a:t>
            </a:r>
          </a:p>
        </p:txBody>
      </p:sp>
      <p:sp>
        <p:nvSpPr>
          <p:cNvPr id="5" name="5 CuadroTexto"/>
          <p:cNvSpPr txBox="1"/>
          <p:nvPr/>
        </p:nvSpPr>
        <p:spPr>
          <a:xfrm>
            <a:off x="399885" y="3011317"/>
            <a:ext cx="2107280" cy="707886"/>
          </a:xfrm>
          <a:prstGeom prst="rect">
            <a:avLst/>
          </a:prstGeom>
          <a:noFill/>
        </p:spPr>
        <p:txBody>
          <a:bodyPr wrap="square" rtlCol="0">
            <a:spAutoFit/>
          </a:bodyPr>
          <a:lstStyle/>
          <a:p>
            <a:pPr marL="0" lvl="1"/>
            <a:r>
              <a:rPr lang="es-AR" sz="2000" dirty="0">
                <a:sym typeface="Wingdings" pitchFamily="2" charset="2"/>
              </a:rPr>
              <a:t>1. Seleccionar la URL a validar.</a:t>
            </a:r>
            <a:endParaRPr lang="es-AR" sz="2000" dirty="0"/>
          </a:p>
        </p:txBody>
      </p:sp>
      <p:sp>
        <p:nvSpPr>
          <p:cNvPr id="6" name="6 CuadroTexto"/>
          <p:cNvSpPr txBox="1"/>
          <p:nvPr/>
        </p:nvSpPr>
        <p:spPr>
          <a:xfrm>
            <a:off x="464948" y="3870347"/>
            <a:ext cx="1908872" cy="1015663"/>
          </a:xfrm>
          <a:prstGeom prst="rect">
            <a:avLst/>
          </a:prstGeom>
          <a:noFill/>
        </p:spPr>
        <p:txBody>
          <a:bodyPr wrap="square" rtlCol="0">
            <a:spAutoFit/>
          </a:bodyPr>
          <a:lstStyle/>
          <a:p>
            <a:r>
              <a:rPr lang="es-AR" sz="2000" dirty="0">
                <a:sym typeface="Wingdings" pitchFamily="2" charset="2"/>
              </a:rPr>
              <a:t>2. Seleccionar Principios a Verificar.</a:t>
            </a:r>
            <a:endParaRPr lang="es-AR" sz="2000" dirty="0"/>
          </a:p>
        </p:txBody>
      </p:sp>
      <p:sp>
        <p:nvSpPr>
          <p:cNvPr id="7" name="7 Flecha a la derecha con muesca"/>
          <p:cNvSpPr/>
          <p:nvPr/>
        </p:nvSpPr>
        <p:spPr>
          <a:xfrm>
            <a:off x="2540308" y="3274269"/>
            <a:ext cx="593916" cy="444934"/>
          </a:xfrm>
          <a:prstGeom prst="notched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8" name="9 Abrir llave"/>
          <p:cNvSpPr/>
          <p:nvPr/>
        </p:nvSpPr>
        <p:spPr>
          <a:xfrm>
            <a:off x="2654180" y="4007273"/>
            <a:ext cx="45719" cy="1175657"/>
          </a:xfrm>
          <a:prstGeom prst="leftBrace">
            <a:avLst/>
          </a:prstGeom>
          <a:ln w="25400"/>
        </p:spPr>
        <p:style>
          <a:lnRef idx="1">
            <a:schemeClr val="accent1"/>
          </a:lnRef>
          <a:fillRef idx="0">
            <a:schemeClr val="accent1"/>
          </a:fillRef>
          <a:effectRef idx="0">
            <a:schemeClr val="accent1"/>
          </a:effectRef>
          <a:fontRef idx="minor">
            <a:schemeClr val="tx1"/>
          </a:fontRef>
        </p:style>
        <p:txBody>
          <a:bodyPr rtlCol="0" anchor="ctr"/>
          <a:lstStyle/>
          <a:p>
            <a:pPr algn="ctr"/>
            <a:endParaRPr lang="es-AR"/>
          </a:p>
        </p:txBody>
      </p:sp>
      <p:sp>
        <p:nvSpPr>
          <p:cNvPr id="9" name="10 CuadroTexto"/>
          <p:cNvSpPr txBox="1"/>
          <p:nvPr/>
        </p:nvSpPr>
        <p:spPr>
          <a:xfrm>
            <a:off x="458505" y="4934671"/>
            <a:ext cx="1512645" cy="1015663"/>
          </a:xfrm>
          <a:prstGeom prst="rect">
            <a:avLst/>
          </a:prstGeom>
          <a:noFill/>
        </p:spPr>
        <p:txBody>
          <a:bodyPr wrap="square" rtlCol="0">
            <a:spAutoFit/>
          </a:bodyPr>
          <a:lstStyle/>
          <a:p>
            <a:r>
              <a:rPr lang="es-AR" sz="2000" dirty="0">
                <a:sym typeface="Wingdings" pitchFamily="2" charset="2"/>
              </a:rPr>
              <a:t>3. Clic en botón Validar.</a:t>
            </a:r>
            <a:endParaRPr lang="es-AR" sz="2000" dirty="0"/>
          </a:p>
        </p:txBody>
      </p:sp>
      <p:sp>
        <p:nvSpPr>
          <p:cNvPr id="11" name="7 Flecha a la derecha con muesca"/>
          <p:cNvSpPr/>
          <p:nvPr/>
        </p:nvSpPr>
        <p:spPr>
          <a:xfrm>
            <a:off x="2529501" y="5510303"/>
            <a:ext cx="593916" cy="444934"/>
          </a:xfrm>
          <a:prstGeom prst="notched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pic>
        <p:nvPicPr>
          <p:cNvPr id="13" name="Picture 2"/>
          <p:cNvPicPr>
            <a:picLocks noChangeAspect="1" noChangeArrowheads="1"/>
          </p:cNvPicPr>
          <p:nvPr/>
        </p:nvPicPr>
        <p:blipFill>
          <a:blip r:embed="rId3" cstate="print"/>
          <a:srcRect/>
          <a:stretch>
            <a:fillRect/>
          </a:stretch>
        </p:blipFill>
        <p:spPr bwMode="auto">
          <a:xfrm>
            <a:off x="3213055" y="2132856"/>
            <a:ext cx="5788055" cy="4341041"/>
          </a:xfrm>
          <a:prstGeom prst="rect">
            <a:avLst/>
          </a:prstGeom>
          <a:noFill/>
          <a:ln w="9525">
            <a:noFill/>
            <a:miter lim="800000"/>
            <a:headEnd/>
            <a:tailEnd/>
          </a:ln>
          <a:effectLst/>
        </p:spPr>
      </p:pic>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204</a:t>
            </a:fld>
            <a:endParaRPr lang="es-ES" altLang="es-AR"/>
          </a:p>
        </p:txBody>
      </p:sp>
    </p:spTree>
    <p:extLst>
      <p:ext uri="{BB962C8B-B14F-4D97-AF65-F5344CB8AC3E}">
        <p14:creationId xmlns:p14="http://schemas.microsoft.com/office/powerpoint/2010/main" val="3202445848"/>
      </p:ext>
    </p:extLst>
  </p:cSld>
  <p:clrMapOvr>
    <a:masterClrMapping/>
  </p:clrMapOvr>
</p:sld>
</file>

<file path=ppt/slides/slide2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1 Título"/>
          <p:cNvSpPr>
            <a:spLocks noGrp="1"/>
          </p:cNvSpPr>
          <p:nvPr>
            <p:ph type="title"/>
          </p:nvPr>
        </p:nvSpPr>
        <p:spPr>
          <a:xfrm>
            <a:off x="457200" y="274638"/>
            <a:ext cx="8229600" cy="654050"/>
          </a:xfrm>
        </p:spPr>
        <p:txBody>
          <a:bodyPr/>
          <a:lstStyle/>
          <a:p>
            <a:r>
              <a:rPr lang="es-AR" altLang="es-AR" b="1" dirty="0"/>
              <a:t>Análisis y evaluación de AW</a:t>
            </a:r>
          </a:p>
        </p:txBody>
      </p:sp>
      <p:sp>
        <p:nvSpPr>
          <p:cNvPr id="57347" name="2 Marcador de contenido"/>
          <p:cNvSpPr>
            <a:spLocks noGrp="1"/>
          </p:cNvSpPr>
          <p:nvPr>
            <p:ph idx="1"/>
          </p:nvPr>
        </p:nvSpPr>
        <p:spPr>
          <a:xfrm>
            <a:off x="422221" y="1495336"/>
            <a:ext cx="8229600" cy="432767"/>
          </a:xfrm>
        </p:spPr>
        <p:txBody>
          <a:bodyPr/>
          <a:lstStyle/>
          <a:p>
            <a:r>
              <a:rPr lang="es-AR" dirty="0">
                <a:sym typeface="Wingdings" pitchFamily="2" charset="2"/>
              </a:rPr>
              <a:t>Análisis de accesibilidad con ARWeb (Resultados)</a:t>
            </a:r>
          </a:p>
          <a:p>
            <a:pPr algn="just"/>
            <a:endParaRPr lang="es-AR" dirty="0"/>
          </a:p>
          <a:p>
            <a:pPr lvl="1"/>
            <a:endParaRPr lang="es-AR" dirty="0"/>
          </a:p>
          <a:p>
            <a:pPr marL="3657600" lvl="8" indent="0">
              <a:buNone/>
            </a:pPr>
            <a:r>
              <a:rPr lang="es-AR" dirty="0"/>
              <a:t>		</a:t>
            </a:r>
          </a:p>
        </p:txBody>
      </p:sp>
      <p:sp>
        <p:nvSpPr>
          <p:cNvPr id="5" name="5 CuadroTexto"/>
          <p:cNvSpPr txBox="1"/>
          <p:nvPr/>
        </p:nvSpPr>
        <p:spPr>
          <a:xfrm>
            <a:off x="402668" y="2060848"/>
            <a:ext cx="2513148" cy="4401205"/>
          </a:xfrm>
          <a:prstGeom prst="rect">
            <a:avLst/>
          </a:prstGeom>
          <a:noFill/>
        </p:spPr>
        <p:txBody>
          <a:bodyPr wrap="square" rtlCol="0">
            <a:spAutoFit/>
          </a:bodyPr>
          <a:lstStyle/>
          <a:p>
            <a:r>
              <a:rPr lang="es-AR" sz="2000" dirty="0">
                <a:sym typeface="Wingdings" pitchFamily="2" charset="2"/>
              </a:rPr>
              <a:t>Puntos= Para Nivel A, hay 25 criterios de conformidad.</a:t>
            </a:r>
          </a:p>
          <a:p>
            <a:endParaRPr lang="es-AR" sz="2000" dirty="0">
              <a:sym typeface="Wingdings" pitchFamily="2" charset="2"/>
            </a:endParaRPr>
          </a:p>
          <a:p>
            <a:r>
              <a:rPr lang="es-AR" sz="2000" dirty="0">
                <a:sym typeface="Wingdings" pitchFamily="2" charset="2"/>
              </a:rPr>
              <a:t>Si todas las técnicas suficientes de un criterio dan OK  suma 4 puntos.</a:t>
            </a:r>
          </a:p>
          <a:p>
            <a:r>
              <a:rPr lang="es-AR" sz="2000" dirty="0">
                <a:sym typeface="Wingdings" pitchFamily="2" charset="2"/>
              </a:rPr>
              <a:t>Un sitio es accesible si la cantidad de puntos es MAYOR O IGUAL a 50. [Fuente: Disposición 2/2014] </a:t>
            </a:r>
            <a:endParaRPr lang="es-AR" dirty="0"/>
          </a:p>
        </p:txBody>
      </p:sp>
      <p:sp>
        <p:nvSpPr>
          <p:cNvPr id="7" name="7 Flecha a la derecha con muesca"/>
          <p:cNvSpPr/>
          <p:nvPr/>
        </p:nvSpPr>
        <p:spPr>
          <a:xfrm>
            <a:off x="2537924" y="4038983"/>
            <a:ext cx="593916" cy="444934"/>
          </a:xfrm>
          <a:prstGeom prst="notched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pic>
        <p:nvPicPr>
          <p:cNvPr id="12" name="Picture 3"/>
          <p:cNvPicPr>
            <a:picLocks noChangeAspect="1" noChangeArrowheads="1"/>
          </p:cNvPicPr>
          <p:nvPr/>
        </p:nvPicPr>
        <p:blipFill>
          <a:blip r:embed="rId3" cstate="print"/>
          <a:srcRect/>
          <a:stretch>
            <a:fillRect/>
          </a:stretch>
        </p:blipFill>
        <p:spPr bwMode="auto">
          <a:xfrm>
            <a:off x="3131840" y="2060848"/>
            <a:ext cx="5905936" cy="4429452"/>
          </a:xfrm>
          <a:prstGeom prst="rect">
            <a:avLst/>
          </a:prstGeom>
          <a:noFill/>
          <a:ln w="9525">
            <a:noFill/>
            <a:miter lim="800000"/>
            <a:headEnd/>
            <a:tailEnd/>
          </a:ln>
          <a:effectLst/>
        </p:spPr>
      </p:pic>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205</a:t>
            </a:fld>
            <a:endParaRPr lang="es-ES" altLang="es-AR"/>
          </a:p>
        </p:txBody>
      </p:sp>
    </p:spTree>
    <p:extLst>
      <p:ext uri="{BB962C8B-B14F-4D97-AF65-F5344CB8AC3E}">
        <p14:creationId xmlns:p14="http://schemas.microsoft.com/office/powerpoint/2010/main" val="1106165263"/>
      </p:ext>
    </p:extLst>
  </p:cSld>
  <p:clrMapOvr>
    <a:masterClrMapping/>
  </p:clrMapOvr>
</p:sld>
</file>

<file path=ppt/slides/slide2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1 Título"/>
          <p:cNvSpPr>
            <a:spLocks noGrp="1"/>
          </p:cNvSpPr>
          <p:nvPr>
            <p:ph type="title"/>
          </p:nvPr>
        </p:nvSpPr>
        <p:spPr>
          <a:xfrm>
            <a:off x="457200" y="274638"/>
            <a:ext cx="8229600" cy="654050"/>
          </a:xfrm>
        </p:spPr>
        <p:txBody>
          <a:bodyPr/>
          <a:lstStyle/>
          <a:p>
            <a:r>
              <a:rPr lang="es-AR" altLang="es-AR" b="1" dirty="0"/>
              <a:t>Análisis y evaluación de AW</a:t>
            </a:r>
          </a:p>
        </p:txBody>
      </p:sp>
      <p:sp>
        <p:nvSpPr>
          <p:cNvPr id="57347" name="2 Marcador de contenido"/>
          <p:cNvSpPr>
            <a:spLocks noGrp="1"/>
          </p:cNvSpPr>
          <p:nvPr>
            <p:ph idx="1"/>
          </p:nvPr>
        </p:nvSpPr>
        <p:spPr>
          <a:xfrm>
            <a:off x="422221" y="1495336"/>
            <a:ext cx="8229600" cy="432767"/>
          </a:xfrm>
        </p:spPr>
        <p:txBody>
          <a:bodyPr/>
          <a:lstStyle/>
          <a:p>
            <a:r>
              <a:rPr lang="es-AR" dirty="0">
                <a:sym typeface="Wingdings" pitchFamily="2" charset="2"/>
              </a:rPr>
              <a:t>Análisis de accesibilidad con ARWeb (Verificación)</a:t>
            </a:r>
          </a:p>
          <a:p>
            <a:pPr algn="just"/>
            <a:endParaRPr lang="es-AR" dirty="0"/>
          </a:p>
          <a:p>
            <a:pPr lvl="1"/>
            <a:endParaRPr lang="es-AR" dirty="0"/>
          </a:p>
          <a:p>
            <a:pPr marL="3657600" lvl="8" indent="0">
              <a:buNone/>
            </a:pPr>
            <a:r>
              <a:rPr lang="es-AR" dirty="0"/>
              <a:t>		</a:t>
            </a:r>
          </a:p>
        </p:txBody>
      </p:sp>
      <p:pic>
        <p:nvPicPr>
          <p:cNvPr id="8" name="Picture 5"/>
          <p:cNvPicPr>
            <a:picLocks noChangeAspect="1" noChangeArrowheads="1"/>
          </p:cNvPicPr>
          <p:nvPr/>
        </p:nvPicPr>
        <p:blipFill>
          <a:blip r:embed="rId3" cstate="print"/>
          <a:srcRect/>
          <a:stretch>
            <a:fillRect/>
          </a:stretch>
        </p:blipFill>
        <p:spPr bwMode="auto">
          <a:xfrm>
            <a:off x="1259632" y="2060848"/>
            <a:ext cx="6840760" cy="4354963"/>
          </a:xfrm>
          <a:prstGeom prst="rect">
            <a:avLst/>
          </a:prstGeom>
          <a:noFill/>
          <a:ln w="9525">
            <a:noFill/>
            <a:miter lim="800000"/>
            <a:headEnd/>
            <a:tailEnd/>
          </a:ln>
          <a:effectLst/>
        </p:spPr>
      </p:pic>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206</a:t>
            </a:fld>
            <a:endParaRPr lang="es-ES" altLang="es-AR"/>
          </a:p>
        </p:txBody>
      </p:sp>
    </p:spTree>
    <p:extLst>
      <p:ext uri="{BB962C8B-B14F-4D97-AF65-F5344CB8AC3E}">
        <p14:creationId xmlns:p14="http://schemas.microsoft.com/office/powerpoint/2010/main" val="1999553272"/>
      </p:ext>
    </p:extLst>
  </p:cSld>
  <p:clrMapOvr>
    <a:masterClrMapping/>
  </p:clrMapOvr>
</p:sld>
</file>

<file path=ppt/slides/slide2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1 Título"/>
          <p:cNvSpPr>
            <a:spLocks noGrp="1"/>
          </p:cNvSpPr>
          <p:nvPr>
            <p:ph type="title"/>
          </p:nvPr>
        </p:nvSpPr>
        <p:spPr>
          <a:xfrm>
            <a:off x="457200" y="274638"/>
            <a:ext cx="8229600" cy="654050"/>
          </a:xfrm>
        </p:spPr>
        <p:txBody>
          <a:bodyPr/>
          <a:lstStyle/>
          <a:p>
            <a:r>
              <a:rPr lang="es-AR" altLang="es-AR" b="1" dirty="0"/>
              <a:t>Análisis y evaluación de AW</a:t>
            </a:r>
          </a:p>
        </p:txBody>
      </p:sp>
      <p:sp>
        <p:nvSpPr>
          <p:cNvPr id="57347" name="2 Marcador de contenido"/>
          <p:cNvSpPr>
            <a:spLocks noGrp="1"/>
          </p:cNvSpPr>
          <p:nvPr>
            <p:ph idx="1"/>
          </p:nvPr>
        </p:nvSpPr>
        <p:spPr>
          <a:xfrm>
            <a:off x="422221" y="1495336"/>
            <a:ext cx="8229600" cy="432767"/>
          </a:xfrm>
        </p:spPr>
        <p:txBody>
          <a:bodyPr/>
          <a:lstStyle/>
          <a:p>
            <a:r>
              <a:rPr lang="es-AR" dirty="0">
                <a:sym typeface="Wingdings" pitchFamily="2" charset="2"/>
              </a:rPr>
              <a:t>Análisis de accesibilidad con ARWeb (Ver Código HTML)</a:t>
            </a:r>
          </a:p>
          <a:p>
            <a:pPr algn="just"/>
            <a:endParaRPr lang="es-AR" dirty="0"/>
          </a:p>
          <a:p>
            <a:pPr lvl="1"/>
            <a:endParaRPr lang="es-AR" dirty="0"/>
          </a:p>
          <a:p>
            <a:pPr marL="3657600" lvl="8" indent="0">
              <a:buNone/>
            </a:pPr>
            <a:r>
              <a:rPr lang="es-AR" dirty="0"/>
              <a:t>		</a:t>
            </a:r>
          </a:p>
        </p:txBody>
      </p:sp>
      <p:pic>
        <p:nvPicPr>
          <p:cNvPr id="5" name="Picture 2"/>
          <p:cNvPicPr>
            <a:picLocks noChangeAspect="1" noChangeArrowheads="1"/>
          </p:cNvPicPr>
          <p:nvPr/>
        </p:nvPicPr>
        <p:blipFill>
          <a:blip r:embed="rId3" cstate="print"/>
          <a:srcRect/>
          <a:stretch>
            <a:fillRect/>
          </a:stretch>
        </p:blipFill>
        <p:spPr bwMode="auto">
          <a:xfrm>
            <a:off x="3347864" y="2060848"/>
            <a:ext cx="5512880" cy="4410303"/>
          </a:xfrm>
          <a:prstGeom prst="rect">
            <a:avLst/>
          </a:prstGeom>
          <a:noFill/>
          <a:ln w="9525">
            <a:noFill/>
            <a:miter lim="800000"/>
            <a:headEnd/>
            <a:tailEnd/>
          </a:ln>
          <a:effectLst/>
        </p:spPr>
      </p:pic>
      <p:sp>
        <p:nvSpPr>
          <p:cNvPr id="7" name="10 CuadroTexto"/>
          <p:cNvSpPr txBox="1"/>
          <p:nvPr/>
        </p:nvSpPr>
        <p:spPr>
          <a:xfrm>
            <a:off x="407413" y="2988726"/>
            <a:ext cx="2016224" cy="2554545"/>
          </a:xfrm>
          <a:prstGeom prst="rect">
            <a:avLst/>
          </a:prstGeom>
          <a:noFill/>
          <a:ln w="9525">
            <a:solidFill>
              <a:schemeClr val="accent1"/>
            </a:solidFill>
          </a:ln>
        </p:spPr>
        <p:txBody>
          <a:bodyPr wrap="square" rtlCol="0">
            <a:spAutoFit/>
          </a:bodyPr>
          <a:lstStyle/>
          <a:p>
            <a:r>
              <a:rPr lang="es-AR" sz="2000" dirty="0">
                <a:sym typeface="Wingdings" pitchFamily="2" charset="2"/>
              </a:rPr>
              <a:t>Muestra el código fuente de la página, indicando donde ocurre el error, la advertencia y no verificado.</a:t>
            </a:r>
            <a:endParaRPr lang="es-AR" dirty="0"/>
          </a:p>
        </p:txBody>
      </p:sp>
      <p:sp>
        <p:nvSpPr>
          <p:cNvPr id="9" name="7 Flecha a la derecha con muesca"/>
          <p:cNvSpPr/>
          <p:nvPr/>
        </p:nvSpPr>
        <p:spPr>
          <a:xfrm>
            <a:off x="2588792" y="4043531"/>
            <a:ext cx="593916" cy="444934"/>
          </a:xfrm>
          <a:prstGeom prst="notched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207</a:t>
            </a:fld>
            <a:endParaRPr lang="es-ES" altLang="es-AR"/>
          </a:p>
        </p:txBody>
      </p:sp>
    </p:spTree>
    <p:extLst>
      <p:ext uri="{BB962C8B-B14F-4D97-AF65-F5344CB8AC3E}">
        <p14:creationId xmlns:p14="http://schemas.microsoft.com/office/powerpoint/2010/main" val="820554343"/>
      </p:ext>
    </p:extLst>
  </p:cSld>
  <p:clrMapOvr>
    <a:masterClrMapping/>
  </p:clrMapOvr>
</p:sld>
</file>

<file path=ppt/slides/slide2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1 Título"/>
          <p:cNvSpPr>
            <a:spLocks noGrp="1"/>
          </p:cNvSpPr>
          <p:nvPr>
            <p:ph type="title"/>
          </p:nvPr>
        </p:nvSpPr>
        <p:spPr>
          <a:xfrm>
            <a:off x="457200" y="274638"/>
            <a:ext cx="8229600" cy="654050"/>
          </a:xfrm>
        </p:spPr>
        <p:txBody>
          <a:bodyPr/>
          <a:lstStyle/>
          <a:p>
            <a:r>
              <a:rPr lang="es-AR" altLang="es-AR" b="1" dirty="0"/>
              <a:t>Análisis y evaluación de AW</a:t>
            </a:r>
          </a:p>
        </p:txBody>
      </p:sp>
      <p:sp>
        <p:nvSpPr>
          <p:cNvPr id="57347" name="2 Marcador de contenido"/>
          <p:cNvSpPr>
            <a:spLocks noGrp="1"/>
          </p:cNvSpPr>
          <p:nvPr>
            <p:ph idx="1"/>
          </p:nvPr>
        </p:nvSpPr>
        <p:spPr>
          <a:xfrm>
            <a:off x="422221" y="1495336"/>
            <a:ext cx="8229600" cy="1069568"/>
          </a:xfrm>
        </p:spPr>
        <p:txBody>
          <a:bodyPr/>
          <a:lstStyle/>
          <a:p>
            <a:r>
              <a:rPr lang="es-AR" dirty="0">
                <a:sym typeface="Wingdings" pitchFamily="2" charset="2"/>
              </a:rPr>
              <a:t>Análisis de accesibilidad con ARWeb (Exportar Anexo PDF)</a:t>
            </a:r>
          </a:p>
          <a:p>
            <a:pPr lvl="1"/>
            <a:r>
              <a:rPr lang="es-AR" dirty="0">
                <a:sym typeface="Wingdings" pitchFamily="2" charset="2"/>
              </a:rPr>
              <a:t>Información expuesta conforme el modelo del Anexo II de Disposición 2/2014 de la ONTI. </a:t>
            </a:r>
          </a:p>
          <a:p>
            <a:pPr lvl="1"/>
            <a:endParaRPr lang="es-AR" dirty="0">
              <a:sym typeface="Wingdings" pitchFamily="2" charset="2"/>
            </a:endParaRPr>
          </a:p>
          <a:p>
            <a:pPr algn="just"/>
            <a:endParaRPr lang="es-AR" dirty="0"/>
          </a:p>
          <a:p>
            <a:pPr lvl="1"/>
            <a:endParaRPr lang="es-AR" dirty="0"/>
          </a:p>
          <a:p>
            <a:pPr marL="3657600" lvl="8" indent="0">
              <a:buNone/>
            </a:pPr>
            <a:r>
              <a:rPr lang="es-AR" dirty="0"/>
              <a:t>		</a:t>
            </a:r>
          </a:p>
        </p:txBody>
      </p:sp>
      <p:pic>
        <p:nvPicPr>
          <p:cNvPr id="8" name="Picture 2"/>
          <p:cNvPicPr>
            <a:picLocks noChangeAspect="1" noChangeArrowheads="1"/>
          </p:cNvPicPr>
          <p:nvPr/>
        </p:nvPicPr>
        <p:blipFill>
          <a:blip r:embed="rId3" cstate="print"/>
          <a:srcRect l="27381" t="22011" r="26032" b="18307"/>
          <a:stretch>
            <a:fillRect/>
          </a:stretch>
        </p:blipFill>
        <p:spPr bwMode="auto">
          <a:xfrm>
            <a:off x="1871700" y="2564904"/>
            <a:ext cx="5400600" cy="3891745"/>
          </a:xfrm>
          <a:prstGeom prst="rect">
            <a:avLst/>
          </a:prstGeom>
          <a:noFill/>
          <a:ln w="9525">
            <a:noFill/>
            <a:miter lim="800000"/>
            <a:headEnd/>
            <a:tailEnd/>
          </a:ln>
          <a:effectLst/>
        </p:spPr>
      </p:pic>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208</a:t>
            </a:fld>
            <a:endParaRPr lang="es-ES" altLang="es-AR"/>
          </a:p>
        </p:txBody>
      </p:sp>
    </p:spTree>
    <p:extLst>
      <p:ext uri="{BB962C8B-B14F-4D97-AF65-F5344CB8AC3E}">
        <p14:creationId xmlns:p14="http://schemas.microsoft.com/office/powerpoint/2010/main" val="725212413"/>
      </p:ext>
    </p:extLst>
  </p:cSld>
  <p:clrMapOvr>
    <a:masterClrMapping/>
  </p:clrMapOvr>
</p:sld>
</file>

<file path=ppt/slides/slide2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1 Título"/>
          <p:cNvSpPr>
            <a:spLocks noGrp="1"/>
          </p:cNvSpPr>
          <p:nvPr>
            <p:ph type="title"/>
          </p:nvPr>
        </p:nvSpPr>
        <p:spPr>
          <a:xfrm>
            <a:off x="457200" y="274638"/>
            <a:ext cx="8229600" cy="654050"/>
          </a:xfrm>
        </p:spPr>
        <p:txBody>
          <a:bodyPr/>
          <a:lstStyle/>
          <a:p>
            <a:r>
              <a:rPr lang="es-AR" altLang="es-AR" b="1" dirty="0"/>
              <a:t>Análisis y evaluación de AW</a:t>
            </a:r>
          </a:p>
        </p:txBody>
      </p:sp>
      <p:sp>
        <p:nvSpPr>
          <p:cNvPr id="57347" name="2 Marcador de contenido"/>
          <p:cNvSpPr>
            <a:spLocks noGrp="1"/>
          </p:cNvSpPr>
          <p:nvPr>
            <p:ph idx="1"/>
          </p:nvPr>
        </p:nvSpPr>
        <p:spPr>
          <a:xfrm>
            <a:off x="422221" y="1495336"/>
            <a:ext cx="8229600" cy="1069568"/>
          </a:xfrm>
        </p:spPr>
        <p:txBody>
          <a:bodyPr/>
          <a:lstStyle/>
          <a:p>
            <a:r>
              <a:rPr lang="es-AR" dirty="0">
                <a:sym typeface="Wingdings" pitchFamily="2" charset="2"/>
              </a:rPr>
              <a:t>Análisis de accesibilidad con ARWeb (Exportar Detalle PDF)</a:t>
            </a:r>
          </a:p>
          <a:p>
            <a:pPr lvl="1"/>
            <a:r>
              <a:rPr lang="es-AR" dirty="0">
                <a:sym typeface="Wingdings" pitchFamily="2" charset="2"/>
              </a:rPr>
              <a:t>Información detallada de Análisis de Accesibilidad Web  (formato PDF)</a:t>
            </a:r>
          </a:p>
          <a:p>
            <a:pPr lvl="1"/>
            <a:endParaRPr lang="es-AR" dirty="0">
              <a:sym typeface="Wingdings" pitchFamily="2" charset="2"/>
            </a:endParaRPr>
          </a:p>
          <a:p>
            <a:pPr algn="just"/>
            <a:endParaRPr lang="es-AR" dirty="0"/>
          </a:p>
          <a:p>
            <a:pPr lvl="1"/>
            <a:endParaRPr lang="es-AR" dirty="0"/>
          </a:p>
          <a:p>
            <a:pPr marL="3657600" lvl="8" indent="0">
              <a:buNone/>
            </a:pPr>
            <a:r>
              <a:rPr lang="es-AR" dirty="0"/>
              <a:t>		</a:t>
            </a:r>
          </a:p>
        </p:txBody>
      </p:sp>
      <p:pic>
        <p:nvPicPr>
          <p:cNvPr id="4" name="Picture 2"/>
          <p:cNvPicPr>
            <a:picLocks noChangeAspect="1" noChangeArrowheads="1"/>
          </p:cNvPicPr>
          <p:nvPr/>
        </p:nvPicPr>
        <p:blipFill>
          <a:blip r:embed="rId3" cstate="print"/>
          <a:srcRect l="14286" t="15520" r="12936" b="15908"/>
          <a:stretch>
            <a:fillRect/>
          </a:stretch>
        </p:blipFill>
        <p:spPr bwMode="auto">
          <a:xfrm>
            <a:off x="899592" y="2564904"/>
            <a:ext cx="7344816" cy="3892673"/>
          </a:xfrm>
          <a:prstGeom prst="rect">
            <a:avLst/>
          </a:prstGeom>
          <a:noFill/>
          <a:ln w="9525">
            <a:noFill/>
            <a:miter lim="800000"/>
            <a:headEnd/>
            <a:tailEnd/>
          </a:ln>
          <a:effectLst/>
        </p:spPr>
      </p:pic>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209</a:t>
            </a:fld>
            <a:endParaRPr lang="es-ES" altLang="es-AR"/>
          </a:p>
        </p:txBody>
      </p:sp>
    </p:spTree>
    <p:extLst>
      <p:ext uri="{BB962C8B-B14F-4D97-AF65-F5344CB8AC3E}">
        <p14:creationId xmlns:p14="http://schemas.microsoft.com/office/powerpoint/2010/main" val="806856786"/>
      </p:ext>
    </p:extLst>
  </p:cSld>
  <p:clrMapOvr>
    <a:masterClrMapping/>
  </p:clrMapOvr>
</p:sld>
</file>

<file path=ppt/slides/slide2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1 Título"/>
          <p:cNvSpPr>
            <a:spLocks noGrp="1"/>
          </p:cNvSpPr>
          <p:nvPr>
            <p:ph type="title"/>
          </p:nvPr>
        </p:nvSpPr>
        <p:spPr>
          <a:xfrm>
            <a:off x="457200" y="274638"/>
            <a:ext cx="8229600" cy="654050"/>
          </a:xfrm>
        </p:spPr>
        <p:txBody>
          <a:bodyPr/>
          <a:lstStyle/>
          <a:p>
            <a:r>
              <a:rPr lang="es-AR" altLang="es-AR" b="1" dirty="0"/>
              <a:t>Análisis y evaluación de AW</a:t>
            </a:r>
          </a:p>
        </p:txBody>
      </p:sp>
      <p:sp>
        <p:nvSpPr>
          <p:cNvPr id="57347" name="2 Marcador de contenido"/>
          <p:cNvSpPr>
            <a:spLocks noGrp="1"/>
          </p:cNvSpPr>
          <p:nvPr>
            <p:ph idx="1"/>
          </p:nvPr>
        </p:nvSpPr>
        <p:spPr>
          <a:xfrm>
            <a:off x="422221" y="1495336"/>
            <a:ext cx="8229600" cy="1069568"/>
          </a:xfrm>
        </p:spPr>
        <p:txBody>
          <a:bodyPr/>
          <a:lstStyle/>
          <a:p>
            <a:r>
              <a:rPr lang="es-AR" dirty="0">
                <a:sym typeface="Wingdings" pitchFamily="2" charset="2"/>
              </a:rPr>
              <a:t>Análisis de accesibilidad con ARWeb (Exportar Detalle XLS)</a:t>
            </a:r>
          </a:p>
          <a:p>
            <a:pPr lvl="1"/>
            <a:r>
              <a:rPr lang="es-AR" dirty="0">
                <a:sym typeface="Wingdings" pitchFamily="2" charset="2"/>
              </a:rPr>
              <a:t>Información detallada de Análisis de Accesibilidad Web  (formato XLS)</a:t>
            </a:r>
          </a:p>
          <a:p>
            <a:pPr algn="just"/>
            <a:endParaRPr lang="es-AR" dirty="0"/>
          </a:p>
          <a:p>
            <a:pPr lvl="1"/>
            <a:endParaRPr lang="es-AR" dirty="0"/>
          </a:p>
          <a:p>
            <a:pPr marL="3657600" lvl="8" indent="0">
              <a:buNone/>
            </a:pPr>
            <a:r>
              <a:rPr lang="es-AR" dirty="0"/>
              <a:t>		</a:t>
            </a:r>
          </a:p>
        </p:txBody>
      </p:sp>
      <p:pic>
        <p:nvPicPr>
          <p:cNvPr id="5" name="Picture 2"/>
          <p:cNvPicPr>
            <a:picLocks noChangeAspect="1" noChangeArrowheads="1"/>
          </p:cNvPicPr>
          <p:nvPr/>
        </p:nvPicPr>
        <p:blipFill>
          <a:blip r:embed="rId3" cstate="print"/>
          <a:srcRect t="15238" r="39841" b="4762"/>
          <a:stretch>
            <a:fillRect/>
          </a:stretch>
        </p:blipFill>
        <p:spPr bwMode="auto">
          <a:xfrm>
            <a:off x="2983236" y="2276872"/>
            <a:ext cx="5739271" cy="4293096"/>
          </a:xfrm>
          <a:prstGeom prst="rect">
            <a:avLst/>
          </a:prstGeom>
          <a:noFill/>
          <a:ln w="9525">
            <a:noFill/>
            <a:miter lim="800000"/>
            <a:headEnd/>
            <a:tailEnd/>
          </a:ln>
          <a:effectLst/>
        </p:spPr>
      </p:pic>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210</a:t>
            </a:fld>
            <a:endParaRPr lang="es-ES" altLang="es-AR"/>
          </a:p>
        </p:txBody>
      </p:sp>
    </p:spTree>
    <p:extLst>
      <p:ext uri="{BB962C8B-B14F-4D97-AF65-F5344CB8AC3E}">
        <p14:creationId xmlns:p14="http://schemas.microsoft.com/office/powerpoint/2010/main" val="3319278708"/>
      </p:ext>
    </p:extLst>
  </p:cSld>
  <p:clrMapOvr>
    <a:masterClrMapping/>
  </p:clrMapOvr>
</p:sld>
</file>

<file path=ppt/slides/slide2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1 Título"/>
          <p:cNvSpPr>
            <a:spLocks noGrp="1"/>
          </p:cNvSpPr>
          <p:nvPr>
            <p:ph type="title"/>
          </p:nvPr>
        </p:nvSpPr>
        <p:spPr>
          <a:xfrm>
            <a:off x="457200" y="274638"/>
            <a:ext cx="8229600" cy="654050"/>
          </a:xfrm>
        </p:spPr>
        <p:txBody>
          <a:bodyPr/>
          <a:lstStyle/>
          <a:p>
            <a:r>
              <a:rPr lang="es-AR" altLang="es-AR" b="1"/>
              <a:t>Organización</a:t>
            </a:r>
          </a:p>
        </p:txBody>
      </p:sp>
      <p:sp>
        <p:nvSpPr>
          <p:cNvPr id="35843" name="2 Marcador de contenido"/>
          <p:cNvSpPr>
            <a:spLocks noGrp="1"/>
          </p:cNvSpPr>
          <p:nvPr>
            <p:ph idx="1"/>
          </p:nvPr>
        </p:nvSpPr>
        <p:spPr/>
        <p:txBody>
          <a:bodyPr/>
          <a:lstStyle/>
          <a:p>
            <a:r>
              <a:rPr lang="es-AR" altLang="es-AR" dirty="0"/>
              <a:t>Introducción.</a:t>
            </a:r>
          </a:p>
          <a:p>
            <a:r>
              <a:rPr lang="es-AR" altLang="es-AR" dirty="0"/>
              <a:t>¿Qué es la accesibilidad web?</a:t>
            </a:r>
          </a:p>
          <a:p>
            <a:r>
              <a:rPr lang="es-AR" altLang="es-AR" dirty="0"/>
              <a:t>Pautas y leyes.</a:t>
            </a:r>
          </a:p>
          <a:p>
            <a:r>
              <a:rPr lang="es-AR" altLang="es-AR" dirty="0"/>
              <a:t>Contenido accesible.</a:t>
            </a:r>
          </a:p>
          <a:p>
            <a:r>
              <a:rPr lang="es-AR" altLang="es-AR" dirty="0"/>
              <a:t>Navegación accesible.</a:t>
            </a:r>
          </a:p>
          <a:p>
            <a:r>
              <a:rPr lang="es-AR" altLang="es-AR" dirty="0"/>
              <a:t>Diseño accesible.</a:t>
            </a:r>
          </a:p>
          <a:p>
            <a:r>
              <a:rPr lang="es-AR" altLang="es-AR" dirty="0"/>
              <a:t>Análisis y evaluación de la accesibilidad web.</a:t>
            </a:r>
          </a:p>
          <a:p>
            <a:r>
              <a:rPr lang="es-AR" altLang="es-AR" b="1" dirty="0">
                <a:solidFill>
                  <a:srgbClr val="0070C0"/>
                </a:solidFill>
              </a:rPr>
              <a:t>Conclusiones.</a:t>
            </a:r>
          </a:p>
        </p:txBody>
      </p:sp>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211</a:t>
            </a:fld>
            <a:endParaRPr lang="es-ES" altLang="es-AR"/>
          </a:p>
        </p:txBody>
      </p:sp>
    </p:spTree>
    <p:extLst>
      <p:ext uri="{BB962C8B-B14F-4D97-AF65-F5344CB8AC3E}">
        <p14:creationId xmlns:p14="http://schemas.microsoft.com/office/powerpoint/2010/main" val="4241012572"/>
      </p:ext>
    </p:extLst>
  </p:cSld>
  <p:clrMapOvr>
    <a:masterClrMapping/>
  </p:clrMapOvr>
</p:sld>
</file>

<file path=ppt/slides/slide2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1 Título"/>
          <p:cNvSpPr>
            <a:spLocks noGrp="1"/>
          </p:cNvSpPr>
          <p:nvPr>
            <p:ph type="title"/>
          </p:nvPr>
        </p:nvSpPr>
        <p:spPr>
          <a:xfrm>
            <a:off x="457200" y="274638"/>
            <a:ext cx="8229600" cy="654050"/>
          </a:xfrm>
        </p:spPr>
        <p:txBody>
          <a:bodyPr/>
          <a:lstStyle/>
          <a:p>
            <a:r>
              <a:rPr lang="es-AR" altLang="es-AR" b="1" dirty="0"/>
              <a:t>Conclusiones</a:t>
            </a:r>
          </a:p>
        </p:txBody>
      </p:sp>
      <p:sp>
        <p:nvSpPr>
          <p:cNvPr id="35843" name="2 Marcador de contenido"/>
          <p:cNvSpPr>
            <a:spLocks noGrp="1"/>
          </p:cNvSpPr>
          <p:nvPr>
            <p:ph idx="1"/>
          </p:nvPr>
        </p:nvSpPr>
        <p:spPr>
          <a:xfrm>
            <a:off x="457200" y="2276872"/>
            <a:ext cx="8229600" cy="3849291"/>
          </a:xfrm>
        </p:spPr>
        <p:txBody>
          <a:bodyPr/>
          <a:lstStyle/>
          <a:p>
            <a:r>
              <a:rPr lang="es-AR" dirty="0"/>
              <a:t>Las pautas sobre accesibilidad web que en la actualidad se aplican con Web Content </a:t>
            </a:r>
            <a:r>
              <a:rPr lang="es-AR" dirty="0" err="1"/>
              <a:t>Accessibility</a:t>
            </a:r>
            <a:r>
              <a:rPr lang="es-AR" dirty="0"/>
              <a:t>  </a:t>
            </a:r>
            <a:r>
              <a:rPr lang="es-AR" dirty="0" err="1"/>
              <a:t>Guidelines</a:t>
            </a:r>
            <a:r>
              <a:rPr lang="es-AR" dirty="0"/>
              <a:t> 2.0 (WCAG 2.0)</a:t>
            </a:r>
          </a:p>
          <a:p>
            <a:pPr marL="0" indent="0">
              <a:buNone/>
            </a:pPr>
            <a:endParaRPr lang="es-AR" dirty="0"/>
          </a:p>
          <a:p>
            <a:r>
              <a:rPr lang="es-AR" dirty="0"/>
              <a:t>Consejos generales que resumen lo que se debe hacer para lograr que un sitio web sea accesible:</a:t>
            </a:r>
          </a:p>
          <a:p>
            <a:endParaRPr lang="es-AR" dirty="0"/>
          </a:p>
          <a:p>
            <a:pPr lvl="3"/>
            <a:r>
              <a:rPr lang="es-AR" dirty="0"/>
              <a:t>Asegurar una transformación correcta.</a:t>
            </a:r>
          </a:p>
          <a:p>
            <a:pPr lvl="3"/>
            <a:endParaRPr lang="es-AR" dirty="0"/>
          </a:p>
          <a:p>
            <a:pPr lvl="3"/>
            <a:r>
              <a:rPr lang="es-AR" dirty="0"/>
              <a:t>Hacer comprensible y navegable el contenido.</a:t>
            </a:r>
          </a:p>
        </p:txBody>
      </p:sp>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212</a:t>
            </a:fld>
            <a:endParaRPr lang="es-ES" altLang="es-AR"/>
          </a:p>
        </p:txBody>
      </p:sp>
    </p:spTree>
    <p:extLst>
      <p:ext uri="{BB962C8B-B14F-4D97-AF65-F5344CB8AC3E}">
        <p14:creationId xmlns:p14="http://schemas.microsoft.com/office/powerpoint/2010/main" val="1161353498"/>
      </p:ext>
    </p:extLst>
  </p:cSld>
  <p:clrMapOvr>
    <a:masterClrMapping/>
  </p:clrMapOvr>
</p:sld>
</file>

<file path=ppt/slides/slide2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1 Título"/>
          <p:cNvSpPr>
            <a:spLocks noGrp="1"/>
          </p:cNvSpPr>
          <p:nvPr>
            <p:ph type="title"/>
          </p:nvPr>
        </p:nvSpPr>
        <p:spPr>
          <a:xfrm>
            <a:off x="457200" y="274638"/>
            <a:ext cx="8229600" cy="654050"/>
          </a:xfrm>
        </p:spPr>
        <p:txBody>
          <a:bodyPr/>
          <a:lstStyle/>
          <a:p>
            <a:r>
              <a:rPr lang="es-AR" altLang="es-AR" b="1" dirty="0"/>
              <a:t>Conclusiones</a:t>
            </a:r>
          </a:p>
        </p:txBody>
      </p:sp>
      <p:sp>
        <p:nvSpPr>
          <p:cNvPr id="35843" name="2 Marcador de contenido"/>
          <p:cNvSpPr>
            <a:spLocks noGrp="1"/>
          </p:cNvSpPr>
          <p:nvPr>
            <p:ph idx="1"/>
          </p:nvPr>
        </p:nvSpPr>
        <p:spPr>
          <a:xfrm>
            <a:off x="457200" y="2276872"/>
            <a:ext cx="8229600" cy="3849291"/>
          </a:xfrm>
        </p:spPr>
        <p:txBody>
          <a:bodyPr/>
          <a:lstStyle/>
          <a:p>
            <a:r>
              <a:rPr lang="es-AR" dirty="0"/>
              <a:t>Asegurar una transformación correcta.</a:t>
            </a:r>
          </a:p>
          <a:p>
            <a:pPr>
              <a:buNone/>
            </a:pPr>
            <a:endParaRPr lang="es-AR" dirty="0"/>
          </a:p>
          <a:p>
            <a:pPr lvl="1"/>
            <a:r>
              <a:rPr lang="es-AR" dirty="0"/>
              <a:t> En las páginas web se deben ofrecer alternativas, diferentes presentaciones que se adapten a las necesidades de diferentes usuarios y que sean reproducibles bajo diferentes circunstancias.</a:t>
            </a:r>
          </a:p>
        </p:txBody>
      </p:sp>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213</a:t>
            </a:fld>
            <a:endParaRPr lang="es-ES" altLang="es-AR"/>
          </a:p>
        </p:txBody>
      </p:sp>
    </p:spTree>
    <p:extLst>
      <p:ext uri="{BB962C8B-B14F-4D97-AF65-F5344CB8AC3E}">
        <p14:creationId xmlns:p14="http://schemas.microsoft.com/office/powerpoint/2010/main" val="1582533323"/>
      </p:ext>
    </p:extLst>
  </p:cSld>
  <p:clrMapOvr>
    <a:masterClrMapping/>
  </p:clrMapOvr>
</p:sld>
</file>

<file path=ppt/slides/slide2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1 Título"/>
          <p:cNvSpPr>
            <a:spLocks noGrp="1"/>
          </p:cNvSpPr>
          <p:nvPr>
            <p:ph type="title"/>
          </p:nvPr>
        </p:nvSpPr>
        <p:spPr>
          <a:xfrm>
            <a:off x="457200" y="274638"/>
            <a:ext cx="8229600" cy="654050"/>
          </a:xfrm>
        </p:spPr>
        <p:txBody>
          <a:bodyPr/>
          <a:lstStyle/>
          <a:p>
            <a:r>
              <a:rPr lang="es-AR" altLang="es-AR" b="1" dirty="0"/>
              <a:t>Conclusiones</a:t>
            </a:r>
          </a:p>
        </p:txBody>
      </p:sp>
      <p:sp>
        <p:nvSpPr>
          <p:cNvPr id="35843" name="2 Marcador de contenido"/>
          <p:cNvSpPr>
            <a:spLocks noGrp="1"/>
          </p:cNvSpPr>
          <p:nvPr>
            <p:ph idx="1"/>
          </p:nvPr>
        </p:nvSpPr>
        <p:spPr>
          <a:xfrm>
            <a:off x="457200" y="2276872"/>
            <a:ext cx="8229600" cy="3849291"/>
          </a:xfrm>
        </p:spPr>
        <p:txBody>
          <a:bodyPr/>
          <a:lstStyle/>
          <a:p>
            <a:r>
              <a:rPr lang="es-AR" dirty="0"/>
              <a:t>Hacer comprensible y navegable el contenido.</a:t>
            </a:r>
          </a:p>
          <a:p>
            <a:pPr>
              <a:buNone/>
            </a:pPr>
            <a:endParaRPr lang="es-AR" dirty="0"/>
          </a:p>
          <a:p>
            <a:pPr lvl="1"/>
            <a:r>
              <a:rPr lang="es-AR" dirty="0"/>
              <a:t>Para que el contenido sea comprensible se debe emplear un lenguaje claro y simple.</a:t>
            </a:r>
          </a:p>
          <a:p>
            <a:pPr lvl="1"/>
            <a:endParaRPr lang="es-AR" dirty="0"/>
          </a:p>
          <a:p>
            <a:pPr lvl="1"/>
            <a:r>
              <a:rPr lang="es-AR" dirty="0"/>
              <a:t>Para que el contenido sea navegable se deben proporcionar mecanismos comprensibles para navegar y orientarse dentro de cada página y entre las páginas de un sitio web.</a:t>
            </a:r>
          </a:p>
        </p:txBody>
      </p:sp>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214</a:t>
            </a:fld>
            <a:endParaRPr lang="es-ES" altLang="es-AR"/>
          </a:p>
        </p:txBody>
      </p:sp>
    </p:spTree>
    <p:extLst>
      <p:ext uri="{BB962C8B-B14F-4D97-AF65-F5344CB8AC3E}">
        <p14:creationId xmlns:p14="http://schemas.microsoft.com/office/powerpoint/2010/main" val="3596253705"/>
      </p:ext>
    </p:extLst>
  </p:cSld>
  <p:clrMapOvr>
    <a:masterClrMapping/>
  </p:clrMapOvr>
</p:sld>
</file>

<file path=ppt/slides/slide2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a:xfrm>
            <a:off x="755576" y="2996952"/>
            <a:ext cx="7772400" cy="1470025"/>
          </a:xfrm>
        </p:spPr>
        <p:txBody>
          <a:bodyPr/>
          <a:lstStyle/>
          <a:p>
            <a:r>
              <a:rPr lang="es-AR" dirty="0"/>
              <a:t>Muchas Gracias</a:t>
            </a:r>
          </a:p>
        </p:txBody>
      </p:sp>
      <p:sp>
        <p:nvSpPr>
          <p:cNvPr id="3" name="Marcador de número de diapositiva 2"/>
          <p:cNvSpPr>
            <a:spLocks noGrp="1"/>
          </p:cNvSpPr>
          <p:nvPr>
            <p:ph type="sldNum" sz="quarter" idx="12"/>
          </p:nvPr>
        </p:nvSpPr>
        <p:spPr/>
        <p:txBody>
          <a:bodyPr/>
          <a:lstStyle/>
          <a:p>
            <a:pPr>
              <a:defRPr/>
            </a:pPr>
            <a:fld id="{07540478-50BE-49C6-B241-19303790821C}" type="slidenum">
              <a:rPr lang="es-ES" altLang="es-AR" smtClean="0"/>
              <a:pPr>
                <a:defRPr/>
              </a:pPr>
              <a:t>215</a:t>
            </a:fld>
            <a:endParaRPr lang="es-ES" altLang="es-AR"/>
          </a:p>
        </p:txBody>
      </p:sp>
    </p:spTree>
    <p:extLst>
      <p:ext uri="{BB962C8B-B14F-4D97-AF65-F5344CB8AC3E}">
        <p14:creationId xmlns:p14="http://schemas.microsoft.com/office/powerpoint/2010/main" val="3131978248"/>
      </p:ext>
    </p:extLst>
  </p:cSld>
  <p:clrMapOvr>
    <a:masterClrMapping/>
  </p:clrMapOvr>
</p:sld>
</file>

<file path=ppt/slides/slide2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1 Título"/>
          <p:cNvSpPr>
            <a:spLocks noGrp="1"/>
          </p:cNvSpPr>
          <p:nvPr>
            <p:ph type="title"/>
          </p:nvPr>
        </p:nvSpPr>
        <p:spPr>
          <a:xfrm>
            <a:off x="457200" y="274638"/>
            <a:ext cx="8229600" cy="654050"/>
          </a:xfrm>
        </p:spPr>
        <p:txBody>
          <a:bodyPr/>
          <a:lstStyle/>
          <a:p>
            <a:r>
              <a:rPr lang="es-AR" altLang="es-AR" b="1" dirty="0"/>
              <a:t>Bibliografía</a:t>
            </a:r>
          </a:p>
        </p:txBody>
      </p:sp>
      <p:sp>
        <p:nvSpPr>
          <p:cNvPr id="35843" name="2 Marcador de contenido"/>
          <p:cNvSpPr>
            <a:spLocks noGrp="1"/>
          </p:cNvSpPr>
          <p:nvPr>
            <p:ph idx="1"/>
          </p:nvPr>
        </p:nvSpPr>
        <p:spPr>
          <a:xfrm>
            <a:off x="457200" y="2060848"/>
            <a:ext cx="8229600" cy="4536504"/>
          </a:xfrm>
        </p:spPr>
        <p:txBody>
          <a:bodyPr/>
          <a:lstStyle/>
          <a:p>
            <a:r>
              <a:rPr lang="es-AR" dirty="0"/>
              <a:t>EXAMINATOR. Servicio en línea para evaluar de modo automático la Accesibilidad de una Página Web </a:t>
            </a:r>
            <a:r>
              <a:rPr lang="es-AR" sz="1800" dirty="0"/>
              <a:t>[en línea] </a:t>
            </a:r>
            <a:r>
              <a:rPr lang="es-AR" dirty="0"/>
              <a:t>&lt;</a:t>
            </a:r>
            <a:r>
              <a:rPr lang="es-AR" u="sng" dirty="0">
                <a:hlinkClick r:id="rId2"/>
              </a:rPr>
              <a:t>http://examinator.ws/</a:t>
            </a:r>
            <a:r>
              <a:rPr lang="es-AR" dirty="0"/>
              <a:t>&gt;</a:t>
            </a:r>
          </a:p>
          <a:p>
            <a:pPr algn="just">
              <a:spcBef>
                <a:spcPct val="0"/>
              </a:spcBef>
            </a:pPr>
            <a:r>
              <a:rPr lang="es-ES" altLang="ko-KR" dirty="0">
                <a:latin typeface="Arial" panose="020B0604020202020204" pitchFamily="34" charset="0"/>
                <a:ea typeface="Times New Roman" panose="02020603050405020304" pitchFamily="18" charset="0"/>
                <a:cs typeface="Arial" panose="020B0604020202020204" pitchFamily="34" charset="0"/>
              </a:rPr>
              <a:t>HONORABLE CONGRESO DE LA NACIÓN ARGENTINA. Ley 26.653 de Accesibilidad de la Información en Páginas Web. Buenos Aires. Argentina. [en línea]</a:t>
            </a:r>
            <a:endParaRPr lang="es-AR" altLang="ko-KR" sz="1100" dirty="0"/>
          </a:p>
          <a:p>
            <a:pPr marL="400050" lvl="1" indent="0" algn="just">
              <a:spcBef>
                <a:spcPct val="0"/>
              </a:spcBef>
              <a:buNone/>
            </a:pPr>
            <a:r>
              <a:rPr lang="es-ES" altLang="ko-KR" dirty="0">
                <a:latin typeface="Arial" panose="020B0604020202020204" pitchFamily="34" charset="0"/>
                <a:ea typeface="Times New Roman" panose="02020603050405020304" pitchFamily="18" charset="0"/>
                <a:cs typeface="Arial" panose="020B0604020202020204" pitchFamily="34" charset="0"/>
              </a:rPr>
              <a:t>&lt;</a:t>
            </a:r>
            <a:r>
              <a:rPr lang="es-ES" altLang="ko-KR" dirty="0">
                <a:latin typeface="Arial" panose="020B0604020202020204" pitchFamily="34" charset="0"/>
                <a:ea typeface="Times New Roman" panose="02020603050405020304" pitchFamily="18" charset="0"/>
                <a:cs typeface="Arial" panose="020B0604020202020204" pitchFamily="34" charset="0"/>
                <a:hlinkClick r:id="rId3"/>
              </a:rPr>
              <a:t>http://www.infoleg.gob.ar/infolegInternet/anexos/175000-179999/175694/norma.htm</a:t>
            </a:r>
            <a:r>
              <a:rPr lang="es-ES" altLang="ko-KR" dirty="0">
                <a:latin typeface="Arial" panose="020B0604020202020204" pitchFamily="34" charset="0"/>
                <a:ea typeface="Times New Roman" panose="02020603050405020304" pitchFamily="18" charset="0"/>
                <a:cs typeface="Arial" panose="020B0604020202020204" pitchFamily="34" charset="0"/>
              </a:rPr>
              <a:t>&gt;</a:t>
            </a:r>
          </a:p>
          <a:p>
            <a:r>
              <a:rPr lang="es-AR" dirty="0"/>
              <a:t>OFICINA NACIONAL DE TECNOLOGÍAS DE INFORMACIÓN. Decreto 2/2014: Norma de Accesibilidad Web 2.0. Buenos Aires. Argentina [en línea]. 2014. [consulta 15 julio 2016].</a:t>
            </a:r>
          </a:p>
          <a:p>
            <a:pPr marL="400050" lvl="1" indent="0">
              <a:buNone/>
            </a:pPr>
            <a:r>
              <a:rPr lang="es-AR" dirty="0"/>
              <a:t>&lt;</a:t>
            </a:r>
            <a:r>
              <a:rPr lang="es-AR" u="sng" dirty="0">
                <a:hlinkClick r:id="rId4"/>
              </a:rPr>
              <a:t>http://servicios.infoleg.gob.ar/infolegInternet/anexos/230000-234999/233667/norma.htm</a:t>
            </a:r>
            <a:r>
              <a:rPr lang="es-AR" dirty="0"/>
              <a:t>&gt;</a:t>
            </a:r>
          </a:p>
          <a:p>
            <a:pPr algn="just">
              <a:spcBef>
                <a:spcPct val="0"/>
              </a:spcBef>
            </a:pPr>
            <a:endParaRPr lang="es-ES" altLang="ko-KR" sz="3200" dirty="0">
              <a:latin typeface="Arial" panose="020B0604020202020204" pitchFamily="34" charset="0"/>
            </a:endParaRPr>
          </a:p>
          <a:p>
            <a:endParaRPr lang="es-AR" dirty="0"/>
          </a:p>
        </p:txBody>
      </p:sp>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216</a:t>
            </a:fld>
            <a:endParaRPr lang="es-ES" altLang="es-AR"/>
          </a:p>
        </p:txBody>
      </p:sp>
    </p:spTree>
    <p:extLst>
      <p:ext uri="{BB962C8B-B14F-4D97-AF65-F5344CB8AC3E}">
        <p14:creationId xmlns:p14="http://schemas.microsoft.com/office/powerpoint/2010/main" val="3200444662"/>
      </p:ext>
    </p:extLst>
  </p:cSld>
  <p:clrMapOvr>
    <a:masterClrMapping/>
  </p:clrMapOvr>
</p:sld>
</file>

<file path=ppt/slides/slide2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1 Título"/>
          <p:cNvSpPr>
            <a:spLocks noGrp="1"/>
          </p:cNvSpPr>
          <p:nvPr>
            <p:ph type="title"/>
          </p:nvPr>
        </p:nvSpPr>
        <p:spPr>
          <a:xfrm>
            <a:off x="457200" y="274638"/>
            <a:ext cx="8229600" cy="654050"/>
          </a:xfrm>
        </p:spPr>
        <p:txBody>
          <a:bodyPr/>
          <a:lstStyle/>
          <a:p>
            <a:r>
              <a:rPr lang="es-AR" altLang="es-AR" b="1" dirty="0"/>
              <a:t>Bibliografía</a:t>
            </a:r>
          </a:p>
        </p:txBody>
      </p:sp>
      <p:sp>
        <p:nvSpPr>
          <p:cNvPr id="35843" name="2 Marcador de contenido"/>
          <p:cNvSpPr>
            <a:spLocks noGrp="1"/>
          </p:cNvSpPr>
          <p:nvPr>
            <p:ph idx="1"/>
          </p:nvPr>
        </p:nvSpPr>
        <p:spPr>
          <a:xfrm>
            <a:off x="457200" y="1556792"/>
            <a:ext cx="8229600" cy="5301208"/>
          </a:xfrm>
        </p:spPr>
        <p:txBody>
          <a:bodyPr/>
          <a:lstStyle/>
          <a:p>
            <a:r>
              <a:rPr lang="es-AR" dirty="0"/>
              <a:t>REVILLA MUÑOZ, Olga. </a:t>
            </a:r>
            <a:r>
              <a:rPr lang="es-AR" i="1" dirty="0"/>
              <a:t>WCAG 2.0 de forma sencilla</a:t>
            </a:r>
            <a:r>
              <a:rPr lang="es-AR" dirty="0"/>
              <a:t>. 1a. ed. Madrid: </a:t>
            </a:r>
            <a:r>
              <a:rPr lang="es-AR" dirty="0" err="1"/>
              <a:t>Itákora</a:t>
            </a:r>
            <a:r>
              <a:rPr lang="es-AR" dirty="0"/>
              <a:t> </a:t>
            </a:r>
            <a:r>
              <a:rPr lang="es-AR" dirty="0" err="1"/>
              <a:t>Press</a:t>
            </a:r>
            <a:r>
              <a:rPr lang="es-AR" dirty="0"/>
              <a:t>, 2013. 170 p. ISBN 978-84-614-6410-4.</a:t>
            </a:r>
          </a:p>
          <a:p>
            <a:pPr algn="just">
              <a:spcBef>
                <a:spcPct val="0"/>
              </a:spcBef>
            </a:pPr>
            <a:r>
              <a:rPr lang="es-AR" dirty="0"/>
              <a:t>SEGOVIA, Claudio. </a:t>
            </a:r>
            <a:r>
              <a:rPr lang="es-AR" i="1" dirty="0"/>
              <a:t>Accesibilidad en Internet</a:t>
            </a:r>
            <a:r>
              <a:rPr lang="es-AR" dirty="0"/>
              <a:t>. 1a. ed. California: </a:t>
            </a:r>
            <a:r>
              <a:rPr lang="es-AR" dirty="0" err="1"/>
              <a:t>Creative</a:t>
            </a:r>
            <a:r>
              <a:rPr lang="es-AR" dirty="0"/>
              <a:t> </a:t>
            </a:r>
            <a:r>
              <a:rPr lang="es-AR" dirty="0" err="1"/>
              <a:t>Commons</a:t>
            </a:r>
            <a:r>
              <a:rPr lang="es-AR" dirty="0"/>
              <a:t>, 2006. 212 p.</a:t>
            </a:r>
          </a:p>
          <a:p>
            <a:r>
              <a:rPr lang="es-AR" dirty="0"/>
              <a:t>TAW. Servicios de Accesibilidad y Movilidad Web [en línea]. </a:t>
            </a:r>
          </a:p>
          <a:p>
            <a:pPr marL="400050" lvl="1" indent="0">
              <a:buNone/>
            </a:pPr>
            <a:r>
              <a:rPr lang="es-AR" dirty="0"/>
              <a:t>&lt;</a:t>
            </a:r>
            <a:r>
              <a:rPr lang="es-AR" u="sng" dirty="0">
                <a:hlinkClick r:id="rId2"/>
              </a:rPr>
              <a:t>http://www.tawdis.net/index.html?lang=es</a:t>
            </a:r>
            <a:r>
              <a:rPr lang="es-AR" dirty="0"/>
              <a:t>&gt;</a:t>
            </a:r>
          </a:p>
          <a:p>
            <a:r>
              <a:rPr lang="es-AR" dirty="0"/>
              <a:t>W3C. </a:t>
            </a:r>
            <a:r>
              <a:rPr lang="es-AR" dirty="0" err="1"/>
              <a:t>World</a:t>
            </a:r>
            <a:r>
              <a:rPr lang="es-AR" dirty="0"/>
              <a:t> Wide Web </a:t>
            </a:r>
            <a:r>
              <a:rPr lang="es-AR" dirty="0" err="1"/>
              <a:t>Consortium</a:t>
            </a:r>
            <a:r>
              <a:rPr lang="es-AR" dirty="0"/>
              <a:t>. [en línea]. &lt;</a:t>
            </a:r>
            <a:r>
              <a:rPr lang="es-AR" u="sng" dirty="0">
                <a:hlinkClick r:id="rId3"/>
              </a:rPr>
              <a:t>https://www.w3.org/</a:t>
            </a:r>
            <a:r>
              <a:rPr lang="es-AR" dirty="0"/>
              <a:t>&gt;</a:t>
            </a:r>
          </a:p>
          <a:p>
            <a:r>
              <a:rPr lang="es-AR" dirty="0"/>
              <a:t>WAI. Web </a:t>
            </a:r>
            <a:r>
              <a:rPr lang="es-AR" dirty="0" err="1"/>
              <a:t>Accessibility</a:t>
            </a:r>
            <a:r>
              <a:rPr lang="es-AR" dirty="0"/>
              <a:t> </a:t>
            </a:r>
            <a:r>
              <a:rPr lang="es-AR" dirty="0" err="1"/>
              <a:t>Initiative</a:t>
            </a:r>
            <a:r>
              <a:rPr lang="es-AR" dirty="0"/>
              <a:t>. [en línea]. &lt;</a:t>
            </a:r>
            <a:r>
              <a:rPr lang="es-AR" u="sng" dirty="0">
                <a:hlinkClick r:id="rId4"/>
              </a:rPr>
              <a:t>https://www.w3.org/WAI/</a:t>
            </a:r>
            <a:r>
              <a:rPr lang="es-AR" dirty="0"/>
              <a:t>&gt;</a:t>
            </a:r>
          </a:p>
          <a:p>
            <a:r>
              <a:rPr lang="en-US" dirty="0"/>
              <a:t>WCAG. Web Content Accessibility Guidelines 2.0. </a:t>
            </a:r>
            <a:r>
              <a:rPr lang="es-ES" dirty="0"/>
              <a:t>[en línea]. </a:t>
            </a:r>
            <a:r>
              <a:rPr lang="en-US" dirty="0"/>
              <a:t>&lt;</a:t>
            </a:r>
            <a:r>
              <a:rPr lang="en-US" u="sng" dirty="0">
                <a:hlinkClick r:id="rId5"/>
              </a:rPr>
              <a:t>https://www.w3.org/TR/WCAG20</a:t>
            </a:r>
            <a:r>
              <a:rPr lang="en-US" dirty="0"/>
              <a:t>&gt;</a:t>
            </a:r>
            <a:endParaRPr lang="es-AR" dirty="0"/>
          </a:p>
          <a:p>
            <a:r>
              <a:rPr lang="es-AR" dirty="0"/>
              <a:t>WCAG-EM. </a:t>
            </a:r>
            <a:r>
              <a:rPr lang="es-AR" dirty="0" err="1"/>
              <a:t>Website</a:t>
            </a:r>
            <a:r>
              <a:rPr lang="es-AR" dirty="0"/>
              <a:t> </a:t>
            </a:r>
            <a:r>
              <a:rPr lang="es-AR" dirty="0" err="1"/>
              <a:t>Accessibility</a:t>
            </a:r>
            <a:r>
              <a:rPr lang="es-AR" dirty="0"/>
              <a:t> </a:t>
            </a:r>
            <a:r>
              <a:rPr lang="es-AR" dirty="0" err="1"/>
              <a:t>Conformance</a:t>
            </a:r>
            <a:r>
              <a:rPr lang="es-AR" dirty="0"/>
              <a:t> </a:t>
            </a:r>
            <a:r>
              <a:rPr lang="es-AR" dirty="0" err="1"/>
              <a:t>Evaluation</a:t>
            </a:r>
            <a:r>
              <a:rPr lang="es-AR" dirty="0"/>
              <a:t> </a:t>
            </a:r>
            <a:r>
              <a:rPr lang="es-AR" dirty="0" err="1"/>
              <a:t>Methodology</a:t>
            </a:r>
            <a:r>
              <a:rPr lang="es-AR" dirty="0"/>
              <a:t>. [en línea]. </a:t>
            </a:r>
          </a:p>
          <a:p>
            <a:pPr marL="400050" lvl="1" indent="0">
              <a:buNone/>
            </a:pPr>
            <a:r>
              <a:rPr lang="es-AR" dirty="0"/>
              <a:t>&lt;</a:t>
            </a:r>
            <a:r>
              <a:rPr lang="es-AR" u="sng" dirty="0">
                <a:hlinkClick r:id="rId6"/>
              </a:rPr>
              <a:t>https://www.w3.org/TR/WCAG-EM/</a:t>
            </a:r>
            <a:r>
              <a:rPr lang="es-AR" dirty="0"/>
              <a:t>&gt;</a:t>
            </a:r>
          </a:p>
          <a:p>
            <a:pPr algn="just">
              <a:spcBef>
                <a:spcPct val="0"/>
              </a:spcBef>
            </a:pPr>
            <a:endParaRPr lang="es-ES" altLang="ko-KR" sz="3200" dirty="0">
              <a:latin typeface="Arial" panose="020B0604020202020204" pitchFamily="34" charset="0"/>
            </a:endParaRPr>
          </a:p>
          <a:p>
            <a:endParaRPr lang="es-AR" dirty="0"/>
          </a:p>
        </p:txBody>
      </p:sp>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217</a:t>
            </a:fld>
            <a:endParaRPr lang="es-ES" altLang="es-AR"/>
          </a:p>
        </p:txBody>
      </p:sp>
    </p:spTree>
    <p:extLst>
      <p:ext uri="{BB962C8B-B14F-4D97-AF65-F5344CB8AC3E}">
        <p14:creationId xmlns:p14="http://schemas.microsoft.com/office/powerpoint/2010/main" val="3385902422"/>
      </p:ext>
    </p:extLst>
  </p:cSld>
  <p:clrMapOvr>
    <a:masterClrMapping/>
  </p:clrMapOvr>
</p:sld>
</file>

<file path=ppt/slides/slide2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1 Título"/>
          <p:cNvSpPr>
            <a:spLocks noGrp="1"/>
          </p:cNvSpPr>
          <p:nvPr>
            <p:ph type="title"/>
          </p:nvPr>
        </p:nvSpPr>
        <p:spPr>
          <a:xfrm>
            <a:off x="457200" y="274638"/>
            <a:ext cx="8229600" cy="654050"/>
          </a:xfrm>
        </p:spPr>
        <p:txBody>
          <a:bodyPr/>
          <a:lstStyle/>
          <a:p>
            <a:r>
              <a:rPr lang="es-AR" altLang="es-AR" b="1" dirty="0"/>
              <a:t>Frases</a:t>
            </a:r>
          </a:p>
        </p:txBody>
      </p:sp>
      <p:sp>
        <p:nvSpPr>
          <p:cNvPr id="35843" name="2 Marcador de contenido"/>
          <p:cNvSpPr>
            <a:spLocks noGrp="1"/>
          </p:cNvSpPr>
          <p:nvPr>
            <p:ph idx="1"/>
          </p:nvPr>
        </p:nvSpPr>
        <p:spPr>
          <a:xfrm>
            <a:off x="457200" y="2420888"/>
            <a:ext cx="8229600" cy="3960440"/>
          </a:xfrm>
        </p:spPr>
        <p:txBody>
          <a:bodyPr/>
          <a:lstStyle/>
          <a:p>
            <a:r>
              <a:rPr lang="es-AR" sz="1800" i="1" dirty="0"/>
              <a:t>“Cuando tres profesionales de la accesibilidad se reúnen, al menos habrá cuatro o más opiniones diferentes”</a:t>
            </a:r>
            <a:r>
              <a:rPr lang="es-AR" sz="1800" dirty="0"/>
              <a:t>. B. </a:t>
            </a:r>
            <a:r>
              <a:rPr lang="es-AR" sz="1800" dirty="0" err="1"/>
              <a:t>Lawson</a:t>
            </a:r>
            <a:r>
              <a:rPr lang="es-AR" sz="1800" dirty="0"/>
              <a:t>.</a:t>
            </a:r>
          </a:p>
          <a:p>
            <a:r>
              <a:rPr lang="es-AR" sz="1800" i="1" dirty="0"/>
              <a:t>“Hacer la web accesible puede mejorar dramáticamente las vidas de las personas y beneficiar a la sociedad en su conjunto”</a:t>
            </a:r>
            <a:r>
              <a:rPr lang="es-AR" sz="1800" dirty="0"/>
              <a:t>. S. L. Henry.</a:t>
            </a:r>
          </a:p>
          <a:p>
            <a:r>
              <a:rPr lang="es-AR" sz="1800" i="1" dirty="0"/>
              <a:t>“El poder de la Web está en su universalidad. El acceso por cualquiera, independientemente de su discapacidad, es esencial”</a:t>
            </a:r>
            <a:r>
              <a:rPr lang="es-AR" sz="1800" dirty="0"/>
              <a:t>. T. </a:t>
            </a:r>
            <a:r>
              <a:rPr lang="es-AR" sz="1800" dirty="0" err="1"/>
              <a:t>Berners</a:t>
            </a:r>
            <a:r>
              <a:rPr lang="es-AR" sz="1800" dirty="0"/>
              <a:t>-Lee.</a:t>
            </a:r>
          </a:p>
          <a:p>
            <a:r>
              <a:rPr lang="es-AR" sz="1800" i="1" dirty="0"/>
              <a:t>“Mejorar la accesibilidad para los usuarios con discapacidad casi siempre mejora la usabilidad para todos los usuarios”</a:t>
            </a:r>
            <a:r>
              <a:rPr lang="es-AR" sz="1800" dirty="0"/>
              <a:t>. J. </a:t>
            </a:r>
            <a:r>
              <a:rPr lang="es-AR" sz="1800" dirty="0" err="1"/>
              <a:t>Nielsen</a:t>
            </a:r>
            <a:r>
              <a:rPr lang="es-AR" sz="1800" dirty="0"/>
              <a:t>.</a:t>
            </a:r>
          </a:p>
          <a:p>
            <a:r>
              <a:rPr lang="es-AR" sz="1800" i="1" dirty="0"/>
              <a:t>“La accesibilidad web significa que las personas con discapacidad pueden percibir, entender, navegar e interactuar con la Web”</a:t>
            </a:r>
            <a:r>
              <a:rPr lang="es-AR" sz="1800" dirty="0"/>
              <a:t>. WAI-W3C</a:t>
            </a:r>
          </a:p>
          <a:p>
            <a:r>
              <a:rPr lang="es-AR" sz="1800" i="1" dirty="0"/>
              <a:t>“Antes de empezar con WCAG, antes de estudiar los resultados de las herramientas de evaluación, primero comprende los problemas”</a:t>
            </a:r>
            <a:r>
              <a:rPr lang="es-AR" sz="1800" dirty="0"/>
              <a:t>. S. L. Henry.</a:t>
            </a:r>
          </a:p>
        </p:txBody>
      </p:sp>
      <p:sp>
        <p:nvSpPr>
          <p:cNvPr id="2" name="Marcador de número de diapositiva 1"/>
          <p:cNvSpPr>
            <a:spLocks noGrp="1"/>
          </p:cNvSpPr>
          <p:nvPr>
            <p:ph type="sldNum" sz="quarter" idx="12"/>
          </p:nvPr>
        </p:nvSpPr>
        <p:spPr/>
        <p:txBody>
          <a:bodyPr/>
          <a:lstStyle/>
          <a:p>
            <a:pPr>
              <a:defRPr/>
            </a:pPr>
            <a:fld id="{4043C4F7-2767-4620-8EE5-22DF55586577}" type="slidenum">
              <a:rPr lang="es-ES" altLang="es-AR" smtClean="0"/>
              <a:pPr>
                <a:defRPr/>
              </a:pPr>
              <a:t>218</a:t>
            </a:fld>
            <a:endParaRPr lang="es-ES" altLang="es-AR"/>
          </a:p>
        </p:txBody>
      </p:sp>
    </p:spTree>
    <p:extLst>
      <p:ext uri="{BB962C8B-B14F-4D97-AF65-F5344CB8AC3E}">
        <p14:creationId xmlns:p14="http://schemas.microsoft.com/office/powerpoint/2010/main" val="99033224"/>
      </p:ext>
    </p:extLst>
  </p:cSld>
  <p:clrMapOvr>
    <a:masterClrMapping/>
  </p:clrMapOvr>
</p:sld>
</file>

<file path=ppt/theme/theme1.xml><?xml version="1.0" encoding="utf-8"?>
<a:theme xmlns:a="http://schemas.openxmlformats.org/drawingml/2006/main" name="Diseño predeterminado">
  <a:themeElements>
    <a:clrScheme name="Diseño predeterminado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iseño predeterminado">
      <a:majorFont>
        <a:latin typeface="Arial"/>
        <a:ea typeface=""/>
        <a:cs typeface="Arial"/>
      </a:majorFont>
      <a:minorFont>
        <a:latin typeface="Arial"/>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iseño predeterminado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iseño predeterminado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iseño predeterminado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iseño predeterminado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iseño predeterminado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iseño predeterminado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iseño predeterminado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iseño predeterminado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iseño predeterminado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iseño predeterminado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iseño predeterminado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iseño predeterminado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10583</TotalTime>
  <Words>26485</Words>
  <Application>Microsoft Office PowerPoint</Application>
  <PresentationFormat>Presentación en pantalla (4:3)</PresentationFormat>
  <Paragraphs>3365</Paragraphs>
  <Slides>218</Slides>
  <Notes>197</Notes>
  <HiddenSlides>0</HiddenSlides>
  <MMClips>1</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218</vt:i4>
      </vt:variant>
    </vt:vector>
  </HeadingPairs>
  <TitlesOfParts>
    <vt:vector size="223" baseType="lpstr">
      <vt:lpstr>Arial</vt:lpstr>
      <vt:lpstr>Calibri</vt:lpstr>
      <vt:lpstr>Times New Roman</vt:lpstr>
      <vt:lpstr>Wingdings</vt:lpstr>
      <vt:lpstr>Diseño predeterminado</vt:lpstr>
      <vt:lpstr>Seminario de Accesibilidad Web</vt:lpstr>
      <vt:lpstr>Pablo Miguel Angel Pandolfo</vt:lpstr>
      <vt:lpstr>Organización</vt:lpstr>
      <vt:lpstr>Organización</vt:lpstr>
      <vt:lpstr>Introducción</vt:lpstr>
      <vt:lpstr>Introducción</vt:lpstr>
      <vt:lpstr>Introducción</vt:lpstr>
      <vt:lpstr>Introducción</vt:lpstr>
      <vt:lpstr>Introducción</vt:lpstr>
      <vt:lpstr>Introducción</vt:lpstr>
      <vt:lpstr>Organización</vt:lpstr>
      <vt:lpstr>¿Qué es la accesibilidad web?</vt:lpstr>
      <vt:lpstr>¿Qué es la accesibilidad web?</vt:lpstr>
      <vt:lpstr>¿Qué es la accesibilidad web?</vt:lpstr>
      <vt:lpstr>¿Qué es la accesibilidad web?</vt:lpstr>
      <vt:lpstr>¿Qué es la accesibilidad web?</vt:lpstr>
      <vt:lpstr>¿Qué es la accesibilidad web?</vt:lpstr>
      <vt:lpstr>¿Qué es la accesibilidad web?</vt:lpstr>
      <vt:lpstr>¿Qué es la accesibilidad web?</vt:lpstr>
      <vt:lpstr>¿Qué es la accesibilidad web?</vt:lpstr>
      <vt:lpstr>Organización</vt:lpstr>
      <vt:lpstr>Pautas y leyes</vt:lpstr>
      <vt:lpstr>Pautas y leyes</vt:lpstr>
      <vt:lpstr>Pautas y leyes</vt:lpstr>
      <vt:lpstr>Pautas y leyes</vt:lpstr>
      <vt:lpstr>Pautas y leyes</vt:lpstr>
      <vt:lpstr>Pautas y leyes</vt:lpstr>
      <vt:lpstr>Pautas y leyes</vt:lpstr>
      <vt:lpstr>Pautas y leyes</vt:lpstr>
      <vt:lpstr>Pautas y leyes</vt:lpstr>
      <vt:lpstr>Pautas y leyes</vt:lpstr>
      <vt:lpstr>Pautas y leyes</vt:lpstr>
      <vt:lpstr>Pautas y leyes</vt:lpstr>
      <vt:lpstr>Pautas y leyes</vt:lpstr>
      <vt:lpstr>Pautas y leyes</vt:lpstr>
      <vt:lpstr>Organización</vt:lpstr>
      <vt:lpstr>Contenido accesible</vt:lpstr>
      <vt:lpstr>Contenido accesible</vt:lpstr>
      <vt:lpstr>Contenido accesible</vt:lpstr>
      <vt:lpstr>Contenido accesible</vt:lpstr>
      <vt:lpstr>Contenido accesible</vt:lpstr>
      <vt:lpstr>Contenido accesible</vt:lpstr>
      <vt:lpstr>Contenido accesible</vt:lpstr>
      <vt:lpstr>Contenido accesible</vt:lpstr>
      <vt:lpstr>Contenido accesible</vt:lpstr>
      <vt:lpstr>Contenido accesible</vt:lpstr>
      <vt:lpstr>Contenido accesible</vt:lpstr>
      <vt:lpstr>Contenido accesible</vt:lpstr>
      <vt:lpstr>Contenido accesible</vt:lpstr>
      <vt:lpstr>Contenido accesible</vt:lpstr>
      <vt:lpstr>Contenido accesible</vt:lpstr>
      <vt:lpstr>Contenido accesible</vt:lpstr>
      <vt:lpstr>Contenido accesible</vt:lpstr>
      <vt:lpstr>Contenido accesible</vt:lpstr>
      <vt:lpstr>Contenido accesible</vt:lpstr>
      <vt:lpstr>Contenido accesible</vt:lpstr>
      <vt:lpstr>Contenido accesible</vt:lpstr>
      <vt:lpstr>Contenido accesible</vt:lpstr>
      <vt:lpstr>Contenido accesible</vt:lpstr>
      <vt:lpstr>Contenido accesible</vt:lpstr>
      <vt:lpstr>Contenido accesible</vt:lpstr>
      <vt:lpstr>Contenido accesible</vt:lpstr>
      <vt:lpstr>Contenido accesible</vt:lpstr>
      <vt:lpstr>Contenido accesible</vt:lpstr>
      <vt:lpstr>Contenido accesible</vt:lpstr>
      <vt:lpstr>Contenido accesible</vt:lpstr>
      <vt:lpstr>Contenido accesible</vt:lpstr>
      <vt:lpstr>Contenido accesible</vt:lpstr>
      <vt:lpstr>Contenido accesible</vt:lpstr>
      <vt:lpstr>Contenido accesible</vt:lpstr>
      <vt:lpstr>Contenido accesible</vt:lpstr>
      <vt:lpstr>Contenido accesible</vt:lpstr>
      <vt:lpstr>Contenido accesible</vt:lpstr>
      <vt:lpstr>Contenido accesible</vt:lpstr>
      <vt:lpstr>Contenido accesible</vt:lpstr>
      <vt:lpstr>Contenido accesible</vt:lpstr>
      <vt:lpstr>Contenido accesible</vt:lpstr>
      <vt:lpstr>Contenido accesible</vt:lpstr>
      <vt:lpstr>Contenido accesible</vt:lpstr>
      <vt:lpstr>Contenido accesible</vt:lpstr>
      <vt:lpstr>Contenido accesible</vt:lpstr>
      <vt:lpstr>Contenido accesible</vt:lpstr>
      <vt:lpstr>Contenido accesible</vt:lpstr>
      <vt:lpstr>Contenido accesible</vt:lpstr>
      <vt:lpstr>Contenido accesible</vt:lpstr>
      <vt:lpstr>Contenido accesible</vt:lpstr>
      <vt:lpstr>Contenido accesible</vt:lpstr>
      <vt:lpstr>Contenido accesible</vt:lpstr>
      <vt:lpstr>Contenido accesible</vt:lpstr>
      <vt:lpstr>Contenido accesible</vt:lpstr>
      <vt:lpstr>Contenido accesible</vt:lpstr>
      <vt:lpstr>Contenido accesible</vt:lpstr>
      <vt:lpstr>Contenido accesible</vt:lpstr>
      <vt:lpstr>Contenido accesible</vt:lpstr>
      <vt:lpstr>Contenido accesible</vt:lpstr>
      <vt:lpstr>Contenido accesible</vt:lpstr>
      <vt:lpstr>Contenido accesible</vt:lpstr>
      <vt:lpstr>Contenido accesible</vt:lpstr>
      <vt:lpstr>Contenido accesible</vt:lpstr>
      <vt:lpstr>Contenido accesible</vt:lpstr>
      <vt:lpstr>Contenido accesible</vt:lpstr>
      <vt:lpstr>Contenido accesible</vt:lpstr>
      <vt:lpstr>Contenido accesible</vt:lpstr>
      <vt:lpstr>Contenido accesible</vt:lpstr>
      <vt:lpstr>Contenido accesible</vt:lpstr>
      <vt:lpstr>Contenido accesible</vt:lpstr>
      <vt:lpstr>Contenido accesible</vt:lpstr>
      <vt:lpstr>Contenido accesible</vt:lpstr>
      <vt:lpstr>Contenido accesible</vt:lpstr>
      <vt:lpstr>Contenido accesible</vt:lpstr>
      <vt:lpstr>Contenido accesible</vt:lpstr>
      <vt:lpstr>Contenido accesible</vt:lpstr>
      <vt:lpstr>Contenido accesible</vt:lpstr>
      <vt:lpstr>Contenido accesible</vt:lpstr>
      <vt:lpstr>Contenido accesible</vt:lpstr>
      <vt:lpstr>Contenido accesible</vt:lpstr>
      <vt:lpstr>Contenido accesible</vt:lpstr>
      <vt:lpstr>Contenido accesible</vt:lpstr>
      <vt:lpstr>Organización</vt:lpstr>
      <vt:lpstr>Navegación accesible</vt:lpstr>
      <vt:lpstr>Navegación accesible</vt:lpstr>
      <vt:lpstr>Navegación accesible</vt:lpstr>
      <vt:lpstr>Navegación accesible</vt:lpstr>
      <vt:lpstr>Navegación accesible</vt:lpstr>
      <vt:lpstr>Navegación accesible</vt:lpstr>
      <vt:lpstr>Navegación accesible</vt:lpstr>
      <vt:lpstr>Navegación accesible</vt:lpstr>
      <vt:lpstr>Navegación accesible</vt:lpstr>
      <vt:lpstr>Navegación accesible</vt:lpstr>
      <vt:lpstr>Navegación accesible</vt:lpstr>
      <vt:lpstr>Navegación accesible</vt:lpstr>
      <vt:lpstr>Navegación accesible</vt:lpstr>
      <vt:lpstr>Navegación accesible</vt:lpstr>
      <vt:lpstr>Navegación accesible</vt:lpstr>
      <vt:lpstr>Navegación accesible</vt:lpstr>
      <vt:lpstr>Navegación accesible</vt:lpstr>
      <vt:lpstr>Navegación accesible</vt:lpstr>
      <vt:lpstr>Navegación accesible</vt:lpstr>
      <vt:lpstr>Navegación accesible</vt:lpstr>
      <vt:lpstr>Navegación accesible</vt:lpstr>
      <vt:lpstr>Navegación accesible</vt:lpstr>
      <vt:lpstr>Navegación accesible</vt:lpstr>
      <vt:lpstr>Navegación accesible</vt:lpstr>
      <vt:lpstr>Navegación accesible</vt:lpstr>
      <vt:lpstr>Navegación accesible</vt:lpstr>
      <vt:lpstr>Navegación accesible</vt:lpstr>
      <vt:lpstr>Navegación accesible</vt:lpstr>
      <vt:lpstr>Navegación accesible</vt:lpstr>
      <vt:lpstr>Navegación accesible</vt:lpstr>
      <vt:lpstr>Navegación accesible</vt:lpstr>
      <vt:lpstr>Navegación accesible</vt:lpstr>
      <vt:lpstr>Navegación accesible</vt:lpstr>
      <vt:lpstr>Organización</vt:lpstr>
      <vt:lpstr>Diseño accesible</vt:lpstr>
      <vt:lpstr>Diseño accesible</vt:lpstr>
      <vt:lpstr>Diseño accesible</vt:lpstr>
      <vt:lpstr>Diseño accesible</vt:lpstr>
      <vt:lpstr>Diseño accesible</vt:lpstr>
      <vt:lpstr>Diseño accesible</vt:lpstr>
      <vt:lpstr>Diseño accesible</vt:lpstr>
      <vt:lpstr>Diseño accesible</vt:lpstr>
      <vt:lpstr>Diseño accesible</vt:lpstr>
      <vt:lpstr>Diseño accesible</vt:lpstr>
      <vt:lpstr>Diseño accesible</vt:lpstr>
      <vt:lpstr>Organización</vt:lpstr>
      <vt:lpstr>Análisis y evaluación de AW</vt:lpstr>
      <vt:lpstr>Análisis y evaluación de AW</vt:lpstr>
      <vt:lpstr>Análisis y evaluación de AW</vt:lpstr>
      <vt:lpstr>Análisis y evaluación de AW</vt:lpstr>
      <vt:lpstr>Análisis y evaluación de AW</vt:lpstr>
      <vt:lpstr>Análisis y evaluación de AW</vt:lpstr>
      <vt:lpstr>Análisis y evaluación de AW</vt:lpstr>
      <vt:lpstr>Análisis y evaluación de AW</vt:lpstr>
      <vt:lpstr>Análisis y evaluación de AW</vt:lpstr>
      <vt:lpstr>Análisis y evaluación de AW</vt:lpstr>
      <vt:lpstr>Análisis y evaluación de AW</vt:lpstr>
      <vt:lpstr>Análisis y evaluación de AW</vt:lpstr>
      <vt:lpstr>Análisis y evaluación de AW</vt:lpstr>
      <vt:lpstr>Análisis y evaluación de AW</vt:lpstr>
      <vt:lpstr>Análisis y evaluación de AW</vt:lpstr>
      <vt:lpstr>Análisis y evaluación de AW</vt:lpstr>
      <vt:lpstr>Análisis y evaluación de AW</vt:lpstr>
      <vt:lpstr>Análisis y evaluación de AW</vt:lpstr>
      <vt:lpstr>Análisis y evaluación de AW</vt:lpstr>
      <vt:lpstr>Análisis y evaluación de AW</vt:lpstr>
      <vt:lpstr>Análisis y evaluación de AW</vt:lpstr>
      <vt:lpstr>Análisis y evaluación de AW</vt:lpstr>
      <vt:lpstr>Análisis y evaluación de AW</vt:lpstr>
      <vt:lpstr>Análisis y evaluación de AW</vt:lpstr>
      <vt:lpstr>Análisis y evaluación de AW</vt:lpstr>
      <vt:lpstr>Análisis y evaluación de AW</vt:lpstr>
      <vt:lpstr>Análisis y evaluación de AW</vt:lpstr>
      <vt:lpstr>Análisis y evaluación de AW</vt:lpstr>
      <vt:lpstr>Análisis y evaluación de AW</vt:lpstr>
      <vt:lpstr>Análisis y evaluación de AW</vt:lpstr>
      <vt:lpstr>Análisis y evaluación de AW</vt:lpstr>
      <vt:lpstr>Análisis y evaluación de AW</vt:lpstr>
      <vt:lpstr>Análisis y evaluación de AW</vt:lpstr>
      <vt:lpstr>Análisis y evaluación de AW</vt:lpstr>
      <vt:lpstr>Análisis y evaluación de AW</vt:lpstr>
      <vt:lpstr>Análisis y evaluación de AW</vt:lpstr>
      <vt:lpstr>Análisis y evaluación de AW</vt:lpstr>
      <vt:lpstr>Análisis y evaluación de AW</vt:lpstr>
      <vt:lpstr>Análisis y evaluación de AW</vt:lpstr>
      <vt:lpstr>Análisis y evaluación de AW</vt:lpstr>
      <vt:lpstr>Análisis y evaluación de AW</vt:lpstr>
      <vt:lpstr>Análisis y evaluación de AW</vt:lpstr>
      <vt:lpstr>Análisis y evaluación de AW</vt:lpstr>
      <vt:lpstr>Análisis y evaluación de AW</vt:lpstr>
      <vt:lpstr>Análisis y evaluación de AW</vt:lpstr>
      <vt:lpstr>Organización</vt:lpstr>
      <vt:lpstr>Conclusiones</vt:lpstr>
      <vt:lpstr>Conclusiones</vt:lpstr>
      <vt:lpstr>Conclusiones</vt:lpstr>
      <vt:lpstr>Muchas Gracias</vt:lpstr>
      <vt:lpstr>Bibliografía</vt:lpstr>
      <vt:lpstr>Bibliografía</vt:lpstr>
      <vt:lpstr>Frases</vt:lpstr>
    </vt:vector>
  </TitlesOfParts>
  <Company>Toshiba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Diapositiva 1</dc:title>
  <dc:creator>Pablo Pandolfo</dc:creator>
  <cp:lastModifiedBy>Pablo Pandolfo</cp:lastModifiedBy>
  <cp:revision>1019</cp:revision>
  <dcterms:created xsi:type="dcterms:W3CDTF">2010-05-23T14:28:12Z</dcterms:created>
  <dcterms:modified xsi:type="dcterms:W3CDTF">2016-09-27T14:09:20Z</dcterms:modified>
</cp:coreProperties>
</file>