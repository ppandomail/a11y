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5"/>
  </p:notesMasterIdLst>
  <p:handoutMasterIdLst>
    <p:handoutMasterId r:id="rId136"/>
  </p:handoutMasterIdLst>
  <p:sldIdLst>
    <p:sldId id="256" r:id="rId2"/>
    <p:sldId id="257" r:id="rId3"/>
    <p:sldId id="266" r:id="rId4"/>
    <p:sldId id="487" r:id="rId5"/>
    <p:sldId id="260" r:id="rId6"/>
    <p:sldId id="483" r:id="rId7"/>
    <p:sldId id="262" r:id="rId8"/>
    <p:sldId id="263" r:id="rId9"/>
    <p:sldId id="269" r:id="rId10"/>
    <p:sldId id="270" r:id="rId11"/>
    <p:sldId id="271" r:id="rId12"/>
    <p:sldId id="272" r:id="rId13"/>
    <p:sldId id="276" r:id="rId14"/>
    <p:sldId id="277" r:id="rId15"/>
    <p:sldId id="278" r:id="rId16"/>
    <p:sldId id="281" r:id="rId17"/>
    <p:sldId id="282" r:id="rId18"/>
    <p:sldId id="283" r:id="rId19"/>
    <p:sldId id="284" r:id="rId20"/>
    <p:sldId id="479" r:id="rId21"/>
    <p:sldId id="288" r:id="rId22"/>
    <p:sldId id="473" r:id="rId23"/>
    <p:sldId id="474" r:id="rId24"/>
    <p:sldId id="481" r:id="rId25"/>
    <p:sldId id="289" r:id="rId26"/>
    <p:sldId id="290" r:id="rId27"/>
    <p:sldId id="291" r:id="rId28"/>
    <p:sldId id="309" r:id="rId29"/>
    <p:sldId id="310" r:id="rId30"/>
    <p:sldId id="311" r:id="rId31"/>
    <p:sldId id="312" r:id="rId32"/>
    <p:sldId id="313" r:id="rId33"/>
    <p:sldId id="315" r:id="rId34"/>
    <p:sldId id="316" r:id="rId35"/>
    <p:sldId id="317" r:id="rId36"/>
    <p:sldId id="318" r:id="rId37"/>
    <p:sldId id="320" r:id="rId38"/>
    <p:sldId id="327" r:id="rId39"/>
    <p:sldId id="329" r:id="rId40"/>
    <p:sldId id="330" r:id="rId41"/>
    <p:sldId id="333" r:id="rId42"/>
    <p:sldId id="336" r:id="rId43"/>
    <p:sldId id="337" r:id="rId44"/>
    <p:sldId id="338" r:id="rId45"/>
    <p:sldId id="339" r:id="rId46"/>
    <p:sldId id="352" r:id="rId47"/>
    <p:sldId id="354" r:id="rId48"/>
    <p:sldId id="355" r:id="rId49"/>
    <p:sldId id="358" r:id="rId50"/>
    <p:sldId id="364" r:id="rId51"/>
    <p:sldId id="365" r:id="rId52"/>
    <p:sldId id="367" r:id="rId53"/>
    <p:sldId id="368" r:id="rId54"/>
    <p:sldId id="369" r:id="rId55"/>
    <p:sldId id="370" r:id="rId56"/>
    <p:sldId id="371" r:id="rId57"/>
    <p:sldId id="372" r:id="rId58"/>
    <p:sldId id="373" r:id="rId59"/>
    <p:sldId id="374" r:id="rId60"/>
    <p:sldId id="375" r:id="rId61"/>
    <p:sldId id="376" r:id="rId62"/>
    <p:sldId id="378" r:id="rId63"/>
    <p:sldId id="382" r:id="rId64"/>
    <p:sldId id="383" r:id="rId65"/>
    <p:sldId id="384" r:id="rId66"/>
    <p:sldId id="385" r:id="rId67"/>
    <p:sldId id="386" r:id="rId68"/>
    <p:sldId id="388" r:id="rId69"/>
    <p:sldId id="389" r:id="rId70"/>
    <p:sldId id="390" r:id="rId71"/>
    <p:sldId id="397" r:id="rId72"/>
    <p:sldId id="398" r:id="rId73"/>
    <p:sldId id="399" r:id="rId74"/>
    <p:sldId id="400" r:id="rId75"/>
    <p:sldId id="401" r:id="rId76"/>
    <p:sldId id="402" r:id="rId77"/>
    <p:sldId id="403" r:id="rId78"/>
    <p:sldId id="404" r:id="rId79"/>
    <p:sldId id="405" r:id="rId80"/>
    <p:sldId id="406" r:id="rId81"/>
    <p:sldId id="407" r:id="rId82"/>
    <p:sldId id="408" r:id="rId83"/>
    <p:sldId id="409" r:id="rId84"/>
    <p:sldId id="410" r:id="rId85"/>
    <p:sldId id="411" r:id="rId86"/>
    <p:sldId id="415" r:id="rId87"/>
    <p:sldId id="416" r:id="rId88"/>
    <p:sldId id="417" r:id="rId89"/>
    <p:sldId id="486" r:id="rId90"/>
    <p:sldId id="419" r:id="rId91"/>
    <p:sldId id="420" r:id="rId92"/>
    <p:sldId id="423" r:id="rId93"/>
    <p:sldId id="428" r:id="rId94"/>
    <p:sldId id="424" r:id="rId95"/>
    <p:sldId id="429" r:id="rId96"/>
    <p:sldId id="425" r:id="rId97"/>
    <p:sldId id="430" r:id="rId98"/>
    <p:sldId id="426" r:id="rId99"/>
    <p:sldId id="431" r:id="rId100"/>
    <p:sldId id="427" r:id="rId101"/>
    <p:sldId id="432" r:id="rId102"/>
    <p:sldId id="433" r:id="rId103"/>
    <p:sldId id="434" r:id="rId104"/>
    <p:sldId id="442" r:id="rId105"/>
    <p:sldId id="445" r:id="rId106"/>
    <p:sldId id="484" r:id="rId107"/>
    <p:sldId id="446" r:id="rId108"/>
    <p:sldId id="451" r:id="rId109"/>
    <p:sldId id="452" r:id="rId110"/>
    <p:sldId id="453" r:id="rId111"/>
    <p:sldId id="454" r:id="rId112"/>
    <p:sldId id="455" r:id="rId113"/>
    <p:sldId id="456" r:id="rId114"/>
    <p:sldId id="480" r:id="rId115"/>
    <p:sldId id="457" r:id="rId116"/>
    <p:sldId id="458" r:id="rId117"/>
    <p:sldId id="459" r:id="rId118"/>
    <p:sldId id="460" r:id="rId119"/>
    <p:sldId id="461" r:id="rId120"/>
    <p:sldId id="462" r:id="rId121"/>
    <p:sldId id="463" r:id="rId122"/>
    <p:sldId id="464" r:id="rId123"/>
    <p:sldId id="465" r:id="rId124"/>
    <p:sldId id="466" r:id="rId125"/>
    <p:sldId id="467" r:id="rId126"/>
    <p:sldId id="468" r:id="rId127"/>
    <p:sldId id="469" r:id="rId128"/>
    <p:sldId id="470" r:id="rId129"/>
    <p:sldId id="477" r:id="rId130"/>
    <p:sldId id="478" r:id="rId131"/>
    <p:sldId id="471" r:id="rId132"/>
    <p:sldId id="482" r:id="rId133"/>
    <p:sldId id="485" r:id="rId134"/>
  </p:sldIdLst>
  <p:sldSz cx="9144000" cy="6858000" type="screen4x3"/>
  <p:notesSz cx="7053263" cy="9309100"/>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422C16"/>
    <a:srgbClr val="0C788E"/>
    <a:srgbClr val="025198"/>
    <a:srgbClr val="1C1C1C"/>
    <a:srgbClr val="660066"/>
    <a:srgbClr val="000058"/>
    <a:srgbClr val="2E1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75" autoAdjust="0"/>
    <p:restoredTop sz="85240" autoAdjust="0"/>
  </p:normalViewPr>
  <p:slideViewPr>
    <p:cSldViewPr>
      <p:cViewPr varScale="1">
        <p:scale>
          <a:sx n="62" d="100"/>
          <a:sy n="62" d="100"/>
        </p:scale>
        <p:origin x="1380" y="60"/>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2"/>
            <a:ext cx="3055938" cy="466724"/>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sz="quarter" idx="1"/>
          </p:nvPr>
        </p:nvSpPr>
        <p:spPr>
          <a:xfrm>
            <a:off x="3995739" y="2"/>
            <a:ext cx="3055937" cy="466724"/>
          </a:xfrm>
          <a:prstGeom prst="rect">
            <a:avLst/>
          </a:prstGeom>
        </p:spPr>
        <p:txBody>
          <a:bodyPr vert="horz" lIns="91440" tIns="45720" rIns="91440" bIns="45720" rtlCol="0"/>
          <a:lstStyle>
            <a:lvl1pPr algn="r">
              <a:defRPr sz="1200"/>
            </a:lvl1pPr>
          </a:lstStyle>
          <a:p>
            <a:fld id="{35212529-29F0-4F55-8DF8-0F1AFA51B526}" type="datetimeFigureOut">
              <a:rPr lang="es-AR" smtClean="0"/>
              <a:t>1/10/2016</a:t>
            </a:fld>
            <a:endParaRPr lang="es-AR"/>
          </a:p>
        </p:txBody>
      </p:sp>
      <p:sp>
        <p:nvSpPr>
          <p:cNvPr id="4" name="Marcador de pie de página 3"/>
          <p:cNvSpPr>
            <a:spLocks noGrp="1"/>
          </p:cNvSpPr>
          <p:nvPr>
            <p:ph type="ftr" sz="quarter" idx="2"/>
          </p:nvPr>
        </p:nvSpPr>
        <p:spPr>
          <a:xfrm>
            <a:off x="0" y="8842376"/>
            <a:ext cx="3055938" cy="466724"/>
          </a:xfrm>
          <a:prstGeom prst="rect">
            <a:avLst/>
          </a:prstGeom>
        </p:spPr>
        <p:txBody>
          <a:bodyPr vert="horz" lIns="91440" tIns="45720" rIns="91440" bIns="45720" rtlCol="0" anchor="b"/>
          <a:lstStyle>
            <a:lvl1pPr algn="l">
              <a:defRPr sz="1200"/>
            </a:lvl1pPr>
          </a:lstStyle>
          <a:p>
            <a:endParaRPr lang="es-AR"/>
          </a:p>
        </p:txBody>
      </p:sp>
      <p:sp>
        <p:nvSpPr>
          <p:cNvPr id="5" name="Marcador de número de diapositiva 4"/>
          <p:cNvSpPr>
            <a:spLocks noGrp="1"/>
          </p:cNvSpPr>
          <p:nvPr>
            <p:ph type="sldNum" sz="quarter" idx="3"/>
          </p:nvPr>
        </p:nvSpPr>
        <p:spPr>
          <a:xfrm>
            <a:off x="3995739" y="8842376"/>
            <a:ext cx="3055937" cy="466724"/>
          </a:xfrm>
          <a:prstGeom prst="rect">
            <a:avLst/>
          </a:prstGeom>
        </p:spPr>
        <p:txBody>
          <a:bodyPr vert="horz" lIns="91440" tIns="45720" rIns="91440" bIns="45720" rtlCol="0" anchor="b"/>
          <a:lstStyle>
            <a:lvl1pPr algn="r">
              <a:defRPr sz="1200"/>
            </a:lvl1pPr>
          </a:lstStyle>
          <a:p>
            <a:fld id="{B5177B17-1D11-4B57-BC09-2CBDB405C0F6}" type="slidenum">
              <a:rPr lang="es-AR" smtClean="0"/>
              <a:t>‹Nº›</a:t>
            </a:fld>
            <a:endParaRPr lang="es-AR"/>
          </a:p>
        </p:txBody>
      </p:sp>
    </p:spTree>
    <p:extLst>
      <p:ext uri="{BB962C8B-B14F-4D97-AF65-F5344CB8AC3E}">
        <p14:creationId xmlns:p14="http://schemas.microsoft.com/office/powerpoint/2010/main" val="5387327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3056414" cy="467072"/>
          </a:xfrm>
          <a:prstGeom prst="rect">
            <a:avLst/>
          </a:prstGeom>
        </p:spPr>
        <p:txBody>
          <a:bodyPr vert="horz" lIns="93491" tIns="46746" rIns="93491" bIns="46746" rtlCol="0"/>
          <a:lstStyle>
            <a:lvl1pPr algn="l">
              <a:defRPr sz="1300"/>
            </a:lvl1pPr>
          </a:lstStyle>
          <a:p>
            <a:endParaRPr lang="es-AR"/>
          </a:p>
        </p:txBody>
      </p:sp>
      <p:sp>
        <p:nvSpPr>
          <p:cNvPr id="3" name="Marcador de fecha 2"/>
          <p:cNvSpPr>
            <a:spLocks noGrp="1"/>
          </p:cNvSpPr>
          <p:nvPr>
            <p:ph type="dt" idx="1"/>
          </p:nvPr>
        </p:nvSpPr>
        <p:spPr>
          <a:xfrm>
            <a:off x="3995217" y="1"/>
            <a:ext cx="3056414" cy="467072"/>
          </a:xfrm>
          <a:prstGeom prst="rect">
            <a:avLst/>
          </a:prstGeom>
        </p:spPr>
        <p:txBody>
          <a:bodyPr vert="horz" lIns="93491" tIns="46746" rIns="93491" bIns="46746" rtlCol="0"/>
          <a:lstStyle>
            <a:lvl1pPr algn="r">
              <a:defRPr sz="1300"/>
            </a:lvl1pPr>
          </a:lstStyle>
          <a:p>
            <a:fld id="{2EF4DA3C-E0ED-4D12-86F6-1536B7F95009}" type="datetimeFigureOut">
              <a:rPr lang="es-AR" smtClean="0"/>
              <a:t>1/10/2016</a:t>
            </a:fld>
            <a:endParaRPr lang="es-AR"/>
          </a:p>
        </p:txBody>
      </p:sp>
      <p:sp>
        <p:nvSpPr>
          <p:cNvPr id="4" name="Marcador de imagen de diapositiva 3"/>
          <p:cNvSpPr>
            <a:spLocks noGrp="1" noRot="1" noChangeAspect="1"/>
          </p:cNvSpPr>
          <p:nvPr>
            <p:ph type="sldImg" idx="2"/>
          </p:nvPr>
        </p:nvSpPr>
        <p:spPr>
          <a:xfrm>
            <a:off x="1433513" y="1163638"/>
            <a:ext cx="4186237" cy="3141662"/>
          </a:xfrm>
          <a:prstGeom prst="rect">
            <a:avLst/>
          </a:prstGeom>
          <a:noFill/>
          <a:ln w="12700">
            <a:solidFill>
              <a:prstClr val="black"/>
            </a:solidFill>
          </a:ln>
        </p:spPr>
        <p:txBody>
          <a:bodyPr vert="horz" lIns="93491" tIns="46746" rIns="93491" bIns="46746" rtlCol="0" anchor="ctr"/>
          <a:lstStyle/>
          <a:p>
            <a:endParaRPr lang="es-AR"/>
          </a:p>
        </p:txBody>
      </p:sp>
      <p:sp>
        <p:nvSpPr>
          <p:cNvPr id="5" name="Marcador de notas 4"/>
          <p:cNvSpPr>
            <a:spLocks noGrp="1"/>
          </p:cNvSpPr>
          <p:nvPr>
            <p:ph type="body" sz="quarter" idx="3"/>
          </p:nvPr>
        </p:nvSpPr>
        <p:spPr>
          <a:xfrm>
            <a:off x="705327" y="4480005"/>
            <a:ext cx="5642610" cy="3665459"/>
          </a:xfrm>
          <a:prstGeom prst="rect">
            <a:avLst/>
          </a:prstGeom>
        </p:spPr>
        <p:txBody>
          <a:bodyPr vert="horz" lIns="93491" tIns="46746" rIns="93491" bIns="46746"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842031"/>
            <a:ext cx="3056414" cy="467070"/>
          </a:xfrm>
          <a:prstGeom prst="rect">
            <a:avLst/>
          </a:prstGeom>
        </p:spPr>
        <p:txBody>
          <a:bodyPr vert="horz" lIns="93491" tIns="46746" rIns="93491" bIns="46746" rtlCol="0" anchor="b"/>
          <a:lstStyle>
            <a:lvl1pPr algn="l">
              <a:defRPr sz="1300"/>
            </a:lvl1pPr>
          </a:lstStyle>
          <a:p>
            <a:endParaRPr lang="es-AR"/>
          </a:p>
        </p:txBody>
      </p:sp>
      <p:sp>
        <p:nvSpPr>
          <p:cNvPr id="7" name="Marcador de número de diapositiva 6"/>
          <p:cNvSpPr>
            <a:spLocks noGrp="1"/>
          </p:cNvSpPr>
          <p:nvPr>
            <p:ph type="sldNum" sz="quarter" idx="5"/>
          </p:nvPr>
        </p:nvSpPr>
        <p:spPr>
          <a:xfrm>
            <a:off x="3995217" y="8842031"/>
            <a:ext cx="3056414" cy="467070"/>
          </a:xfrm>
          <a:prstGeom prst="rect">
            <a:avLst/>
          </a:prstGeom>
        </p:spPr>
        <p:txBody>
          <a:bodyPr vert="horz" lIns="93491" tIns="46746" rIns="93491" bIns="46746" rtlCol="0" anchor="b"/>
          <a:lstStyle>
            <a:lvl1pPr algn="r">
              <a:defRPr sz="1300"/>
            </a:lvl1pPr>
          </a:lstStyle>
          <a:p>
            <a:fld id="{16056653-EB7C-4C2C-8160-84A14F109A05}" type="slidenum">
              <a:rPr lang="es-AR" smtClean="0"/>
              <a:t>‹Nº›</a:t>
            </a:fld>
            <a:endParaRPr lang="es-AR"/>
          </a:p>
        </p:txBody>
      </p:sp>
    </p:spTree>
    <p:extLst>
      <p:ext uri="{BB962C8B-B14F-4D97-AF65-F5344CB8AC3E}">
        <p14:creationId xmlns:p14="http://schemas.microsoft.com/office/powerpoint/2010/main" val="746309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a:t>
            </a:fld>
            <a:endParaRPr lang="es-AR"/>
          </a:p>
        </p:txBody>
      </p:sp>
    </p:spTree>
    <p:extLst>
      <p:ext uri="{BB962C8B-B14F-4D97-AF65-F5344CB8AC3E}">
        <p14:creationId xmlns:p14="http://schemas.microsoft.com/office/powerpoint/2010/main" val="4283231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a:t>
            </a:fld>
            <a:endParaRPr lang="es-AR"/>
          </a:p>
        </p:txBody>
      </p:sp>
    </p:spTree>
    <p:extLst>
      <p:ext uri="{BB962C8B-B14F-4D97-AF65-F5344CB8AC3E}">
        <p14:creationId xmlns:p14="http://schemas.microsoft.com/office/powerpoint/2010/main" val="171814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PRE: </a:t>
            </a:r>
          </a:p>
          <a:p>
            <a:r>
              <a:rPr lang="es-AR" dirty="0"/>
              <a:t>Organice el seminario en 7 secciones a ver. Antes de</a:t>
            </a:r>
            <a:r>
              <a:rPr lang="es-AR" baseline="0" dirty="0"/>
              <a:t> estudiar los resultados de las herramientas de evaluación es necesario comprender los problemas.</a:t>
            </a:r>
            <a:endParaRPr lang="es-AR" dirty="0"/>
          </a:p>
          <a:p>
            <a:r>
              <a:rPr lang="es-AR" dirty="0"/>
              <a:t>POST: </a:t>
            </a:r>
          </a:p>
          <a:p>
            <a:r>
              <a:rPr lang="es-AR" dirty="0"/>
              <a:t>Qué</a:t>
            </a:r>
            <a:r>
              <a:rPr lang="es-AR" baseline="0" dirty="0"/>
              <a:t> es la AW: definición y ejemplos de AW.</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a:t>
            </a:fld>
            <a:endParaRPr lang="es-AR" dirty="0"/>
          </a:p>
        </p:txBody>
      </p:sp>
    </p:spTree>
    <p:extLst>
      <p:ext uri="{BB962C8B-B14F-4D97-AF65-F5344CB8AC3E}">
        <p14:creationId xmlns:p14="http://schemas.microsoft.com/office/powerpoint/2010/main" val="119182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a:t>
            </a:fld>
            <a:endParaRPr lang="es-AR"/>
          </a:p>
        </p:txBody>
      </p:sp>
    </p:spTree>
    <p:extLst>
      <p:ext uri="{BB962C8B-B14F-4D97-AF65-F5344CB8AC3E}">
        <p14:creationId xmlns:p14="http://schemas.microsoft.com/office/powerpoint/2010/main" val="3238662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eaLnBrk="1" hangingPunct="1">
              <a:lnSpc>
                <a:spcPct val="80000"/>
              </a:lnSpc>
            </a:pPr>
            <a:r>
              <a:rPr lang="es-AR" altLang="es-AR" sz="1300" dirty="0"/>
              <a:t>POST:</a:t>
            </a:r>
          </a:p>
          <a:p>
            <a:pPr algn="l" eaLnBrk="1" hangingPunct="1">
              <a:lnSpc>
                <a:spcPct val="80000"/>
              </a:lnSpc>
            </a:pPr>
            <a:r>
              <a:rPr lang="es-AR" altLang="es-AR" sz="1300" dirty="0"/>
              <a:t>La </a:t>
            </a:r>
            <a:r>
              <a:rPr lang="es-AR" altLang="es-AR" sz="1300" b="0" dirty="0"/>
              <a:t>AW</a:t>
            </a:r>
            <a:r>
              <a:rPr lang="es-AR" altLang="es-AR" sz="1300" b="1" dirty="0"/>
              <a:t> </a:t>
            </a:r>
            <a:r>
              <a:rPr lang="es-AR" altLang="es-AR" sz="1300" dirty="0"/>
              <a:t>tiene como objetivo lograr que las páginas web sean utilizables por el máximo número de personas, </a:t>
            </a:r>
          </a:p>
          <a:p>
            <a:pPr algn="l" eaLnBrk="1" hangingPunct="1">
              <a:lnSpc>
                <a:spcPct val="80000"/>
              </a:lnSpc>
            </a:pPr>
            <a:r>
              <a:rPr lang="es-AR" altLang="es-AR" sz="1300" dirty="0"/>
              <a:t>independientemente de sus conocimientos o capacidades e </a:t>
            </a:r>
          </a:p>
          <a:p>
            <a:pPr algn="l" eaLnBrk="1" hangingPunct="1">
              <a:lnSpc>
                <a:spcPct val="80000"/>
              </a:lnSpc>
            </a:pPr>
            <a:r>
              <a:rPr lang="es-AR" altLang="es-AR" sz="1300" dirty="0"/>
              <a:t>independientemente de las características técnicas del equipo utilizado para acceder a la Web.</a:t>
            </a:r>
          </a:p>
          <a:p>
            <a:pPr defTabSz="934907">
              <a:defRPr/>
            </a:pPr>
            <a:endParaRPr lang="es-AR" altLang="es-AR" sz="1300"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5</a:t>
            </a:fld>
            <a:endParaRPr lang="es-AR" dirty="0"/>
          </a:p>
        </p:txBody>
      </p:sp>
    </p:spTree>
    <p:extLst>
      <p:ext uri="{BB962C8B-B14F-4D97-AF65-F5344CB8AC3E}">
        <p14:creationId xmlns:p14="http://schemas.microsoft.com/office/powerpoint/2010/main" val="1123505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eaLnBrk="1" hangingPunct="1">
              <a:lnSpc>
                <a:spcPct val="80000"/>
              </a:lnSpc>
            </a:pPr>
            <a:r>
              <a:rPr lang="es-AR" altLang="es-AR" sz="1500" dirty="0"/>
              <a:t>POST:</a:t>
            </a:r>
          </a:p>
          <a:p>
            <a:pPr algn="l" eaLnBrk="1" hangingPunct="1">
              <a:lnSpc>
                <a:spcPct val="80000"/>
              </a:lnSpc>
            </a:pPr>
            <a:r>
              <a:rPr lang="es-AR" altLang="es-AR" sz="1500" dirty="0"/>
              <a:t>La AW nos beneficia a todos.</a:t>
            </a:r>
          </a:p>
          <a:p>
            <a:pPr algn="l" eaLnBrk="1" hangingPunct="1">
              <a:lnSpc>
                <a:spcPct val="80000"/>
              </a:lnSpc>
            </a:pPr>
            <a:r>
              <a:rPr lang="es-AR" altLang="es-AR" sz="1500" dirty="0"/>
              <a:t>Diseño Web que nos va a permitir percibir, entender, navegar e interactuar con la Web, aportando a su vez contenidos. </a:t>
            </a:r>
          </a:p>
          <a:p>
            <a:pPr algn="l" eaLnBrk="1" hangingPunct="1">
              <a:lnSpc>
                <a:spcPct val="80000"/>
              </a:lnSpc>
            </a:pPr>
            <a:r>
              <a:rPr lang="es-AR" altLang="es-AR" sz="1500" dirty="0"/>
              <a:t>independientemente de la discapacidad (física, intelectual o técnica) o de las que se deriven del contexto de uso (tecnológicas o ambientales). </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a:t>
            </a:fld>
            <a:endParaRPr lang="es-AR"/>
          </a:p>
        </p:txBody>
      </p:sp>
    </p:spTree>
    <p:extLst>
      <p:ext uri="{BB962C8B-B14F-4D97-AF65-F5344CB8AC3E}">
        <p14:creationId xmlns:p14="http://schemas.microsoft.com/office/powerpoint/2010/main" val="3102991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aseline="0" dirty="0"/>
              <a:t>POST:</a:t>
            </a:r>
          </a:p>
          <a:p>
            <a:r>
              <a:rPr lang="es-AR" baseline="0" dirty="0"/>
              <a:t>Una persona que no pueda ver, no puede percibir los colores así que no sabrá que botón tiene que pulsar.</a:t>
            </a:r>
          </a:p>
          <a:p>
            <a:r>
              <a:rPr lang="es-AR" baseline="0" dirty="0"/>
              <a:t>Como se puede eliminar esta barrera?</a:t>
            </a:r>
          </a:p>
          <a:p>
            <a:r>
              <a:rPr lang="es-AR" baseline="0" dirty="0"/>
              <a:t>La barrera de accesibilidad que existía, se ha eliminado al agregar una alternativa textual a los botones.</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a:t>
            </a:fld>
            <a:endParaRPr lang="es-AR" dirty="0"/>
          </a:p>
        </p:txBody>
      </p:sp>
    </p:spTree>
    <p:extLst>
      <p:ext uri="{BB962C8B-B14F-4D97-AF65-F5344CB8AC3E}">
        <p14:creationId xmlns:p14="http://schemas.microsoft.com/office/powerpoint/2010/main" val="10741336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aseline="0" dirty="0"/>
              <a:t>POST:</a:t>
            </a:r>
          </a:p>
          <a:p>
            <a:r>
              <a:rPr lang="es-AR" baseline="0" dirty="0"/>
              <a:t>En este ejemplo el usuario tiene que perseguir al botón con el cursor del mouse para poder pulsarlo.</a:t>
            </a:r>
          </a:p>
          <a:p>
            <a:r>
              <a:rPr lang="es-AR" baseline="0" dirty="0"/>
              <a:t>Una persona con discapacidad motora puede tener un tiempo de respuesta lento y quizás no sea capaz de pulsar el circulo.</a:t>
            </a:r>
          </a:p>
          <a:p>
            <a:r>
              <a:rPr lang="es-AR" baseline="0" dirty="0"/>
              <a:t>Como se puede resolver este problema?</a:t>
            </a:r>
          </a:p>
          <a:p>
            <a:r>
              <a:rPr lang="es-AR" baseline="0" dirty="0"/>
              <a:t>Podrá pulsar sobre estos enlaces estáticos asegurarse también que los enlaces sean accesibles a través del teclado &lt;TAB&gt;</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a:t>
            </a:fld>
            <a:endParaRPr lang="es-AR"/>
          </a:p>
        </p:txBody>
      </p:sp>
    </p:spTree>
    <p:extLst>
      <p:ext uri="{BB962C8B-B14F-4D97-AF65-F5344CB8AC3E}">
        <p14:creationId xmlns:p14="http://schemas.microsoft.com/office/powerpoint/2010/main" val="4029659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Este es un mito que mucha gente tiene asumido y que</a:t>
            </a:r>
            <a:r>
              <a:rPr lang="es-AR" baseline="0" dirty="0"/>
              <a:t> es totalmente FALSO.</a:t>
            </a:r>
          </a:p>
          <a:p>
            <a:r>
              <a:rPr lang="es-AR" baseline="0" dirty="0"/>
              <a:t>En el sitio web Accessites.org recopila sitios web accesibles con diseño de gran calidad.</a:t>
            </a:r>
          </a:p>
          <a:p>
            <a:r>
              <a:rPr lang="es-AR" baseline="0" dirty="0"/>
              <a:t>Por ejemplo podemos encontrar el sitio web oficial del Gobierno de Suecia que es accesible y presenta un diseño limpio, moderno y agradable.</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a:t>
            </a:fld>
            <a:endParaRPr lang="es-AR"/>
          </a:p>
        </p:txBody>
      </p:sp>
    </p:spTree>
    <p:extLst>
      <p:ext uri="{BB962C8B-B14F-4D97-AF65-F5344CB8AC3E}">
        <p14:creationId xmlns:p14="http://schemas.microsoft.com/office/powerpoint/2010/main" val="1832541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Desgraciadamente</a:t>
            </a:r>
            <a:r>
              <a:rPr lang="es-AR" baseline="0" dirty="0"/>
              <a:t> en Argentina aun no se ha impuesto ninguna sanción en cuanto a Accesibilidad Web.</a:t>
            </a:r>
          </a:p>
          <a:p>
            <a:r>
              <a:rPr lang="es-AR" baseline="0" dirty="0"/>
              <a:t>Pero en el extranjero si que hay varios casos famosos:</a:t>
            </a:r>
          </a:p>
          <a:p>
            <a:r>
              <a:rPr lang="es-AR" baseline="0" dirty="0"/>
              <a:t>En agosto del 2000, en Australia, el Comité Organizador de los JJOO de Sídney fue condenado por su Sitio Web ya que no era accesible.</a:t>
            </a:r>
          </a:p>
          <a:p>
            <a:r>
              <a:rPr lang="es-AR" baseline="0" dirty="0"/>
              <a:t>En febrero del 2011 en EEUU, se presentó una demanda contra la compañía Disney por la falta de accesibilidad en su sitio web.</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a:t>
            </a:fld>
            <a:endParaRPr lang="es-AR"/>
          </a:p>
        </p:txBody>
      </p:sp>
    </p:spTree>
    <p:extLst>
      <p:ext uri="{BB962C8B-B14F-4D97-AF65-F5344CB8AC3E}">
        <p14:creationId xmlns:p14="http://schemas.microsoft.com/office/powerpoint/2010/main" val="21236692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Por</a:t>
            </a:r>
            <a:r>
              <a:rPr lang="es-AR" baseline="0" dirty="0"/>
              <a:t> ejemplo en varios sitios web no tiene un buen diseño porque emplea lo que se llama un diseño fijo para una pantalla de 1024 pixeles de ancho con una resolución de 1920 pixeles de ancho la página muestra mucho espacio vacío que está desaprovechado. </a:t>
            </a:r>
          </a:p>
          <a:p>
            <a:r>
              <a:rPr lang="es-AR" baseline="0" dirty="0"/>
              <a:t>Cuando esta página se visualiza en un dispositivo móvil como no está preparada para distintas resoluciones, la página no se visualiza todo lo bien que se podría visualizar.</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a:t>
            </a:fld>
            <a:endParaRPr lang="es-AR"/>
          </a:p>
        </p:txBody>
      </p:sp>
    </p:spTree>
    <p:extLst>
      <p:ext uri="{BB962C8B-B14F-4D97-AF65-F5344CB8AC3E}">
        <p14:creationId xmlns:p14="http://schemas.microsoft.com/office/powerpoint/2010/main" val="2796508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aseline="0" dirty="0"/>
              <a:t>POST:</a:t>
            </a:r>
          </a:p>
          <a:p>
            <a:r>
              <a:rPr lang="es-AR" baseline="0" dirty="0"/>
              <a:t>Hoy en día un buscador como Google o como Bing se comportan como un usuario ciego.</a:t>
            </a:r>
          </a:p>
          <a:p>
            <a:r>
              <a:rPr lang="es-AR" baseline="0" dirty="0"/>
              <a:t>Lo que sea bueno para la accesibilidad web también será bueno para el posicionamiento.</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a:t>
            </a:fld>
            <a:endParaRPr lang="es-AR"/>
          </a:p>
        </p:txBody>
      </p:sp>
    </p:spTree>
    <p:extLst>
      <p:ext uri="{BB962C8B-B14F-4D97-AF65-F5344CB8AC3E}">
        <p14:creationId xmlns:p14="http://schemas.microsoft.com/office/powerpoint/2010/main" val="4848945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Pautas internacionales</a:t>
            </a:r>
            <a:r>
              <a:rPr lang="es-AR" baseline="0" dirty="0"/>
              <a:t> para mejorar la accesibilidad de las páginas web y la legislación argentina sobre accesibilidad web.</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13</a:t>
            </a:fld>
            <a:endParaRPr lang="es-AR"/>
          </a:p>
        </p:txBody>
      </p:sp>
    </p:spTree>
    <p:extLst>
      <p:ext uri="{BB962C8B-B14F-4D97-AF65-F5344CB8AC3E}">
        <p14:creationId xmlns:p14="http://schemas.microsoft.com/office/powerpoint/2010/main" val="6540139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14</a:t>
            </a:fld>
            <a:endParaRPr lang="es-AR"/>
          </a:p>
        </p:txBody>
      </p:sp>
    </p:spTree>
    <p:extLst>
      <p:ext uri="{BB962C8B-B14F-4D97-AF65-F5344CB8AC3E}">
        <p14:creationId xmlns:p14="http://schemas.microsoft.com/office/powerpoint/2010/main" val="34235371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15</a:t>
            </a:fld>
            <a:endParaRPr lang="es-AR"/>
          </a:p>
        </p:txBody>
      </p:sp>
    </p:spTree>
    <p:extLst>
      <p:ext uri="{BB962C8B-B14F-4D97-AF65-F5344CB8AC3E}">
        <p14:creationId xmlns:p14="http://schemas.microsoft.com/office/powerpoint/2010/main" val="40378859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eaLnBrk="1" hangingPunct="1">
              <a:lnSpc>
                <a:spcPct val="80000"/>
              </a:lnSpc>
            </a:pPr>
            <a:r>
              <a:rPr lang="es-AR" altLang="es-AR" sz="1300" dirty="0"/>
              <a:t>POST:</a:t>
            </a:r>
          </a:p>
          <a:p>
            <a:pPr algn="just" eaLnBrk="1" hangingPunct="1">
              <a:lnSpc>
                <a:spcPct val="80000"/>
              </a:lnSpc>
            </a:pPr>
            <a:r>
              <a:rPr lang="es-AR" altLang="es-AR" sz="1300" dirty="0"/>
              <a:t>En 1999 se publica las Pautas de Accesibilidad para el Contenido Web, </a:t>
            </a:r>
          </a:p>
          <a:p>
            <a:pPr algn="just" eaLnBrk="1" hangingPunct="1">
              <a:lnSpc>
                <a:spcPct val="80000"/>
              </a:lnSpc>
            </a:pPr>
            <a:r>
              <a:rPr lang="es-AR" altLang="es-AR" sz="1300" b="1" dirty="0"/>
              <a:t>WCAG 1.0</a:t>
            </a:r>
            <a:r>
              <a:rPr lang="es-AR" altLang="es-AR" sz="1300" dirty="0"/>
              <a:t>, que representan el primer y más grande esfuerzo por establecer unas pautas de diseño accesible. </a:t>
            </a:r>
          </a:p>
          <a:p>
            <a:pPr algn="just" eaLnBrk="1" hangingPunct="1">
              <a:lnSpc>
                <a:spcPct val="80000"/>
              </a:lnSpc>
            </a:pPr>
            <a:r>
              <a:rPr lang="es-AR" altLang="es-AR" sz="1300" dirty="0"/>
              <a:t>El 11 de diciembre de 2008 se publica la nueva recomendación, las </a:t>
            </a:r>
            <a:r>
              <a:rPr lang="es-AR" altLang="es-AR" sz="1300" b="1" dirty="0"/>
              <a:t>WCAG 2.0</a:t>
            </a:r>
            <a:r>
              <a:rPr lang="es-AR" altLang="es-AR" sz="1300" dirty="0"/>
              <a:t>. </a:t>
            </a:r>
          </a:p>
          <a:p>
            <a:pPr algn="just" eaLnBrk="1" hangingPunct="1">
              <a:lnSpc>
                <a:spcPct val="80000"/>
              </a:lnSpc>
            </a:pPr>
            <a:r>
              <a:rPr lang="es-AR" altLang="es-AR" sz="1300" dirty="0"/>
              <a:t>Las WCAG 1.0 y las WCAG 2.0 </a:t>
            </a:r>
            <a:r>
              <a:rPr lang="es-AR" altLang="es-AR" sz="1300" b="1" dirty="0"/>
              <a:t>están organizadas y estructuradas de distinta manera.</a:t>
            </a:r>
            <a:r>
              <a:rPr lang="es-AR" altLang="es-AR" sz="1300" dirty="0"/>
              <a:t> </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16</a:t>
            </a:fld>
            <a:endParaRPr lang="es-AR"/>
          </a:p>
        </p:txBody>
      </p:sp>
    </p:spTree>
    <p:extLst>
      <p:ext uri="{BB962C8B-B14F-4D97-AF65-F5344CB8AC3E}">
        <p14:creationId xmlns:p14="http://schemas.microsoft.com/office/powerpoint/2010/main" val="1745423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17</a:t>
            </a:fld>
            <a:endParaRPr lang="es-AR"/>
          </a:p>
        </p:txBody>
      </p:sp>
    </p:spTree>
    <p:extLst>
      <p:ext uri="{BB962C8B-B14F-4D97-AF65-F5344CB8AC3E}">
        <p14:creationId xmlns:p14="http://schemas.microsoft.com/office/powerpoint/2010/main" val="2066109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Nivel A tiene 25 criterios de conformidad y 146 técnicas (generales, HTML y CSS).</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18</a:t>
            </a:fld>
            <a:endParaRPr lang="es-AR"/>
          </a:p>
        </p:txBody>
      </p:sp>
    </p:spTree>
    <p:extLst>
      <p:ext uri="{BB962C8B-B14F-4D97-AF65-F5344CB8AC3E}">
        <p14:creationId xmlns:p14="http://schemas.microsoft.com/office/powerpoint/2010/main" val="41702518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19</a:t>
            </a:fld>
            <a:endParaRPr lang="es-AR"/>
          </a:p>
        </p:txBody>
      </p:sp>
    </p:spTree>
    <p:extLst>
      <p:ext uri="{BB962C8B-B14F-4D97-AF65-F5344CB8AC3E}">
        <p14:creationId xmlns:p14="http://schemas.microsoft.com/office/powerpoint/2010/main" val="41977806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0" algn="just" eaLnBrk="1" hangingPunct="1">
              <a:lnSpc>
                <a:spcPct val="80000"/>
              </a:lnSpc>
            </a:pPr>
            <a:r>
              <a:rPr lang="es-AR" altLang="es-AR" sz="1300" dirty="0"/>
              <a:t>POST:</a:t>
            </a:r>
          </a:p>
          <a:p>
            <a:pPr lvl="0" algn="just" eaLnBrk="1" hangingPunct="1">
              <a:lnSpc>
                <a:spcPct val="80000"/>
              </a:lnSpc>
            </a:pPr>
            <a:r>
              <a:rPr lang="es-AR" altLang="es-AR" sz="1300" b="1" dirty="0"/>
              <a:t>Principio 1: Perceptible </a:t>
            </a:r>
            <a:r>
              <a:rPr lang="es-AR" altLang="es-AR" sz="1300" b="1" dirty="0">
                <a:sym typeface="Wingdings" panose="05000000000000000000" pitchFamily="2" charset="2"/>
              </a:rPr>
              <a:t> </a:t>
            </a:r>
            <a:r>
              <a:rPr lang="es-AR" altLang="es-AR" sz="1300" b="1" dirty="0"/>
              <a:t> </a:t>
            </a:r>
            <a:r>
              <a:rPr lang="es-AR" altLang="es-AR" sz="1300" b="0" dirty="0"/>
              <a:t>4 pautas</a:t>
            </a:r>
            <a:r>
              <a:rPr lang="es-AR" altLang="es-AR" sz="1300" b="0" baseline="0" dirty="0"/>
              <a:t> (1.1, 1.2, 1.3, 1.4)</a:t>
            </a:r>
            <a:endParaRPr lang="es-AR" altLang="es-AR" sz="1300" b="0" dirty="0"/>
          </a:p>
          <a:p>
            <a:pPr lvl="0" algn="just" eaLnBrk="1" hangingPunct="1">
              <a:lnSpc>
                <a:spcPct val="80000"/>
              </a:lnSpc>
            </a:pPr>
            <a:r>
              <a:rPr lang="es-AR" altLang="es-AR" sz="1300" b="1" dirty="0"/>
              <a:t>Principio 2: Operable</a:t>
            </a:r>
            <a:r>
              <a:rPr lang="es-AR" altLang="es-AR" sz="1300" dirty="0"/>
              <a:t>  </a:t>
            </a:r>
            <a:r>
              <a:rPr lang="es-AR" altLang="es-AR" sz="1300" dirty="0">
                <a:sym typeface="Wingdings" panose="05000000000000000000" pitchFamily="2" charset="2"/>
              </a:rPr>
              <a:t> 4 pautas (2.1, 2.2,</a:t>
            </a:r>
            <a:r>
              <a:rPr lang="es-AR" altLang="es-AR" sz="1300" baseline="0" dirty="0">
                <a:sym typeface="Wingdings" panose="05000000000000000000" pitchFamily="2" charset="2"/>
              </a:rPr>
              <a:t> 2.3, 2.4)</a:t>
            </a:r>
            <a:endParaRPr lang="es-AR" altLang="es-AR" sz="1300" dirty="0"/>
          </a:p>
          <a:p>
            <a:pPr lvl="0" algn="just" eaLnBrk="1" hangingPunct="1">
              <a:lnSpc>
                <a:spcPct val="80000"/>
              </a:lnSpc>
            </a:pPr>
            <a:r>
              <a:rPr lang="es-AR" altLang="es-AR" sz="1300" b="1" dirty="0"/>
              <a:t>Principio 3: Comprensible</a:t>
            </a:r>
            <a:r>
              <a:rPr lang="es-AR" altLang="es-AR" sz="1300" dirty="0"/>
              <a:t> </a:t>
            </a:r>
            <a:r>
              <a:rPr lang="es-AR" altLang="es-AR" sz="1300" dirty="0">
                <a:sym typeface="Wingdings" panose="05000000000000000000" pitchFamily="2" charset="2"/>
              </a:rPr>
              <a:t> 3 pautas</a:t>
            </a:r>
            <a:r>
              <a:rPr lang="es-AR" altLang="es-AR" sz="1300" baseline="0" dirty="0">
                <a:sym typeface="Wingdings" panose="05000000000000000000" pitchFamily="2" charset="2"/>
              </a:rPr>
              <a:t> (3.1, 3.2, 3.3)</a:t>
            </a:r>
            <a:endParaRPr lang="es-AR" altLang="es-AR" sz="1300" dirty="0"/>
          </a:p>
          <a:p>
            <a:pPr lvl="0" algn="just" eaLnBrk="1" hangingPunct="1">
              <a:lnSpc>
                <a:spcPct val="80000"/>
              </a:lnSpc>
            </a:pPr>
            <a:r>
              <a:rPr lang="es-AR" altLang="es-AR" sz="1300" b="1" dirty="0"/>
              <a:t>Principio 4: Robusto</a:t>
            </a:r>
            <a:r>
              <a:rPr lang="es-AR" altLang="es-AR" sz="1300" dirty="0"/>
              <a:t> </a:t>
            </a:r>
            <a:r>
              <a:rPr lang="es-AR" altLang="es-AR" sz="1300" dirty="0">
                <a:sym typeface="Wingdings" panose="05000000000000000000" pitchFamily="2" charset="2"/>
              </a:rPr>
              <a:t> 1 pauta</a:t>
            </a:r>
            <a:r>
              <a:rPr lang="es-AR" altLang="es-AR" sz="1300" baseline="0" dirty="0">
                <a:sym typeface="Wingdings" panose="05000000000000000000" pitchFamily="2" charset="2"/>
              </a:rPr>
              <a:t> (4.1)</a:t>
            </a:r>
            <a:endParaRPr lang="es-AR" altLang="es-AR" sz="1300"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20</a:t>
            </a:fld>
            <a:endParaRPr lang="es-AR" dirty="0"/>
          </a:p>
        </p:txBody>
      </p:sp>
    </p:spTree>
    <p:extLst>
      <p:ext uri="{BB962C8B-B14F-4D97-AF65-F5344CB8AC3E}">
        <p14:creationId xmlns:p14="http://schemas.microsoft.com/office/powerpoint/2010/main" val="10352217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eaLnBrk="1" hangingPunct="1">
              <a:lnSpc>
                <a:spcPct val="80000"/>
              </a:lnSpc>
            </a:pPr>
            <a:r>
              <a:rPr lang="es-AR" altLang="es-AR" sz="1300" dirty="0"/>
              <a:t>POST:</a:t>
            </a:r>
          </a:p>
          <a:p>
            <a:pPr algn="just" eaLnBrk="1" hangingPunct="1">
              <a:lnSpc>
                <a:spcPct val="80000"/>
              </a:lnSpc>
            </a:pPr>
            <a:r>
              <a:rPr lang="es-AR" altLang="es-AR" sz="1300" dirty="0"/>
              <a:t>Para lograr conformidad con el</a:t>
            </a:r>
            <a:r>
              <a:rPr lang="es-AR" altLang="es-AR" sz="1300" baseline="0" dirty="0"/>
              <a:t> nivel:</a:t>
            </a:r>
          </a:p>
          <a:p>
            <a:pPr algn="just" eaLnBrk="1" hangingPunct="1">
              <a:lnSpc>
                <a:spcPct val="80000"/>
              </a:lnSpc>
            </a:pPr>
            <a:r>
              <a:rPr lang="es-AR" altLang="es-AR" sz="1300" b="1" baseline="0" dirty="0"/>
              <a:t>A</a:t>
            </a:r>
            <a:r>
              <a:rPr lang="es-AR" altLang="es-AR" sz="1300" baseline="0" dirty="0"/>
              <a:t> </a:t>
            </a:r>
            <a:r>
              <a:rPr lang="es-AR" altLang="es-AR" sz="1300" baseline="0" dirty="0">
                <a:sym typeface="Wingdings" panose="05000000000000000000" pitchFamily="2" charset="2"/>
              </a:rPr>
              <a:t> satisface todos los criterios del nivel </a:t>
            </a:r>
            <a:r>
              <a:rPr lang="es-AR" altLang="es-AR" sz="1300" b="1" baseline="0" dirty="0">
                <a:sym typeface="Wingdings" panose="05000000000000000000" pitchFamily="2" charset="2"/>
              </a:rPr>
              <a:t>A</a:t>
            </a:r>
            <a:r>
              <a:rPr lang="es-AR" altLang="es-AR" sz="1300" baseline="0" dirty="0">
                <a:sym typeface="Wingdings" panose="05000000000000000000" pitchFamily="2" charset="2"/>
              </a:rPr>
              <a:t>.</a:t>
            </a:r>
            <a:endParaRPr lang="es-AR" altLang="es-AR" sz="1300" dirty="0"/>
          </a:p>
          <a:p>
            <a:pPr marL="0" marR="0" lvl="0" indent="0" algn="l" defTabSz="914400" rtl="0" eaLnBrk="1" fontAlgn="auto" latinLnBrk="0" hangingPunct="1">
              <a:lnSpc>
                <a:spcPct val="100000"/>
              </a:lnSpc>
              <a:spcBef>
                <a:spcPts val="0"/>
              </a:spcBef>
              <a:spcAft>
                <a:spcPts val="0"/>
              </a:spcAft>
              <a:buClrTx/>
              <a:buSzTx/>
              <a:buFontTx/>
              <a:buNone/>
              <a:tabLst/>
              <a:defRPr/>
            </a:pPr>
            <a:r>
              <a:rPr lang="es-AR" altLang="es-AR" sz="1200" b="1" baseline="0" dirty="0"/>
              <a:t>AA</a:t>
            </a:r>
            <a:r>
              <a:rPr lang="es-AR" altLang="es-AR" sz="1200" baseline="0" dirty="0"/>
              <a:t> </a:t>
            </a:r>
            <a:r>
              <a:rPr lang="es-AR" altLang="es-AR" sz="1200" baseline="0" dirty="0">
                <a:sym typeface="Wingdings" panose="05000000000000000000" pitchFamily="2" charset="2"/>
              </a:rPr>
              <a:t> satisface todos los criterios del nivel </a:t>
            </a:r>
            <a:r>
              <a:rPr lang="es-AR" altLang="es-AR" sz="1200" b="1" baseline="0" dirty="0">
                <a:sym typeface="Wingdings" panose="05000000000000000000" pitchFamily="2" charset="2"/>
              </a:rPr>
              <a:t>A y AA</a:t>
            </a:r>
            <a:r>
              <a:rPr lang="es-AR" altLang="es-AR" sz="1200" baseline="0" dirty="0">
                <a:sym typeface="Wingdings" panose="05000000000000000000" pitchFamily="2" charset="2"/>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s-AR" altLang="es-AR" sz="1200" b="1" baseline="0" dirty="0"/>
              <a:t>AAA</a:t>
            </a:r>
            <a:r>
              <a:rPr lang="es-AR" altLang="es-AR" sz="1200" baseline="0" dirty="0"/>
              <a:t> </a:t>
            </a:r>
            <a:r>
              <a:rPr lang="es-AR" altLang="es-AR" sz="1200" baseline="0" dirty="0">
                <a:sym typeface="Wingdings" panose="05000000000000000000" pitchFamily="2" charset="2"/>
              </a:rPr>
              <a:t> satisface todos los criterios del nivel </a:t>
            </a:r>
            <a:r>
              <a:rPr lang="es-AR" altLang="es-AR" sz="1200" b="1" baseline="0" dirty="0">
                <a:sym typeface="Wingdings" panose="05000000000000000000" pitchFamily="2" charset="2"/>
              </a:rPr>
              <a:t>A, AA y AAA</a:t>
            </a:r>
            <a:r>
              <a:rPr lang="es-AR" altLang="es-AR" sz="1200" baseline="0" dirty="0">
                <a:sym typeface="Wingdings" panose="05000000000000000000" pitchFamily="2" charset="2"/>
              </a:rPr>
              <a:t>.</a:t>
            </a:r>
            <a:endParaRPr lang="es-AR" altLang="es-A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AR" altLang="es-AR" sz="1200"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21</a:t>
            </a:fld>
            <a:endParaRPr lang="es-AR" dirty="0"/>
          </a:p>
        </p:txBody>
      </p:sp>
    </p:spTree>
    <p:extLst>
      <p:ext uri="{BB962C8B-B14F-4D97-AF65-F5344CB8AC3E}">
        <p14:creationId xmlns:p14="http://schemas.microsoft.com/office/powerpoint/2010/main" val="21786475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lnSpc>
                <a:spcPct val="90000"/>
              </a:lnSpc>
            </a:pPr>
            <a:r>
              <a:rPr lang="es-AR" altLang="es-AR" sz="1300" dirty="0"/>
              <a:t>POST:</a:t>
            </a:r>
          </a:p>
          <a:p>
            <a:pPr eaLnBrk="1" hangingPunct="1">
              <a:lnSpc>
                <a:spcPct val="90000"/>
              </a:lnSpc>
            </a:pPr>
            <a:r>
              <a:rPr lang="es-AR" altLang="es-AR" sz="1300" dirty="0"/>
              <a:t>Con el fin de promover la creación de sitios web accesibles y de defender los derechos de las personas con discapacidad.</a:t>
            </a:r>
          </a:p>
          <a:p>
            <a:pPr eaLnBrk="1" hangingPunct="1">
              <a:lnSpc>
                <a:spcPct val="90000"/>
              </a:lnSpc>
            </a:pPr>
            <a:r>
              <a:rPr lang="es-AR" altLang="es-AR" sz="1300" dirty="0"/>
              <a:t> </a:t>
            </a:r>
            <a:endParaRPr lang="es-AR" sz="1300"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22</a:t>
            </a:fld>
            <a:endParaRPr lang="es-AR" dirty="0"/>
          </a:p>
        </p:txBody>
      </p:sp>
    </p:spTree>
    <p:extLst>
      <p:ext uri="{BB962C8B-B14F-4D97-AF65-F5344CB8AC3E}">
        <p14:creationId xmlns:p14="http://schemas.microsoft.com/office/powerpoint/2010/main" val="29507948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lnSpc>
                <a:spcPct val="90000"/>
              </a:lnSpc>
            </a:pPr>
            <a:r>
              <a:rPr lang="es-AR" altLang="es-AR" sz="1300" dirty="0"/>
              <a:t>POST:</a:t>
            </a:r>
          </a:p>
          <a:p>
            <a:pPr eaLnBrk="1" hangingPunct="1">
              <a:lnSpc>
                <a:spcPct val="90000"/>
              </a:lnSpc>
            </a:pPr>
            <a:r>
              <a:rPr lang="es-AR" sz="1300" b="1" dirty="0"/>
              <a:t>ART 1 </a:t>
            </a:r>
            <a:r>
              <a:rPr lang="es-AR" sz="1300" dirty="0">
                <a:sym typeface="Wingdings" panose="05000000000000000000" pitchFamily="2" charset="2"/>
              </a:rPr>
              <a:t> Se basa en las </a:t>
            </a:r>
            <a:r>
              <a:rPr lang="es-AR" sz="1300" b="1" dirty="0">
                <a:sym typeface="Wingdings" panose="05000000000000000000" pitchFamily="2" charset="2"/>
              </a:rPr>
              <a:t>WCAG 2.0</a:t>
            </a:r>
          </a:p>
          <a:p>
            <a:pPr eaLnBrk="1" hangingPunct="1">
              <a:lnSpc>
                <a:spcPct val="90000"/>
              </a:lnSpc>
            </a:pPr>
            <a:r>
              <a:rPr lang="es-AR" sz="1300" b="1" dirty="0">
                <a:sym typeface="Wingdings" panose="05000000000000000000" pitchFamily="2" charset="2"/>
              </a:rPr>
              <a:t>ART 2 </a:t>
            </a:r>
            <a:r>
              <a:rPr lang="es-AR" sz="1300" dirty="0">
                <a:sym typeface="Wingdings" panose="05000000000000000000" pitchFamily="2" charset="2"/>
              </a:rPr>
              <a:t> Nivel mínimo de conformidad es el</a:t>
            </a:r>
            <a:r>
              <a:rPr lang="es-AR" sz="1300" baseline="0" dirty="0">
                <a:sym typeface="Wingdings" panose="05000000000000000000" pitchFamily="2" charset="2"/>
              </a:rPr>
              <a:t> </a:t>
            </a:r>
            <a:r>
              <a:rPr lang="es-AR" sz="1300" b="1" baseline="0" dirty="0">
                <a:sym typeface="Wingdings" panose="05000000000000000000" pitchFamily="2" charset="2"/>
              </a:rPr>
              <a:t>A (HTML y CSS)</a:t>
            </a:r>
          </a:p>
          <a:p>
            <a:pPr eaLnBrk="1" hangingPunct="1">
              <a:lnSpc>
                <a:spcPct val="90000"/>
              </a:lnSpc>
            </a:pPr>
            <a:r>
              <a:rPr lang="es-AR" sz="1300" b="1" baseline="0" dirty="0">
                <a:sym typeface="Wingdings" panose="05000000000000000000" pitchFamily="2" charset="2"/>
              </a:rPr>
              <a:t>ART 3 </a:t>
            </a:r>
            <a:r>
              <a:rPr lang="es-AR" sz="1300" baseline="0" dirty="0">
                <a:sym typeface="Wingdings" panose="05000000000000000000" pitchFamily="2" charset="2"/>
              </a:rPr>
              <a:t> Periodos evaluatorios 1) &gt;= </a:t>
            </a:r>
            <a:r>
              <a:rPr lang="es-AR" sz="1300" b="1" baseline="0" dirty="0">
                <a:sym typeface="Wingdings" panose="05000000000000000000" pitchFamily="2" charset="2"/>
              </a:rPr>
              <a:t>50</a:t>
            </a:r>
            <a:r>
              <a:rPr lang="es-AR" sz="1300" baseline="0" dirty="0">
                <a:sym typeface="Wingdings" panose="05000000000000000000" pitchFamily="2" charset="2"/>
              </a:rPr>
              <a:t> puntos  2) &gt;= </a:t>
            </a:r>
            <a:r>
              <a:rPr lang="es-AR" sz="1300" b="1" baseline="0" dirty="0">
                <a:sym typeface="Wingdings" panose="05000000000000000000" pitchFamily="2" charset="2"/>
              </a:rPr>
              <a:t>80</a:t>
            </a:r>
            <a:r>
              <a:rPr lang="es-AR" sz="1300" baseline="0" dirty="0">
                <a:sym typeface="Wingdings" panose="05000000000000000000" pitchFamily="2" charset="2"/>
              </a:rPr>
              <a:t> puntos.</a:t>
            </a:r>
          </a:p>
          <a:p>
            <a:pPr eaLnBrk="1" hangingPunct="1">
              <a:lnSpc>
                <a:spcPct val="90000"/>
              </a:lnSpc>
            </a:pPr>
            <a:r>
              <a:rPr lang="es-AR" sz="1300" b="1" baseline="0" dirty="0">
                <a:sym typeface="Wingdings" panose="05000000000000000000" pitchFamily="2" charset="2"/>
              </a:rPr>
              <a:t>ARWeb</a:t>
            </a:r>
            <a:r>
              <a:rPr lang="es-AR" sz="1300" baseline="0" dirty="0">
                <a:sym typeface="Wingdings" panose="05000000000000000000" pitchFamily="2" charset="2"/>
              </a:rPr>
              <a:t> se basa en esta puntuación para determinar si un sitio es o no accesible.	</a:t>
            </a:r>
            <a:endParaRPr lang="es-AR" sz="1300"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23</a:t>
            </a:fld>
            <a:endParaRPr lang="es-AR" dirty="0"/>
          </a:p>
        </p:txBody>
      </p:sp>
    </p:spTree>
    <p:extLst>
      <p:ext uri="{BB962C8B-B14F-4D97-AF65-F5344CB8AC3E}">
        <p14:creationId xmlns:p14="http://schemas.microsoft.com/office/powerpoint/2010/main" val="611467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lnSpc>
                <a:spcPct val="90000"/>
              </a:lnSpc>
            </a:pPr>
            <a:r>
              <a:rPr lang="es-AR" altLang="es-AR" sz="1300" dirty="0"/>
              <a:t> POST:</a:t>
            </a:r>
          </a:p>
          <a:p>
            <a:pPr eaLnBrk="1" hangingPunct="1">
              <a:lnSpc>
                <a:spcPct val="90000"/>
              </a:lnSpc>
            </a:pPr>
            <a:r>
              <a:rPr lang="es-AR" sz="1300" dirty="0"/>
              <a:t>Es una grilla donde</a:t>
            </a:r>
            <a:r>
              <a:rPr lang="es-AR" sz="1300" baseline="0" dirty="0"/>
              <a:t> a cada criterio OK le suma 4 puntos.</a:t>
            </a:r>
          </a:p>
          <a:p>
            <a:pPr eaLnBrk="1" hangingPunct="1">
              <a:lnSpc>
                <a:spcPct val="90000"/>
              </a:lnSpc>
            </a:pPr>
            <a:r>
              <a:rPr lang="es-AR" sz="1300" baseline="0" dirty="0"/>
              <a:t>ARWeb exporta en formato PDF el anexo II con información del análisis automático.</a:t>
            </a:r>
            <a:endParaRPr lang="es-AR" sz="1300"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24</a:t>
            </a:fld>
            <a:endParaRPr lang="es-AR" dirty="0"/>
          </a:p>
        </p:txBody>
      </p:sp>
    </p:spTree>
    <p:extLst>
      <p:ext uri="{BB962C8B-B14F-4D97-AF65-F5344CB8AC3E}">
        <p14:creationId xmlns:p14="http://schemas.microsoft.com/office/powerpoint/2010/main" val="29392790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Cómo lograr que el contenido de una</a:t>
            </a:r>
            <a:r>
              <a:rPr lang="es-AR" baseline="0" dirty="0"/>
              <a:t> página web sea accesible y comprensible.</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25</a:t>
            </a:fld>
            <a:endParaRPr lang="es-AR" dirty="0"/>
          </a:p>
        </p:txBody>
      </p:sp>
    </p:spTree>
    <p:extLst>
      <p:ext uri="{BB962C8B-B14F-4D97-AF65-F5344CB8AC3E}">
        <p14:creationId xmlns:p14="http://schemas.microsoft.com/office/powerpoint/2010/main" val="37037615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defTabSz="934907">
              <a:defRPr/>
            </a:pPr>
            <a:r>
              <a:rPr lang="es-AR" altLang="es-AR" sz="1300" dirty="0"/>
              <a:t>POST:</a:t>
            </a:r>
          </a:p>
          <a:p>
            <a:pPr defTabSz="934907">
              <a:defRPr/>
            </a:pPr>
            <a:r>
              <a:rPr lang="es-AR" altLang="es-AR" sz="1300" dirty="0"/>
              <a:t>Es decir, todo lo que se incluye en una página web o es enlazado desde una página web se considera contenido web. </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26</a:t>
            </a:fld>
            <a:endParaRPr lang="es-AR" dirty="0"/>
          </a:p>
        </p:txBody>
      </p:sp>
    </p:spTree>
    <p:extLst>
      <p:ext uri="{BB962C8B-B14F-4D97-AF65-F5344CB8AC3E}">
        <p14:creationId xmlns:p14="http://schemas.microsoft.com/office/powerpoint/2010/main" val="15547669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defTabSz="934907">
              <a:defRPr/>
            </a:pPr>
            <a:r>
              <a:rPr lang="es-AR" altLang="es-AR" sz="1300" dirty="0"/>
              <a:t>PRE:</a:t>
            </a:r>
          </a:p>
          <a:p>
            <a:pPr defTabSz="934907">
              <a:defRPr/>
            </a:pPr>
            <a:r>
              <a:rPr lang="es-AR" altLang="es-AR" sz="1300" dirty="0"/>
              <a:t>En esta sección del seminario se muestran los principales problemas de AW que presenta el contenido web, </a:t>
            </a:r>
          </a:p>
          <a:p>
            <a:pPr defTabSz="934907">
              <a:defRPr/>
            </a:pPr>
            <a:r>
              <a:rPr lang="es-AR" altLang="es-AR" sz="1300" dirty="0"/>
              <a:t>como las imágenes, las tablas y el contenido multimedia (audio y vídeo). </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27</a:t>
            </a:fld>
            <a:endParaRPr lang="es-AR" dirty="0"/>
          </a:p>
        </p:txBody>
      </p:sp>
    </p:spTree>
    <p:extLst>
      <p:ext uri="{BB962C8B-B14F-4D97-AF65-F5344CB8AC3E}">
        <p14:creationId xmlns:p14="http://schemas.microsoft.com/office/powerpoint/2010/main" val="33565357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28</a:t>
            </a:fld>
            <a:endParaRPr lang="es-AR"/>
          </a:p>
        </p:txBody>
      </p:sp>
    </p:spTree>
    <p:extLst>
      <p:ext uri="{BB962C8B-B14F-4D97-AF65-F5344CB8AC3E}">
        <p14:creationId xmlns:p14="http://schemas.microsoft.com/office/powerpoint/2010/main" val="310298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29</a:t>
            </a:fld>
            <a:endParaRPr lang="es-AR"/>
          </a:p>
        </p:txBody>
      </p:sp>
    </p:spTree>
    <p:extLst>
      <p:ext uri="{BB962C8B-B14F-4D97-AF65-F5344CB8AC3E}">
        <p14:creationId xmlns:p14="http://schemas.microsoft.com/office/powerpoint/2010/main" val="2095552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0" dirty="0"/>
              <a:t>POST:</a:t>
            </a:r>
          </a:p>
          <a:p>
            <a:r>
              <a:rPr lang="es-AR" b="1" dirty="0"/>
              <a:t>Tipos de alternativas:</a:t>
            </a:r>
          </a:p>
          <a:p>
            <a:r>
              <a:rPr lang="es-AR" b="1" dirty="0"/>
              <a:t>Transcripción textual:</a:t>
            </a:r>
            <a:r>
              <a:rPr lang="es-AR" dirty="0"/>
              <a:t>  Es un documento que incluye una secuencia correcta de descripciones textuales de la información visual y auditiva tempodependiente.</a:t>
            </a:r>
          </a:p>
          <a:p>
            <a:r>
              <a:rPr lang="es-AR" b="1" dirty="0"/>
              <a:t>Alternativa en audio</a:t>
            </a:r>
            <a:r>
              <a:rPr lang="es-AR" dirty="0"/>
              <a:t>: pista sonora que presenta información equivalente al contenido del medio de sólo vídeo grabado. </a:t>
            </a:r>
          </a:p>
          <a:p>
            <a:r>
              <a:rPr lang="es-AR" b="1" dirty="0"/>
              <a:t>Subtítulos:</a:t>
            </a:r>
            <a:r>
              <a:rPr lang="es-AR" dirty="0"/>
              <a:t> alternativa sincronizada de carácter visual y/o textual para la información sonora, necesaria para comprender el contenido multimedia, que puede ser tanto hablada como no hablada. </a:t>
            </a:r>
          </a:p>
          <a:p>
            <a:r>
              <a:rPr lang="es-AR" b="1" dirty="0"/>
              <a:t>Audiodescripción: </a:t>
            </a:r>
            <a:r>
              <a:rPr lang="es-AR" dirty="0"/>
              <a:t>la narración agregada a la pista de sonido para describir los detalles visuales importantes que no se pueden entender sólo con la banda de sonido principal. Ej.</a:t>
            </a:r>
            <a:r>
              <a:rPr lang="es-AR" baseline="0" dirty="0"/>
              <a:t> </a:t>
            </a:r>
            <a:r>
              <a:rPr lang="es-AR" dirty="0"/>
              <a:t>información sobre las acciones, personajes, cambios de escena.</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30</a:t>
            </a:fld>
            <a:endParaRPr lang="es-AR"/>
          </a:p>
        </p:txBody>
      </p:sp>
    </p:spTree>
    <p:extLst>
      <p:ext uri="{BB962C8B-B14F-4D97-AF65-F5344CB8AC3E}">
        <p14:creationId xmlns:p14="http://schemas.microsoft.com/office/powerpoint/2010/main" val="23768919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¿Cómo crear subtítulos</a:t>
            </a:r>
            <a:r>
              <a:rPr lang="es-AR" baseline="0" dirty="0"/>
              <a:t> para el contenido multimedia?</a:t>
            </a:r>
          </a:p>
          <a:p>
            <a:r>
              <a:rPr lang="es-AR" baseline="0" dirty="0"/>
              <a:t>Las WCAG 2.0 tienen 2 criterios de conformidad que hacen referencia a los subtítulos del contenido multimedia:</a:t>
            </a:r>
          </a:p>
          <a:p>
            <a:r>
              <a:rPr lang="es-AR" baseline="0" dirty="0"/>
              <a:t>Criterio 1.2.2</a:t>
            </a:r>
          </a:p>
          <a:p>
            <a:r>
              <a:rPr lang="es-AR" baseline="0" dirty="0"/>
              <a:t>Criterio 1.2.4</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31</a:t>
            </a:fld>
            <a:endParaRPr lang="es-AR"/>
          </a:p>
        </p:txBody>
      </p:sp>
    </p:spTree>
    <p:extLst>
      <p:ext uri="{BB962C8B-B14F-4D97-AF65-F5344CB8AC3E}">
        <p14:creationId xmlns:p14="http://schemas.microsoft.com/office/powerpoint/2010/main" val="9940843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PRE:</a:t>
            </a:r>
          </a:p>
          <a:p>
            <a:r>
              <a:rPr lang="es-AR" baseline="0" dirty="0"/>
              <a:t>Subtítulos normales, solo incluyen el diálogo.</a:t>
            </a:r>
          </a:p>
          <a:p>
            <a:r>
              <a:rPr lang="es-AR" baseline="0" dirty="0"/>
              <a:t>Subtítulos para sordos, además del dialogo incluyen equivalentes para que la información sonora se pueda entender sin problemas.</a:t>
            </a:r>
          </a:p>
          <a:p>
            <a:r>
              <a:rPr lang="es-AR" dirty="0"/>
              <a:t>Subtítulos benefician</a:t>
            </a:r>
            <a:r>
              <a:rPr lang="es-AR" baseline="0" dirty="0"/>
              <a:t> a TODOS:</a:t>
            </a:r>
          </a:p>
          <a:p>
            <a:r>
              <a:rPr lang="es-AR" baseline="0" dirty="0"/>
              <a:t>Ver un video en una biblioteca en que se tiene que guardar silencio.</a:t>
            </a:r>
          </a:p>
          <a:p>
            <a:r>
              <a:rPr lang="es-AR" baseline="0" dirty="0"/>
              <a:t>La computadora que estamos usando no dispone de sonido.</a:t>
            </a:r>
          </a:p>
          <a:p>
            <a:r>
              <a:rPr lang="es-AR" baseline="0" dirty="0"/>
              <a:t>El audio del video esta en otro idioma que no entendemos muy bien.</a:t>
            </a:r>
          </a:p>
          <a:p>
            <a:r>
              <a:rPr lang="es-AR" baseline="0" dirty="0"/>
              <a:t>Normalmente los subtítulos se pueden activar en diferentes idiomas.</a:t>
            </a:r>
          </a:p>
          <a:p>
            <a:endParaRPr lang="es-AR" baseline="0"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32</a:t>
            </a:fld>
            <a:endParaRPr lang="es-AR"/>
          </a:p>
        </p:txBody>
      </p:sp>
    </p:spTree>
    <p:extLst>
      <p:ext uri="{BB962C8B-B14F-4D97-AF65-F5344CB8AC3E}">
        <p14:creationId xmlns:p14="http://schemas.microsoft.com/office/powerpoint/2010/main" val="19652529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PRE:</a:t>
            </a:r>
          </a:p>
          <a:p>
            <a:r>
              <a:rPr lang="es-AR" dirty="0"/>
              <a:t>En las WCAG 2.0 hay otros requisitos relacionados …</a:t>
            </a:r>
          </a:p>
          <a:p>
            <a:r>
              <a:rPr lang="es-AR" dirty="0"/>
              <a:t>POST:</a:t>
            </a:r>
          </a:p>
          <a:p>
            <a:r>
              <a:rPr lang="es-AR" dirty="0"/>
              <a:t>A continuación incluimos una relación de todos ellos.</a:t>
            </a:r>
          </a:p>
          <a:p>
            <a:endParaRPr lang="es-AR"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33</a:t>
            </a:fld>
            <a:endParaRPr lang="es-AR"/>
          </a:p>
        </p:txBody>
      </p:sp>
    </p:spTree>
    <p:extLst>
      <p:ext uri="{BB962C8B-B14F-4D97-AF65-F5344CB8AC3E}">
        <p14:creationId xmlns:p14="http://schemas.microsoft.com/office/powerpoint/2010/main" val="11643693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34</a:t>
            </a:fld>
            <a:endParaRPr lang="es-AR"/>
          </a:p>
        </p:txBody>
      </p:sp>
    </p:spTree>
    <p:extLst>
      <p:ext uri="{BB962C8B-B14F-4D97-AF65-F5344CB8AC3E}">
        <p14:creationId xmlns:p14="http://schemas.microsoft.com/office/powerpoint/2010/main" val="10909164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35</a:t>
            </a:fld>
            <a:endParaRPr lang="es-AR"/>
          </a:p>
        </p:txBody>
      </p:sp>
    </p:spTree>
    <p:extLst>
      <p:ext uri="{BB962C8B-B14F-4D97-AF65-F5344CB8AC3E}">
        <p14:creationId xmlns:p14="http://schemas.microsoft.com/office/powerpoint/2010/main" val="41423336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Todo</a:t>
            </a:r>
            <a:r>
              <a:rPr lang="es-AR" baseline="0" dirty="0"/>
              <a:t>s estos casos se encuentran explicados en la Disposición 2/2014.</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36</a:t>
            </a:fld>
            <a:endParaRPr lang="es-AR"/>
          </a:p>
        </p:txBody>
      </p:sp>
    </p:spTree>
    <p:extLst>
      <p:ext uri="{BB962C8B-B14F-4D97-AF65-F5344CB8AC3E}">
        <p14:creationId xmlns:p14="http://schemas.microsoft.com/office/powerpoint/2010/main" val="24813381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0" algn="just" eaLnBrk="1" hangingPunct="1">
              <a:lnSpc>
                <a:spcPct val="90000"/>
              </a:lnSpc>
            </a:pPr>
            <a:r>
              <a:rPr lang="es-AR" altLang="es-AR" sz="1300" dirty="0"/>
              <a:t>POST:</a:t>
            </a:r>
          </a:p>
          <a:p>
            <a:pPr lvl="0" algn="just" eaLnBrk="1" hangingPunct="1">
              <a:lnSpc>
                <a:spcPct val="90000"/>
              </a:lnSpc>
            </a:pPr>
            <a:r>
              <a:rPr lang="es-AR" altLang="es-AR" sz="1300" dirty="0"/>
              <a:t>Navegar a través de los encabezados de las página es una forma de obtener un resumen de las ideas principales y </a:t>
            </a:r>
          </a:p>
          <a:p>
            <a:pPr lvl="0" algn="just" eaLnBrk="1" hangingPunct="1">
              <a:lnSpc>
                <a:spcPct val="90000"/>
              </a:lnSpc>
            </a:pPr>
            <a:r>
              <a:rPr lang="es-AR" altLang="es-AR" sz="1300" dirty="0"/>
              <a:t>saltar entre contenidos para leer las partes que mas nos interesan.</a:t>
            </a:r>
          </a:p>
          <a:p>
            <a:pPr lvl="0" algn="just" eaLnBrk="1" hangingPunct="1">
              <a:lnSpc>
                <a:spcPct val="90000"/>
              </a:lnSpc>
            </a:pPr>
            <a:r>
              <a:rPr lang="es-AR" altLang="es-AR" sz="1300" dirty="0"/>
              <a:t>Usar los encabezados para proporcionar un esquema preciso a nuestros contenidos.</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37</a:t>
            </a:fld>
            <a:endParaRPr lang="es-AR"/>
          </a:p>
        </p:txBody>
      </p:sp>
    </p:spTree>
    <p:extLst>
      <p:ext uri="{BB962C8B-B14F-4D97-AF65-F5344CB8AC3E}">
        <p14:creationId xmlns:p14="http://schemas.microsoft.com/office/powerpoint/2010/main" val="31387035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 1:</a:t>
            </a:r>
          </a:p>
          <a:p>
            <a:r>
              <a:rPr lang="es-AR" baseline="0" dirty="0"/>
              <a:t>Facilita la lectura de los documentos en distintos idiomas por parte de los lectores de pantalla y programas de síntesis de voz.</a:t>
            </a:r>
          </a:p>
          <a:p>
            <a:pPr defTabSz="934907">
              <a:defRPr/>
            </a:pPr>
            <a:r>
              <a:rPr lang="es-AR" baseline="0" dirty="0"/>
              <a:t>POST 2:</a:t>
            </a:r>
          </a:p>
          <a:p>
            <a:pPr lvl="0" eaLnBrk="1" hangingPunct="1"/>
            <a:r>
              <a:rPr lang="es-AR" altLang="es-AR" dirty="0"/>
              <a:t>Cambiar la voz al pronunciar el texto: Los sintetizadores de voz que hablan varios idiomas serán capaces de generar el texto con el acento y la pronunciación adecuado.</a:t>
            </a:r>
          </a:p>
          <a:p>
            <a:pPr defTabSz="934907">
              <a:defRPr/>
            </a:pPr>
            <a:endParaRPr lang="es-AR" dirty="0"/>
          </a:p>
          <a:p>
            <a:endParaRPr lang="es-AR" baseline="0"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38</a:t>
            </a:fld>
            <a:endParaRPr lang="es-AR"/>
          </a:p>
        </p:txBody>
      </p:sp>
    </p:spTree>
    <p:extLst>
      <p:ext uri="{BB962C8B-B14F-4D97-AF65-F5344CB8AC3E}">
        <p14:creationId xmlns:p14="http://schemas.microsoft.com/office/powerpoint/2010/main" val="32468453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Si tenemos definido</a:t>
            </a:r>
            <a:r>
              <a:rPr lang="es-AR" baseline="0" dirty="0"/>
              <a:t> el idioma en nuestro documento en castellano, realizará la traducción automática a “Ayuda”.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39</a:t>
            </a:fld>
            <a:endParaRPr lang="es-AR"/>
          </a:p>
        </p:txBody>
      </p:sp>
    </p:spTree>
    <p:extLst>
      <p:ext uri="{BB962C8B-B14F-4D97-AF65-F5344CB8AC3E}">
        <p14:creationId xmlns:p14="http://schemas.microsoft.com/office/powerpoint/2010/main" val="7196909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40</a:t>
            </a:fld>
            <a:endParaRPr lang="es-AR"/>
          </a:p>
        </p:txBody>
      </p:sp>
    </p:spTree>
    <p:extLst>
      <p:ext uri="{BB962C8B-B14F-4D97-AF65-F5344CB8AC3E}">
        <p14:creationId xmlns:p14="http://schemas.microsoft.com/office/powerpoint/2010/main" val="29815460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PRE:</a:t>
            </a:r>
          </a:p>
          <a:p>
            <a:r>
              <a:rPr lang="es-AR" dirty="0"/>
              <a:t>Vamos a hablar del contenido tabular que se presenta en tablas.</a:t>
            </a:r>
          </a:p>
          <a:p>
            <a:r>
              <a:rPr lang="es-AR" baseline="0" dirty="0"/>
              <a:t>Información tabular es aquella que permite visualizar, consultar y analizar datos.</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41</a:t>
            </a:fld>
            <a:endParaRPr lang="es-AR"/>
          </a:p>
        </p:txBody>
      </p:sp>
    </p:spTree>
    <p:extLst>
      <p:ext uri="{BB962C8B-B14F-4D97-AF65-F5344CB8AC3E}">
        <p14:creationId xmlns:p14="http://schemas.microsoft.com/office/powerpoint/2010/main" val="6153058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Para entender la importancia de la programación accesible</a:t>
            </a:r>
            <a:r>
              <a:rPr lang="es-AR" baseline="0" dirty="0"/>
              <a:t> de las tablas de datos, </a:t>
            </a:r>
          </a:p>
          <a:p>
            <a:r>
              <a:rPr lang="es-AR" baseline="0" dirty="0"/>
              <a:t>hemos de responder a la pregunta: Cómo leemos las tabla?</a:t>
            </a:r>
          </a:p>
          <a:p>
            <a:r>
              <a:rPr lang="es-AR" baseline="0" dirty="0"/>
              <a:t>Personas invidentes: recordar que las personas ciegas usan lectores de pantalla.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42</a:t>
            </a:fld>
            <a:endParaRPr lang="es-AR"/>
          </a:p>
        </p:txBody>
      </p:sp>
    </p:spTree>
    <p:extLst>
      <p:ext uri="{BB962C8B-B14F-4D97-AF65-F5344CB8AC3E}">
        <p14:creationId xmlns:p14="http://schemas.microsoft.com/office/powerpoint/2010/main" val="32143416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Un  lector de pantalla,</a:t>
            </a:r>
            <a:r>
              <a:rPr lang="es-AR" baseline="0" dirty="0"/>
              <a:t> si nuestra tabla no es accesible, la leería de forma secuencial, es decir, leería….</a:t>
            </a:r>
          </a:p>
          <a:p>
            <a:r>
              <a:rPr lang="es-AR" baseline="0" dirty="0"/>
              <a:t>Resultando incomprensible para el usuario que utiliza un lector de pantalla.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43</a:t>
            </a:fld>
            <a:endParaRPr lang="es-AR"/>
          </a:p>
        </p:txBody>
      </p:sp>
    </p:spTree>
    <p:extLst>
      <p:ext uri="{BB962C8B-B14F-4D97-AF65-F5344CB8AC3E}">
        <p14:creationId xmlns:p14="http://schemas.microsoft.com/office/powerpoint/2010/main" val="42033348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Por</a:t>
            </a:r>
            <a:r>
              <a:rPr lang="es-AR" baseline="0" dirty="0"/>
              <a:t> el contrario, si nuestra tabla es accesible, leería en:</a:t>
            </a:r>
          </a:p>
          <a:p>
            <a:r>
              <a:rPr lang="es-AR" baseline="0" dirty="0"/>
              <a:t>1ro. la etiqueta </a:t>
            </a:r>
            <a:r>
              <a:rPr lang="es-AR" b="1" baseline="0" dirty="0" err="1"/>
              <a:t>caption</a:t>
            </a:r>
            <a:r>
              <a:rPr lang="es-AR" baseline="0" dirty="0"/>
              <a:t>; es decir, el título de la tabla: Visitantes de rrrr.com por países.</a:t>
            </a:r>
          </a:p>
          <a:p>
            <a:r>
              <a:rPr lang="es-AR" dirty="0"/>
              <a:t>2do. la etiqueta</a:t>
            </a:r>
            <a:r>
              <a:rPr lang="es-AR" baseline="0" dirty="0"/>
              <a:t> </a:t>
            </a:r>
            <a:r>
              <a:rPr lang="es-AR" b="1" baseline="0" dirty="0" err="1"/>
              <a:t>summary</a:t>
            </a:r>
            <a:r>
              <a:rPr lang="es-AR" baseline="0" dirty="0"/>
              <a:t>, a través de la cual se proporciona un resumen de la relación de los datos de la tabla. En el ejemplo: Visitantes….</a:t>
            </a:r>
          </a:p>
          <a:p>
            <a:r>
              <a:rPr lang="es-AR" baseline="0" dirty="0"/>
              <a:t>3ro. la </a:t>
            </a:r>
            <a:r>
              <a:rPr lang="es-AR" b="1" baseline="0" dirty="0"/>
              <a:t>relación de las celdas que hemos indicado desde la programación</a:t>
            </a:r>
            <a:r>
              <a:rPr lang="es-AR" baseline="0" dirty="0"/>
              <a:t>, es decir, Argentina, si, Enero=10….</a:t>
            </a:r>
          </a:p>
          <a:p>
            <a:r>
              <a:rPr lang="es-AR" baseline="0" dirty="0"/>
              <a:t>De esta forma todos los usuarios van a poder comprender la relación de los datos en cada celda de nuestra tabla.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44</a:t>
            </a:fld>
            <a:endParaRPr lang="es-AR"/>
          </a:p>
        </p:txBody>
      </p:sp>
    </p:spTree>
    <p:extLst>
      <p:ext uri="{BB962C8B-B14F-4D97-AF65-F5344CB8AC3E}">
        <p14:creationId xmlns:p14="http://schemas.microsoft.com/office/powerpoint/2010/main" val="6733557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PRE:</a:t>
            </a:r>
          </a:p>
          <a:p>
            <a:r>
              <a:rPr lang="es-AR" dirty="0"/>
              <a:t>Técnicas</a:t>
            </a:r>
            <a:r>
              <a:rPr lang="es-AR" baseline="0" dirty="0"/>
              <a:t> suficientes que tenemos que tener en cuenta cuando tengamos que insertar en nuestros contenidos una tabla de datos.</a:t>
            </a:r>
          </a:p>
          <a:p>
            <a:r>
              <a:rPr lang="es-AR" baseline="0" dirty="0"/>
              <a:t>POST:</a:t>
            </a:r>
          </a:p>
          <a:p>
            <a:r>
              <a:rPr lang="es-AR" baseline="0" dirty="0"/>
              <a:t>ARWeb controla todas estas técnicas.</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45</a:t>
            </a:fld>
            <a:endParaRPr lang="es-AR"/>
          </a:p>
        </p:txBody>
      </p:sp>
    </p:spTree>
    <p:extLst>
      <p:ext uri="{BB962C8B-B14F-4D97-AF65-F5344CB8AC3E}">
        <p14:creationId xmlns:p14="http://schemas.microsoft.com/office/powerpoint/2010/main" val="42823934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PRE:</a:t>
            </a:r>
          </a:p>
          <a:p>
            <a:r>
              <a:rPr lang="es-AR" dirty="0"/>
              <a:t>Vamos a repasar los principales requisitos de accesibilidad que deben cumplir</a:t>
            </a:r>
            <a:r>
              <a:rPr lang="es-AR" baseline="0" dirty="0"/>
              <a:t> los formularios web.</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46</a:t>
            </a:fld>
            <a:endParaRPr lang="es-AR"/>
          </a:p>
        </p:txBody>
      </p:sp>
    </p:spTree>
    <p:extLst>
      <p:ext uri="{BB962C8B-B14F-4D97-AF65-F5344CB8AC3E}">
        <p14:creationId xmlns:p14="http://schemas.microsoft.com/office/powerpoint/2010/main" val="42883071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47</a:t>
            </a:fld>
            <a:endParaRPr lang="es-AR"/>
          </a:p>
        </p:txBody>
      </p:sp>
    </p:spTree>
    <p:extLst>
      <p:ext uri="{BB962C8B-B14F-4D97-AF65-F5344CB8AC3E}">
        <p14:creationId xmlns:p14="http://schemas.microsoft.com/office/powerpoint/2010/main" val="18205361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48</a:t>
            </a:fld>
            <a:endParaRPr lang="es-AR"/>
          </a:p>
        </p:txBody>
      </p:sp>
    </p:spTree>
    <p:extLst>
      <p:ext uri="{BB962C8B-B14F-4D97-AF65-F5344CB8AC3E}">
        <p14:creationId xmlns:p14="http://schemas.microsoft.com/office/powerpoint/2010/main" val="259321692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49</a:t>
            </a:fld>
            <a:endParaRPr lang="es-AR"/>
          </a:p>
        </p:txBody>
      </p:sp>
    </p:spTree>
    <p:extLst>
      <p:ext uri="{BB962C8B-B14F-4D97-AF65-F5344CB8AC3E}">
        <p14:creationId xmlns:p14="http://schemas.microsoft.com/office/powerpoint/2010/main" val="39953859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defTabSz="934907">
              <a:defRPr/>
            </a:pPr>
            <a:r>
              <a:rPr lang="es-AR" dirty="0"/>
              <a:t>POST 1:</a:t>
            </a:r>
          </a:p>
          <a:p>
            <a:pPr defTabSz="934907">
              <a:defRPr/>
            </a:pPr>
            <a:r>
              <a:rPr lang="es-AR" dirty="0"/>
              <a:t>&lt;input </a:t>
            </a:r>
            <a:r>
              <a:rPr lang="es-AR" dirty="0" err="1"/>
              <a:t>type</a:t>
            </a:r>
            <a:r>
              <a:rPr lang="es-AR" dirty="0"/>
              <a:t>=“</a:t>
            </a:r>
            <a:r>
              <a:rPr lang="es-AR" dirty="0" err="1"/>
              <a:t>submit</a:t>
            </a:r>
            <a:r>
              <a:rPr lang="es-AR" dirty="0"/>
              <a:t>” </a:t>
            </a:r>
            <a:r>
              <a:rPr lang="es-AR" dirty="0" err="1"/>
              <a:t>name</a:t>
            </a:r>
            <a:r>
              <a:rPr lang="es-AR" dirty="0"/>
              <a:t>=“enviar” </a:t>
            </a:r>
            <a:r>
              <a:rPr lang="es-AR" dirty="0" err="1"/>
              <a:t>value</a:t>
            </a:r>
            <a:r>
              <a:rPr lang="es-AR" dirty="0"/>
              <a:t>=“Enviar” /&gt; </a:t>
            </a:r>
            <a:r>
              <a:rPr lang="es-AR" dirty="0">
                <a:sym typeface="Wingdings" panose="05000000000000000000" pitchFamily="2" charset="2"/>
              </a:rPr>
              <a:t> </a:t>
            </a:r>
            <a:r>
              <a:rPr lang="es-AR" dirty="0"/>
              <a:t>Permite a los</a:t>
            </a:r>
            <a:r>
              <a:rPr lang="es-AR" baseline="0" dirty="0"/>
              <a:t> usuarios solicitar explícitamente enviar los datos. H32: Proporcionar botones de envío.</a:t>
            </a:r>
          </a:p>
          <a:p>
            <a:r>
              <a:rPr lang="es-AR" dirty="0"/>
              <a:t>&lt;</a:t>
            </a:r>
            <a:r>
              <a:rPr lang="es-AR" dirty="0" err="1"/>
              <a:t>select</a:t>
            </a:r>
            <a:r>
              <a:rPr lang="es-AR" dirty="0"/>
              <a:t>&gt; + botón </a:t>
            </a:r>
            <a:r>
              <a:rPr lang="es-AR" dirty="0">
                <a:sym typeface="Wingdings" panose="05000000000000000000" pitchFamily="2" charset="2"/>
              </a:rPr>
              <a:t> </a:t>
            </a:r>
            <a:r>
              <a:rPr lang="es-AR" baseline="0" dirty="0"/>
              <a:t>H84: El uso de un botón con un elemento de selección para realizar una acción.</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50</a:t>
            </a:fld>
            <a:endParaRPr lang="es-AR"/>
          </a:p>
        </p:txBody>
      </p:sp>
    </p:spTree>
    <p:extLst>
      <p:ext uri="{BB962C8B-B14F-4D97-AF65-F5344CB8AC3E}">
        <p14:creationId xmlns:p14="http://schemas.microsoft.com/office/powerpoint/2010/main" val="33604152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51</a:t>
            </a:fld>
            <a:endParaRPr lang="es-AR"/>
          </a:p>
        </p:txBody>
      </p:sp>
    </p:spTree>
    <p:extLst>
      <p:ext uri="{BB962C8B-B14F-4D97-AF65-F5344CB8AC3E}">
        <p14:creationId xmlns:p14="http://schemas.microsoft.com/office/powerpoint/2010/main" val="50723433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Por cada control de formulario requerido, verificar que el estado requerido está indicado en el </a:t>
            </a:r>
            <a:r>
              <a:rPr lang="es-AR" dirty="0" err="1"/>
              <a:t>label</a:t>
            </a:r>
            <a:r>
              <a:rPr lang="es-AR" dirty="0"/>
              <a:t> o </a:t>
            </a:r>
            <a:r>
              <a:rPr lang="es-AR" dirty="0" err="1"/>
              <a:t>legend</a:t>
            </a:r>
            <a:r>
              <a:rPr lang="es-AR" dirty="0"/>
              <a:t> del control del formulario.</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52</a:t>
            </a:fld>
            <a:endParaRPr lang="es-AR"/>
          </a:p>
        </p:txBody>
      </p:sp>
    </p:spTree>
    <p:extLst>
      <p:ext uri="{BB962C8B-B14F-4D97-AF65-F5344CB8AC3E}">
        <p14:creationId xmlns:p14="http://schemas.microsoft.com/office/powerpoint/2010/main" val="27974277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Si se comunica información mediante el color en palabras, fondos u otros contenidos: Incluye una señal de texto para etiquetas de controles de formulario coloreadas. Ya que esta información</a:t>
            </a:r>
            <a:r>
              <a:rPr lang="es-AR" baseline="0" dirty="0"/>
              <a:t> pasara desapercibida para muchos usuarios. </a:t>
            </a:r>
            <a:endParaRPr lang="es-AR"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53</a:t>
            </a:fld>
            <a:endParaRPr lang="es-AR"/>
          </a:p>
        </p:txBody>
      </p:sp>
    </p:spTree>
    <p:extLst>
      <p:ext uri="{BB962C8B-B14F-4D97-AF65-F5344CB8AC3E}">
        <p14:creationId xmlns:p14="http://schemas.microsoft.com/office/powerpoint/2010/main" val="34133252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endParaRPr lang="es-AR" baseline="0" dirty="0"/>
          </a:p>
          <a:p>
            <a:r>
              <a:rPr lang="es-AR" dirty="0"/>
              <a:t>Determinar si cada uno de los controles de formulario que sólo aceptará los datos de entrada del usuario en un formato determinado proporciona información sobre el formato esperado.</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54</a:t>
            </a:fld>
            <a:endParaRPr lang="es-AR"/>
          </a:p>
        </p:txBody>
      </p:sp>
    </p:spTree>
    <p:extLst>
      <p:ext uri="{BB962C8B-B14F-4D97-AF65-F5344CB8AC3E}">
        <p14:creationId xmlns:p14="http://schemas.microsoft.com/office/powerpoint/2010/main" val="42441774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55</a:t>
            </a:fld>
            <a:endParaRPr lang="es-AR"/>
          </a:p>
        </p:txBody>
      </p:sp>
    </p:spTree>
    <p:extLst>
      <p:ext uri="{BB962C8B-B14F-4D97-AF65-F5344CB8AC3E}">
        <p14:creationId xmlns:p14="http://schemas.microsoft.com/office/powerpoint/2010/main" val="214456864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aseline="0" dirty="0"/>
              <a:t>POST:</a:t>
            </a:r>
          </a:p>
          <a:p>
            <a:r>
              <a:rPr lang="es-AR" baseline="0" dirty="0"/>
              <a:t>En la parte superior del formulario se informa mediante texto de los errores existentes.</a:t>
            </a:r>
          </a:p>
          <a:p>
            <a:r>
              <a:rPr lang="es-AR" baseline="0" dirty="0"/>
              <a:t>Se identifica el campo que ha dado error por su nombre y un enlace al mismo.</a:t>
            </a:r>
          </a:p>
          <a:p>
            <a:r>
              <a:rPr lang="es-AR" baseline="0" dirty="0"/>
              <a:t>El mismo campo se resalta con otro color pero también con un texto con el mensaje asociado.</a:t>
            </a:r>
          </a:p>
          <a:p>
            <a:r>
              <a:rPr lang="es-AR" baseline="0" dirty="0"/>
              <a:t>La validación debería realizarse tanto en cliente como en servidor.</a:t>
            </a:r>
          </a:p>
          <a:p>
            <a:r>
              <a:rPr lang="es-AR" baseline="0" dirty="0"/>
              <a:t>El mensaje de error al comienzo de la página debe tener el foco para que no pase desapercibido a ningún usuario.</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56</a:t>
            </a:fld>
            <a:endParaRPr lang="es-AR"/>
          </a:p>
        </p:txBody>
      </p:sp>
    </p:spTree>
    <p:extLst>
      <p:ext uri="{BB962C8B-B14F-4D97-AF65-F5344CB8AC3E}">
        <p14:creationId xmlns:p14="http://schemas.microsoft.com/office/powerpoint/2010/main" val="28429475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Cómo</a:t>
            </a:r>
            <a:r>
              <a:rPr lang="es-AR" baseline="0" dirty="0"/>
              <a:t> lograr que la navegación dentro de una página web y entre las páginas de un sitio web sea accesible.</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57</a:t>
            </a:fld>
            <a:endParaRPr lang="es-AR"/>
          </a:p>
        </p:txBody>
      </p:sp>
    </p:spTree>
    <p:extLst>
      <p:ext uri="{BB962C8B-B14F-4D97-AF65-F5344CB8AC3E}">
        <p14:creationId xmlns:p14="http://schemas.microsoft.com/office/powerpoint/2010/main" val="103246889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Una navegación más accesible mejorará no solo la accesibilidad de la página sino también su usabilidad. </a:t>
            </a:r>
          </a:p>
          <a:p>
            <a:r>
              <a:rPr lang="es-AR" dirty="0"/>
              <a:t>Beneficia a todos los usuarios, pero especialmente a los usuarios que acceden con un lector de pantalla y a los usuarios con discapacidad cognitiva, facilitándoles la navegación y la localización de la información. </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58</a:t>
            </a:fld>
            <a:endParaRPr lang="es-AR"/>
          </a:p>
        </p:txBody>
      </p:sp>
    </p:spTree>
    <p:extLst>
      <p:ext uri="{BB962C8B-B14F-4D97-AF65-F5344CB8AC3E}">
        <p14:creationId xmlns:p14="http://schemas.microsoft.com/office/powerpoint/2010/main" val="21749433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0" dirty="0"/>
              <a:t>POST:</a:t>
            </a:r>
          </a:p>
          <a:p>
            <a:r>
              <a:rPr lang="es-AR" b="1" dirty="0"/>
              <a:t>Saltar contenido repetido</a:t>
            </a:r>
            <a:r>
              <a:rPr lang="es-AR" dirty="0"/>
              <a:t>. Estructurar correctamente la página mediante encabezados.</a:t>
            </a:r>
          </a:p>
          <a:p>
            <a:r>
              <a:rPr lang="es-AR" b="1" dirty="0"/>
              <a:t>Identificar el contenido</a:t>
            </a:r>
            <a:r>
              <a:rPr lang="es-AR" dirty="0"/>
              <a:t>. Implica un título para cada la página o incluir encabezados y etiquetas que describan correctamente el tema o propósito.</a:t>
            </a:r>
          </a:p>
          <a:p>
            <a:r>
              <a:rPr lang="es-AR" b="1" dirty="0"/>
              <a:t>Describir adecuadamente el propósito de los enlaces</a:t>
            </a:r>
            <a:r>
              <a:rPr lang="es-AR" dirty="0"/>
              <a:t>. Los enlaces son uno de los elementos de la navegación más importantes.</a:t>
            </a:r>
          </a:p>
          <a:p>
            <a:r>
              <a:rPr lang="es-AR" b="1" dirty="0"/>
              <a:t>Información sobre la localización del sitio</a:t>
            </a:r>
            <a:r>
              <a:rPr lang="es-AR" dirty="0"/>
              <a:t>, información acerca de la ubicación del usuario dentro de un conjunto de páginas (ubicación). </a:t>
            </a:r>
          </a:p>
          <a:p>
            <a:r>
              <a:rPr lang="es-AR" b="1" dirty="0"/>
              <a:t>Orden adecuado del foco y visibilidad del mismo, </a:t>
            </a:r>
            <a:r>
              <a:rPr lang="es-AR" dirty="0"/>
              <a:t>que asegure que los usuarios pueden interactuar mediante el teclado, el foco se puede localizar visualmente, y es posible navegar secuencialmente por el contenido y encontrar la información en el orden correcto. </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59</a:t>
            </a:fld>
            <a:endParaRPr lang="es-AR"/>
          </a:p>
        </p:txBody>
      </p:sp>
    </p:spTree>
    <p:extLst>
      <p:ext uri="{BB962C8B-B14F-4D97-AF65-F5344CB8AC3E}">
        <p14:creationId xmlns:p14="http://schemas.microsoft.com/office/powerpoint/2010/main" val="368187568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aseline="0" dirty="0"/>
              <a:t>POST:</a:t>
            </a:r>
          </a:p>
          <a:p>
            <a:r>
              <a:rPr lang="es-AR" baseline="0" dirty="0"/>
              <a:t>Si el título no es significativo se pueden dar situaciones donde vemos como títulos Página 1 en el navegador.</a:t>
            </a:r>
          </a:p>
          <a:p>
            <a:r>
              <a:rPr lang="es-AR" dirty="0"/>
              <a:t>Si la página</a:t>
            </a:r>
            <a:r>
              <a:rPr lang="es-AR" baseline="0" dirty="0"/>
              <a:t> no tiene título, el lector de pantalla anunciaría “Página 1”, lo cual no dice mucho.</a:t>
            </a:r>
          </a:p>
          <a:p>
            <a:r>
              <a:rPr lang="es-AR" baseline="0" dirty="0"/>
              <a:t>Tanto en JAWS como NVDA (2 lectores de pantalla) el atajo de teclado INSERT + T anuncia el título de la ventana que tiene el foco.</a:t>
            </a:r>
          </a:p>
          <a:p>
            <a:endParaRPr lang="es-AR" baseline="0" dirty="0"/>
          </a:p>
          <a:p>
            <a:endParaRPr lang="es-AR" baseline="0"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60</a:t>
            </a:fld>
            <a:endParaRPr lang="es-AR"/>
          </a:p>
        </p:txBody>
      </p:sp>
    </p:spTree>
    <p:extLst>
      <p:ext uri="{BB962C8B-B14F-4D97-AF65-F5344CB8AC3E}">
        <p14:creationId xmlns:p14="http://schemas.microsoft.com/office/powerpoint/2010/main" val="1200980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aseline="0" dirty="0"/>
              <a:t>Que beneficios aporta el proporcionar un buen título a una página web?</a:t>
            </a:r>
          </a:p>
          <a:p>
            <a:r>
              <a:rPr lang="es-AR" baseline="0" dirty="0"/>
              <a:t>En un buscador como Google, el título de la página se emplea para identificar los resultados.</a:t>
            </a:r>
          </a:p>
          <a:p>
            <a:r>
              <a:rPr lang="es-AR" baseline="0" dirty="0"/>
              <a:t>Un buen título puede ayudar a mejorar el posicionamiento (El SEO de una página web)</a:t>
            </a:r>
          </a:p>
          <a:p>
            <a:r>
              <a:rPr lang="es-AR" baseline="0" dirty="0"/>
              <a:t>En un navegador tenemos abiertas varias pestañas, el título de la página ayuda a identificar que página web se esta mostrando en cada pestaña.</a:t>
            </a:r>
          </a:p>
          <a:p>
            <a:pPr defTabSz="934907">
              <a:defRPr/>
            </a:pP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61</a:t>
            </a:fld>
            <a:endParaRPr lang="es-AR"/>
          </a:p>
        </p:txBody>
      </p:sp>
    </p:spTree>
    <p:extLst>
      <p:ext uri="{BB962C8B-B14F-4D97-AF65-F5344CB8AC3E}">
        <p14:creationId xmlns:p14="http://schemas.microsoft.com/office/powerpoint/2010/main" val="229200978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Un enlace</a:t>
            </a:r>
            <a:r>
              <a:rPr lang="es-AR" baseline="0" dirty="0"/>
              <a:t> se incluye con la etiqueta a.</a:t>
            </a:r>
          </a:p>
          <a:p>
            <a:r>
              <a:rPr lang="es-AR" baseline="0" dirty="0"/>
              <a:t>El destino del vinculo, es decir, la localización del recurso al que enlaza, se indica con el atributo </a:t>
            </a:r>
            <a:r>
              <a:rPr lang="es-AR" baseline="0" dirty="0" err="1"/>
              <a:t>href</a:t>
            </a:r>
            <a:r>
              <a:rPr lang="es-AR" baseline="0" dirty="0"/>
              <a:t>.</a:t>
            </a:r>
          </a:p>
          <a:p>
            <a:r>
              <a:rPr lang="es-AR" baseline="0" dirty="0"/>
              <a:t>Puede ser a otra página diferente del sitio o podría ser a otra parte de la página.</a:t>
            </a:r>
          </a:p>
          <a:p>
            <a:r>
              <a:rPr lang="es-AR" baseline="0" dirty="0"/>
              <a:t>En la mayoría de los navegadores el destino del enlace se muestra en la barra de estado del navegador.</a:t>
            </a:r>
          </a:p>
          <a:p>
            <a:r>
              <a:rPr lang="es-AR" baseline="0" dirty="0"/>
              <a:t>El texto del enlace incluido entre las etiquetas de apertura y cierre será el que se muestre en la página.</a:t>
            </a:r>
          </a:p>
          <a:p>
            <a:r>
              <a:rPr lang="es-AR" baseline="0" dirty="0"/>
              <a:t>Por defecto un enlace se abre en la misma ventana, con el atributo target=“_</a:t>
            </a:r>
            <a:r>
              <a:rPr lang="es-AR" baseline="0" dirty="0" err="1"/>
              <a:t>blank</a:t>
            </a:r>
            <a:r>
              <a:rPr lang="es-AR" baseline="0" dirty="0"/>
              <a:t>” permite abrirlo en ventana nueva.</a:t>
            </a:r>
          </a:p>
          <a:p>
            <a:r>
              <a:rPr lang="es-AR" baseline="0" dirty="0"/>
              <a:t>El atributo </a:t>
            </a:r>
            <a:r>
              <a:rPr lang="es-AR" baseline="0" dirty="0" err="1"/>
              <a:t>title</a:t>
            </a:r>
            <a:r>
              <a:rPr lang="es-AR" baseline="0" dirty="0"/>
              <a:t> permite incluir información adicional sobre el enlace, en la mayoría de los navegadores se usa como </a:t>
            </a:r>
            <a:r>
              <a:rPr lang="es-AR" baseline="0" dirty="0" err="1"/>
              <a:t>tooltip</a:t>
            </a:r>
            <a:r>
              <a:rPr lang="es-AR" baseline="0" dirty="0"/>
              <a:t>.</a:t>
            </a:r>
          </a:p>
          <a:p>
            <a:endParaRPr lang="es-AR" baseline="0" dirty="0"/>
          </a:p>
          <a:p>
            <a:r>
              <a:rPr lang="es-AR" baseline="0" dirty="0"/>
              <a:t>El lector de pantalla anunciará que es un enlace: “Enlace: Glosario de términos de accesibilidad”.</a:t>
            </a:r>
          </a:p>
          <a:p>
            <a:r>
              <a:rPr lang="es-AR" baseline="0" dirty="0"/>
              <a:t>Tanto en JAWS como en NVDA el listado de enlaces se muestra a través de las teclas INSERT + F7.</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62</a:t>
            </a:fld>
            <a:endParaRPr lang="es-AR"/>
          </a:p>
        </p:txBody>
      </p:sp>
    </p:spTree>
    <p:extLst>
      <p:ext uri="{BB962C8B-B14F-4D97-AF65-F5344CB8AC3E}">
        <p14:creationId xmlns:p14="http://schemas.microsoft.com/office/powerpoint/2010/main" val="76545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Diferenciar visualmente los enlaces visitados – no visitados, para facilitar</a:t>
            </a:r>
            <a:r>
              <a:rPr lang="es-AR" baseline="0" dirty="0"/>
              <a:t> la navegación.</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63</a:t>
            </a:fld>
            <a:endParaRPr lang="es-AR"/>
          </a:p>
        </p:txBody>
      </p:sp>
    </p:spTree>
    <p:extLst>
      <p:ext uri="{BB962C8B-B14F-4D97-AF65-F5344CB8AC3E}">
        <p14:creationId xmlns:p14="http://schemas.microsoft.com/office/powerpoint/2010/main" val="295295838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64</a:t>
            </a:fld>
            <a:endParaRPr lang="es-AR"/>
          </a:p>
        </p:txBody>
      </p:sp>
    </p:spTree>
    <p:extLst>
      <p:ext uri="{BB962C8B-B14F-4D97-AF65-F5344CB8AC3E}">
        <p14:creationId xmlns:p14="http://schemas.microsoft.com/office/powerpoint/2010/main" val="406108634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Los enlaces incluidos con el elemento nativo a, pueden recibir el foco por teclado, es decir,</a:t>
            </a:r>
            <a:r>
              <a:rPr lang="es-AR" baseline="0" dirty="0"/>
              <a:t> se pueden llegar a ellos tabulando con el teclado sin necesidad de usar el mouse.</a:t>
            </a:r>
          </a:p>
          <a:p>
            <a:r>
              <a:rPr lang="es-AR" baseline="0" dirty="0"/>
              <a:t>Los lectores de pantalla lo reconocerán como enlace, permitiendo a sus usuarios interactuar con ellos.</a:t>
            </a:r>
          </a:p>
          <a:p>
            <a:r>
              <a:rPr lang="es-AR" baseline="0" dirty="0"/>
              <a:t>Los enlaces no dependan de </a:t>
            </a:r>
            <a:r>
              <a:rPr lang="es-AR" baseline="0" dirty="0" err="1"/>
              <a:t>javascript</a:t>
            </a:r>
            <a:r>
              <a:rPr lang="es-AR" baseline="0" dirty="0"/>
              <a:t>, en el primer ejemplo dependen en el segundo ejemplo no.</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65</a:t>
            </a:fld>
            <a:endParaRPr lang="es-AR"/>
          </a:p>
        </p:txBody>
      </p:sp>
    </p:spTree>
    <p:extLst>
      <p:ext uri="{BB962C8B-B14F-4D97-AF65-F5344CB8AC3E}">
        <p14:creationId xmlns:p14="http://schemas.microsoft.com/office/powerpoint/2010/main" val="327678990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Vamos</a:t>
            </a:r>
            <a:r>
              <a:rPr lang="es-AR" baseline="0" dirty="0"/>
              <a:t> a ver los requisitos necesarios para que los enlaces sean descriptivos, y de esta manera comprensibles y navegables por todos los usuarios.</a:t>
            </a:r>
          </a:p>
          <a:p>
            <a:r>
              <a:rPr lang="es-AR" baseline="0" dirty="0"/>
              <a:t>Para que el usuario decida si va a pulsar el enlace o no, el propósito del enlace debe quedar claro sin depender del contexto en el cual se inserta.</a:t>
            </a:r>
          </a:p>
          <a:p>
            <a:endParaRPr lang="es-AR" baseline="0"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66</a:t>
            </a:fld>
            <a:endParaRPr lang="es-AR"/>
          </a:p>
        </p:txBody>
      </p:sp>
    </p:spTree>
    <p:extLst>
      <p:ext uri="{BB962C8B-B14F-4D97-AF65-F5344CB8AC3E}">
        <p14:creationId xmlns:p14="http://schemas.microsoft.com/office/powerpoint/2010/main" val="1750039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Texto de enlaces</a:t>
            </a:r>
            <a:r>
              <a:rPr lang="es-AR" baseline="0" dirty="0"/>
              <a:t> no descriptivos: Mas información, Pinche aquí, Leer más, Ver otros, ….</a:t>
            </a:r>
          </a:p>
          <a:p>
            <a:r>
              <a:rPr lang="es-AR" baseline="0" dirty="0"/>
              <a:t>No permiten conocer el propósito del enlace fuera de contexto.</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67</a:t>
            </a:fld>
            <a:endParaRPr lang="es-AR"/>
          </a:p>
        </p:txBody>
      </p:sp>
    </p:spTree>
    <p:extLst>
      <p:ext uri="{BB962C8B-B14F-4D97-AF65-F5344CB8AC3E}">
        <p14:creationId xmlns:p14="http://schemas.microsoft.com/office/powerpoint/2010/main" val="326707792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b="1" baseline="0" dirty="0"/>
              <a:t>1er. caso</a:t>
            </a:r>
            <a:r>
              <a:rPr lang="es-AR" baseline="0" dirty="0"/>
              <a:t>, nos informa que navegaremos a un articulo de un blog, nos indica el nombre del articulo y el autor.</a:t>
            </a:r>
          </a:p>
          <a:p>
            <a:r>
              <a:rPr lang="es-AR" b="1" baseline="0" dirty="0"/>
              <a:t>2do. caso</a:t>
            </a:r>
            <a:r>
              <a:rPr lang="es-AR" baseline="0" dirty="0"/>
              <a:t>, el texto del enlace nos indica que navegaremos a Glosario de términos y nos especifica que es un archivo PDF y su tamaño.</a:t>
            </a:r>
          </a:p>
          <a:p>
            <a:r>
              <a:rPr lang="es-AR" b="1" baseline="0" dirty="0"/>
              <a:t>3er. caso</a:t>
            </a:r>
            <a:r>
              <a:rPr lang="es-AR" baseline="0" dirty="0"/>
              <a:t>, nos previene que se abrirá en una ventana nueva.</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68</a:t>
            </a:fld>
            <a:endParaRPr lang="es-AR"/>
          </a:p>
        </p:txBody>
      </p:sp>
    </p:spTree>
    <p:extLst>
      <p:ext uri="{BB962C8B-B14F-4D97-AF65-F5344CB8AC3E}">
        <p14:creationId xmlns:p14="http://schemas.microsoft.com/office/powerpoint/2010/main" val="360277191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PRE:</a:t>
            </a:r>
          </a:p>
          <a:p>
            <a:r>
              <a:rPr lang="es-AR" dirty="0"/>
              <a:t>Resumiendo,</a:t>
            </a:r>
            <a:r>
              <a:rPr lang="es-AR" baseline="0" dirty="0"/>
              <a:t> un texto de enlace descriptivo fuera de contexto, debe identificar….</a:t>
            </a:r>
            <a:endParaRPr lang="es-AR"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69</a:t>
            </a:fld>
            <a:endParaRPr lang="es-AR"/>
          </a:p>
        </p:txBody>
      </p:sp>
    </p:spTree>
    <p:extLst>
      <p:ext uri="{BB962C8B-B14F-4D97-AF65-F5344CB8AC3E}">
        <p14:creationId xmlns:p14="http://schemas.microsoft.com/office/powerpoint/2010/main" val="185123502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70</a:t>
            </a:fld>
            <a:endParaRPr lang="es-AR"/>
          </a:p>
        </p:txBody>
      </p:sp>
    </p:spTree>
    <p:extLst>
      <p:ext uri="{BB962C8B-B14F-4D97-AF65-F5344CB8AC3E}">
        <p14:creationId xmlns:p14="http://schemas.microsoft.com/office/powerpoint/2010/main" val="284230426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PRE:</a:t>
            </a:r>
          </a:p>
          <a:p>
            <a:r>
              <a:rPr lang="es-AR" dirty="0"/>
              <a:t>Cuando navegamos</a:t>
            </a:r>
            <a:r>
              <a:rPr lang="es-AR" baseline="0" dirty="0"/>
              <a:t> en un sitio web y vamos saltando de una página a otra es normal que encontremos unas partes comunes como la cabecera y el menú principal que se repiten de una página a otra.</a:t>
            </a:r>
          </a:p>
          <a:p>
            <a:r>
              <a:rPr lang="es-AR" baseline="0" dirty="0"/>
              <a:t>Cuando se navega de forma visual en una pagina web, es posible fijar la mirada directamente en la parte del contenido principal que cambia de una página a otra sin fijarnos en aquello que se repite de una página a otra.</a:t>
            </a:r>
          </a:p>
          <a:p>
            <a:r>
              <a:rPr lang="es-AR" baseline="0" dirty="0"/>
              <a:t>Sin embargo para un lector de pantalla la consulta de una página web es lineal de arriba hacia abajo y supone pasar por todo el contenido de la página web hasta llegar al contenido principal. Es un problema.</a:t>
            </a:r>
          </a:p>
          <a:p>
            <a:r>
              <a:rPr lang="es-AR" baseline="0" dirty="0"/>
              <a:t>Como se puede evitar este problema?</a:t>
            </a:r>
          </a:p>
          <a:p>
            <a:r>
              <a:rPr lang="es-AR" baseline="0" dirty="0"/>
              <a:t>Como se puede mejorar la navegación?</a:t>
            </a:r>
          </a:p>
          <a:p>
            <a:endParaRPr lang="es-AR" baseline="0" dirty="0"/>
          </a:p>
          <a:p>
            <a:r>
              <a:rPr lang="es-AR" baseline="0" dirty="0"/>
              <a:t>POST:</a:t>
            </a:r>
          </a:p>
          <a:p>
            <a:r>
              <a:rPr lang="es-AR" baseline="0" dirty="0"/>
              <a:t>La solución en el criterio 2.4.1</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71</a:t>
            </a:fld>
            <a:endParaRPr lang="es-AR"/>
          </a:p>
        </p:txBody>
      </p:sp>
    </p:spTree>
    <p:extLst>
      <p:ext uri="{BB962C8B-B14F-4D97-AF65-F5344CB8AC3E}">
        <p14:creationId xmlns:p14="http://schemas.microsoft.com/office/powerpoint/2010/main" val="309235131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La página</a:t>
            </a:r>
            <a:r>
              <a:rPr lang="es-AR" baseline="0" dirty="0"/>
              <a:t> presenta un enlace “</a:t>
            </a:r>
            <a:r>
              <a:rPr lang="es-AR" baseline="0" dirty="0" err="1"/>
              <a:t>Skip</a:t>
            </a:r>
            <a:r>
              <a:rPr lang="es-AR" baseline="0" dirty="0"/>
              <a:t> to </a:t>
            </a:r>
            <a:r>
              <a:rPr lang="es-AR" baseline="0" dirty="0" err="1"/>
              <a:t>content</a:t>
            </a:r>
            <a:r>
              <a:rPr lang="es-AR" baseline="0" dirty="0"/>
              <a:t>” (saltar al contenido) al principio de la página.</a:t>
            </a:r>
          </a:p>
          <a:p>
            <a:r>
              <a:rPr lang="es-AR" baseline="0" dirty="0"/>
              <a:t>Si revisamos el código fuente, vemos que el enlace conduce a un destino en la propia página etiqueta con “#</a:t>
            </a:r>
            <a:r>
              <a:rPr lang="es-AR" baseline="0" dirty="0" err="1"/>
              <a:t>skip</a:t>
            </a:r>
            <a:r>
              <a:rPr lang="es-AR" baseline="0" dirty="0"/>
              <a:t>” en el atributo </a:t>
            </a:r>
            <a:r>
              <a:rPr lang="es-AR" baseline="0" dirty="0" err="1"/>
              <a:t>href</a:t>
            </a:r>
            <a:r>
              <a:rPr lang="es-AR" baseline="0" dirty="0"/>
              <a:t>.</a:t>
            </a:r>
          </a:p>
          <a:p>
            <a:r>
              <a:rPr lang="es-AR" baseline="0" dirty="0"/>
              <a:t>Esa porción de código esta situado mas abajo y comienza con “&lt;h1&gt; Web </a:t>
            </a:r>
            <a:r>
              <a:rPr lang="es-AR" baseline="0" dirty="0" err="1"/>
              <a:t>Accessibility</a:t>
            </a:r>
            <a:r>
              <a:rPr lang="es-AR" baseline="0" dirty="0"/>
              <a:t>  </a:t>
            </a:r>
            <a:r>
              <a:rPr lang="es-AR" baseline="0" dirty="0" err="1"/>
              <a:t>Initiative</a:t>
            </a:r>
            <a:r>
              <a:rPr lang="es-AR" baseline="0" dirty="0"/>
              <a:t> (WAI) …  Es decir, este punto de la página.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72</a:t>
            </a:fld>
            <a:endParaRPr lang="es-AR"/>
          </a:p>
        </p:txBody>
      </p:sp>
    </p:spTree>
    <p:extLst>
      <p:ext uri="{BB962C8B-B14F-4D97-AF65-F5344CB8AC3E}">
        <p14:creationId xmlns:p14="http://schemas.microsoft.com/office/powerpoint/2010/main" val="34734381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defTabSz="934907">
              <a:defRPr/>
            </a:pPr>
            <a:r>
              <a:rPr lang="es-AR" dirty="0"/>
              <a:t>Al principio de la página,</a:t>
            </a:r>
            <a:r>
              <a:rPr lang="es-AR" baseline="0" dirty="0"/>
              <a:t> debe ser lo primero que se encuentre un usuario.</a:t>
            </a:r>
          </a:p>
          <a:p>
            <a:pPr defTabSz="934907">
              <a:defRPr/>
            </a:pPr>
            <a:r>
              <a:rPr lang="es-AR" baseline="0" dirty="0"/>
              <a:t>No ser creativos con el texto de los enlaces, utiliza </a:t>
            </a:r>
            <a:r>
              <a:rPr lang="es-AR" dirty="0"/>
              <a:t>Saltar navegación</a:t>
            </a:r>
            <a:r>
              <a:rPr lang="es-AR" baseline="0" dirty="0"/>
              <a:t> o </a:t>
            </a:r>
            <a:r>
              <a:rPr lang="es-AR" dirty="0"/>
              <a:t>Saltar a contenido principal.</a:t>
            </a:r>
          </a:p>
          <a:p>
            <a:pPr defTabSz="934907">
              <a:defRPr/>
            </a:pPr>
            <a:endParaRPr lang="es-AR" dirty="0"/>
          </a:p>
          <a:p>
            <a:pPr defTabSz="934907">
              <a:defRPr/>
            </a:pPr>
            <a:endParaRPr lang="es-AR"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73</a:t>
            </a:fld>
            <a:endParaRPr lang="es-AR"/>
          </a:p>
        </p:txBody>
      </p:sp>
    </p:spTree>
    <p:extLst>
      <p:ext uri="{BB962C8B-B14F-4D97-AF65-F5344CB8AC3E}">
        <p14:creationId xmlns:p14="http://schemas.microsoft.com/office/powerpoint/2010/main" val="28867949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PRE:</a:t>
            </a:r>
          </a:p>
          <a:p>
            <a:r>
              <a:rPr lang="es-AR" dirty="0"/>
              <a:t>Problemas</a:t>
            </a:r>
            <a:r>
              <a:rPr lang="es-AR" baseline="0" dirty="0"/>
              <a:t> habituales que impiden la navegación por las páginas web mediante el teclado y que están relacionados con el foco.</a:t>
            </a:r>
          </a:p>
          <a:p>
            <a:r>
              <a:rPr lang="es-AR" baseline="0" dirty="0"/>
              <a:t>POST:</a:t>
            </a:r>
          </a:p>
          <a:p>
            <a:r>
              <a:rPr lang="es-AR" baseline="0" dirty="0"/>
              <a:t>Uno de los requisitos mas relevantes para asegurar la navegación accesible en un sitio web es que pueda ser navegable por teclado, puesto que para muchas personas es el único o principal medio de interacción con las páginas.</a:t>
            </a:r>
          </a:p>
          <a:p>
            <a:endParaRPr lang="es-AR" baseline="0"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74</a:t>
            </a:fld>
            <a:endParaRPr lang="es-AR"/>
          </a:p>
        </p:txBody>
      </p:sp>
    </p:spTree>
    <p:extLst>
      <p:ext uri="{BB962C8B-B14F-4D97-AF65-F5344CB8AC3E}">
        <p14:creationId xmlns:p14="http://schemas.microsoft.com/office/powerpoint/2010/main" val="326996732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75</a:t>
            </a:fld>
            <a:endParaRPr lang="es-AR"/>
          </a:p>
        </p:txBody>
      </p:sp>
    </p:spTree>
    <p:extLst>
      <p:ext uri="{BB962C8B-B14F-4D97-AF65-F5344CB8AC3E}">
        <p14:creationId xmlns:p14="http://schemas.microsoft.com/office/powerpoint/2010/main" val="421406554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76</a:t>
            </a:fld>
            <a:endParaRPr lang="es-AR"/>
          </a:p>
        </p:txBody>
      </p:sp>
    </p:spTree>
    <p:extLst>
      <p:ext uri="{BB962C8B-B14F-4D97-AF65-F5344CB8AC3E}">
        <p14:creationId xmlns:p14="http://schemas.microsoft.com/office/powerpoint/2010/main" val="318100032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defTabSz="934907">
              <a:defRPr/>
            </a:pPr>
            <a:r>
              <a:rPr lang="es-AR" dirty="0"/>
              <a:t>Criterio 2.4.3:</a:t>
            </a:r>
            <a:r>
              <a:rPr lang="es-AR" baseline="0" dirty="0"/>
              <a:t> </a:t>
            </a:r>
            <a:r>
              <a:rPr lang="es-AR" sz="1300" dirty="0"/>
              <a:t>Si una página web puede navegarse secuencialmente y el orden de navegación afecta su significado u operatividad, los componentes que pueden recibir el foco lo hacen de forma coherente y ordenada para que la información conserve su significado.</a:t>
            </a:r>
          </a:p>
          <a:p>
            <a:r>
              <a:rPr lang="es-AR" dirty="0"/>
              <a:t>Por ejemplo: si un enlace abre un menú desplegable, el siguiente elemento que debería ganar el foco tendría</a:t>
            </a:r>
            <a:r>
              <a:rPr lang="es-AR" baseline="0" dirty="0"/>
              <a:t> que ser el primer elemento de dicho menú.</a:t>
            </a:r>
          </a:p>
          <a:p>
            <a:r>
              <a:rPr lang="es-AR" baseline="0" dirty="0"/>
              <a:t>Organizar el contenido en el código HTML de forma que el orden por defecto sea el correcto y si por alguna circunstancia tenemos que cambiar el orden del foco por defecto por ejemplo con </a:t>
            </a:r>
            <a:r>
              <a:rPr lang="es-AR" baseline="0" dirty="0" err="1"/>
              <a:t>tabindex</a:t>
            </a:r>
            <a:r>
              <a:rPr lang="es-AR" baseline="0" dirty="0"/>
              <a:t>, hacerlo de forma que tenga sentido.</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77</a:t>
            </a:fld>
            <a:endParaRPr lang="es-AR"/>
          </a:p>
        </p:txBody>
      </p:sp>
    </p:spTree>
    <p:extLst>
      <p:ext uri="{BB962C8B-B14F-4D97-AF65-F5344CB8AC3E}">
        <p14:creationId xmlns:p14="http://schemas.microsoft.com/office/powerpoint/2010/main" val="231861707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Por ejemplo, si una vez que</a:t>
            </a:r>
            <a:r>
              <a:rPr lang="es-AR" baseline="0" dirty="0"/>
              <a:t> abrimos el menú y accedemos a su contenido con el tabulador ya no podemos salir con el teclado lo consideraríamos una trampa para el foco.</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78</a:t>
            </a:fld>
            <a:endParaRPr lang="es-AR"/>
          </a:p>
        </p:txBody>
      </p:sp>
    </p:spTree>
    <p:extLst>
      <p:ext uri="{BB962C8B-B14F-4D97-AF65-F5344CB8AC3E}">
        <p14:creationId xmlns:p14="http://schemas.microsoft.com/office/powerpoint/2010/main" val="399751503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79</a:t>
            </a:fld>
            <a:endParaRPr lang="es-AR"/>
          </a:p>
        </p:txBody>
      </p:sp>
    </p:spTree>
    <p:extLst>
      <p:ext uri="{BB962C8B-B14F-4D97-AF65-F5344CB8AC3E}">
        <p14:creationId xmlns:p14="http://schemas.microsoft.com/office/powerpoint/2010/main" val="43912993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Todos estos casos</a:t>
            </a:r>
            <a:r>
              <a:rPr lang="es-AR" baseline="0" dirty="0"/>
              <a:t> son cambios de contexto y no pueden producirse automáticamente sin avisar al usuario. Los cambios de contexto solo deberían producirse sólo cuando el usuario los solicite.</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80</a:t>
            </a:fld>
            <a:endParaRPr lang="es-AR"/>
          </a:p>
        </p:txBody>
      </p:sp>
    </p:spTree>
    <p:extLst>
      <p:ext uri="{BB962C8B-B14F-4D97-AF65-F5344CB8AC3E}">
        <p14:creationId xmlns:p14="http://schemas.microsoft.com/office/powerpoint/2010/main" val="36018693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Cómo</a:t>
            </a:r>
            <a:r>
              <a:rPr lang="es-AR" baseline="0" dirty="0"/>
              <a:t> lograr que la presentación de una página web sea accesible.</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81</a:t>
            </a:fld>
            <a:endParaRPr lang="es-AR"/>
          </a:p>
        </p:txBody>
      </p:sp>
    </p:spTree>
    <p:extLst>
      <p:ext uri="{BB962C8B-B14F-4D97-AF65-F5344CB8AC3E}">
        <p14:creationId xmlns:p14="http://schemas.microsoft.com/office/powerpoint/2010/main" val="370512915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PRE:</a:t>
            </a:r>
          </a:p>
          <a:p>
            <a:r>
              <a:rPr lang="es-AR" dirty="0"/>
              <a:t>Las</a:t>
            </a:r>
            <a:r>
              <a:rPr lang="es-AR" baseline="0" dirty="0"/>
              <a:t> WCAG </a:t>
            </a:r>
            <a:r>
              <a:rPr lang="es-AR" dirty="0"/>
              <a:t>se centran principalmente en el contenido, la navegación y la interacción. </a:t>
            </a:r>
          </a:p>
          <a:p>
            <a:r>
              <a:rPr lang="es-AR" dirty="0"/>
              <a:t>Respecto el diseño accesible, lo más importante aparece en la </a:t>
            </a:r>
            <a:r>
              <a:rPr lang="es-AR" b="1" dirty="0"/>
              <a:t>Pauta 1.4 Distinguible</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82</a:t>
            </a:fld>
            <a:endParaRPr lang="es-AR"/>
          </a:p>
        </p:txBody>
      </p:sp>
    </p:spTree>
    <p:extLst>
      <p:ext uri="{BB962C8B-B14F-4D97-AF65-F5344CB8AC3E}">
        <p14:creationId xmlns:p14="http://schemas.microsoft.com/office/powerpoint/2010/main" val="235588878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83</a:t>
            </a:fld>
            <a:endParaRPr lang="es-AR"/>
          </a:p>
        </p:txBody>
      </p:sp>
    </p:spTree>
    <p:extLst>
      <p:ext uri="{BB962C8B-B14F-4D97-AF65-F5344CB8AC3E}">
        <p14:creationId xmlns:p14="http://schemas.microsoft.com/office/powerpoint/2010/main" val="23043828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En todas estas situaciones una buena combinación</a:t>
            </a:r>
            <a:r>
              <a:rPr lang="es-AR" baseline="0" dirty="0"/>
              <a:t> de colores alto contraste ayuda a que una página web se visualice correctamente.</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84</a:t>
            </a:fld>
            <a:endParaRPr lang="es-AR"/>
          </a:p>
        </p:txBody>
      </p:sp>
    </p:spTree>
    <p:extLst>
      <p:ext uri="{BB962C8B-B14F-4D97-AF65-F5344CB8AC3E}">
        <p14:creationId xmlns:p14="http://schemas.microsoft.com/office/powerpoint/2010/main" val="418149959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85</a:t>
            </a:fld>
            <a:endParaRPr lang="es-AR"/>
          </a:p>
        </p:txBody>
      </p:sp>
    </p:spTree>
    <p:extLst>
      <p:ext uri="{BB962C8B-B14F-4D97-AF65-F5344CB8AC3E}">
        <p14:creationId xmlns:p14="http://schemas.microsoft.com/office/powerpoint/2010/main" val="5389469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Asegurar que la información transmitida por las diferencias de color también está disponible en texto.</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86</a:t>
            </a:fld>
            <a:endParaRPr lang="es-AR"/>
          </a:p>
        </p:txBody>
      </p:sp>
    </p:spTree>
    <p:extLst>
      <p:ext uri="{BB962C8B-B14F-4D97-AF65-F5344CB8AC3E}">
        <p14:creationId xmlns:p14="http://schemas.microsoft.com/office/powerpoint/2010/main" val="363738393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87</a:t>
            </a:fld>
            <a:endParaRPr lang="es-AR"/>
          </a:p>
        </p:txBody>
      </p:sp>
    </p:spTree>
    <p:extLst>
      <p:ext uri="{BB962C8B-B14F-4D97-AF65-F5344CB8AC3E}">
        <p14:creationId xmlns:p14="http://schemas.microsoft.com/office/powerpoint/2010/main" val="25977376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Técnica</a:t>
            </a:r>
            <a:r>
              <a:rPr lang="es-AR" baseline="0" dirty="0"/>
              <a:t> C15: Usar CSS para cambiar la presentación de un componente de interfaz de usuario cuando recibe el foco</a:t>
            </a:r>
          </a:p>
          <a:p>
            <a:r>
              <a:rPr lang="es-AR" dirty="0"/>
              <a:t>Verificar que el fondo o borde cambia de color cuando una componente gana o pierde el foco.</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88</a:t>
            </a:fld>
            <a:endParaRPr lang="es-AR"/>
          </a:p>
        </p:txBody>
      </p:sp>
    </p:spTree>
    <p:extLst>
      <p:ext uri="{BB962C8B-B14F-4D97-AF65-F5344CB8AC3E}">
        <p14:creationId xmlns:p14="http://schemas.microsoft.com/office/powerpoint/2010/main" val="168690108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89</a:t>
            </a:fld>
            <a:endParaRPr lang="es-AR"/>
          </a:p>
        </p:txBody>
      </p:sp>
    </p:spTree>
    <p:extLst>
      <p:ext uri="{BB962C8B-B14F-4D97-AF65-F5344CB8AC3E}">
        <p14:creationId xmlns:p14="http://schemas.microsoft.com/office/powerpoint/2010/main" val="206388642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Cómo realizar un análisis de accesibilidad de un sitio</a:t>
            </a:r>
            <a:r>
              <a:rPr lang="es-AR" baseline="0" dirty="0"/>
              <a:t> web, herramientas de análisis de la accesibilidad web.</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90</a:t>
            </a:fld>
            <a:endParaRPr lang="es-AR"/>
          </a:p>
        </p:txBody>
      </p:sp>
    </p:spTree>
    <p:extLst>
      <p:ext uri="{BB962C8B-B14F-4D97-AF65-F5344CB8AC3E}">
        <p14:creationId xmlns:p14="http://schemas.microsoft.com/office/powerpoint/2010/main" val="199470688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defTabSz="934907">
              <a:defRPr/>
            </a:pPr>
            <a:r>
              <a:rPr lang="es-AR" dirty="0"/>
              <a:t>evitar errores comunes y lograr resultados más comparables. Pero no añade, sustituye o reemplaza ningún requisito de las WCAG 2.0. </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91</a:t>
            </a:fld>
            <a:endParaRPr lang="es-AR"/>
          </a:p>
        </p:txBody>
      </p:sp>
    </p:spTree>
    <p:extLst>
      <p:ext uri="{BB962C8B-B14F-4D97-AF65-F5344CB8AC3E}">
        <p14:creationId xmlns:p14="http://schemas.microsoft.com/office/powerpoint/2010/main" val="395167319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92</a:t>
            </a:fld>
            <a:endParaRPr lang="es-AR"/>
          </a:p>
        </p:txBody>
      </p:sp>
    </p:spTree>
    <p:extLst>
      <p:ext uri="{BB962C8B-B14F-4D97-AF65-F5344CB8AC3E}">
        <p14:creationId xmlns:p14="http://schemas.microsoft.com/office/powerpoint/2010/main" val="395184713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0" dirty="0"/>
              <a:t>POST:</a:t>
            </a:r>
          </a:p>
          <a:p>
            <a:r>
              <a:rPr lang="es-AR" b="1" dirty="0"/>
              <a:t>a) Definir el alcance del sitio</a:t>
            </a:r>
            <a:r>
              <a:rPr lang="es-AR" dirty="0"/>
              <a:t>, las páginas a las que se va a aplicar la evaluación.</a:t>
            </a:r>
          </a:p>
          <a:p>
            <a:r>
              <a:rPr lang="es-AR" b="1" dirty="0"/>
              <a:t>b) Definir cuál es el nivel de adecuación (A, AA, AAA) que se va a evaluar</a:t>
            </a:r>
            <a:endParaRPr lang="es-AR" dirty="0"/>
          </a:p>
          <a:p>
            <a:r>
              <a:rPr lang="es-AR" b="1" dirty="0"/>
              <a:t>c) Definir el soporte de la accesibilidad</a:t>
            </a:r>
            <a:r>
              <a:rPr lang="es-AR" dirty="0"/>
              <a:t>, es decir, un listado de los navegadores web, los productos de apoyo u otros agentes de usuario con los que las características de accesibilidad deben ser compatibles.</a:t>
            </a:r>
          </a:p>
          <a:p>
            <a:r>
              <a:rPr lang="es-AR" b="1" dirty="0"/>
              <a:t>d) (opcional) Definir los requisitos de evaluación adicionales</a:t>
            </a:r>
            <a:r>
              <a:rPr lang="es-AR" dirty="0"/>
              <a:t> (páginas adicionales solicitadas, casos de uso especiales, etc.)</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93</a:t>
            </a:fld>
            <a:endParaRPr lang="es-AR"/>
          </a:p>
        </p:txBody>
      </p:sp>
    </p:spTree>
    <p:extLst>
      <p:ext uri="{BB962C8B-B14F-4D97-AF65-F5344CB8AC3E}">
        <p14:creationId xmlns:p14="http://schemas.microsoft.com/office/powerpoint/2010/main" val="413718216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El evaluador debe poder acceder a todas las páginas. Permite comprender mejor el uso, propósito y funcionalidad del sitio; y además ayuda a identificar las páginas relevantes o con problemas que son candidatas a incluirse en la muestra a analizar. </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94</a:t>
            </a:fld>
            <a:endParaRPr lang="es-AR"/>
          </a:p>
        </p:txBody>
      </p:sp>
    </p:spTree>
    <p:extLst>
      <p:ext uri="{BB962C8B-B14F-4D97-AF65-F5344CB8AC3E}">
        <p14:creationId xmlns:p14="http://schemas.microsoft.com/office/powerpoint/2010/main" val="428562887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0" dirty="0"/>
              <a:t>POST:</a:t>
            </a:r>
          </a:p>
          <a:p>
            <a:r>
              <a:rPr lang="es-AR" b="1" dirty="0"/>
              <a:t>a) Identificar las páginas relevantes</a:t>
            </a:r>
            <a:r>
              <a:rPr lang="es-AR" dirty="0"/>
              <a:t> home, </a:t>
            </a:r>
            <a:r>
              <a:rPr lang="es-AR" dirty="0" err="1"/>
              <a:t>login</a:t>
            </a:r>
            <a:r>
              <a:rPr lang="es-AR" dirty="0"/>
              <a:t>,</a:t>
            </a:r>
            <a:r>
              <a:rPr lang="es-AR" baseline="0" dirty="0"/>
              <a:t> </a:t>
            </a:r>
            <a:r>
              <a:rPr lang="es-AR" dirty="0"/>
              <a:t>el mapa del sitio, la página de contacto, de ayuda, etc.</a:t>
            </a:r>
          </a:p>
          <a:p>
            <a:r>
              <a:rPr lang="es-AR" b="1" dirty="0"/>
              <a:t>b) Identificar las funcionalidades clave del sitio</a:t>
            </a:r>
            <a:r>
              <a:rPr lang="es-AR" dirty="0"/>
              <a:t>, determinar aquellas funcionalidades que son esenciales para el propósito y el objetivo del sitio. </a:t>
            </a:r>
          </a:p>
          <a:p>
            <a:r>
              <a:rPr lang="es-AR" b="1" dirty="0"/>
              <a:t>c) Identificar los diferentes tipos de páginas. </a:t>
            </a:r>
            <a:r>
              <a:rPr lang="es-AR" dirty="0"/>
              <a:t>Diferentes tipos de contenido, tecnologías, autores</a:t>
            </a:r>
          </a:p>
          <a:p>
            <a:r>
              <a:rPr lang="es-AR" b="1" dirty="0"/>
              <a:t>d)</a:t>
            </a:r>
            <a:r>
              <a:rPr lang="es-AR" b="1" baseline="0" dirty="0"/>
              <a:t> I</a:t>
            </a:r>
            <a:r>
              <a:rPr lang="es-AR" b="1" dirty="0"/>
              <a:t>dentificar las tecnologías de las que se depende</a:t>
            </a:r>
            <a:r>
              <a:rPr lang="es-AR" dirty="0"/>
              <a:t> pueden ser HTML, CSS, JavaScript, PDF, etc. </a:t>
            </a:r>
          </a:p>
          <a:p>
            <a:r>
              <a:rPr lang="es-AR" b="1" dirty="0"/>
              <a:t>e) Identificar otras páginas relevantes</a:t>
            </a:r>
            <a:r>
              <a:rPr lang="es-AR" dirty="0"/>
              <a:t> para las personas con discapacidad o para la accesibilidad del sitio:</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95</a:t>
            </a:fld>
            <a:endParaRPr lang="es-AR"/>
          </a:p>
        </p:txBody>
      </p:sp>
    </p:spTree>
    <p:extLst>
      <p:ext uri="{BB962C8B-B14F-4D97-AF65-F5344CB8AC3E}">
        <p14:creationId xmlns:p14="http://schemas.microsoft.com/office/powerpoint/2010/main" val="152375763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Lo ideal es que se evalúe el sitio completo, pero esto no suele ser posible, y se debe seleccionar una muestra de páginas que represente a todo el sitio, de manera que asegure que los resultados de la evaluación reflejan la accesibilidad de todo el sitio con suficiente fiabilidad. </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96</a:t>
            </a:fld>
            <a:endParaRPr lang="es-AR"/>
          </a:p>
        </p:txBody>
      </p:sp>
    </p:spTree>
    <p:extLst>
      <p:ext uri="{BB962C8B-B14F-4D97-AF65-F5344CB8AC3E}">
        <p14:creationId xmlns:p14="http://schemas.microsoft.com/office/powerpoint/2010/main" val="131928637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0" dirty="0"/>
              <a:t>POST:</a:t>
            </a:r>
          </a:p>
          <a:p>
            <a:r>
              <a:rPr lang="es-AR" b="1" dirty="0"/>
              <a:t>a)</a:t>
            </a:r>
            <a:r>
              <a:rPr lang="es-AR" b="1" baseline="0" dirty="0"/>
              <a:t> I</a:t>
            </a:r>
            <a:r>
              <a:rPr lang="es-AR" b="1" dirty="0"/>
              <a:t>ncluir una muestra estructurada</a:t>
            </a:r>
            <a:r>
              <a:rPr lang="es-AR" dirty="0"/>
              <a:t>, en concreto las páginas que se identificaron en el paso 2. </a:t>
            </a:r>
            <a:endParaRPr lang="es-AR" b="1" dirty="0"/>
          </a:p>
          <a:p>
            <a:r>
              <a:rPr lang="es-AR" b="1" dirty="0"/>
              <a:t>b) Incluir una muestra al azar,</a:t>
            </a:r>
            <a:r>
              <a:rPr lang="es-AR" dirty="0"/>
              <a:t> de páginas que no forman ya parte de la muestra y que actúa como indicador de verificación de los resultados y aumenta la confianza en los mismos. </a:t>
            </a:r>
          </a:p>
          <a:p>
            <a:r>
              <a:rPr lang="es-AR" b="1" dirty="0"/>
              <a:t>c) Incluir en la muestra procesos completos</a:t>
            </a:r>
            <a:r>
              <a:rPr lang="es-AR" dirty="0"/>
              <a:t>. Es decir, todas las páginas de un proceso, no se puede seleccionar solo una página del proceso. </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97</a:t>
            </a:fld>
            <a:endParaRPr lang="es-AR"/>
          </a:p>
        </p:txBody>
      </p:sp>
    </p:spTree>
    <p:extLst>
      <p:ext uri="{BB962C8B-B14F-4D97-AF65-F5344CB8AC3E}">
        <p14:creationId xmlns:p14="http://schemas.microsoft.com/office/powerpoint/2010/main" val="363079330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Se debe verificar por cada página de la muestra si cumple con los criterios de conformidad del nivel de adecuación que se evalúa. </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98</a:t>
            </a:fld>
            <a:endParaRPr lang="es-AR"/>
          </a:p>
        </p:txBody>
      </p:sp>
    </p:spTree>
    <p:extLst>
      <p:ext uri="{BB962C8B-B14F-4D97-AF65-F5344CB8AC3E}">
        <p14:creationId xmlns:p14="http://schemas.microsoft.com/office/powerpoint/2010/main" val="6617295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0" dirty="0"/>
              <a:t>POST:</a:t>
            </a:r>
          </a:p>
          <a:p>
            <a:r>
              <a:rPr lang="es-AR" b="1" dirty="0"/>
              <a:t>a) Revisar todas las páginas iniciales</a:t>
            </a:r>
            <a:r>
              <a:rPr lang="es-AR" dirty="0"/>
              <a:t>. Interactuar</a:t>
            </a:r>
            <a:r>
              <a:rPr lang="es-AR" baseline="0" dirty="0"/>
              <a:t> con el contenido teniendo en cuenta las té</a:t>
            </a:r>
            <a:r>
              <a:rPr lang="es-AR" dirty="0"/>
              <a:t>cnicas. Si no vídeo, entonces los criterios son satisfechos. </a:t>
            </a:r>
          </a:p>
          <a:p>
            <a:r>
              <a:rPr lang="es-AR" b="1" dirty="0"/>
              <a:t>b) Evaluar todos los procesos completos</a:t>
            </a:r>
            <a:r>
              <a:rPr lang="es-AR" dirty="0"/>
              <a:t>  la confirmación de entrada de datos, los mensajes de error y otros </a:t>
            </a:r>
            <a:r>
              <a:rPr lang="es-AR" dirty="0" err="1"/>
              <a:t>feedback</a:t>
            </a:r>
            <a:r>
              <a:rPr lang="es-AR" dirty="0"/>
              <a:t> resultantes de la interacción con el usuario.</a:t>
            </a:r>
          </a:p>
          <a:p>
            <a:r>
              <a:rPr lang="es-AR" b="1" dirty="0"/>
              <a:t>c) Comparar las páginas de la muestra que seleccionaron de forma estructurada con las páginas de la muestra que se seleccionaron aleatoriamente</a:t>
            </a:r>
            <a:r>
              <a:rPr lang="es-AR" dirty="0"/>
              <a:t>. Comprobar que en la muestra al azar no hay contenidos o resultados no representados en la muestra estructurada.</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99</a:t>
            </a:fld>
            <a:endParaRPr lang="es-AR"/>
          </a:p>
        </p:txBody>
      </p:sp>
    </p:spTree>
    <p:extLst>
      <p:ext uri="{BB962C8B-B14F-4D97-AF65-F5344CB8AC3E}">
        <p14:creationId xmlns:p14="http://schemas.microsoft.com/office/powerpoint/2010/main" val="9233999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Los resultados se presentan al final del proceso, pero se registran durante la evaluación. </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100</a:t>
            </a:fld>
            <a:endParaRPr lang="es-AR"/>
          </a:p>
        </p:txBody>
      </p:sp>
    </p:spTree>
    <p:extLst>
      <p:ext uri="{BB962C8B-B14F-4D97-AF65-F5344CB8AC3E}">
        <p14:creationId xmlns:p14="http://schemas.microsoft.com/office/powerpoint/2010/main" val="195040113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0" dirty="0"/>
              <a:t>POST:</a:t>
            </a:r>
          </a:p>
          <a:p>
            <a:r>
              <a:rPr lang="es-AR" b="1" dirty="0"/>
              <a:t>a) Proporcionar documentación para cada paso.</a:t>
            </a:r>
            <a:r>
              <a:rPr lang="es-AR" dirty="0"/>
              <a:t> Se documenta nombre del evaluador, nombre de quien solicito</a:t>
            </a:r>
            <a:r>
              <a:rPr lang="es-AR" baseline="0" dirty="0"/>
              <a:t> la evaluación, fecha, alcance, nivel, tecnologías,;</a:t>
            </a:r>
            <a:endParaRPr lang="es-AR" b="1" dirty="0"/>
          </a:p>
          <a:p>
            <a:r>
              <a:rPr lang="es-AR" b="1" dirty="0"/>
              <a:t>b) (opcional)</a:t>
            </a:r>
            <a:r>
              <a:rPr lang="es-AR" b="1" baseline="0" dirty="0"/>
              <a:t> </a:t>
            </a:r>
            <a:r>
              <a:rPr lang="es-AR" b="1" dirty="0"/>
              <a:t>Registrar los detalles específicos de la evaluación</a:t>
            </a:r>
            <a:r>
              <a:rPr lang="es-AR" dirty="0"/>
              <a:t>, captura de pantalla,</a:t>
            </a:r>
            <a:r>
              <a:rPr lang="es-AR" baseline="0" dirty="0"/>
              <a:t> describir ajustes, </a:t>
            </a:r>
            <a:r>
              <a:rPr lang="es-AR" dirty="0"/>
              <a:t>datos introducidos o acciones, métodos, técnicas.</a:t>
            </a:r>
          </a:p>
          <a:p>
            <a:r>
              <a:rPr lang="es-AR" b="1" dirty="0"/>
              <a:t>c) (opcional)</a:t>
            </a:r>
            <a:r>
              <a:rPr lang="es-AR" b="1" baseline="0" dirty="0"/>
              <a:t> </a:t>
            </a:r>
            <a:r>
              <a:rPr lang="es-AR" b="1" dirty="0"/>
              <a:t>Proporcionar una declaración</a:t>
            </a:r>
            <a:r>
              <a:rPr lang="es-AR" dirty="0"/>
              <a:t> que describa el nivel de conformidad de los resultados</a:t>
            </a:r>
            <a:endParaRPr lang="es-AR" b="1" dirty="0"/>
          </a:p>
          <a:p>
            <a:r>
              <a:rPr lang="es-AR" b="1" dirty="0"/>
              <a:t>d) (opcional)</a:t>
            </a:r>
            <a:r>
              <a:rPr lang="es-AR" b="1" baseline="0" dirty="0"/>
              <a:t> P</a:t>
            </a:r>
            <a:r>
              <a:rPr lang="es-AR" b="1" dirty="0"/>
              <a:t>roporcionar una puntuación</a:t>
            </a:r>
            <a:r>
              <a:rPr lang="es-AR" dirty="0"/>
              <a:t>, que puede ser útil para controlar el progreso a través del tiempo. Actualmente no hay un indicador ampliamente reconocido, fiable, preciso y práctico. Si se incluye una puntuación, el método de puntuación debe indicarse siempre claramente junto a la puntuación y debería documentarse para facilitar la transparencia y fiabilidad. </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101</a:t>
            </a:fld>
            <a:endParaRPr lang="es-AR"/>
          </a:p>
        </p:txBody>
      </p:sp>
    </p:spTree>
    <p:extLst>
      <p:ext uri="{BB962C8B-B14F-4D97-AF65-F5344CB8AC3E}">
        <p14:creationId xmlns:p14="http://schemas.microsoft.com/office/powerpoint/2010/main" val="259243466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102</a:t>
            </a:fld>
            <a:endParaRPr lang="es-AR"/>
          </a:p>
        </p:txBody>
      </p:sp>
    </p:spTree>
    <p:extLst>
      <p:ext uri="{BB962C8B-B14F-4D97-AF65-F5344CB8AC3E}">
        <p14:creationId xmlns:p14="http://schemas.microsoft.com/office/powerpoint/2010/main" val="201117502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defTabSz="884408">
              <a:defRPr/>
            </a:pPr>
            <a:r>
              <a:rPr lang="es-AR" b="0" dirty="0"/>
              <a:t>POST 1:</a:t>
            </a:r>
          </a:p>
          <a:p>
            <a:pPr defTabSz="884408">
              <a:defRPr/>
            </a:pPr>
            <a:r>
              <a:rPr lang="es-AR" b="1" dirty="0"/>
              <a:t>W3C </a:t>
            </a:r>
            <a:r>
              <a:rPr lang="es-AR" b="1" dirty="0" err="1"/>
              <a:t>Unicorn</a:t>
            </a:r>
            <a:r>
              <a:rPr lang="es-AR" b="1" dirty="0"/>
              <a:t>: </a:t>
            </a:r>
            <a:r>
              <a:rPr lang="es-AR" dirty="0"/>
              <a:t>(X)HTML, CSS (diferentes perfiles y medios), Mobile OK y RSS/</a:t>
            </a:r>
            <a:r>
              <a:rPr lang="es-AR" dirty="0" err="1"/>
              <a:t>Atom</a:t>
            </a:r>
            <a:r>
              <a:rPr lang="es-AR" dirty="0"/>
              <a:t>. (castellano)</a:t>
            </a:r>
          </a:p>
          <a:p>
            <a:r>
              <a:rPr lang="es-AR" b="1" dirty="0"/>
              <a:t>W3C </a:t>
            </a:r>
            <a:r>
              <a:rPr lang="es-AR" b="1" dirty="0" err="1"/>
              <a:t>Markup</a:t>
            </a:r>
            <a:r>
              <a:rPr lang="es-AR" b="1" dirty="0"/>
              <a:t> </a:t>
            </a:r>
            <a:r>
              <a:rPr lang="es-AR" b="1" dirty="0" err="1"/>
              <a:t>Validation</a:t>
            </a:r>
            <a:r>
              <a:rPr lang="es-AR" b="1" dirty="0"/>
              <a:t> </a:t>
            </a:r>
            <a:r>
              <a:rPr lang="es-AR" b="1" dirty="0" err="1"/>
              <a:t>Service</a:t>
            </a:r>
            <a:r>
              <a:rPr lang="es-AR" b="1" dirty="0"/>
              <a:t>: </a:t>
            </a:r>
            <a:r>
              <a:rPr lang="es-AR" dirty="0"/>
              <a:t>(X)HTML (inglés)</a:t>
            </a:r>
          </a:p>
          <a:p>
            <a:r>
              <a:rPr lang="es-AR" b="1" dirty="0"/>
              <a:t>W3C CSS </a:t>
            </a:r>
            <a:r>
              <a:rPr lang="es-AR" b="1" dirty="0" err="1"/>
              <a:t>Validation</a:t>
            </a:r>
            <a:r>
              <a:rPr lang="es-AR" b="1" dirty="0"/>
              <a:t> </a:t>
            </a:r>
            <a:r>
              <a:rPr lang="es-AR" b="1" dirty="0" err="1"/>
              <a:t>Service</a:t>
            </a:r>
            <a:r>
              <a:rPr lang="es-AR" b="1" dirty="0"/>
              <a:t>: </a:t>
            </a:r>
            <a:r>
              <a:rPr lang="es-AR" b="0" dirty="0"/>
              <a:t>CSS (inglés)</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103</a:t>
            </a:fld>
            <a:endParaRPr lang="es-AR"/>
          </a:p>
        </p:txBody>
      </p:sp>
    </p:spTree>
    <p:extLst>
      <p:ext uri="{BB962C8B-B14F-4D97-AF65-F5344CB8AC3E}">
        <p14:creationId xmlns:p14="http://schemas.microsoft.com/office/powerpoint/2010/main" val="138041390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104</a:t>
            </a:fld>
            <a:endParaRPr lang="es-AR"/>
          </a:p>
        </p:txBody>
      </p:sp>
    </p:spTree>
    <p:extLst>
      <p:ext uri="{BB962C8B-B14F-4D97-AF65-F5344CB8AC3E}">
        <p14:creationId xmlns:p14="http://schemas.microsoft.com/office/powerpoint/2010/main" val="416631491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105</a:t>
            </a:fld>
            <a:endParaRPr lang="es-AR"/>
          </a:p>
        </p:txBody>
      </p:sp>
    </p:spTree>
    <p:extLst>
      <p:ext uri="{BB962C8B-B14F-4D97-AF65-F5344CB8AC3E}">
        <p14:creationId xmlns:p14="http://schemas.microsoft.com/office/powerpoint/2010/main" val="375007780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106</a:t>
            </a:fld>
            <a:endParaRPr lang="es-AR"/>
          </a:p>
        </p:txBody>
      </p:sp>
    </p:spTree>
    <p:extLst>
      <p:ext uri="{BB962C8B-B14F-4D97-AF65-F5344CB8AC3E}">
        <p14:creationId xmlns:p14="http://schemas.microsoft.com/office/powerpoint/2010/main" val="370220772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107</a:t>
            </a:fld>
            <a:endParaRPr lang="es-AR"/>
          </a:p>
        </p:txBody>
      </p:sp>
    </p:spTree>
    <p:extLst>
      <p:ext uri="{BB962C8B-B14F-4D97-AF65-F5344CB8AC3E}">
        <p14:creationId xmlns:p14="http://schemas.microsoft.com/office/powerpoint/2010/main" val="60200510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PRE:</a:t>
            </a:r>
          </a:p>
          <a:p>
            <a:r>
              <a:rPr lang="es-AR" dirty="0"/>
              <a:t>En estas diapositivas</a:t>
            </a:r>
            <a:r>
              <a:rPr lang="es-AR" baseline="0" dirty="0"/>
              <a:t> vamos a ver como manejar la herramienta online TAW para que puedan realizar el análisis de accesibilidad a las páginas web.</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108</a:t>
            </a:fld>
            <a:endParaRPr lang="es-AR"/>
          </a:p>
        </p:txBody>
      </p:sp>
    </p:spTree>
    <p:extLst>
      <p:ext uri="{BB962C8B-B14F-4D97-AF65-F5344CB8AC3E}">
        <p14:creationId xmlns:p14="http://schemas.microsoft.com/office/powerpoint/2010/main" val="136558757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Vamos</a:t>
            </a:r>
            <a:r>
              <a:rPr lang="es-AR" baseline="0" dirty="0"/>
              <a:t> a tomar como ejemplo la URL del Sitio Web del Ministerio de Economía.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109</a:t>
            </a:fld>
            <a:endParaRPr lang="es-AR"/>
          </a:p>
        </p:txBody>
      </p:sp>
    </p:spTree>
    <p:extLst>
      <p:ext uri="{BB962C8B-B14F-4D97-AF65-F5344CB8AC3E}">
        <p14:creationId xmlns:p14="http://schemas.microsoft.com/office/powerpoint/2010/main" val="409610116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110</a:t>
            </a:fld>
            <a:endParaRPr lang="es-AR"/>
          </a:p>
        </p:txBody>
      </p:sp>
    </p:spTree>
    <p:extLst>
      <p:ext uri="{BB962C8B-B14F-4D97-AF65-F5344CB8AC3E}">
        <p14:creationId xmlns:p14="http://schemas.microsoft.com/office/powerpoint/2010/main" val="337980906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Cuando el sitio web posee muchos errores,</a:t>
            </a:r>
            <a:r>
              <a:rPr lang="es-AR" baseline="0" dirty="0"/>
              <a:t> a través de las opciones de filtrado, podemos filtrar los problemas y las advertencias incluso por principios.</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111</a:t>
            </a:fld>
            <a:endParaRPr lang="es-AR"/>
          </a:p>
        </p:txBody>
      </p:sp>
    </p:spTree>
    <p:extLst>
      <p:ext uri="{BB962C8B-B14F-4D97-AF65-F5344CB8AC3E}">
        <p14:creationId xmlns:p14="http://schemas.microsoft.com/office/powerpoint/2010/main" val="116233222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Además nos</a:t>
            </a:r>
            <a:r>
              <a:rPr lang="es-AR" baseline="0" dirty="0"/>
              <a:t> muestra el código fuente de la página indicándonos donde ocurre el error o la advertencia y los posibles errores que se encuentran en todas las hojas de estilo utilizadas en la página.</a:t>
            </a:r>
          </a:p>
          <a:p>
            <a:r>
              <a:rPr lang="es-AR" baseline="0" dirty="0"/>
              <a:t>Tipología del elemento, es decir, si se trata de una imagen, un formulario, etc.</a:t>
            </a:r>
          </a:p>
          <a:p>
            <a:r>
              <a:rPr lang="es-AR" baseline="0" dirty="0"/>
              <a:t>Si hay un problema el resultado lo marca con una X.</a:t>
            </a:r>
          </a:p>
          <a:p>
            <a:r>
              <a:rPr lang="es-AR" baseline="0" dirty="0"/>
              <a:t>Si hay una advertencia con un signo de admiración. (!)</a:t>
            </a:r>
          </a:p>
          <a:p>
            <a:r>
              <a:rPr lang="es-AR" baseline="0" dirty="0"/>
              <a:t>Si hay una técnica que no se ha podido comprobar de forma automática lo marca con un signo de interrogación (?)</a:t>
            </a:r>
          </a:p>
          <a:p>
            <a:endParaRPr lang="es-AR" baseline="0" dirty="0"/>
          </a:p>
          <a:p>
            <a:r>
              <a:rPr lang="es-AR" baseline="0" dirty="0"/>
              <a:t>Para cada una de las técnica nos dice las veces que ha ocurrido ese error y los número de líneas en el código fuente donde ocurren.</a:t>
            </a:r>
          </a:p>
          <a:p>
            <a:r>
              <a:rPr lang="es-AR" baseline="0" dirty="0"/>
              <a:t>Tenemos por lo tanto que realizar el análisis de todos y cada uno de los resultados detallados, no solo de los problemas, sino también de las advertencias y de aquellas técnicas que no se han podido verificar.</a:t>
            </a:r>
          </a:p>
          <a:p>
            <a:endParaRPr lang="es-AR" baseline="0" dirty="0"/>
          </a:p>
          <a:p>
            <a:endParaRPr lang="es-AR" baseline="0" dirty="0"/>
          </a:p>
          <a:p>
            <a:endParaRPr lang="es-AR" baseline="0" dirty="0"/>
          </a:p>
          <a:p>
            <a:endParaRPr lang="es-AR" baseline="0"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112</a:t>
            </a:fld>
            <a:endParaRPr lang="es-AR"/>
          </a:p>
        </p:txBody>
      </p:sp>
    </p:spTree>
    <p:extLst>
      <p:ext uri="{BB962C8B-B14F-4D97-AF65-F5344CB8AC3E}">
        <p14:creationId xmlns:p14="http://schemas.microsoft.com/office/powerpoint/2010/main" val="2367647624"/>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Recuerden que</a:t>
            </a:r>
            <a:r>
              <a:rPr lang="es-AR" baseline="0" dirty="0"/>
              <a:t> lo mejor es realizar la evaluación de accesibilidad en cada una de las fases desarrollo del sitio web, es decir, diseñar y programar en base a las pautas de accesibilidad al contenido web. </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113</a:t>
            </a:fld>
            <a:endParaRPr lang="es-AR"/>
          </a:p>
        </p:txBody>
      </p:sp>
    </p:spTree>
    <p:extLst>
      <p:ext uri="{BB962C8B-B14F-4D97-AF65-F5344CB8AC3E}">
        <p14:creationId xmlns:p14="http://schemas.microsoft.com/office/powerpoint/2010/main" val="75535502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114</a:t>
            </a:fld>
            <a:endParaRPr lang="es-AR"/>
          </a:p>
        </p:txBody>
      </p:sp>
    </p:spTree>
    <p:extLst>
      <p:ext uri="{BB962C8B-B14F-4D97-AF65-F5344CB8AC3E}">
        <p14:creationId xmlns:p14="http://schemas.microsoft.com/office/powerpoint/2010/main" val="218077404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PRE:</a:t>
            </a:r>
          </a:p>
          <a:p>
            <a:r>
              <a:rPr lang="es-AR" dirty="0"/>
              <a:t>Nace</a:t>
            </a:r>
            <a:r>
              <a:rPr lang="es-AR" baseline="0" dirty="0"/>
              <a:t> como trabajo final de la Maestría TIC</a:t>
            </a:r>
          </a:p>
          <a:p>
            <a:pPr defTabSz="934907">
              <a:defRPr/>
            </a:pPr>
            <a:r>
              <a:rPr lang="es-AR" baseline="0" dirty="0"/>
              <a:t>Objetivo del TF: </a:t>
            </a:r>
          </a:p>
          <a:p>
            <a:pPr defTabSz="934907">
              <a:defRPr/>
            </a:pPr>
            <a:r>
              <a:rPr lang="es-AR" sz="1300" dirty="0"/>
              <a:t>Desarrollar una Herramienta que permita identificar problemas de Accesibilidad Web en forma automática de acuerdo a la norma vigente en Argentina a partir de agosto de 2014.</a:t>
            </a:r>
          </a:p>
          <a:p>
            <a:pPr defTabSz="934907">
              <a:defRPr/>
            </a:pPr>
            <a:endParaRPr lang="es-AR" sz="1300" dirty="0"/>
          </a:p>
          <a:p>
            <a:r>
              <a:rPr lang="es-AR" sz="1300" dirty="0"/>
              <a:t>Considerar como norma vigente en Argentina en materia de accesibilidad web la Disposición Nº 2/2014 de la ONTI (Oficina Nacional de Tecnología de la Información). Esta norma establece los requisitos de accesibilidad para contenidos web basándose en las Pautas de Accesibilidad para el Contenido Web (WCAG, Web Content </a:t>
            </a:r>
            <a:r>
              <a:rPr lang="es-AR" sz="1300" dirty="0" err="1"/>
              <a:t>Accesibility</a:t>
            </a:r>
            <a:r>
              <a:rPr lang="es-AR" sz="1300" dirty="0"/>
              <a:t> </a:t>
            </a:r>
            <a:r>
              <a:rPr lang="es-AR" sz="1300" dirty="0" err="1"/>
              <a:t>Guidelines</a:t>
            </a:r>
            <a:r>
              <a:rPr lang="es-AR" sz="1300" dirty="0"/>
              <a:t>) en su versión 2.0.</a:t>
            </a:r>
          </a:p>
          <a:p>
            <a:r>
              <a:rPr lang="es-AR" sz="1300" dirty="0"/>
              <a:t> </a:t>
            </a:r>
          </a:p>
          <a:p>
            <a:r>
              <a:rPr lang="es-AR" sz="1300" dirty="0"/>
              <a:t>Verificar las técnicas suficientes y recomendables tanto Generales (G) como HTML (H) y CSS (C) para los Criterios de Conformidad de Nivel 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115</a:t>
            </a:fld>
            <a:endParaRPr lang="es-AR"/>
          </a:p>
        </p:txBody>
      </p:sp>
    </p:spTree>
    <p:extLst>
      <p:ext uri="{BB962C8B-B14F-4D97-AF65-F5344CB8AC3E}">
        <p14:creationId xmlns:p14="http://schemas.microsoft.com/office/powerpoint/2010/main" val="237283038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116</a:t>
            </a:fld>
            <a:endParaRPr lang="es-AR"/>
          </a:p>
        </p:txBody>
      </p:sp>
    </p:spTree>
    <p:extLst>
      <p:ext uri="{BB962C8B-B14F-4D97-AF65-F5344CB8AC3E}">
        <p14:creationId xmlns:p14="http://schemas.microsoft.com/office/powerpoint/2010/main" val="411611479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117</a:t>
            </a:fld>
            <a:endParaRPr lang="es-AR"/>
          </a:p>
        </p:txBody>
      </p:sp>
    </p:spTree>
    <p:extLst>
      <p:ext uri="{BB962C8B-B14F-4D97-AF65-F5344CB8AC3E}">
        <p14:creationId xmlns:p14="http://schemas.microsoft.com/office/powerpoint/2010/main" val="2934116053"/>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118</a:t>
            </a:fld>
            <a:endParaRPr lang="es-AR"/>
          </a:p>
        </p:txBody>
      </p:sp>
    </p:spTree>
    <p:extLst>
      <p:ext uri="{BB962C8B-B14F-4D97-AF65-F5344CB8AC3E}">
        <p14:creationId xmlns:p14="http://schemas.microsoft.com/office/powerpoint/2010/main" val="220389083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119</a:t>
            </a:fld>
            <a:endParaRPr lang="es-AR"/>
          </a:p>
        </p:txBody>
      </p:sp>
    </p:spTree>
    <p:extLst>
      <p:ext uri="{BB962C8B-B14F-4D97-AF65-F5344CB8AC3E}">
        <p14:creationId xmlns:p14="http://schemas.microsoft.com/office/powerpoint/2010/main" val="2169804065"/>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120</a:t>
            </a:fld>
            <a:endParaRPr lang="es-AR"/>
          </a:p>
        </p:txBody>
      </p:sp>
    </p:spTree>
    <p:extLst>
      <p:ext uri="{BB962C8B-B14F-4D97-AF65-F5344CB8AC3E}">
        <p14:creationId xmlns:p14="http://schemas.microsoft.com/office/powerpoint/2010/main" val="3559407634"/>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121</a:t>
            </a:fld>
            <a:endParaRPr lang="es-AR"/>
          </a:p>
        </p:txBody>
      </p:sp>
    </p:spTree>
    <p:extLst>
      <p:ext uri="{BB962C8B-B14F-4D97-AF65-F5344CB8AC3E}">
        <p14:creationId xmlns:p14="http://schemas.microsoft.com/office/powerpoint/2010/main" val="1641735132"/>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122</a:t>
            </a:fld>
            <a:endParaRPr lang="es-AR"/>
          </a:p>
        </p:txBody>
      </p:sp>
    </p:spTree>
    <p:extLst>
      <p:ext uri="{BB962C8B-B14F-4D97-AF65-F5344CB8AC3E}">
        <p14:creationId xmlns:p14="http://schemas.microsoft.com/office/powerpoint/2010/main" val="200834966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Se exporta a archivo XLS detalle del análisis de accesibilidad web con puntajes y fórmulas para que el usuario </a:t>
            </a:r>
            <a:r>
              <a:rPr lang="es-AR" dirty="0" err="1"/>
              <a:t>interactue</a:t>
            </a:r>
            <a:r>
              <a:rPr lang="es-AR" dirty="0"/>
              <a:t> con el análisis y la planilla ajusta automáticamente puntajes:</a:t>
            </a:r>
          </a:p>
          <a:p>
            <a:endParaRPr lang="es-AR" dirty="0"/>
          </a:p>
          <a:p>
            <a:r>
              <a:rPr lang="es-AR" dirty="0"/>
              <a:t>Puntajes de Test: 0 si falló / 1 si (OK, Advertencia, No Verificado).</a:t>
            </a:r>
            <a:br>
              <a:rPr lang="es-AR" dirty="0"/>
            </a:br>
            <a:r>
              <a:rPr lang="es-AR" dirty="0"/>
              <a:t>Puntajes de Técnica: 0 si algún test falló / 1 si todos los test OK.</a:t>
            </a:r>
            <a:br>
              <a:rPr lang="es-AR" dirty="0"/>
            </a:br>
            <a:r>
              <a:rPr lang="es-AR" dirty="0"/>
              <a:t>Puntajes de Criterio: 0 si alguna técnica falló / 4 si todas las técnicas OK.</a:t>
            </a:r>
            <a:br>
              <a:rPr lang="es-AR" dirty="0"/>
            </a:br>
            <a:r>
              <a:rPr lang="es-AR" dirty="0"/>
              <a:t>Puntajes de Pauta: Suma de todos los puntajes de Criterio.</a:t>
            </a:r>
            <a:br>
              <a:rPr lang="es-AR" dirty="0"/>
            </a:br>
            <a:r>
              <a:rPr lang="es-AR" dirty="0"/>
              <a:t>Puntajes de Principio: Suma de todos los puntajes de Pauta.</a:t>
            </a:r>
            <a:br>
              <a:rPr lang="es-AR" dirty="0"/>
            </a:br>
            <a:r>
              <a:rPr lang="es-AR" dirty="0"/>
              <a:t>Puntaje Total: Suma de todos los puntajes de Principio. Es el Puntaje de Accesibilidad.</a:t>
            </a:r>
          </a:p>
          <a:p>
            <a:endParaRPr lang="es-AR" baseline="0" dirty="0"/>
          </a:p>
          <a:p>
            <a:endParaRPr lang="es-AR" baseline="0" dirty="0"/>
          </a:p>
          <a:p>
            <a:endParaRPr lang="es-AR" baseline="0"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123</a:t>
            </a:fld>
            <a:endParaRPr lang="es-AR"/>
          </a:p>
        </p:txBody>
      </p:sp>
    </p:spTree>
    <p:extLst>
      <p:ext uri="{BB962C8B-B14F-4D97-AF65-F5344CB8AC3E}">
        <p14:creationId xmlns:p14="http://schemas.microsoft.com/office/powerpoint/2010/main" val="38829835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Resumen del seminario.</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124</a:t>
            </a:fld>
            <a:endParaRPr lang="es-AR"/>
          </a:p>
        </p:txBody>
      </p:sp>
    </p:spTree>
    <p:extLst>
      <p:ext uri="{BB962C8B-B14F-4D97-AF65-F5344CB8AC3E}">
        <p14:creationId xmlns:p14="http://schemas.microsoft.com/office/powerpoint/2010/main" val="2836429280"/>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125</a:t>
            </a:fld>
            <a:endParaRPr lang="es-AR"/>
          </a:p>
        </p:txBody>
      </p:sp>
    </p:spTree>
    <p:extLst>
      <p:ext uri="{BB962C8B-B14F-4D97-AF65-F5344CB8AC3E}">
        <p14:creationId xmlns:p14="http://schemas.microsoft.com/office/powerpoint/2010/main" val="398062032"/>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POST:</a:t>
            </a:r>
          </a:p>
          <a:p>
            <a:r>
              <a:rPr lang="es-AR" dirty="0"/>
              <a:t>Páginas web que se puedan visualizar correctamente con diferentes dispositivos, diferentes colores, diferentes tamaños de letra.</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126</a:t>
            </a:fld>
            <a:endParaRPr lang="es-AR"/>
          </a:p>
        </p:txBody>
      </p:sp>
    </p:spTree>
    <p:extLst>
      <p:ext uri="{BB962C8B-B14F-4D97-AF65-F5344CB8AC3E}">
        <p14:creationId xmlns:p14="http://schemas.microsoft.com/office/powerpoint/2010/main" val="2443461000"/>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127</a:t>
            </a:fld>
            <a:endParaRPr lang="es-AR"/>
          </a:p>
        </p:txBody>
      </p:sp>
    </p:spTree>
    <p:extLst>
      <p:ext uri="{BB962C8B-B14F-4D97-AF65-F5344CB8AC3E}">
        <p14:creationId xmlns:p14="http://schemas.microsoft.com/office/powerpoint/2010/main" val="2730594730"/>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128</a:t>
            </a:fld>
            <a:endParaRPr lang="es-AR"/>
          </a:p>
        </p:txBody>
      </p:sp>
    </p:spTree>
    <p:extLst>
      <p:ext uri="{BB962C8B-B14F-4D97-AF65-F5344CB8AC3E}">
        <p14:creationId xmlns:p14="http://schemas.microsoft.com/office/powerpoint/2010/main" val="268282383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129</a:t>
            </a:fld>
            <a:endParaRPr lang="es-AR"/>
          </a:p>
        </p:txBody>
      </p:sp>
    </p:spTree>
    <p:extLst>
      <p:ext uri="{BB962C8B-B14F-4D97-AF65-F5344CB8AC3E}">
        <p14:creationId xmlns:p14="http://schemas.microsoft.com/office/powerpoint/2010/main" val="85905921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130</a:t>
            </a:fld>
            <a:endParaRPr lang="es-AR"/>
          </a:p>
        </p:txBody>
      </p:sp>
    </p:spTree>
    <p:extLst>
      <p:ext uri="{BB962C8B-B14F-4D97-AF65-F5344CB8AC3E}">
        <p14:creationId xmlns:p14="http://schemas.microsoft.com/office/powerpoint/2010/main" val="4020244617"/>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131</a:t>
            </a:fld>
            <a:endParaRPr lang="es-AR"/>
          </a:p>
        </p:txBody>
      </p:sp>
    </p:spTree>
    <p:extLst>
      <p:ext uri="{BB962C8B-B14F-4D97-AF65-F5344CB8AC3E}">
        <p14:creationId xmlns:p14="http://schemas.microsoft.com/office/powerpoint/2010/main" val="2960045379"/>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132</a:t>
            </a:fld>
            <a:endParaRPr lang="es-AR"/>
          </a:p>
        </p:txBody>
      </p:sp>
    </p:spTree>
    <p:extLst>
      <p:ext uri="{BB962C8B-B14F-4D97-AF65-F5344CB8AC3E}">
        <p14:creationId xmlns:p14="http://schemas.microsoft.com/office/powerpoint/2010/main" val="355728124"/>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133</a:t>
            </a:fld>
            <a:endParaRPr lang="es-AR"/>
          </a:p>
        </p:txBody>
      </p:sp>
    </p:spTree>
    <p:extLst>
      <p:ext uri="{BB962C8B-B14F-4D97-AF65-F5344CB8AC3E}">
        <p14:creationId xmlns:p14="http://schemas.microsoft.com/office/powerpoint/2010/main" val="2663458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endParaRPr lang="es-AR"/>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07540478-50BE-49C6-B241-19303790821C}" type="slidenum">
              <a:rPr lang="es-ES" altLang="es-AR"/>
              <a:pPr>
                <a:defRPr/>
              </a:pPr>
              <a:t>‹Nº›</a:t>
            </a:fld>
            <a:endParaRPr lang="es-ES" altLang="es-AR"/>
          </a:p>
        </p:txBody>
      </p:sp>
    </p:spTree>
    <p:extLst>
      <p:ext uri="{BB962C8B-B14F-4D97-AF65-F5344CB8AC3E}">
        <p14:creationId xmlns:p14="http://schemas.microsoft.com/office/powerpoint/2010/main" val="536687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lgn="l">
              <a:defRPr sz="3600">
                <a:solidFill>
                  <a:schemeClr val="bg1"/>
                </a:solidFill>
              </a:defRPr>
            </a:lvl1pPr>
          </a:lstStyle>
          <a:p>
            <a:r>
              <a:rPr lang="es-ES" dirty="0"/>
              <a:t>Haga clic para modificar el estilo de título del patrón</a:t>
            </a:r>
            <a:endParaRPr lang="es-AR" dirty="0"/>
          </a:p>
        </p:txBody>
      </p:sp>
      <p:sp>
        <p:nvSpPr>
          <p:cNvPr id="3" name="2 Marcador de contenido"/>
          <p:cNvSpPr>
            <a:spLocks noGrp="1"/>
          </p:cNvSpPr>
          <p:nvPr>
            <p:ph idx="1"/>
          </p:nvPr>
        </p:nvSpPr>
        <p:spPr/>
        <p:txBody>
          <a:bodyPr/>
          <a:lstStyle>
            <a:lvl1pPr>
              <a:defRPr sz="2000"/>
            </a:lvl1pPr>
            <a:lvl2pPr>
              <a:defRPr sz="2000"/>
            </a:lvl2pPr>
            <a:lvl3pPr>
              <a:defRPr sz="2000"/>
            </a:lvl3pPr>
            <a:lvl4pPr>
              <a:defRPr sz="2000"/>
            </a:lvl4pPr>
            <a:lvl5pPr>
              <a:defRPr sz="20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AR" dirty="0"/>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4043C4F7-2767-4620-8EE5-22DF55586577}" type="slidenum">
              <a:rPr lang="es-ES" altLang="es-AR"/>
              <a:pPr>
                <a:defRPr/>
              </a:pPr>
              <a:t>‹Nº›</a:t>
            </a:fld>
            <a:endParaRPr lang="es-ES" altLang="es-AR" dirty="0"/>
          </a:p>
        </p:txBody>
      </p:sp>
    </p:spTree>
    <p:extLst>
      <p:ext uri="{BB962C8B-B14F-4D97-AF65-F5344CB8AC3E}">
        <p14:creationId xmlns:p14="http://schemas.microsoft.com/office/powerpoint/2010/main" val="2684840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6E07602F-D693-40A3-90A5-048CEDE45BB4}" type="slidenum">
              <a:rPr lang="es-ES" altLang="es-AR"/>
              <a:pPr>
                <a:defRPr/>
              </a:pPr>
              <a:t>‹Nº›</a:t>
            </a:fld>
            <a:endParaRPr lang="es-ES" altLang="es-AR"/>
          </a:p>
        </p:txBody>
      </p:sp>
    </p:spTree>
    <p:extLst>
      <p:ext uri="{BB962C8B-B14F-4D97-AF65-F5344CB8AC3E}">
        <p14:creationId xmlns:p14="http://schemas.microsoft.com/office/powerpoint/2010/main" val="3369855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Rectangle 4"/>
          <p:cNvSpPr>
            <a:spLocks noGrp="1" noChangeArrowheads="1"/>
          </p:cNvSpPr>
          <p:nvPr>
            <p:ph type="dt" sz="half" idx="10"/>
          </p:nvPr>
        </p:nvSpPr>
        <p:spPr>
          <a:ln/>
        </p:spPr>
        <p:txBody>
          <a:bodyPr/>
          <a:lstStyle>
            <a:lvl1pPr>
              <a:defRPr/>
            </a:lvl1pPr>
          </a:lstStyle>
          <a:p>
            <a:pPr>
              <a:defRPr/>
            </a:pPr>
            <a:endParaRPr lang="es-ES"/>
          </a:p>
        </p:txBody>
      </p:sp>
      <p:sp>
        <p:nvSpPr>
          <p:cNvPr id="6" name="Rectangle 5"/>
          <p:cNvSpPr>
            <a:spLocks noGrp="1" noChangeArrowheads="1"/>
          </p:cNvSpPr>
          <p:nvPr>
            <p:ph type="ftr" sz="quarter" idx="11"/>
          </p:nvPr>
        </p:nvSpPr>
        <p:spPr>
          <a:ln/>
        </p:spPr>
        <p:txBody>
          <a:bodyPr/>
          <a:lstStyle>
            <a:lvl1pPr>
              <a:defRPr/>
            </a:lvl1pPr>
          </a:lstStyle>
          <a:p>
            <a:pPr>
              <a:defRPr/>
            </a:pPr>
            <a:endParaRPr lang="es-ES"/>
          </a:p>
        </p:txBody>
      </p:sp>
      <p:sp>
        <p:nvSpPr>
          <p:cNvPr id="7" name="Rectangle 6"/>
          <p:cNvSpPr>
            <a:spLocks noGrp="1" noChangeArrowheads="1"/>
          </p:cNvSpPr>
          <p:nvPr>
            <p:ph type="sldNum" sz="quarter" idx="12"/>
          </p:nvPr>
        </p:nvSpPr>
        <p:spPr>
          <a:ln/>
        </p:spPr>
        <p:txBody>
          <a:bodyPr/>
          <a:lstStyle>
            <a:lvl1pPr>
              <a:defRPr/>
            </a:lvl1pPr>
          </a:lstStyle>
          <a:p>
            <a:pPr>
              <a:defRPr/>
            </a:pPr>
            <a:fld id="{39EC2E63-9B90-49C5-8FB9-2A824CF9B73C}" type="slidenum">
              <a:rPr lang="es-ES" altLang="es-AR"/>
              <a:pPr>
                <a:defRPr/>
              </a:pPr>
              <a:t>‹Nº›</a:t>
            </a:fld>
            <a:endParaRPr lang="es-ES" altLang="es-AR"/>
          </a:p>
        </p:txBody>
      </p:sp>
    </p:spTree>
    <p:extLst>
      <p:ext uri="{BB962C8B-B14F-4D97-AF65-F5344CB8AC3E}">
        <p14:creationId xmlns:p14="http://schemas.microsoft.com/office/powerpoint/2010/main" val="1209398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Rectangle 4"/>
          <p:cNvSpPr>
            <a:spLocks noGrp="1" noChangeArrowheads="1"/>
          </p:cNvSpPr>
          <p:nvPr>
            <p:ph type="dt" sz="half" idx="10"/>
          </p:nvPr>
        </p:nvSpPr>
        <p:spPr>
          <a:ln/>
        </p:spPr>
        <p:txBody>
          <a:bodyPr/>
          <a:lstStyle>
            <a:lvl1pPr>
              <a:defRPr/>
            </a:lvl1pPr>
          </a:lstStyle>
          <a:p>
            <a:pPr>
              <a:defRPr/>
            </a:pPr>
            <a:endParaRPr lang="es-ES"/>
          </a:p>
        </p:txBody>
      </p:sp>
      <p:sp>
        <p:nvSpPr>
          <p:cNvPr id="8" name="Rectangle 5"/>
          <p:cNvSpPr>
            <a:spLocks noGrp="1" noChangeArrowheads="1"/>
          </p:cNvSpPr>
          <p:nvPr>
            <p:ph type="ftr" sz="quarter" idx="11"/>
          </p:nvPr>
        </p:nvSpPr>
        <p:spPr>
          <a:ln/>
        </p:spPr>
        <p:txBody>
          <a:bodyPr/>
          <a:lstStyle>
            <a:lvl1pPr>
              <a:defRPr/>
            </a:lvl1pPr>
          </a:lstStyle>
          <a:p>
            <a:pPr>
              <a:defRPr/>
            </a:pPr>
            <a:endParaRPr lang="es-ES"/>
          </a:p>
        </p:txBody>
      </p:sp>
      <p:sp>
        <p:nvSpPr>
          <p:cNvPr id="9" name="Rectangle 6"/>
          <p:cNvSpPr>
            <a:spLocks noGrp="1" noChangeArrowheads="1"/>
          </p:cNvSpPr>
          <p:nvPr>
            <p:ph type="sldNum" sz="quarter" idx="12"/>
          </p:nvPr>
        </p:nvSpPr>
        <p:spPr>
          <a:ln/>
        </p:spPr>
        <p:txBody>
          <a:bodyPr/>
          <a:lstStyle>
            <a:lvl1pPr>
              <a:defRPr/>
            </a:lvl1pPr>
          </a:lstStyle>
          <a:p>
            <a:pPr>
              <a:defRPr/>
            </a:pPr>
            <a:fld id="{F7644FC4-27FE-4896-A649-78C2A7A8A515}" type="slidenum">
              <a:rPr lang="es-ES" altLang="es-AR"/>
              <a:pPr>
                <a:defRPr/>
              </a:pPr>
              <a:t>‹Nº›</a:t>
            </a:fld>
            <a:endParaRPr lang="es-ES" altLang="es-AR"/>
          </a:p>
        </p:txBody>
      </p:sp>
    </p:spTree>
    <p:extLst>
      <p:ext uri="{BB962C8B-B14F-4D97-AF65-F5344CB8AC3E}">
        <p14:creationId xmlns:p14="http://schemas.microsoft.com/office/powerpoint/2010/main" val="2099135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Rectangle 4"/>
          <p:cNvSpPr>
            <a:spLocks noGrp="1" noChangeArrowheads="1"/>
          </p:cNvSpPr>
          <p:nvPr>
            <p:ph type="dt" sz="half" idx="10"/>
          </p:nvPr>
        </p:nvSpPr>
        <p:spPr>
          <a:ln/>
        </p:spPr>
        <p:txBody>
          <a:bodyPr/>
          <a:lstStyle>
            <a:lvl1pPr>
              <a:defRPr/>
            </a:lvl1pPr>
          </a:lstStyle>
          <a:p>
            <a:pPr>
              <a:defRPr/>
            </a:pPr>
            <a:endParaRPr lang="es-ES"/>
          </a:p>
        </p:txBody>
      </p:sp>
      <p:sp>
        <p:nvSpPr>
          <p:cNvPr id="4" name="Rectangle 5"/>
          <p:cNvSpPr>
            <a:spLocks noGrp="1" noChangeArrowheads="1"/>
          </p:cNvSpPr>
          <p:nvPr>
            <p:ph type="ftr" sz="quarter" idx="11"/>
          </p:nvPr>
        </p:nvSpPr>
        <p:spPr>
          <a:ln/>
        </p:spPr>
        <p:txBody>
          <a:bodyPr/>
          <a:lstStyle>
            <a:lvl1pPr>
              <a:defRPr/>
            </a:lvl1pPr>
          </a:lstStyle>
          <a:p>
            <a:pPr>
              <a:defRPr/>
            </a:pPr>
            <a:endParaRPr lang="es-ES"/>
          </a:p>
        </p:txBody>
      </p:sp>
      <p:sp>
        <p:nvSpPr>
          <p:cNvPr id="5" name="Rectangle 6"/>
          <p:cNvSpPr>
            <a:spLocks noGrp="1" noChangeArrowheads="1"/>
          </p:cNvSpPr>
          <p:nvPr>
            <p:ph type="sldNum" sz="quarter" idx="12"/>
          </p:nvPr>
        </p:nvSpPr>
        <p:spPr>
          <a:ln/>
        </p:spPr>
        <p:txBody>
          <a:bodyPr/>
          <a:lstStyle>
            <a:lvl1pPr>
              <a:defRPr/>
            </a:lvl1pPr>
          </a:lstStyle>
          <a:p>
            <a:pPr>
              <a:defRPr/>
            </a:pPr>
            <a:fld id="{90322AEF-5C0A-46AA-994B-C620A3BF8B32}" type="slidenum">
              <a:rPr lang="es-ES" altLang="es-AR"/>
              <a:pPr>
                <a:defRPr/>
              </a:pPr>
              <a:t>‹Nº›</a:t>
            </a:fld>
            <a:endParaRPr lang="es-ES" altLang="es-AR"/>
          </a:p>
        </p:txBody>
      </p:sp>
    </p:spTree>
    <p:extLst>
      <p:ext uri="{BB962C8B-B14F-4D97-AF65-F5344CB8AC3E}">
        <p14:creationId xmlns:p14="http://schemas.microsoft.com/office/powerpoint/2010/main" val="1992584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s-ES"/>
          </a:p>
        </p:txBody>
      </p:sp>
      <p:sp>
        <p:nvSpPr>
          <p:cNvPr id="3" name="Rectangle 5"/>
          <p:cNvSpPr>
            <a:spLocks noGrp="1" noChangeArrowheads="1"/>
          </p:cNvSpPr>
          <p:nvPr>
            <p:ph type="ftr" sz="quarter" idx="11"/>
          </p:nvPr>
        </p:nvSpPr>
        <p:spPr>
          <a:ln/>
        </p:spPr>
        <p:txBody>
          <a:bodyPr/>
          <a:lstStyle>
            <a:lvl1pPr>
              <a:defRPr/>
            </a:lvl1pPr>
          </a:lstStyle>
          <a:p>
            <a:pPr>
              <a:defRPr/>
            </a:pPr>
            <a:endParaRPr lang="es-ES"/>
          </a:p>
        </p:txBody>
      </p:sp>
      <p:sp>
        <p:nvSpPr>
          <p:cNvPr id="4" name="Rectangle 6"/>
          <p:cNvSpPr>
            <a:spLocks noGrp="1" noChangeArrowheads="1"/>
          </p:cNvSpPr>
          <p:nvPr>
            <p:ph type="sldNum" sz="quarter" idx="12"/>
          </p:nvPr>
        </p:nvSpPr>
        <p:spPr>
          <a:ln/>
        </p:spPr>
        <p:txBody>
          <a:bodyPr/>
          <a:lstStyle>
            <a:lvl1pPr>
              <a:defRPr/>
            </a:lvl1pPr>
          </a:lstStyle>
          <a:p>
            <a:pPr>
              <a:defRPr/>
            </a:pPr>
            <a:fld id="{06E533AD-2DFB-4A51-B89A-64F4E5E9906D}" type="slidenum">
              <a:rPr lang="es-ES" altLang="es-AR"/>
              <a:pPr>
                <a:defRPr/>
              </a:pPr>
              <a:t>‹Nº›</a:t>
            </a:fld>
            <a:endParaRPr lang="es-ES" altLang="es-AR"/>
          </a:p>
        </p:txBody>
      </p:sp>
    </p:spTree>
    <p:extLst>
      <p:ext uri="{BB962C8B-B14F-4D97-AF65-F5344CB8AC3E}">
        <p14:creationId xmlns:p14="http://schemas.microsoft.com/office/powerpoint/2010/main" val="263539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4"/>
          <p:cNvSpPr>
            <a:spLocks noGrp="1" noChangeArrowheads="1"/>
          </p:cNvSpPr>
          <p:nvPr>
            <p:ph type="dt" sz="half" idx="10"/>
          </p:nvPr>
        </p:nvSpPr>
        <p:spPr>
          <a:ln/>
        </p:spPr>
        <p:txBody>
          <a:bodyPr/>
          <a:lstStyle>
            <a:lvl1pPr>
              <a:defRPr/>
            </a:lvl1pPr>
          </a:lstStyle>
          <a:p>
            <a:pPr>
              <a:defRPr/>
            </a:pPr>
            <a:endParaRPr lang="es-ES"/>
          </a:p>
        </p:txBody>
      </p:sp>
      <p:sp>
        <p:nvSpPr>
          <p:cNvPr id="6" name="Rectangle 5"/>
          <p:cNvSpPr>
            <a:spLocks noGrp="1" noChangeArrowheads="1"/>
          </p:cNvSpPr>
          <p:nvPr>
            <p:ph type="ftr" sz="quarter" idx="11"/>
          </p:nvPr>
        </p:nvSpPr>
        <p:spPr>
          <a:ln/>
        </p:spPr>
        <p:txBody>
          <a:bodyPr/>
          <a:lstStyle>
            <a:lvl1pPr>
              <a:defRPr/>
            </a:lvl1pPr>
          </a:lstStyle>
          <a:p>
            <a:pPr>
              <a:defRPr/>
            </a:pPr>
            <a:endParaRPr lang="es-ES"/>
          </a:p>
        </p:txBody>
      </p:sp>
      <p:sp>
        <p:nvSpPr>
          <p:cNvPr id="7" name="Rectangle 6"/>
          <p:cNvSpPr>
            <a:spLocks noGrp="1" noChangeArrowheads="1"/>
          </p:cNvSpPr>
          <p:nvPr>
            <p:ph type="sldNum" sz="quarter" idx="12"/>
          </p:nvPr>
        </p:nvSpPr>
        <p:spPr>
          <a:ln/>
        </p:spPr>
        <p:txBody>
          <a:bodyPr/>
          <a:lstStyle>
            <a:lvl1pPr>
              <a:defRPr/>
            </a:lvl1pPr>
          </a:lstStyle>
          <a:p>
            <a:pPr>
              <a:defRPr/>
            </a:pPr>
            <a:fld id="{45491D27-0A66-4FAE-9E21-A490C1149CA2}" type="slidenum">
              <a:rPr lang="es-ES" altLang="es-AR"/>
              <a:pPr>
                <a:defRPr/>
              </a:pPr>
              <a:t>‹Nº›</a:t>
            </a:fld>
            <a:endParaRPr lang="es-ES" altLang="es-AR"/>
          </a:p>
        </p:txBody>
      </p:sp>
    </p:spTree>
    <p:extLst>
      <p:ext uri="{BB962C8B-B14F-4D97-AF65-F5344CB8AC3E}">
        <p14:creationId xmlns:p14="http://schemas.microsoft.com/office/powerpoint/2010/main" val="3242741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AR"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4"/>
          <p:cNvSpPr>
            <a:spLocks noGrp="1" noChangeArrowheads="1"/>
          </p:cNvSpPr>
          <p:nvPr>
            <p:ph type="dt" sz="half" idx="10"/>
          </p:nvPr>
        </p:nvSpPr>
        <p:spPr>
          <a:ln/>
        </p:spPr>
        <p:txBody>
          <a:bodyPr/>
          <a:lstStyle>
            <a:lvl1pPr>
              <a:defRPr/>
            </a:lvl1pPr>
          </a:lstStyle>
          <a:p>
            <a:pPr>
              <a:defRPr/>
            </a:pPr>
            <a:endParaRPr lang="es-ES"/>
          </a:p>
        </p:txBody>
      </p:sp>
      <p:sp>
        <p:nvSpPr>
          <p:cNvPr id="6" name="Rectangle 5"/>
          <p:cNvSpPr>
            <a:spLocks noGrp="1" noChangeArrowheads="1"/>
          </p:cNvSpPr>
          <p:nvPr>
            <p:ph type="ftr" sz="quarter" idx="11"/>
          </p:nvPr>
        </p:nvSpPr>
        <p:spPr>
          <a:ln/>
        </p:spPr>
        <p:txBody>
          <a:bodyPr/>
          <a:lstStyle>
            <a:lvl1pPr>
              <a:defRPr/>
            </a:lvl1pPr>
          </a:lstStyle>
          <a:p>
            <a:pPr>
              <a:defRPr/>
            </a:pPr>
            <a:endParaRPr lang="es-ES"/>
          </a:p>
        </p:txBody>
      </p:sp>
      <p:sp>
        <p:nvSpPr>
          <p:cNvPr id="7" name="Rectangle 6"/>
          <p:cNvSpPr>
            <a:spLocks noGrp="1" noChangeArrowheads="1"/>
          </p:cNvSpPr>
          <p:nvPr>
            <p:ph type="sldNum" sz="quarter" idx="12"/>
          </p:nvPr>
        </p:nvSpPr>
        <p:spPr>
          <a:ln/>
        </p:spPr>
        <p:txBody>
          <a:bodyPr/>
          <a:lstStyle>
            <a:lvl1pPr>
              <a:defRPr/>
            </a:lvl1pPr>
          </a:lstStyle>
          <a:p>
            <a:pPr>
              <a:defRPr/>
            </a:pPr>
            <a:fld id="{EB86D6B2-EA1D-4F8A-BE36-81A24625E17C}" type="slidenum">
              <a:rPr lang="es-ES" altLang="es-AR"/>
              <a:pPr>
                <a:defRPr/>
              </a:pPr>
              <a:t>‹Nº›</a:t>
            </a:fld>
            <a:endParaRPr lang="es-ES" altLang="es-AR"/>
          </a:p>
        </p:txBody>
      </p:sp>
    </p:spTree>
    <p:extLst>
      <p:ext uri="{BB962C8B-B14F-4D97-AF65-F5344CB8AC3E}">
        <p14:creationId xmlns:p14="http://schemas.microsoft.com/office/powerpoint/2010/main" val="1624299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1FEE7822-9EF2-4E52-B8B0-52441EF33644}" type="slidenum">
              <a:rPr lang="es-ES" altLang="es-AR"/>
              <a:pPr>
                <a:defRPr/>
              </a:pPr>
              <a:t>‹Nº›</a:t>
            </a:fld>
            <a:endParaRPr lang="es-ES" altLang="es-AR"/>
          </a:p>
        </p:txBody>
      </p:sp>
    </p:spTree>
    <p:extLst>
      <p:ext uri="{BB962C8B-B14F-4D97-AF65-F5344CB8AC3E}">
        <p14:creationId xmlns:p14="http://schemas.microsoft.com/office/powerpoint/2010/main" val="2463956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938E2EA6-D5C4-4125-A6E0-45FC2D06A74B}" type="slidenum">
              <a:rPr lang="es-ES" altLang="es-AR"/>
              <a:pPr>
                <a:defRPr/>
              </a:pPr>
              <a:t>‹Nº›</a:t>
            </a:fld>
            <a:endParaRPr lang="es-ES" altLang="es-AR"/>
          </a:p>
        </p:txBody>
      </p:sp>
    </p:spTree>
    <p:extLst>
      <p:ext uri="{BB962C8B-B14F-4D97-AF65-F5344CB8AC3E}">
        <p14:creationId xmlns:p14="http://schemas.microsoft.com/office/powerpoint/2010/main" val="820295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AR"/>
              <a:t>Haga clic para cambiar el estilo de título	</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AR"/>
              <a:t>Haga clic para modificar el estilo de texto del patrón</a:t>
            </a:r>
          </a:p>
          <a:p>
            <a:pPr lvl="1"/>
            <a:r>
              <a:rPr lang="es-ES" altLang="es-AR"/>
              <a:t>Segundo nivel</a:t>
            </a:r>
          </a:p>
          <a:p>
            <a:pPr lvl="2"/>
            <a:r>
              <a:rPr lang="es-ES" altLang="es-AR"/>
              <a:t>Tercer nivel</a:t>
            </a:r>
          </a:p>
          <a:p>
            <a:pPr lvl="3"/>
            <a:r>
              <a:rPr lang="es-ES" altLang="es-AR"/>
              <a:t>Cuarto nivel</a:t>
            </a:r>
          </a:p>
          <a:p>
            <a:pPr lvl="4"/>
            <a:r>
              <a:rPr lang="es-ES" altLang="es-AR"/>
              <a:t>Quinto nivel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cs typeface="Arial" charset="0"/>
              </a:defRPr>
            </a:lvl1pPr>
          </a:lstStyle>
          <a:p>
            <a:pPr>
              <a:defRPr/>
            </a:pPr>
            <a:endParaRPr lang="es-E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cs typeface="Arial" charset="0"/>
              </a:defRPr>
            </a:lvl1pPr>
          </a:lstStyle>
          <a:p>
            <a:pPr>
              <a:defRPr/>
            </a:pPr>
            <a:endParaRPr lang="es-E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6657170F-4536-4191-AA5B-88D050E92C08}" type="slidenum">
              <a:rPr lang="es-ES" altLang="es-AR"/>
              <a:pPr>
                <a:defRPr/>
              </a:pPr>
              <a:t>‹Nº›</a:t>
            </a:fld>
            <a:endParaRPr lang="es-ES" altLang="es-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hyperlink" Target="http://www.tawdis.net/" TargetMode="External"/><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hyperlink" Target="http://examinator.ws/" TargetMode="External"/><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hyperlink" Target="https://sites.google.com/site/uadeticarweb/arweb-deploy" TargetMode="External"/><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hyperlink" Target="http://www.tawdis.net/" TargetMode="External"/><Relationship Id="rId2" Type="http://schemas.openxmlformats.org/officeDocument/2006/relationships/notesSlide" Target="../notesSlides/notesSlide10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0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hyperlink" Target="https://sites.google.com/site/uadeticarweb/arweb-deploy" TargetMode="External"/><Relationship Id="rId2" Type="http://schemas.openxmlformats.org/officeDocument/2006/relationships/notesSlide" Target="../notesSlides/notesSlide11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hyperlink" Target="http://examinator.ws/" TargetMode="External"/><Relationship Id="rId2" Type="http://schemas.openxmlformats.org/officeDocument/2006/relationships/notesSlide" Target="../notesSlides/notesSlide129.xml"/><Relationship Id="rId1" Type="http://schemas.openxmlformats.org/officeDocument/2006/relationships/slideLayout" Target="../slideLayouts/slideLayout2.xml"/><Relationship Id="rId5" Type="http://schemas.openxmlformats.org/officeDocument/2006/relationships/hyperlink" Target="http://servicios.infoleg.gob.ar/infolegInternet/anexos/230000-234999/233667/norma.htm" TargetMode="External"/><Relationship Id="rId4" Type="http://schemas.openxmlformats.org/officeDocument/2006/relationships/hyperlink" Target="http://www.infoleg.gob.ar/infolegInternet/anexos/175000-179999/175694/norma.htm" TargetMode="External"/></Relationships>
</file>

<file path=ppt/slides/_rels/slide130.xml.rels><?xml version="1.0" encoding="UTF-8" standalone="yes"?>
<Relationships xmlns="http://schemas.openxmlformats.org/package/2006/relationships"><Relationship Id="rId3" Type="http://schemas.openxmlformats.org/officeDocument/2006/relationships/hyperlink" Target="http://www.tawdis.net/index.html?lang=es" TargetMode="External"/><Relationship Id="rId7" Type="http://schemas.openxmlformats.org/officeDocument/2006/relationships/hyperlink" Target="https://www.w3.org/TR/WCAG-EM/" TargetMode="External"/><Relationship Id="rId2" Type="http://schemas.openxmlformats.org/officeDocument/2006/relationships/notesSlide" Target="../notesSlides/notesSlide130.xml"/><Relationship Id="rId1" Type="http://schemas.openxmlformats.org/officeDocument/2006/relationships/slideLayout" Target="../slideLayouts/slideLayout2.xml"/><Relationship Id="rId6" Type="http://schemas.openxmlformats.org/officeDocument/2006/relationships/hyperlink" Target="https://www.w3.org/TR/WCAG20" TargetMode="External"/><Relationship Id="rId5" Type="http://schemas.openxmlformats.org/officeDocument/2006/relationships/hyperlink" Target="https://www.w3.org/WAI/" TargetMode="External"/><Relationship Id="rId4" Type="http://schemas.openxmlformats.org/officeDocument/2006/relationships/hyperlink" Target="https://www.w3.org/" TargetMode="Externa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50" name="Rectangle 110"/>
          <p:cNvSpPr>
            <a:spLocks noGrp="1" noChangeArrowheads="1"/>
          </p:cNvSpPr>
          <p:nvPr>
            <p:ph type="ctrTitle"/>
          </p:nvPr>
        </p:nvSpPr>
        <p:spPr>
          <a:xfrm>
            <a:off x="413871" y="1196752"/>
            <a:ext cx="4950216" cy="898525"/>
          </a:xfrm>
          <a:noFill/>
        </p:spPr>
        <p:txBody>
          <a:bodyPr/>
          <a:lstStyle/>
          <a:p>
            <a:pPr algn="l" eaLnBrk="1" hangingPunct="1"/>
            <a:r>
              <a:rPr lang="es-UY" altLang="es-AR" sz="3600" b="1" dirty="0">
                <a:solidFill>
                  <a:schemeClr val="bg1"/>
                </a:solidFill>
              </a:rPr>
              <a:t>Seminario de Accesibilidad Web</a:t>
            </a:r>
            <a:endParaRPr lang="es-ES" altLang="es-AR" sz="3600" b="1" dirty="0">
              <a:solidFill>
                <a:schemeClr val="bg1"/>
              </a:solidFill>
            </a:endParaRPr>
          </a:p>
        </p:txBody>
      </p:sp>
      <p:sp>
        <p:nvSpPr>
          <p:cNvPr id="2051" name="Rectangle 122"/>
          <p:cNvSpPr>
            <a:spLocks noChangeArrowheads="1"/>
          </p:cNvSpPr>
          <p:nvPr/>
        </p:nvSpPr>
        <p:spPr bwMode="auto">
          <a:xfrm>
            <a:off x="413870" y="2348880"/>
            <a:ext cx="4950217" cy="316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s-UY" altLang="es-AR" sz="2000" b="1" dirty="0">
                <a:solidFill>
                  <a:schemeClr val="bg1"/>
                </a:solidFill>
              </a:rPr>
              <a:t>Maestría en Tecnología Informática y de Comunicaciones (UADE)</a:t>
            </a:r>
          </a:p>
          <a:p>
            <a:pPr eaLnBrk="1" hangingPunct="1">
              <a:spcBef>
                <a:spcPct val="0"/>
              </a:spcBef>
              <a:buFontTx/>
              <a:buNone/>
            </a:pPr>
            <a:r>
              <a:rPr lang="es-UY" altLang="es-AR" sz="2000" b="1" dirty="0">
                <a:solidFill>
                  <a:schemeClr val="bg1"/>
                </a:solidFill>
              </a:rPr>
              <a:t>INTEC</a:t>
            </a:r>
          </a:p>
          <a:p>
            <a:pPr eaLnBrk="1" hangingPunct="1">
              <a:spcBef>
                <a:spcPct val="0"/>
              </a:spcBef>
              <a:buFontTx/>
              <a:buNone/>
            </a:pPr>
            <a:endParaRPr lang="es-UY" altLang="es-AR" sz="2000" b="1" dirty="0">
              <a:solidFill>
                <a:schemeClr val="bg1"/>
              </a:solidFill>
            </a:endParaRPr>
          </a:p>
          <a:p>
            <a:pPr eaLnBrk="1" hangingPunct="1">
              <a:spcBef>
                <a:spcPct val="0"/>
              </a:spcBef>
              <a:buFontTx/>
              <a:buNone/>
            </a:pPr>
            <a:r>
              <a:rPr lang="es-UY" altLang="es-AR" sz="2000" b="1" dirty="0">
                <a:solidFill>
                  <a:schemeClr val="bg1"/>
                </a:solidFill>
              </a:rPr>
              <a:t>Maestrando: Prof. Ing. Pablo Pandolfo.</a:t>
            </a:r>
          </a:p>
          <a:p>
            <a:pPr eaLnBrk="1" hangingPunct="1">
              <a:spcBef>
                <a:spcPct val="0"/>
              </a:spcBef>
              <a:buFontTx/>
              <a:buNone/>
            </a:pPr>
            <a:r>
              <a:rPr lang="es-UY" altLang="es-AR" sz="2000" b="1" dirty="0">
                <a:solidFill>
                  <a:schemeClr val="bg1"/>
                </a:solidFill>
              </a:rPr>
              <a:t>Director: Mag. Ing. Adrián De Armas.</a:t>
            </a:r>
          </a:p>
          <a:p>
            <a:pPr eaLnBrk="1" hangingPunct="1">
              <a:spcBef>
                <a:spcPct val="0"/>
              </a:spcBef>
              <a:buFontTx/>
              <a:buNone/>
            </a:pPr>
            <a:r>
              <a:rPr lang="es-UY" altLang="es-AR" sz="2000" b="1" dirty="0">
                <a:solidFill>
                  <a:schemeClr val="bg1"/>
                </a:solidFill>
              </a:rPr>
              <a:t>CoDirector: Mag. Ing. Bibiana Rossi. </a:t>
            </a:r>
          </a:p>
          <a:p>
            <a:pPr eaLnBrk="1" hangingPunct="1">
              <a:spcBef>
                <a:spcPct val="0"/>
              </a:spcBef>
              <a:buFontTx/>
              <a:buNone/>
            </a:pPr>
            <a:endParaRPr lang="es-UY" altLang="es-AR" sz="2000" b="1" dirty="0">
              <a:solidFill>
                <a:schemeClr val="bg1"/>
              </a:solidFill>
            </a:endParaRPr>
          </a:p>
          <a:p>
            <a:pPr algn="ctr" eaLnBrk="1" hangingPunct="1">
              <a:spcBef>
                <a:spcPct val="0"/>
              </a:spcBef>
              <a:buFontTx/>
              <a:buNone/>
            </a:pPr>
            <a:r>
              <a:rPr lang="es-UY" altLang="es-AR" sz="2000" b="1" dirty="0">
                <a:solidFill>
                  <a:schemeClr val="bg1"/>
                </a:solidFill>
              </a:rPr>
              <a:t>2016</a:t>
            </a:r>
            <a:endParaRPr lang="es-ES" altLang="es-AR" sz="20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95288" y="188913"/>
            <a:ext cx="8229600" cy="525462"/>
          </a:xfrm>
        </p:spPr>
        <p:txBody>
          <a:bodyPr/>
          <a:lstStyle/>
          <a:p>
            <a:pPr eaLnBrk="1" hangingPunct="1"/>
            <a:r>
              <a:rPr lang="es-AR" altLang="es-AR" b="1" dirty="0"/>
              <a:t>Pablo Miguel Angel Pandolfo</a:t>
            </a:r>
          </a:p>
        </p:txBody>
      </p:sp>
      <p:sp>
        <p:nvSpPr>
          <p:cNvPr id="3075" name="Rectangle 3"/>
          <p:cNvSpPr>
            <a:spLocks noGrp="1" noChangeArrowheads="1"/>
          </p:cNvSpPr>
          <p:nvPr>
            <p:ph type="body" idx="1"/>
          </p:nvPr>
        </p:nvSpPr>
        <p:spPr>
          <a:xfrm>
            <a:off x="457200" y="1571625"/>
            <a:ext cx="8229600" cy="3357563"/>
          </a:xfrm>
        </p:spPr>
        <p:txBody>
          <a:bodyPr/>
          <a:lstStyle/>
          <a:p>
            <a:r>
              <a:rPr lang="es-AR" altLang="es-AR" dirty="0"/>
              <a:t>Profesor e Ingeniero en Informática. </a:t>
            </a:r>
          </a:p>
          <a:p>
            <a:r>
              <a:rPr lang="es-AR" altLang="es-AR" dirty="0"/>
              <a:t>Maestrando de la Maestría en Tecnología Informática y de Comunicaciones (TIC, UADE). </a:t>
            </a:r>
          </a:p>
          <a:p>
            <a:r>
              <a:rPr lang="es-AR" altLang="es-AR" dirty="0"/>
              <a:t>Profesor Adjunto de la Universidad Nacional </a:t>
            </a:r>
            <a:r>
              <a:rPr lang="es-AR" altLang="es-AR"/>
              <a:t>del Oeste, </a:t>
            </a:r>
            <a:r>
              <a:rPr lang="es-AR" altLang="es-AR" dirty="0"/>
              <a:t>Universidad de Belgrano (</a:t>
            </a:r>
            <a:r>
              <a:rPr lang="es-AR" altLang="es-AR"/>
              <a:t>Argentina) y en el INAP.</a:t>
            </a:r>
            <a:endParaRPr lang="es-AR" altLang="es-AR" dirty="0"/>
          </a:p>
          <a:p>
            <a:r>
              <a:rPr lang="es-AR" altLang="es-AR" dirty="0"/>
              <a:t>Especialista en Diseño y Desarrollo en Sistemas Informáticos de Administración Financiera del Sector Público Nacional.</a:t>
            </a:r>
          </a:p>
          <a:p>
            <a:pPr eaLnBrk="1" hangingPunct="1"/>
            <a:endParaRPr lang="es-AR" alt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a:t>
            </a:fld>
            <a:endParaRPr lang="es-ES" altLang="es-A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1 Título"/>
          <p:cNvSpPr>
            <a:spLocks noGrp="1"/>
          </p:cNvSpPr>
          <p:nvPr>
            <p:ph type="title"/>
          </p:nvPr>
        </p:nvSpPr>
        <p:spPr>
          <a:xfrm>
            <a:off x="457200" y="274638"/>
            <a:ext cx="8229600" cy="654050"/>
          </a:xfrm>
        </p:spPr>
        <p:txBody>
          <a:bodyPr/>
          <a:lstStyle/>
          <a:p>
            <a:r>
              <a:rPr lang="es-AR" altLang="es-AR" b="1" dirty="0"/>
              <a:t>Organización</a:t>
            </a:r>
          </a:p>
        </p:txBody>
      </p:sp>
      <p:sp>
        <p:nvSpPr>
          <p:cNvPr id="12291" name="2 Marcador de contenido"/>
          <p:cNvSpPr>
            <a:spLocks noGrp="1"/>
          </p:cNvSpPr>
          <p:nvPr>
            <p:ph idx="1"/>
          </p:nvPr>
        </p:nvSpPr>
        <p:spPr/>
        <p:txBody>
          <a:bodyPr/>
          <a:lstStyle/>
          <a:p>
            <a:r>
              <a:rPr lang="es-AR" altLang="es-AR" b="1" dirty="0">
                <a:solidFill>
                  <a:srgbClr val="0070C0"/>
                </a:solidFill>
              </a:rPr>
              <a:t>¿Qué es la accesibilidad web?</a:t>
            </a:r>
          </a:p>
          <a:p>
            <a:r>
              <a:rPr lang="es-AR" altLang="es-AR" dirty="0"/>
              <a:t>Pautas y leyes.</a:t>
            </a:r>
          </a:p>
          <a:p>
            <a:r>
              <a:rPr lang="es-AR" altLang="es-AR" dirty="0"/>
              <a:t>Contenido accesible.</a:t>
            </a:r>
          </a:p>
          <a:p>
            <a:r>
              <a:rPr lang="es-AR" altLang="es-AR" dirty="0"/>
              <a:t>Navegación accesible.</a:t>
            </a:r>
          </a:p>
          <a:p>
            <a:r>
              <a:rPr lang="es-AR" altLang="es-AR" dirty="0"/>
              <a:t>Diseño accesible.</a:t>
            </a:r>
          </a:p>
          <a:p>
            <a:r>
              <a:rPr lang="es-AR" altLang="es-AR" dirty="0"/>
              <a:t>Análisis y evaluación de la accesibilidad web.</a:t>
            </a:r>
          </a:p>
          <a:p>
            <a:r>
              <a:rPr lang="es-AR" altLang="es-AR" dirty="0"/>
              <a:t>Conclusiones.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a:t>
            </a:fld>
            <a:endParaRPr lang="es-ES" altLang="es-A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95288" y="188913"/>
            <a:ext cx="8229600" cy="525462"/>
          </a:xfrm>
        </p:spPr>
        <p:txBody>
          <a:bodyPr/>
          <a:lstStyle/>
          <a:p>
            <a:pPr eaLnBrk="1" hangingPunct="1"/>
            <a:r>
              <a:rPr lang="es-AR" altLang="es-AR" b="1" dirty="0"/>
              <a:t>Planificación</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a:t>
            </a:fld>
            <a:endParaRPr lang="es-ES" altLang="es-AR" dirty="0"/>
          </a:p>
        </p:txBody>
      </p:sp>
      <p:graphicFrame>
        <p:nvGraphicFramePr>
          <p:cNvPr id="3" name="Tabla 2"/>
          <p:cNvGraphicFramePr>
            <a:graphicFrameLocks noGrp="1"/>
          </p:cNvGraphicFramePr>
          <p:nvPr>
            <p:extLst>
              <p:ext uri="{D42A27DB-BD31-4B8C-83A1-F6EECF244321}">
                <p14:modId xmlns:p14="http://schemas.microsoft.com/office/powerpoint/2010/main" val="887985668"/>
              </p:ext>
            </p:extLst>
          </p:nvPr>
        </p:nvGraphicFramePr>
        <p:xfrm>
          <a:off x="1619672" y="2132856"/>
          <a:ext cx="6096000" cy="3688080"/>
        </p:xfrm>
        <a:graphic>
          <a:graphicData uri="http://schemas.openxmlformats.org/drawingml/2006/table">
            <a:tbl>
              <a:tblPr firstRow="1" bandRow="1">
                <a:tableStyleId>{5C22544A-7EE6-4342-B048-85BDC9FD1C3A}</a:tableStyleId>
              </a:tblPr>
              <a:tblGrid>
                <a:gridCol w="1391816">
                  <a:extLst>
                    <a:ext uri="{9D8B030D-6E8A-4147-A177-3AD203B41FA5}">
                      <a16:colId xmlns:a16="http://schemas.microsoft.com/office/drawing/2014/main" val="3773802475"/>
                    </a:ext>
                  </a:extLst>
                </a:gridCol>
                <a:gridCol w="4704184">
                  <a:extLst>
                    <a:ext uri="{9D8B030D-6E8A-4147-A177-3AD203B41FA5}">
                      <a16:colId xmlns:a16="http://schemas.microsoft.com/office/drawing/2014/main" val="822934883"/>
                    </a:ext>
                  </a:extLst>
                </a:gridCol>
              </a:tblGrid>
              <a:tr h="370840">
                <a:tc>
                  <a:txBody>
                    <a:bodyPr/>
                    <a:lstStyle/>
                    <a:p>
                      <a:pPr algn="ctr"/>
                      <a:r>
                        <a:rPr lang="es-AR" sz="2000" dirty="0">
                          <a:solidFill>
                            <a:schemeClr val="tx1"/>
                          </a:solidFill>
                        </a:rPr>
                        <a:t>HORARIO</a:t>
                      </a:r>
                    </a:p>
                  </a:txBody>
                  <a:tcPr/>
                </a:tc>
                <a:tc>
                  <a:txBody>
                    <a:bodyPr/>
                    <a:lstStyle/>
                    <a:p>
                      <a:pPr algn="ctr"/>
                      <a:r>
                        <a:rPr lang="es-AR" sz="2000" dirty="0">
                          <a:solidFill>
                            <a:schemeClr val="tx1"/>
                          </a:solidFill>
                        </a:rPr>
                        <a:t>ACTIVIDAD</a:t>
                      </a:r>
                    </a:p>
                  </a:txBody>
                  <a:tcPr/>
                </a:tc>
                <a:extLst>
                  <a:ext uri="{0D108BD9-81ED-4DB2-BD59-A6C34878D82A}">
                    <a16:rowId xmlns:a16="http://schemas.microsoft.com/office/drawing/2014/main" val="1909555934"/>
                  </a:ext>
                </a:extLst>
              </a:tr>
              <a:tr h="370840">
                <a:tc>
                  <a:txBody>
                    <a:bodyPr/>
                    <a:lstStyle/>
                    <a:p>
                      <a:r>
                        <a:rPr lang="es-AR" sz="2000" b="1" dirty="0"/>
                        <a:t>08:45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2000" dirty="0"/>
                        <a:t>Inicio del Seminario (AW,</a:t>
                      </a:r>
                      <a:r>
                        <a:rPr lang="es-AR" sz="2000" baseline="0" dirty="0"/>
                        <a:t> Pautas y Leyes).</a:t>
                      </a:r>
                      <a:endParaRPr lang="es-AR" sz="2000" dirty="0"/>
                    </a:p>
                  </a:txBody>
                  <a:tcPr/>
                </a:tc>
                <a:extLst>
                  <a:ext uri="{0D108BD9-81ED-4DB2-BD59-A6C34878D82A}">
                    <a16:rowId xmlns:a16="http://schemas.microsoft.com/office/drawing/2014/main" val="3405352449"/>
                  </a:ext>
                </a:extLst>
              </a:tr>
              <a:tr h="370840">
                <a:tc>
                  <a:txBody>
                    <a:bodyPr/>
                    <a:lstStyle/>
                    <a:p>
                      <a:r>
                        <a:rPr lang="es-AR" sz="2000" b="1" dirty="0"/>
                        <a:t>10:00</a:t>
                      </a:r>
                    </a:p>
                  </a:txBody>
                  <a:tcPr>
                    <a:solidFill>
                      <a:schemeClr val="accent3">
                        <a:lumMod val="85000"/>
                      </a:schemeClr>
                    </a:solidFill>
                  </a:tcPr>
                </a:tc>
                <a:tc>
                  <a:txBody>
                    <a:bodyPr/>
                    <a:lstStyle/>
                    <a:p>
                      <a:r>
                        <a:rPr lang="es-AR" sz="2000" dirty="0"/>
                        <a:t>Break.</a:t>
                      </a:r>
                    </a:p>
                  </a:txBody>
                  <a:tcPr>
                    <a:solidFill>
                      <a:schemeClr val="accent3">
                        <a:lumMod val="85000"/>
                      </a:schemeClr>
                    </a:solidFill>
                  </a:tcPr>
                </a:tc>
                <a:extLst>
                  <a:ext uri="{0D108BD9-81ED-4DB2-BD59-A6C34878D82A}">
                    <a16:rowId xmlns:a16="http://schemas.microsoft.com/office/drawing/2014/main" val="1204522527"/>
                  </a:ext>
                </a:extLst>
              </a:tr>
              <a:tr h="370840">
                <a:tc>
                  <a:txBody>
                    <a:bodyPr/>
                    <a:lstStyle/>
                    <a:p>
                      <a:r>
                        <a:rPr lang="es-AR" sz="2000" b="1" dirty="0"/>
                        <a:t>10:20</a:t>
                      </a:r>
                    </a:p>
                  </a:txBody>
                  <a:tcPr/>
                </a:tc>
                <a:tc>
                  <a:txBody>
                    <a:bodyPr/>
                    <a:lstStyle/>
                    <a:p>
                      <a:r>
                        <a:rPr lang="es-AR" sz="2000" dirty="0"/>
                        <a:t>Contenido, Navegación y Diseño accesible.</a:t>
                      </a:r>
                    </a:p>
                  </a:txBody>
                  <a:tcPr/>
                </a:tc>
                <a:extLst>
                  <a:ext uri="{0D108BD9-81ED-4DB2-BD59-A6C34878D82A}">
                    <a16:rowId xmlns:a16="http://schemas.microsoft.com/office/drawing/2014/main" val="829694344"/>
                  </a:ext>
                </a:extLst>
              </a:tr>
              <a:tr h="370840">
                <a:tc>
                  <a:txBody>
                    <a:bodyPr/>
                    <a:lstStyle/>
                    <a:p>
                      <a:r>
                        <a:rPr lang="es-AR" sz="2000" b="1" dirty="0"/>
                        <a:t>12:00</a:t>
                      </a:r>
                    </a:p>
                  </a:txBody>
                  <a:tcPr>
                    <a:solidFill>
                      <a:schemeClr val="accent3">
                        <a:lumMod val="85000"/>
                      </a:schemeClr>
                    </a:solidFill>
                  </a:tcPr>
                </a:tc>
                <a:tc>
                  <a:txBody>
                    <a:bodyPr/>
                    <a:lstStyle/>
                    <a:p>
                      <a:r>
                        <a:rPr lang="es-AR" sz="2000" dirty="0"/>
                        <a:t>Break.</a:t>
                      </a:r>
                    </a:p>
                  </a:txBody>
                  <a:tcPr>
                    <a:solidFill>
                      <a:schemeClr val="accent3">
                        <a:lumMod val="85000"/>
                      </a:schemeClr>
                    </a:solidFill>
                  </a:tcPr>
                </a:tc>
                <a:extLst>
                  <a:ext uri="{0D108BD9-81ED-4DB2-BD59-A6C34878D82A}">
                    <a16:rowId xmlns:a16="http://schemas.microsoft.com/office/drawing/2014/main" val="3368043154"/>
                  </a:ext>
                </a:extLst>
              </a:tr>
              <a:tr h="370840">
                <a:tc>
                  <a:txBody>
                    <a:bodyPr/>
                    <a:lstStyle/>
                    <a:p>
                      <a:r>
                        <a:rPr lang="es-AR" sz="2000" b="1" dirty="0"/>
                        <a:t>12:20</a:t>
                      </a:r>
                    </a:p>
                  </a:txBody>
                  <a:tcPr/>
                </a:tc>
                <a:tc>
                  <a:txBody>
                    <a:bodyPr/>
                    <a:lstStyle/>
                    <a:p>
                      <a:r>
                        <a:rPr lang="es-AR" sz="2000" dirty="0"/>
                        <a:t>Análisis y evaluación</a:t>
                      </a:r>
                      <a:r>
                        <a:rPr lang="es-AR" sz="2000" baseline="0" dirty="0"/>
                        <a:t>. ARWEB y Conclusiones.</a:t>
                      </a:r>
                      <a:endParaRPr lang="es-AR" sz="2000" dirty="0"/>
                    </a:p>
                  </a:txBody>
                  <a:tcPr/>
                </a:tc>
                <a:extLst>
                  <a:ext uri="{0D108BD9-81ED-4DB2-BD59-A6C34878D82A}">
                    <a16:rowId xmlns:a16="http://schemas.microsoft.com/office/drawing/2014/main" val="2257785821"/>
                  </a:ext>
                </a:extLst>
              </a:tr>
              <a:tr h="370840">
                <a:tc>
                  <a:txBody>
                    <a:bodyPr/>
                    <a:lstStyle/>
                    <a:p>
                      <a:r>
                        <a:rPr lang="es-AR" sz="2000" b="1" dirty="0"/>
                        <a:t>14:00</a:t>
                      </a:r>
                    </a:p>
                  </a:txBody>
                  <a:tcPr/>
                </a:tc>
                <a:tc>
                  <a:txBody>
                    <a:bodyPr/>
                    <a:lstStyle/>
                    <a:p>
                      <a:r>
                        <a:rPr lang="es-AR" sz="2000" dirty="0"/>
                        <a:t>Cierre del Seminario.</a:t>
                      </a:r>
                    </a:p>
                  </a:txBody>
                  <a:tcPr/>
                </a:tc>
                <a:extLst>
                  <a:ext uri="{0D108BD9-81ED-4DB2-BD59-A6C34878D82A}">
                    <a16:rowId xmlns:a16="http://schemas.microsoft.com/office/drawing/2014/main" val="3814344303"/>
                  </a:ext>
                </a:extLst>
              </a:tr>
            </a:tbl>
          </a:graphicData>
        </a:graphic>
      </p:graphicFrame>
    </p:spTree>
    <p:extLst>
      <p:ext uri="{BB962C8B-B14F-4D97-AF65-F5344CB8AC3E}">
        <p14:creationId xmlns:p14="http://schemas.microsoft.com/office/powerpoint/2010/main" val="3784890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Título"/>
          <p:cNvSpPr>
            <a:spLocks noGrp="1"/>
          </p:cNvSpPr>
          <p:nvPr>
            <p:ph type="title"/>
          </p:nvPr>
        </p:nvSpPr>
        <p:spPr>
          <a:xfrm>
            <a:off x="457200" y="274638"/>
            <a:ext cx="8229600" cy="654050"/>
          </a:xfrm>
        </p:spPr>
        <p:txBody>
          <a:bodyPr/>
          <a:lstStyle/>
          <a:p>
            <a:r>
              <a:rPr lang="es-AR" altLang="es-AR" b="1" dirty="0"/>
              <a:t>¿Qué es la accesibilidad web?</a:t>
            </a:r>
          </a:p>
        </p:txBody>
      </p:sp>
      <p:sp>
        <p:nvSpPr>
          <p:cNvPr id="6147" name="2 Marcador de contenido"/>
          <p:cNvSpPr>
            <a:spLocks noGrp="1"/>
          </p:cNvSpPr>
          <p:nvPr>
            <p:ph idx="1"/>
          </p:nvPr>
        </p:nvSpPr>
        <p:spPr>
          <a:xfrm>
            <a:off x="457200" y="2982392"/>
            <a:ext cx="8229600" cy="2390824"/>
          </a:xfrm>
        </p:spPr>
        <p:txBody>
          <a:bodyPr/>
          <a:lstStyle/>
          <a:p>
            <a:pPr marL="0" indent="0" algn="just">
              <a:buNone/>
            </a:pPr>
            <a:r>
              <a:rPr lang="es-AR" i="1" dirty="0"/>
              <a:t>“Se entiende por accesibilidad a los efectos de esta ley a la posibilidad de que la información de la página Web, puede ser comprendida y consultada por personas con discapacidad y por usuarios que posean diversas configuraciones en su equipamiento o en sus programas”.</a:t>
            </a:r>
          </a:p>
          <a:p>
            <a:pPr algn="just"/>
            <a:endParaRPr lang="es-AR" altLang="es-AR" i="1" dirty="0"/>
          </a:p>
          <a:p>
            <a:pPr marL="0" indent="0" algn="r">
              <a:buNone/>
            </a:pPr>
            <a:r>
              <a:rPr lang="es-AR" altLang="es-AR" dirty="0"/>
              <a:t>Ley 26653</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a:t>
            </a:fld>
            <a:endParaRPr lang="es-ES" altLang="es-A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1 Título"/>
          <p:cNvSpPr>
            <a:spLocks noGrp="1"/>
          </p:cNvSpPr>
          <p:nvPr>
            <p:ph type="title"/>
          </p:nvPr>
        </p:nvSpPr>
        <p:spPr>
          <a:xfrm>
            <a:off x="457200" y="274638"/>
            <a:ext cx="8229600" cy="654050"/>
          </a:xfrm>
        </p:spPr>
        <p:txBody>
          <a:bodyPr/>
          <a:lstStyle/>
          <a:p>
            <a:r>
              <a:rPr lang="es-AR" altLang="es-AR" b="1" dirty="0"/>
              <a:t>¿Qué es la accesibilidad web?</a:t>
            </a:r>
          </a:p>
        </p:txBody>
      </p:sp>
      <p:sp>
        <p:nvSpPr>
          <p:cNvPr id="13315" name="2 Marcador de contenido"/>
          <p:cNvSpPr>
            <a:spLocks noGrp="1"/>
          </p:cNvSpPr>
          <p:nvPr>
            <p:ph idx="1"/>
          </p:nvPr>
        </p:nvSpPr>
        <p:spPr>
          <a:xfrm>
            <a:off x="457200" y="2046288"/>
            <a:ext cx="8229600" cy="4525962"/>
          </a:xfrm>
        </p:spPr>
        <p:txBody>
          <a:bodyPr/>
          <a:lstStyle/>
          <a:p>
            <a:r>
              <a:rPr lang="es-AR" altLang="es-AR" sz="2200" dirty="0"/>
              <a:t>Hablar de Accesibilidad Web es hablar de un acceso universal a la Web, independientemente del tipo de:</a:t>
            </a:r>
          </a:p>
          <a:p>
            <a:pPr lvl="3"/>
            <a:r>
              <a:rPr lang="es-AR" altLang="es-AR" dirty="0"/>
              <a:t>hardware, </a:t>
            </a:r>
          </a:p>
          <a:p>
            <a:pPr lvl="3"/>
            <a:r>
              <a:rPr lang="es-AR" altLang="es-AR" dirty="0"/>
              <a:t>software, </a:t>
            </a:r>
          </a:p>
          <a:p>
            <a:pPr lvl="3"/>
            <a:r>
              <a:rPr lang="es-AR" altLang="es-AR" dirty="0"/>
              <a:t>infraestructura de red, </a:t>
            </a:r>
          </a:p>
          <a:p>
            <a:pPr lvl="3"/>
            <a:r>
              <a:rPr lang="es-AR" altLang="es-AR" dirty="0"/>
              <a:t>idioma, </a:t>
            </a:r>
          </a:p>
          <a:p>
            <a:pPr lvl="3"/>
            <a:r>
              <a:rPr lang="es-AR" altLang="es-AR" dirty="0"/>
              <a:t>cultura, </a:t>
            </a:r>
          </a:p>
          <a:p>
            <a:pPr lvl="3"/>
            <a:r>
              <a:rPr lang="es-AR" altLang="es-AR" dirty="0"/>
              <a:t>localización geográfica y </a:t>
            </a:r>
          </a:p>
          <a:p>
            <a:pPr lvl="3"/>
            <a:r>
              <a:rPr lang="es-AR" altLang="es-AR" dirty="0"/>
              <a:t>capacidades de los usuarios.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a:t>
            </a:fld>
            <a:endParaRPr lang="es-ES" altLang="es-AR" dirty="0"/>
          </a:p>
        </p:txBody>
      </p:sp>
    </p:spTree>
    <p:extLst>
      <p:ext uri="{BB962C8B-B14F-4D97-AF65-F5344CB8AC3E}">
        <p14:creationId xmlns:p14="http://schemas.microsoft.com/office/powerpoint/2010/main" val="2828010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1 Título"/>
          <p:cNvSpPr>
            <a:spLocks noGrp="1"/>
          </p:cNvSpPr>
          <p:nvPr>
            <p:ph type="title"/>
          </p:nvPr>
        </p:nvSpPr>
        <p:spPr>
          <a:xfrm>
            <a:off x="457200" y="274638"/>
            <a:ext cx="8229600" cy="654050"/>
          </a:xfrm>
        </p:spPr>
        <p:txBody>
          <a:bodyPr/>
          <a:lstStyle/>
          <a:p>
            <a:r>
              <a:rPr lang="es-AR" altLang="es-AR" b="1" dirty="0"/>
              <a:t>¿Qué es la accesibilidad web?</a:t>
            </a:r>
          </a:p>
        </p:txBody>
      </p:sp>
      <p:sp>
        <p:nvSpPr>
          <p:cNvPr id="8195" name="2 Marcador de contenido"/>
          <p:cNvSpPr>
            <a:spLocks noGrp="1"/>
          </p:cNvSpPr>
          <p:nvPr>
            <p:ph idx="1"/>
          </p:nvPr>
        </p:nvSpPr>
        <p:spPr>
          <a:xfrm>
            <a:off x="500063" y="1714500"/>
            <a:ext cx="8229600" cy="1025525"/>
          </a:xfrm>
        </p:spPr>
        <p:txBody>
          <a:bodyPr/>
          <a:lstStyle/>
          <a:p>
            <a:r>
              <a:rPr lang="es-AR" altLang="es-AR" dirty="0"/>
              <a:t>Ejemplo de problema de accesibilidad para personas con </a:t>
            </a:r>
            <a:r>
              <a:rPr lang="es-AR" altLang="es-AR" b="1" dirty="0"/>
              <a:t>discapacidad visual</a:t>
            </a:r>
            <a:r>
              <a:rPr lang="es-AR" altLang="es-AR" dirty="0"/>
              <a:t> (ciega, baja visión, daltonismo) y todos en un día de mucha luminosidad.</a:t>
            </a:r>
          </a:p>
        </p:txBody>
      </p:sp>
      <p:sp>
        <p:nvSpPr>
          <p:cNvPr id="4" name="CuadroTexto 3"/>
          <p:cNvSpPr txBox="1"/>
          <p:nvPr/>
        </p:nvSpPr>
        <p:spPr>
          <a:xfrm>
            <a:off x="1714500" y="3236913"/>
            <a:ext cx="2884488" cy="3478212"/>
          </a:xfrm>
          <a:prstGeom prst="rect">
            <a:avLst/>
          </a:prstGeom>
          <a:noFill/>
          <a:ln>
            <a:solidFill>
              <a:schemeClr val="accent1"/>
            </a:solidFill>
          </a:ln>
        </p:spPr>
        <p:txBody>
          <a:bodyPr>
            <a:spAutoFit/>
          </a:bodyPr>
          <a:lstStyle/>
          <a:p>
            <a:pPr algn="ctr" eaLnBrk="1" hangingPunct="1">
              <a:defRPr/>
            </a:pPr>
            <a:r>
              <a:rPr lang="es-AR" sz="2000" b="1" dirty="0">
                <a:latin typeface="Arial" charset="0"/>
                <a:cs typeface="Arial" charset="0"/>
              </a:rPr>
              <a:t>CURSO</a:t>
            </a:r>
          </a:p>
          <a:p>
            <a:pPr algn="ctr" eaLnBrk="1" hangingPunct="1">
              <a:defRPr/>
            </a:pPr>
            <a:endParaRPr lang="es-AR" sz="2000" dirty="0">
              <a:latin typeface="Arial" charset="0"/>
              <a:cs typeface="Arial" charset="0"/>
            </a:endParaRPr>
          </a:p>
          <a:p>
            <a:pPr marL="285750" indent="-285750" eaLnBrk="1" hangingPunct="1">
              <a:buFont typeface="Arial" panose="020B0604020202020204" pitchFamily="34" charset="0"/>
              <a:buChar char="•"/>
              <a:defRPr/>
            </a:pPr>
            <a:r>
              <a:rPr lang="es-AR" sz="2000" dirty="0">
                <a:latin typeface="Arial" charset="0"/>
                <a:cs typeface="Arial" charset="0"/>
              </a:rPr>
              <a:t>Si pulsa el círculo verde comenzará el curso.</a:t>
            </a:r>
          </a:p>
          <a:p>
            <a:pPr marL="285750" indent="-285750" eaLnBrk="1" hangingPunct="1">
              <a:buFont typeface="Arial" panose="020B0604020202020204" pitchFamily="34" charset="0"/>
              <a:buChar char="•"/>
              <a:defRPr/>
            </a:pPr>
            <a:r>
              <a:rPr lang="es-AR" sz="2000" dirty="0">
                <a:latin typeface="Arial" charset="0"/>
                <a:cs typeface="Arial" charset="0"/>
              </a:rPr>
              <a:t>Si pulsa el círculo rojo se eliminará el curso.</a:t>
            </a:r>
          </a:p>
          <a:p>
            <a:pPr eaLnBrk="1" hangingPunct="1">
              <a:defRPr/>
            </a:pPr>
            <a:endParaRPr lang="es-AR" sz="2000" dirty="0">
              <a:latin typeface="Arial" charset="0"/>
              <a:cs typeface="Arial" charset="0"/>
            </a:endParaRPr>
          </a:p>
          <a:p>
            <a:pPr eaLnBrk="1" hangingPunct="1">
              <a:defRPr/>
            </a:pPr>
            <a:endParaRPr lang="es-AR" sz="2000" dirty="0">
              <a:latin typeface="Arial" charset="0"/>
              <a:cs typeface="Arial" charset="0"/>
            </a:endParaRPr>
          </a:p>
          <a:p>
            <a:pPr eaLnBrk="1" hangingPunct="1">
              <a:defRPr/>
            </a:pPr>
            <a:endParaRPr lang="es-AR" sz="2000" dirty="0">
              <a:latin typeface="Arial" charset="0"/>
              <a:cs typeface="Arial" charset="0"/>
            </a:endParaRPr>
          </a:p>
        </p:txBody>
      </p:sp>
      <p:sp>
        <p:nvSpPr>
          <p:cNvPr id="5" name="Elipse 4"/>
          <p:cNvSpPr/>
          <p:nvPr/>
        </p:nvSpPr>
        <p:spPr>
          <a:xfrm>
            <a:off x="2246313" y="5822950"/>
            <a:ext cx="674687" cy="3937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AR" dirty="0"/>
          </a:p>
        </p:txBody>
      </p:sp>
      <p:sp>
        <p:nvSpPr>
          <p:cNvPr id="6" name="Elipse 5"/>
          <p:cNvSpPr/>
          <p:nvPr/>
        </p:nvSpPr>
        <p:spPr>
          <a:xfrm>
            <a:off x="3452813" y="5822950"/>
            <a:ext cx="674687" cy="3937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AR" dirty="0"/>
          </a:p>
        </p:txBody>
      </p:sp>
      <p:sp>
        <p:nvSpPr>
          <p:cNvPr id="8199" name="CuadroTexto 6"/>
          <p:cNvSpPr txBox="1">
            <a:spLocks noChangeArrowheads="1"/>
          </p:cNvSpPr>
          <p:nvPr/>
        </p:nvSpPr>
        <p:spPr bwMode="auto">
          <a:xfrm>
            <a:off x="1714500" y="2811463"/>
            <a:ext cx="28844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s-AR" altLang="es-AR" sz="2000" b="1" dirty="0">
                <a:solidFill>
                  <a:srgbClr val="FF0000"/>
                </a:solidFill>
              </a:rPr>
              <a:t>NO accesible</a:t>
            </a:r>
          </a:p>
        </p:txBody>
      </p:sp>
      <p:sp>
        <p:nvSpPr>
          <p:cNvPr id="8" name="CuadroTexto 7"/>
          <p:cNvSpPr txBox="1"/>
          <p:nvPr/>
        </p:nvSpPr>
        <p:spPr>
          <a:xfrm>
            <a:off x="5116513" y="3221038"/>
            <a:ext cx="2884487" cy="3478212"/>
          </a:xfrm>
          <a:prstGeom prst="rect">
            <a:avLst/>
          </a:prstGeom>
          <a:noFill/>
          <a:ln>
            <a:solidFill>
              <a:schemeClr val="accent1"/>
            </a:solidFill>
          </a:ln>
        </p:spPr>
        <p:txBody>
          <a:bodyPr>
            <a:spAutoFit/>
          </a:bodyPr>
          <a:lstStyle/>
          <a:p>
            <a:pPr algn="ctr" eaLnBrk="1" hangingPunct="1">
              <a:defRPr/>
            </a:pPr>
            <a:r>
              <a:rPr lang="es-AR" sz="2000" b="1" dirty="0">
                <a:latin typeface="Arial" charset="0"/>
                <a:cs typeface="Arial" charset="0"/>
              </a:rPr>
              <a:t>CURSO</a:t>
            </a:r>
          </a:p>
          <a:p>
            <a:pPr algn="ctr" eaLnBrk="1" hangingPunct="1">
              <a:defRPr/>
            </a:pPr>
            <a:endParaRPr lang="es-AR" sz="2000" dirty="0">
              <a:latin typeface="Arial" charset="0"/>
              <a:cs typeface="Arial" charset="0"/>
            </a:endParaRPr>
          </a:p>
          <a:p>
            <a:pPr marL="285750" indent="-285750" eaLnBrk="1" hangingPunct="1">
              <a:buFont typeface="Arial" panose="020B0604020202020204" pitchFamily="34" charset="0"/>
              <a:buChar char="•"/>
              <a:defRPr/>
            </a:pPr>
            <a:r>
              <a:rPr lang="es-AR" sz="2000" dirty="0">
                <a:latin typeface="Arial" charset="0"/>
                <a:cs typeface="Arial" charset="0"/>
              </a:rPr>
              <a:t>Si pulsa el círculo verde comenzará el curso.</a:t>
            </a:r>
          </a:p>
          <a:p>
            <a:pPr marL="285750" indent="-285750" eaLnBrk="1" hangingPunct="1">
              <a:buFont typeface="Arial" panose="020B0604020202020204" pitchFamily="34" charset="0"/>
              <a:buChar char="•"/>
              <a:defRPr/>
            </a:pPr>
            <a:r>
              <a:rPr lang="es-AR" sz="2000" dirty="0">
                <a:latin typeface="Arial" charset="0"/>
                <a:cs typeface="Arial" charset="0"/>
              </a:rPr>
              <a:t>Si pulsa el círculo rojo se eliminará el curso.</a:t>
            </a:r>
          </a:p>
          <a:p>
            <a:pPr eaLnBrk="1" hangingPunct="1">
              <a:defRPr/>
            </a:pPr>
            <a:endParaRPr lang="es-AR" sz="2000" dirty="0">
              <a:latin typeface="Arial" charset="0"/>
              <a:cs typeface="Arial" charset="0"/>
            </a:endParaRPr>
          </a:p>
          <a:p>
            <a:pPr eaLnBrk="1" hangingPunct="1">
              <a:defRPr/>
            </a:pPr>
            <a:r>
              <a:rPr lang="es-AR" sz="2000" dirty="0">
                <a:latin typeface="Arial" charset="0"/>
                <a:cs typeface="Arial" charset="0"/>
              </a:rPr>
              <a:t>  </a:t>
            </a:r>
          </a:p>
          <a:p>
            <a:pPr eaLnBrk="1" hangingPunct="1">
              <a:defRPr/>
            </a:pPr>
            <a:r>
              <a:rPr lang="es-AR" sz="2000" dirty="0">
                <a:latin typeface="Arial" charset="0"/>
                <a:cs typeface="Arial" charset="0"/>
              </a:rPr>
              <a:t>    Eliminar    Comenzar</a:t>
            </a:r>
          </a:p>
        </p:txBody>
      </p:sp>
      <p:sp>
        <p:nvSpPr>
          <p:cNvPr id="9" name="Elipse 8"/>
          <p:cNvSpPr/>
          <p:nvPr/>
        </p:nvSpPr>
        <p:spPr>
          <a:xfrm>
            <a:off x="5527675" y="5822950"/>
            <a:ext cx="674688" cy="3937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AR" dirty="0"/>
          </a:p>
        </p:txBody>
      </p:sp>
      <p:sp>
        <p:nvSpPr>
          <p:cNvPr id="10" name="Elipse 9"/>
          <p:cNvSpPr/>
          <p:nvPr/>
        </p:nvSpPr>
        <p:spPr>
          <a:xfrm>
            <a:off x="6808788" y="5822950"/>
            <a:ext cx="674687" cy="3937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AR" dirty="0"/>
          </a:p>
        </p:txBody>
      </p:sp>
      <p:sp>
        <p:nvSpPr>
          <p:cNvPr id="8203" name="CuadroTexto 10"/>
          <p:cNvSpPr txBox="1">
            <a:spLocks noChangeArrowheads="1"/>
          </p:cNvSpPr>
          <p:nvPr/>
        </p:nvSpPr>
        <p:spPr bwMode="auto">
          <a:xfrm>
            <a:off x="5116513" y="2795588"/>
            <a:ext cx="28844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s-AR" altLang="es-AR" sz="2000" b="1" dirty="0">
                <a:solidFill>
                  <a:srgbClr val="92D050"/>
                </a:solidFill>
              </a:rPr>
              <a:t>Accesible</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a:t>
            </a:fld>
            <a:endParaRPr lang="es-ES" altLang="es-A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1 Título"/>
          <p:cNvSpPr>
            <a:spLocks noGrp="1"/>
          </p:cNvSpPr>
          <p:nvPr>
            <p:ph type="title"/>
          </p:nvPr>
        </p:nvSpPr>
        <p:spPr>
          <a:xfrm>
            <a:off x="457200" y="274638"/>
            <a:ext cx="8229600" cy="654050"/>
          </a:xfrm>
        </p:spPr>
        <p:txBody>
          <a:bodyPr/>
          <a:lstStyle/>
          <a:p>
            <a:r>
              <a:rPr lang="es-AR" altLang="es-AR" b="1" dirty="0"/>
              <a:t>¿Qué es la accesibilidad web?</a:t>
            </a:r>
          </a:p>
        </p:txBody>
      </p:sp>
      <p:sp>
        <p:nvSpPr>
          <p:cNvPr id="9219" name="2 Marcador de contenido"/>
          <p:cNvSpPr>
            <a:spLocks noGrp="1"/>
          </p:cNvSpPr>
          <p:nvPr>
            <p:ph idx="1"/>
          </p:nvPr>
        </p:nvSpPr>
        <p:spPr>
          <a:xfrm>
            <a:off x="500063" y="1617663"/>
            <a:ext cx="8229600" cy="1025525"/>
          </a:xfrm>
        </p:spPr>
        <p:txBody>
          <a:bodyPr/>
          <a:lstStyle/>
          <a:p>
            <a:r>
              <a:rPr lang="es-AR" altLang="es-AR" dirty="0"/>
              <a:t>Ejemplo de problema de accesibilidad para personas con </a:t>
            </a:r>
            <a:r>
              <a:rPr lang="es-AR" altLang="es-AR" b="1" dirty="0"/>
              <a:t>discapacidad motora </a:t>
            </a:r>
            <a:r>
              <a:rPr lang="es-AR" altLang="es-AR" dirty="0"/>
              <a:t>(paraplejia, Parkinson) y todos en el caso de una fractura en el brazo.</a:t>
            </a:r>
          </a:p>
        </p:txBody>
      </p:sp>
      <p:sp>
        <p:nvSpPr>
          <p:cNvPr id="12" name="CuadroTexto 3"/>
          <p:cNvSpPr txBox="1"/>
          <p:nvPr/>
        </p:nvSpPr>
        <p:spPr>
          <a:xfrm>
            <a:off x="1714500" y="3000375"/>
            <a:ext cx="2884488" cy="3786188"/>
          </a:xfrm>
          <a:prstGeom prst="rect">
            <a:avLst/>
          </a:prstGeom>
          <a:noFill/>
          <a:ln>
            <a:solidFill>
              <a:schemeClr val="accent1"/>
            </a:solidFill>
          </a:ln>
        </p:spPr>
        <p:txBody>
          <a:bodyPr>
            <a:spAutoFit/>
          </a:bodyPr>
          <a:lstStyle/>
          <a:p>
            <a:pPr algn="ctr" eaLnBrk="1" fontAlgn="auto" hangingPunct="1">
              <a:spcBef>
                <a:spcPts val="0"/>
              </a:spcBef>
              <a:spcAft>
                <a:spcPts val="0"/>
              </a:spcAft>
              <a:defRPr/>
            </a:pPr>
            <a:r>
              <a:rPr lang="es-AR" sz="2000" b="1" kern="0" dirty="0">
                <a:solidFill>
                  <a:sysClr val="windowText" lastClr="000000"/>
                </a:solidFill>
                <a:latin typeface="Arial" charset="0"/>
                <a:cs typeface="Arial" charset="0"/>
              </a:rPr>
              <a:t>CURSO</a:t>
            </a:r>
          </a:p>
          <a:p>
            <a:pPr algn="ct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a:p>
            <a:pPr marL="285750" indent="-285750" eaLnBrk="1" fontAlgn="auto" hangingPunct="1">
              <a:spcBef>
                <a:spcPts val="0"/>
              </a:spcBef>
              <a:spcAft>
                <a:spcPts val="0"/>
              </a:spcAft>
              <a:buFont typeface="Arial" panose="020B0604020202020204" pitchFamily="34" charset="0"/>
              <a:buChar char="•"/>
              <a:defRPr/>
            </a:pPr>
            <a:r>
              <a:rPr lang="es-AR" sz="2000" kern="0" dirty="0">
                <a:solidFill>
                  <a:sysClr val="windowText" lastClr="000000"/>
                </a:solidFill>
                <a:latin typeface="Arial" charset="0"/>
                <a:cs typeface="Arial" charset="0"/>
              </a:rPr>
              <a:t>Si pulsa el círculo verde comenzará el curso.</a:t>
            </a:r>
          </a:p>
          <a:p>
            <a:pPr marL="285750" indent="-285750" eaLnBrk="1" fontAlgn="auto" hangingPunct="1">
              <a:spcBef>
                <a:spcPts val="0"/>
              </a:spcBef>
              <a:spcAft>
                <a:spcPts val="0"/>
              </a:spcAft>
              <a:buFont typeface="Arial" panose="020B0604020202020204" pitchFamily="34" charset="0"/>
              <a:buChar char="•"/>
              <a:defRPr/>
            </a:pPr>
            <a:r>
              <a:rPr lang="es-AR" sz="2000" kern="0" dirty="0">
                <a:solidFill>
                  <a:sysClr val="windowText" lastClr="000000"/>
                </a:solidFill>
                <a:latin typeface="Arial" charset="0"/>
                <a:cs typeface="Arial" charset="0"/>
              </a:rPr>
              <a:t>Si pulsa el círculo rojo se eliminará el curso.</a:t>
            </a: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p:txBody>
      </p:sp>
      <p:sp>
        <p:nvSpPr>
          <p:cNvPr id="13" name="Elipse 4"/>
          <p:cNvSpPr/>
          <p:nvPr/>
        </p:nvSpPr>
        <p:spPr>
          <a:xfrm>
            <a:off x="2260600" y="5924550"/>
            <a:ext cx="674688" cy="3937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AR" kern="0" dirty="0">
              <a:solidFill>
                <a:sysClr val="windowText" lastClr="000000"/>
              </a:solidFill>
            </a:endParaRPr>
          </a:p>
        </p:txBody>
      </p:sp>
      <p:sp>
        <p:nvSpPr>
          <p:cNvPr id="14" name="Elipse 5"/>
          <p:cNvSpPr/>
          <p:nvPr/>
        </p:nvSpPr>
        <p:spPr>
          <a:xfrm>
            <a:off x="3500438" y="5924550"/>
            <a:ext cx="676275" cy="3937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AR" kern="0" dirty="0">
              <a:solidFill>
                <a:sysClr val="windowText" lastClr="000000"/>
              </a:solidFill>
            </a:endParaRPr>
          </a:p>
        </p:txBody>
      </p:sp>
      <p:sp>
        <p:nvSpPr>
          <p:cNvPr id="15" name="CuadroTexto 6"/>
          <p:cNvSpPr txBox="1"/>
          <p:nvPr/>
        </p:nvSpPr>
        <p:spPr>
          <a:xfrm>
            <a:off x="1714500" y="2574925"/>
            <a:ext cx="2884488" cy="400050"/>
          </a:xfrm>
          <a:prstGeom prst="rect">
            <a:avLst/>
          </a:prstGeom>
          <a:noFill/>
        </p:spPr>
        <p:txBody>
          <a:bodyPr>
            <a:spAutoFit/>
          </a:bodyPr>
          <a:lstStyle/>
          <a:p>
            <a:pPr algn="ctr" eaLnBrk="1" fontAlgn="auto" hangingPunct="1">
              <a:spcBef>
                <a:spcPts val="0"/>
              </a:spcBef>
              <a:spcAft>
                <a:spcPts val="0"/>
              </a:spcAft>
              <a:defRPr/>
            </a:pPr>
            <a:r>
              <a:rPr lang="es-AR" sz="2000" b="1" kern="0" dirty="0">
                <a:solidFill>
                  <a:srgbClr val="FF0000"/>
                </a:solidFill>
                <a:latin typeface="Arial" charset="0"/>
                <a:cs typeface="Arial" charset="0"/>
              </a:rPr>
              <a:t>NO accesible</a:t>
            </a:r>
          </a:p>
        </p:txBody>
      </p:sp>
      <p:sp>
        <p:nvSpPr>
          <p:cNvPr id="16" name="CuadroTexto 7"/>
          <p:cNvSpPr txBox="1"/>
          <p:nvPr/>
        </p:nvSpPr>
        <p:spPr>
          <a:xfrm>
            <a:off x="5116513" y="2984500"/>
            <a:ext cx="2884487" cy="3786188"/>
          </a:xfrm>
          <a:prstGeom prst="rect">
            <a:avLst/>
          </a:prstGeom>
          <a:noFill/>
          <a:ln>
            <a:solidFill>
              <a:schemeClr val="accent1"/>
            </a:solidFill>
          </a:ln>
        </p:spPr>
        <p:txBody>
          <a:bodyPr>
            <a:spAutoFit/>
          </a:bodyPr>
          <a:lstStyle/>
          <a:p>
            <a:pPr algn="ctr" eaLnBrk="1" fontAlgn="auto" hangingPunct="1">
              <a:spcBef>
                <a:spcPts val="0"/>
              </a:spcBef>
              <a:spcAft>
                <a:spcPts val="0"/>
              </a:spcAft>
              <a:defRPr/>
            </a:pPr>
            <a:r>
              <a:rPr lang="es-AR" sz="2000" b="1" kern="0" dirty="0">
                <a:solidFill>
                  <a:sysClr val="windowText" lastClr="000000"/>
                </a:solidFill>
                <a:latin typeface="Arial" charset="0"/>
                <a:cs typeface="Arial" charset="0"/>
              </a:rPr>
              <a:t>CURSO</a:t>
            </a:r>
          </a:p>
          <a:p>
            <a:pPr algn="ct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a:p>
            <a:pPr marL="285750" indent="-285750" eaLnBrk="1" fontAlgn="auto" hangingPunct="1">
              <a:spcBef>
                <a:spcPts val="0"/>
              </a:spcBef>
              <a:spcAft>
                <a:spcPts val="0"/>
              </a:spcAft>
              <a:buFont typeface="Arial" panose="020B0604020202020204" pitchFamily="34" charset="0"/>
              <a:buChar char="•"/>
              <a:defRPr/>
            </a:pPr>
            <a:r>
              <a:rPr lang="es-AR" sz="2000" kern="0" dirty="0">
                <a:solidFill>
                  <a:sysClr val="windowText" lastClr="000000"/>
                </a:solidFill>
                <a:latin typeface="Arial" charset="0"/>
                <a:cs typeface="Arial" charset="0"/>
              </a:rPr>
              <a:t>Si pulsa </a:t>
            </a:r>
            <a:r>
              <a:rPr lang="es-AR" sz="2000" u="sng" kern="0" dirty="0">
                <a:solidFill>
                  <a:sysClr val="windowText" lastClr="000000"/>
                </a:solidFill>
                <a:latin typeface="Arial" charset="0"/>
                <a:cs typeface="Arial" charset="0"/>
              </a:rPr>
              <a:t>aquí</a:t>
            </a:r>
            <a:r>
              <a:rPr lang="es-AR" sz="2000" kern="0" dirty="0">
                <a:solidFill>
                  <a:sysClr val="windowText" lastClr="000000"/>
                </a:solidFill>
                <a:latin typeface="Arial" charset="0"/>
                <a:cs typeface="Arial" charset="0"/>
              </a:rPr>
              <a:t> o el círculo verde comenzará el curso.</a:t>
            </a:r>
          </a:p>
          <a:p>
            <a:pPr marL="285750" indent="-285750" eaLnBrk="1" fontAlgn="auto" hangingPunct="1">
              <a:spcBef>
                <a:spcPts val="0"/>
              </a:spcBef>
              <a:spcAft>
                <a:spcPts val="0"/>
              </a:spcAft>
              <a:buFont typeface="Arial" panose="020B0604020202020204" pitchFamily="34" charset="0"/>
              <a:buChar char="•"/>
              <a:defRPr/>
            </a:pPr>
            <a:r>
              <a:rPr lang="es-AR" sz="2000" kern="0" dirty="0">
                <a:solidFill>
                  <a:sysClr val="windowText" lastClr="000000"/>
                </a:solidFill>
                <a:latin typeface="Arial" charset="0"/>
                <a:cs typeface="Arial" charset="0"/>
              </a:rPr>
              <a:t>Si pulsa </a:t>
            </a:r>
            <a:r>
              <a:rPr lang="es-AR" sz="2000" u="sng" kern="0" dirty="0">
                <a:solidFill>
                  <a:sysClr val="windowText" lastClr="000000"/>
                </a:solidFill>
                <a:latin typeface="Arial" charset="0"/>
                <a:cs typeface="Arial" charset="0"/>
              </a:rPr>
              <a:t>aquí</a:t>
            </a:r>
            <a:r>
              <a:rPr lang="es-AR" sz="2000" kern="0" dirty="0">
                <a:solidFill>
                  <a:sysClr val="windowText" lastClr="000000"/>
                </a:solidFill>
                <a:latin typeface="Arial" charset="0"/>
                <a:cs typeface="Arial" charset="0"/>
              </a:rPr>
              <a:t> o el círculo rojo se eliminará el curso.</a:t>
            </a:r>
          </a:p>
          <a:p>
            <a:pPr marL="285750" indent="-285750" eaLnBrk="1" fontAlgn="auto" hangingPunct="1">
              <a:spcBef>
                <a:spcPts val="0"/>
              </a:spcBef>
              <a:spcAft>
                <a:spcPts val="0"/>
              </a:spcAft>
              <a:buFont typeface="Arial" panose="020B0604020202020204" pitchFamily="34" charset="0"/>
              <a:buChar char="•"/>
              <a:defRPr/>
            </a:pPr>
            <a:endParaRPr lang="es-AR" sz="2000" kern="0" dirty="0">
              <a:solidFill>
                <a:sysClr val="windowText" lastClr="000000"/>
              </a:solidFill>
              <a:latin typeface="Arial" charset="0"/>
              <a:cs typeface="Arial" charset="0"/>
            </a:endParaRP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p:txBody>
      </p:sp>
      <p:sp>
        <p:nvSpPr>
          <p:cNvPr id="17" name="Elipse 8"/>
          <p:cNvSpPr/>
          <p:nvPr/>
        </p:nvSpPr>
        <p:spPr>
          <a:xfrm>
            <a:off x="5638800" y="5924550"/>
            <a:ext cx="674688" cy="3937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AR" kern="0" dirty="0">
              <a:solidFill>
                <a:sysClr val="windowText" lastClr="000000"/>
              </a:solidFill>
            </a:endParaRPr>
          </a:p>
        </p:txBody>
      </p:sp>
      <p:sp>
        <p:nvSpPr>
          <p:cNvPr id="18" name="Elipse 9"/>
          <p:cNvSpPr/>
          <p:nvPr/>
        </p:nvSpPr>
        <p:spPr>
          <a:xfrm>
            <a:off x="6832600" y="5924550"/>
            <a:ext cx="674688" cy="3937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AR" kern="0" dirty="0">
              <a:solidFill>
                <a:sysClr val="windowText" lastClr="000000"/>
              </a:solidFill>
            </a:endParaRPr>
          </a:p>
        </p:txBody>
      </p:sp>
      <p:sp>
        <p:nvSpPr>
          <p:cNvPr id="19" name="CuadroTexto 10"/>
          <p:cNvSpPr txBox="1"/>
          <p:nvPr/>
        </p:nvSpPr>
        <p:spPr>
          <a:xfrm>
            <a:off x="5116513" y="2559050"/>
            <a:ext cx="2884487" cy="400050"/>
          </a:xfrm>
          <a:prstGeom prst="rect">
            <a:avLst/>
          </a:prstGeom>
          <a:noFill/>
        </p:spPr>
        <p:txBody>
          <a:bodyPr>
            <a:spAutoFit/>
          </a:bodyPr>
          <a:lstStyle/>
          <a:p>
            <a:pPr algn="ctr" eaLnBrk="1" fontAlgn="auto" hangingPunct="1">
              <a:spcBef>
                <a:spcPts val="0"/>
              </a:spcBef>
              <a:spcAft>
                <a:spcPts val="0"/>
              </a:spcAft>
              <a:defRPr/>
            </a:pPr>
            <a:r>
              <a:rPr lang="es-AR" sz="2000" b="1" kern="0" dirty="0">
                <a:solidFill>
                  <a:srgbClr val="92D050"/>
                </a:solidFill>
                <a:latin typeface="Arial" charset="0"/>
                <a:cs typeface="Arial" charset="0"/>
              </a:rPr>
              <a:t>Accesible</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a:t>
            </a:fld>
            <a:endParaRPr lang="es-ES" altLang="es-AR"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path" presetSubtype="0" repeatCount="indefinite" fill="hold" grpId="0" nodeType="withEffect">
                                  <p:stCondLst>
                                    <p:cond delay="0"/>
                                  </p:stCondLst>
                                  <p:childTnLst>
                                    <p:animMotion origin="layout" path="M 2.70833E-6 2.22222E-6 C 0.01523 2.22222E-6 0.02786 0.0169 0.02786 0.03866 C 0.02786 0.05995 0.01523 0.07824 2.70833E-6 0.07824 C -0.01537 0.07824 -0.02748 0.05995 -0.02748 0.03866 C -0.02748 0.0169 -0.01537 2.22222E-6 2.70833E-6 2.22222E-6 Z " pathEditMode="relative" rAng="0" ptsTypes="AAAAA">
                                      <p:cBhvr>
                                        <p:cTn id="6" dur="2000" fill="hold"/>
                                        <p:tgtEl>
                                          <p:spTgt spid="13"/>
                                        </p:tgtEl>
                                        <p:attrNameLst>
                                          <p:attrName>ppt_x</p:attrName>
                                          <p:attrName>ppt_y</p:attrName>
                                        </p:attrNameLst>
                                      </p:cBhvr>
                                      <p:rCtr x="1300" y="391200"/>
                                    </p:animMotion>
                                  </p:childTnLst>
                                </p:cTn>
                              </p:par>
                              <p:par>
                                <p:cTn id="7" presetID="1" presetClass="path" presetSubtype="0" repeatCount="indefinite" fill="hold" grpId="0" nodeType="withEffect">
                                  <p:stCondLst>
                                    <p:cond delay="0"/>
                                  </p:stCondLst>
                                  <p:childTnLst>
                                    <p:animMotion origin="layout" path="M 1.04167E-6 -4.07407E-6 C 0.01523 -4.07407E-6 0.02786 0.0169 0.02786 0.03866 C 0.02786 0.05996 0.01523 0.07824 1.04167E-6 0.07824 C -0.01537 0.07824 -0.02747 0.05996 -0.02747 0.03866 C -0.02747 0.0169 -0.01537 -4.07407E-6 1.04167E-6 -4.07407E-6 Z " pathEditMode="relative" rAng="0" ptsTypes="AAAAA">
                                      <p:cBhvr>
                                        <p:cTn id="8" dur="2000" fill="hold"/>
                                        <p:tgtEl>
                                          <p:spTgt spid="14"/>
                                        </p:tgtEl>
                                        <p:attrNameLst>
                                          <p:attrName>ppt_x</p:attrName>
                                          <p:attrName>ppt_y</p:attrName>
                                        </p:attrNameLst>
                                      </p:cBhvr>
                                      <p:rCtr x="1300" y="391200"/>
                                    </p:animMotion>
                                  </p:childTnLst>
                                </p:cTn>
                              </p:par>
                              <p:par>
                                <p:cTn id="9" presetID="1" presetClass="path" presetSubtype="0" repeatCount="indefinite" fill="hold" grpId="0" nodeType="withEffect">
                                  <p:stCondLst>
                                    <p:cond delay="0"/>
                                  </p:stCondLst>
                                  <p:childTnLst>
                                    <p:animMotion origin="layout" path="M -3.75E-6 2.22222E-6 C 0.01524 2.22222E-6 0.02787 0.0169 0.02787 0.03866 C 0.02787 0.05995 0.01524 0.07824 -3.75E-6 0.07824 C -0.01536 0.07824 -0.02747 0.05995 -0.02747 0.03866 C -0.02747 0.0169 -0.01536 2.22222E-6 -3.75E-6 2.22222E-6 Z " pathEditMode="relative" rAng="0" ptsTypes="AAAAA">
                                      <p:cBhvr>
                                        <p:cTn id="10" dur="2000" fill="hold"/>
                                        <p:tgtEl>
                                          <p:spTgt spid="17"/>
                                        </p:tgtEl>
                                        <p:attrNameLst>
                                          <p:attrName>ppt_x</p:attrName>
                                          <p:attrName>ppt_y</p:attrName>
                                        </p:attrNameLst>
                                      </p:cBhvr>
                                      <p:rCtr x="1300" y="391200"/>
                                    </p:animMotion>
                                  </p:childTnLst>
                                </p:cTn>
                              </p:par>
                              <p:par>
                                <p:cTn id="11" presetID="1" presetClass="path" presetSubtype="0" repeatCount="indefinite" fill="hold" grpId="0" nodeType="withEffect">
                                  <p:stCondLst>
                                    <p:cond delay="0"/>
                                  </p:stCondLst>
                                  <p:childTnLst>
                                    <p:animMotion origin="layout" path="M 4.58333E-6 2.22222E-6 C 0.01523 2.22222E-6 0.02786 0.0169 0.02786 0.03866 C 0.02786 0.05995 0.01523 0.07824 4.58333E-6 0.07824 C -0.01537 0.07824 -0.02748 0.05995 -0.02748 0.03866 C -0.02748 0.0169 -0.01537 2.22222E-6 4.58333E-6 2.22222E-6 Z " pathEditMode="relative" rAng="0" ptsTypes="AAAAA">
                                      <p:cBhvr>
                                        <p:cTn id="12" dur="2000" fill="hold"/>
                                        <p:tgtEl>
                                          <p:spTgt spid="18"/>
                                        </p:tgtEl>
                                        <p:attrNameLst>
                                          <p:attrName>ppt_x</p:attrName>
                                          <p:attrName>ppt_y</p:attrName>
                                        </p:attrNameLst>
                                      </p:cBhvr>
                                      <p:rCtr x="1300" y="3912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1 Título"/>
          <p:cNvSpPr>
            <a:spLocks noGrp="1"/>
          </p:cNvSpPr>
          <p:nvPr>
            <p:ph type="title"/>
          </p:nvPr>
        </p:nvSpPr>
        <p:spPr>
          <a:xfrm>
            <a:off x="457200" y="274638"/>
            <a:ext cx="8229600" cy="654050"/>
          </a:xfrm>
        </p:spPr>
        <p:txBody>
          <a:bodyPr/>
          <a:lstStyle/>
          <a:p>
            <a:r>
              <a:rPr lang="es-AR" altLang="es-AR" b="1" dirty="0"/>
              <a:t>¿Qué es la accesibilidad web?</a:t>
            </a:r>
          </a:p>
        </p:txBody>
      </p:sp>
      <p:sp>
        <p:nvSpPr>
          <p:cNvPr id="15363" name="2 Marcador de contenido"/>
          <p:cNvSpPr>
            <a:spLocks noGrp="1"/>
          </p:cNvSpPr>
          <p:nvPr>
            <p:ph idx="1"/>
          </p:nvPr>
        </p:nvSpPr>
        <p:spPr>
          <a:xfrm>
            <a:off x="251520" y="1340768"/>
            <a:ext cx="7563722" cy="1099297"/>
          </a:xfrm>
        </p:spPr>
        <p:txBody>
          <a:bodyPr/>
          <a:lstStyle/>
          <a:p>
            <a:r>
              <a:rPr lang="es-AR" altLang="es-AR" dirty="0"/>
              <a:t>¿Sabías que…</a:t>
            </a:r>
          </a:p>
          <a:p>
            <a:pPr lvl="1"/>
            <a:r>
              <a:rPr lang="es-AR" altLang="es-AR" dirty="0"/>
              <a:t>Un sitio web puede ser accesible y no por eso tiene que ser “feo y aburrido”.</a:t>
            </a:r>
          </a:p>
        </p:txBody>
      </p:sp>
      <p:pic>
        <p:nvPicPr>
          <p:cNvPr id="1536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4586" t="6416" r="25250" b="52352"/>
          <a:stretch/>
        </p:blipFill>
        <p:spPr bwMode="auto">
          <a:xfrm>
            <a:off x="899592" y="2492896"/>
            <a:ext cx="7787208" cy="36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a:t>
            </a:fld>
            <a:endParaRPr lang="es-ES" altLang="es-A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1 Título"/>
          <p:cNvSpPr>
            <a:spLocks noGrp="1"/>
          </p:cNvSpPr>
          <p:nvPr>
            <p:ph type="title"/>
          </p:nvPr>
        </p:nvSpPr>
        <p:spPr>
          <a:xfrm>
            <a:off x="457200" y="274638"/>
            <a:ext cx="8229600" cy="654050"/>
          </a:xfrm>
        </p:spPr>
        <p:txBody>
          <a:bodyPr/>
          <a:lstStyle/>
          <a:p>
            <a:r>
              <a:rPr lang="es-AR" altLang="es-AR" b="1" dirty="0"/>
              <a:t>¿Qué es la accesibilidad web?</a:t>
            </a:r>
          </a:p>
        </p:txBody>
      </p:sp>
      <p:sp>
        <p:nvSpPr>
          <p:cNvPr id="16387" name="2 Marcador de contenido"/>
          <p:cNvSpPr>
            <a:spLocks noGrp="1"/>
          </p:cNvSpPr>
          <p:nvPr>
            <p:ph idx="1"/>
          </p:nvPr>
        </p:nvSpPr>
        <p:spPr>
          <a:xfrm>
            <a:off x="457200" y="1700808"/>
            <a:ext cx="8229600" cy="2025650"/>
          </a:xfrm>
        </p:spPr>
        <p:txBody>
          <a:bodyPr/>
          <a:lstStyle/>
          <a:p>
            <a:r>
              <a:rPr lang="es-AR" altLang="es-AR" dirty="0"/>
              <a:t>¿Sabías que…</a:t>
            </a:r>
          </a:p>
          <a:p>
            <a:pPr lvl="1"/>
            <a:r>
              <a:rPr lang="es-AR" altLang="es-AR" dirty="0"/>
              <a:t>En Argentina, de acuerdo con la legislación vigente, todas las páginas web del Estado Nacional deben ser accesibles para las personas con discapacidad y por usuarios que posean diversas configuraciones en su equipamiento o en sus programas desde el 3 de noviembre de 2010.</a:t>
            </a:r>
          </a:p>
          <a:p>
            <a:pPr lvl="1">
              <a:buFontTx/>
              <a:buNone/>
            </a:pPr>
            <a:endParaRPr lang="es-AR" altLang="es-AR" dirty="0"/>
          </a:p>
          <a:p>
            <a:pPr lvl="1">
              <a:buFontTx/>
              <a:buNone/>
            </a:pPr>
            <a:r>
              <a:rPr lang="es-AR" altLang="es-AR" dirty="0"/>
              <a:t>					Ley 26653</a:t>
            </a:r>
          </a:p>
        </p:txBody>
      </p:sp>
      <p:pic>
        <p:nvPicPr>
          <p:cNvPr id="16388" name="5 Imagen" descr="unnamed.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08104" y="3356992"/>
            <a:ext cx="3096344" cy="3096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a:t>
            </a:fld>
            <a:endParaRPr lang="es-ES" altLang="es-A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1 Título"/>
          <p:cNvSpPr>
            <a:spLocks noGrp="1"/>
          </p:cNvSpPr>
          <p:nvPr>
            <p:ph type="title"/>
          </p:nvPr>
        </p:nvSpPr>
        <p:spPr>
          <a:xfrm>
            <a:off x="457200" y="274638"/>
            <a:ext cx="8229600" cy="654050"/>
          </a:xfrm>
        </p:spPr>
        <p:txBody>
          <a:bodyPr/>
          <a:lstStyle/>
          <a:p>
            <a:r>
              <a:rPr lang="es-AR" altLang="es-AR" b="1" dirty="0"/>
              <a:t>¿Qué es la accesibilidad web?</a:t>
            </a:r>
          </a:p>
        </p:txBody>
      </p:sp>
      <p:sp>
        <p:nvSpPr>
          <p:cNvPr id="17411" name="2 Marcador de contenido"/>
          <p:cNvSpPr>
            <a:spLocks noGrp="1"/>
          </p:cNvSpPr>
          <p:nvPr>
            <p:ph idx="1"/>
          </p:nvPr>
        </p:nvSpPr>
        <p:spPr>
          <a:xfrm>
            <a:off x="446936" y="1470204"/>
            <a:ext cx="8229600" cy="1238250"/>
          </a:xfrm>
        </p:spPr>
        <p:txBody>
          <a:bodyPr/>
          <a:lstStyle/>
          <a:p>
            <a:r>
              <a:rPr lang="es-AR" altLang="es-AR" dirty="0"/>
              <a:t>¿Sabías que…</a:t>
            </a:r>
          </a:p>
          <a:p>
            <a:pPr lvl="1"/>
            <a:r>
              <a:rPr lang="es-AR" altLang="es-AR" dirty="0"/>
              <a:t>La accesibilidad web busca que una página web se visualice correctamente en cualquier dispositivo.</a:t>
            </a:r>
          </a:p>
          <a:p>
            <a:pPr lvl="1">
              <a:buFontTx/>
              <a:buNone/>
            </a:pPr>
            <a:endParaRPr lang="es-AR" altLang="es-AR" dirty="0"/>
          </a:p>
          <a:p>
            <a:pPr lvl="1">
              <a:buFontTx/>
              <a:buNone/>
            </a:pPr>
            <a:r>
              <a:rPr lang="es-AR" altLang="es-AR" dirty="0"/>
              <a:t>					</a:t>
            </a:r>
          </a:p>
        </p:txBody>
      </p:sp>
      <p:pic>
        <p:nvPicPr>
          <p:cNvPr id="17412" name="Picture 2" descr="Como usar el diseño responsable o adaptable en un sitio we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2492896"/>
            <a:ext cx="3922613" cy="4020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a:t>
            </a:fld>
            <a:endParaRPr lang="es-ES" altLang="es-A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1 Título"/>
          <p:cNvSpPr>
            <a:spLocks noGrp="1"/>
          </p:cNvSpPr>
          <p:nvPr>
            <p:ph type="title"/>
          </p:nvPr>
        </p:nvSpPr>
        <p:spPr>
          <a:xfrm>
            <a:off x="457200" y="274638"/>
            <a:ext cx="8229600" cy="654050"/>
          </a:xfrm>
        </p:spPr>
        <p:txBody>
          <a:bodyPr/>
          <a:lstStyle/>
          <a:p>
            <a:r>
              <a:rPr lang="es-AR" altLang="es-AR" b="1" dirty="0"/>
              <a:t>¿Qué es la accesibilidad web?</a:t>
            </a:r>
          </a:p>
        </p:txBody>
      </p:sp>
      <p:sp>
        <p:nvSpPr>
          <p:cNvPr id="18435" name="2 Marcador de contenido"/>
          <p:cNvSpPr>
            <a:spLocks noGrp="1"/>
          </p:cNvSpPr>
          <p:nvPr>
            <p:ph idx="1"/>
          </p:nvPr>
        </p:nvSpPr>
        <p:spPr>
          <a:xfrm>
            <a:off x="254932" y="1273998"/>
            <a:ext cx="7600270" cy="1238250"/>
          </a:xfrm>
        </p:spPr>
        <p:txBody>
          <a:bodyPr/>
          <a:lstStyle/>
          <a:p>
            <a:r>
              <a:rPr lang="es-AR" altLang="es-AR" dirty="0"/>
              <a:t>¿Sabías que…</a:t>
            </a:r>
          </a:p>
          <a:p>
            <a:pPr lvl="1"/>
            <a:r>
              <a:rPr lang="es-AR" altLang="es-AR" dirty="0"/>
              <a:t>La accesibilidad web puede ayudar a mejorar el posicionamiento de un sitio web.</a:t>
            </a:r>
          </a:p>
          <a:p>
            <a:pPr lvl="1">
              <a:buFontTx/>
              <a:buNone/>
            </a:pPr>
            <a:endParaRPr lang="es-AR" altLang="es-AR" dirty="0"/>
          </a:p>
          <a:p>
            <a:pPr lvl="1">
              <a:buFontTx/>
              <a:buNone/>
            </a:pPr>
            <a:r>
              <a:rPr lang="es-AR" altLang="es-AR" dirty="0"/>
              <a:t>					</a:t>
            </a:r>
          </a:p>
        </p:txBody>
      </p:sp>
      <p:sp>
        <p:nvSpPr>
          <p:cNvPr id="11" name="2 Marcador de contenido"/>
          <p:cNvSpPr txBox="1">
            <a:spLocks/>
          </p:cNvSpPr>
          <p:nvPr/>
        </p:nvSpPr>
        <p:spPr bwMode="auto">
          <a:xfrm>
            <a:off x="544883" y="4745692"/>
            <a:ext cx="82296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cs typeface="+mn-cs"/>
              </a:defRPr>
            </a:lvl2pPr>
            <a:lvl3pPr marL="1143000" indent="-228600" algn="l" rtl="0" eaLnBrk="0" fontAlgn="base" hangingPunct="0">
              <a:spcBef>
                <a:spcPct val="20000"/>
              </a:spcBef>
              <a:spcAft>
                <a:spcPct val="0"/>
              </a:spcAft>
              <a:buChar char="•"/>
              <a:defRPr sz="20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lgn="ctr">
              <a:buFontTx/>
              <a:buNone/>
              <a:defRPr/>
            </a:pPr>
            <a:r>
              <a:rPr lang="es-AR" dirty="0"/>
              <a:t>Se comportan como un usuario ciego.</a:t>
            </a:r>
          </a:p>
          <a:p>
            <a:pPr algn="ctr">
              <a:buFontTx/>
              <a:buNone/>
              <a:defRPr/>
            </a:pPr>
            <a:endParaRPr lang="es-AR" altLang="es-AR" kern="0" dirty="0"/>
          </a:p>
          <a:p>
            <a:pPr lvl="1">
              <a:buFontTx/>
              <a:buNone/>
              <a:defRPr/>
            </a:pPr>
            <a:r>
              <a:rPr lang="es-AR" altLang="es-AR" kern="0" dirty="0"/>
              <a:t>					</a:t>
            </a:r>
          </a:p>
        </p:txBody>
      </p:sp>
      <p:pic>
        <p:nvPicPr>
          <p:cNvPr id="1026" name="Picture 2" descr="Resultado de imagen para bing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30031" y="2482323"/>
            <a:ext cx="3656769" cy="242239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sultado de imagen para google 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940034"/>
            <a:ext cx="4202483" cy="1400828"/>
          </a:xfrm>
          <a:prstGeom prst="rect">
            <a:avLst/>
          </a:prstGeom>
          <a:noFill/>
          <a:extLst>
            <a:ext uri="{909E8E84-426E-40DD-AFC4-6F175D3DCCD1}">
              <a14:hiddenFill xmlns:a14="http://schemas.microsoft.com/office/drawing/2010/main">
                <a:solidFill>
                  <a:srgbClr val="FFFFFF"/>
                </a:solidFill>
              </a14:hiddenFill>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a:t>
            </a:fld>
            <a:endParaRPr lang="es-ES" altLang="es-A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1 Título"/>
          <p:cNvSpPr>
            <a:spLocks noGrp="1"/>
          </p:cNvSpPr>
          <p:nvPr>
            <p:ph type="title"/>
          </p:nvPr>
        </p:nvSpPr>
        <p:spPr>
          <a:xfrm>
            <a:off x="457200" y="274638"/>
            <a:ext cx="8229600" cy="654050"/>
          </a:xfrm>
        </p:spPr>
        <p:txBody>
          <a:bodyPr/>
          <a:lstStyle/>
          <a:p>
            <a:r>
              <a:rPr lang="es-AR" altLang="es-AR" b="1" dirty="0"/>
              <a:t>Organización</a:t>
            </a:r>
          </a:p>
        </p:txBody>
      </p:sp>
      <p:sp>
        <p:nvSpPr>
          <p:cNvPr id="22531" name="2 Marcador de contenido"/>
          <p:cNvSpPr>
            <a:spLocks noGrp="1"/>
          </p:cNvSpPr>
          <p:nvPr>
            <p:ph idx="1"/>
          </p:nvPr>
        </p:nvSpPr>
        <p:spPr/>
        <p:txBody>
          <a:bodyPr/>
          <a:lstStyle/>
          <a:p>
            <a:r>
              <a:rPr lang="es-AR" altLang="es-AR" dirty="0"/>
              <a:t>¿Qué es la accesibilidad web?</a:t>
            </a:r>
          </a:p>
          <a:p>
            <a:r>
              <a:rPr lang="es-AR" altLang="es-AR" b="1" dirty="0">
                <a:solidFill>
                  <a:srgbClr val="0070C0"/>
                </a:solidFill>
              </a:rPr>
              <a:t>Pautas y leyes.</a:t>
            </a:r>
          </a:p>
          <a:p>
            <a:r>
              <a:rPr lang="es-AR" altLang="es-AR" dirty="0"/>
              <a:t>Contenido accesible.</a:t>
            </a:r>
          </a:p>
          <a:p>
            <a:r>
              <a:rPr lang="es-AR" altLang="es-AR" dirty="0"/>
              <a:t>Navegación accesible.</a:t>
            </a:r>
          </a:p>
          <a:p>
            <a:r>
              <a:rPr lang="es-AR" altLang="es-AR" dirty="0"/>
              <a:t>Diseño accesible.</a:t>
            </a:r>
          </a:p>
          <a:p>
            <a:r>
              <a:rPr lang="es-AR" altLang="es-AR" dirty="0"/>
              <a:t>Análisis y evaluación de la accesibilidad web.</a:t>
            </a:r>
          </a:p>
          <a:p>
            <a:r>
              <a:rPr lang="es-AR" altLang="es-AR" dirty="0"/>
              <a:t>Conclusiones.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13</a:t>
            </a:fld>
            <a:endParaRPr lang="es-ES" altLang="es-A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1 Título"/>
          <p:cNvSpPr>
            <a:spLocks noGrp="1"/>
          </p:cNvSpPr>
          <p:nvPr>
            <p:ph type="title"/>
          </p:nvPr>
        </p:nvSpPr>
        <p:spPr>
          <a:xfrm>
            <a:off x="457200" y="274638"/>
            <a:ext cx="8229600" cy="654050"/>
          </a:xfrm>
        </p:spPr>
        <p:txBody>
          <a:bodyPr/>
          <a:lstStyle/>
          <a:p>
            <a:r>
              <a:rPr lang="es-AR" altLang="es-AR" b="1" dirty="0"/>
              <a:t>Pautas y leyes</a:t>
            </a:r>
          </a:p>
        </p:txBody>
      </p:sp>
      <p:sp>
        <p:nvSpPr>
          <p:cNvPr id="12291" name="2 Marcador de contenido"/>
          <p:cNvSpPr>
            <a:spLocks noGrp="1"/>
          </p:cNvSpPr>
          <p:nvPr>
            <p:ph idx="1"/>
          </p:nvPr>
        </p:nvSpPr>
        <p:spPr/>
        <p:txBody>
          <a:bodyPr/>
          <a:lstStyle/>
          <a:p>
            <a:pPr>
              <a:defRPr/>
            </a:pPr>
            <a:r>
              <a:rPr lang="es-AR" altLang="es-AR" dirty="0"/>
              <a:t>Introducción</a:t>
            </a:r>
          </a:p>
          <a:p>
            <a:pPr marL="0" indent="0">
              <a:buFontTx/>
              <a:buNone/>
              <a:defRPr/>
            </a:pPr>
            <a:endParaRPr lang="es-AR" altLang="es-AR" dirty="0"/>
          </a:p>
          <a:p>
            <a:pPr lvl="1">
              <a:lnSpc>
                <a:spcPct val="90000"/>
              </a:lnSpc>
              <a:defRPr/>
            </a:pPr>
            <a:r>
              <a:rPr lang="es-AR" dirty="0"/>
              <a:t>Desde el año 1999 existen numerosas pautas (consejos) que ayudan a los desarrolladores web a crear sitios web accesibles.</a:t>
            </a:r>
          </a:p>
          <a:p>
            <a:pPr lvl="1">
              <a:lnSpc>
                <a:spcPct val="90000"/>
              </a:lnSpc>
              <a:defRPr/>
            </a:pPr>
            <a:r>
              <a:rPr lang="es-AR" dirty="0"/>
              <a:t> Las más famosas son las Pautas de Accesibilidad al Contenido Web (</a:t>
            </a:r>
            <a:r>
              <a:rPr lang="es-AR" i="1" dirty="0"/>
              <a:t>Web Content </a:t>
            </a:r>
            <a:r>
              <a:rPr lang="es-AR" i="1" dirty="0" err="1"/>
              <a:t>Accessibility</a:t>
            </a:r>
            <a:r>
              <a:rPr lang="es-AR" i="1" dirty="0"/>
              <a:t> </a:t>
            </a:r>
            <a:r>
              <a:rPr lang="es-AR" i="1" dirty="0" err="1"/>
              <a:t>Guidelines</a:t>
            </a:r>
            <a:r>
              <a:rPr lang="es-AR" dirty="0"/>
              <a:t>) desarrolladas por el grupo Web </a:t>
            </a:r>
            <a:r>
              <a:rPr lang="es-AR" dirty="0" err="1"/>
              <a:t>Accessibility</a:t>
            </a:r>
            <a:r>
              <a:rPr lang="es-AR" dirty="0"/>
              <a:t> </a:t>
            </a:r>
            <a:r>
              <a:rPr lang="es-AR" dirty="0" err="1"/>
              <a:t>Initiative</a:t>
            </a:r>
            <a:r>
              <a:rPr lang="es-AR" dirty="0"/>
              <a:t> del W3C.</a:t>
            </a:r>
          </a:p>
          <a:p>
            <a:pPr lvl="1">
              <a:lnSpc>
                <a:spcPct val="90000"/>
              </a:lnSpc>
              <a:defRPr/>
            </a:pPr>
            <a:r>
              <a:rPr lang="es-AR" dirty="0"/>
              <a:t>Las pautas del W3C son consideradas como estándares internacionales de accesibilidad web. </a:t>
            </a:r>
          </a:p>
          <a:p>
            <a:pPr lvl="1">
              <a:lnSpc>
                <a:spcPct val="90000"/>
              </a:lnSpc>
              <a:defRPr/>
            </a:pPr>
            <a:r>
              <a:rPr lang="es-AR" dirty="0"/>
              <a:t>En muchos países, la legislación sobre accesibilidad web emplea las pautas del W3C como marco de referencia. </a:t>
            </a:r>
            <a:endParaRPr lang="es-AR" alt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14</a:t>
            </a:fld>
            <a:endParaRPr lang="es-ES" altLang="es-A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1 Título"/>
          <p:cNvSpPr>
            <a:spLocks noGrp="1"/>
          </p:cNvSpPr>
          <p:nvPr>
            <p:ph type="title"/>
          </p:nvPr>
        </p:nvSpPr>
        <p:spPr>
          <a:xfrm>
            <a:off x="457200" y="274638"/>
            <a:ext cx="8229600" cy="654050"/>
          </a:xfrm>
        </p:spPr>
        <p:txBody>
          <a:bodyPr/>
          <a:lstStyle/>
          <a:p>
            <a:r>
              <a:rPr lang="es-AR" altLang="es-AR" b="1"/>
              <a:t>Pautas y leyes</a:t>
            </a:r>
          </a:p>
        </p:txBody>
      </p:sp>
      <p:sp>
        <p:nvSpPr>
          <p:cNvPr id="7" name="2 Marcador de contenido"/>
          <p:cNvSpPr txBox="1">
            <a:spLocks/>
          </p:cNvSpPr>
          <p:nvPr/>
        </p:nvSpPr>
        <p:spPr bwMode="auto">
          <a:xfrm>
            <a:off x="735329" y="4653529"/>
            <a:ext cx="8077200" cy="1799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cs typeface="+mn-cs"/>
              </a:defRPr>
            </a:lvl2pPr>
            <a:lvl3pPr marL="1143000" indent="-228600" algn="l" rtl="0" eaLnBrk="0" fontAlgn="base" hangingPunct="0">
              <a:spcBef>
                <a:spcPct val="20000"/>
              </a:spcBef>
              <a:spcAft>
                <a:spcPct val="0"/>
              </a:spcAft>
              <a:buChar char="•"/>
              <a:defRPr sz="20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r>
              <a:rPr lang="es-AR" dirty="0"/>
              <a:t>WCAG 2.0:  son las Pautas de Accesibilidad Web.</a:t>
            </a:r>
          </a:p>
          <a:p>
            <a:r>
              <a:rPr lang="es-AR" dirty="0"/>
              <a:t>WAI: Iniciativa de Accesibilidad Web, es el grupo de trabajo permanente para promover soluciones de accesibilidad en la web.</a:t>
            </a:r>
          </a:p>
          <a:p>
            <a:r>
              <a:rPr lang="es-AR" dirty="0"/>
              <a:t>W3C: Consorcio World Wide Web, es la organización internacional que trabaja en el desarrollo de estándares web.</a:t>
            </a:r>
            <a:endParaRPr lang="es-AR" altLang="es-AR" kern="0" dirty="0"/>
          </a:p>
        </p:txBody>
      </p:sp>
      <p:grpSp>
        <p:nvGrpSpPr>
          <p:cNvPr id="9" name="Grupo 8"/>
          <p:cNvGrpSpPr/>
          <p:nvPr/>
        </p:nvGrpSpPr>
        <p:grpSpPr>
          <a:xfrm>
            <a:off x="2018471" y="1387402"/>
            <a:ext cx="5256584" cy="3118072"/>
            <a:chOff x="1908175" y="2133600"/>
            <a:chExt cx="5645150" cy="4175125"/>
          </a:xfrm>
        </p:grpSpPr>
        <p:sp>
          <p:nvSpPr>
            <p:cNvPr id="10" name="4 Elipse"/>
            <p:cNvSpPr/>
            <p:nvPr/>
          </p:nvSpPr>
          <p:spPr>
            <a:xfrm>
              <a:off x="1908175" y="2133600"/>
              <a:ext cx="5645150" cy="417512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s-AR" sz="2000" b="1" dirty="0">
                  <a:solidFill>
                    <a:schemeClr val="tx1"/>
                  </a:solidFill>
                </a:rPr>
                <a:t>W3C</a:t>
              </a:r>
            </a:p>
          </p:txBody>
        </p:sp>
        <p:sp>
          <p:nvSpPr>
            <p:cNvPr id="11" name="5 Elipse"/>
            <p:cNvSpPr/>
            <p:nvPr/>
          </p:nvSpPr>
          <p:spPr>
            <a:xfrm>
              <a:off x="3635375" y="2924175"/>
              <a:ext cx="3363913" cy="255746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s-AR" sz="2000" b="1" dirty="0">
                  <a:solidFill>
                    <a:schemeClr val="tx1"/>
                  </a:solidFill>
                </a:rPr>
                <a:t>WAI</a:t>
              </a:r>
            </a:p>
          </p:txBody>
        </p:sp>
        <p:sp>
          <p:nvSpPr>
            <p:cNvPr id="12" name="6 Elipse"/>
            <p:cNvSpPr/>
            <p:nvPr/>
          </p:nvSpPr>
          <p:spPr>
            <a:xfrm>
              <a:off x="5076825" y="3573463"/>
              <a:ext cx="1582738" cy="14239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AR" sz="2000" b="1" dirty="0">
                  <a:solidFill>
                    <a:schemeClr val="tx1"/>
                  </a:solidFill>
                </a:rPr>
                <a:t>WCAG 2.0</a:t>
              </a:r>
            </a:p>
          </p:txBody>
        </p:sp>
      </p:gr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15</a:t>
            </a:fld>
            <a:endParaRPr lang="es-ES" altLang="es-A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1 Título"/>
          <p:cNvSpPr>
            <a:spLocks noGrp="1"/>
          </p:cNvSpPr>
          <p:nvPr>
            <p:ph type="title"/>
          </p:nvPr>
        </p:nvSpPr>
        <p:spPr>
          <a:xfrm>
            <a:off x="457200" y="274638"/>
            <a:ext cx="8229600" cy="654050"/>
          </a:xfrm>
        </p:spPr>
        <p:txBody>
          <a:bodyPr/>
          <a:lstStyle/>
          <a:p>
            <a:r>
              <a:rPr lang="es-AR" altLang="es-AR" b="1"/>
              <a:t>Pautas y leyes</a:t>
            </a:r>
          </a:p>
        </p:txBody>
      </p:sp>
      <p:sp>
        <p:nvSpPr>
          <p:cNvPr id="12291" name="2 Marcador de contenido"/>
          <p:cNvSpPr>
            <a:spLocks noGrp="1"/>
          </p:cNvSpPr>
          <p:nvPr>
            <p:ph idx="1"/>
          </p:nvPr>
        </p:nvSpPr>
        <p:spPr>
          <a:xfrm>
            <a:off x="390525" y="1600200"/>
            <a:ext cx="8296275" cy="4924425"/>
          </a:xfrm>
        </p:spPr>
        <p:txBody>
          <a:bodyPr/>
          <a:lstStyle/>
          <a:p>
            <a:pPr>
              <a:lnSpc>
                <a:spcPct val="90000"/>
              </a:lnSpc>
              <a:defRPr/>
            </a:pPr>
            <a:r>
              <a:rPr lang="es-AR" dirty="0"/>
              <a:t>Introducción a las WCAG 2.0</a:t>
            </a:r>
          </a:p>
          <a:p>
            <a:pPr marL="0" indent="0">
              <a:lnSpc>
                <a:spcPct val="90000"/>
              </a:lnSpc>
              <a:buFontTx/>
              <a:buNone/>
              <a:defRPr/>
            </a:pPr>
            <a:endParaRPr lang="es-AR" dirty="0"/>
          </a:p>
          <a:p>
            <a:pPr marL="0" indent="0">
              <a:buFontTx/>
              <a:buNone/>
              <a:defRPr/>
            </a:pPr>
            <a:endParaRPr lang="es-AR" altLang="es-AR" dirty="0"/>
          </a:p>
        </p:txBody>
      </p:sp>
      <p:sp>
        <p:nvSpPr>
          <p:cNvPr id="4" name="5 Flecha derecha"/>
          <p:cNvSpPr/>
          <p:nvPr/>
        </p:nvSpPr>
        <p:spPr>
          <a:xfrm>
            <a:off x="2203450" y="2619375"/>
            <a:ext cx="5334000" cy="10810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5" name="6 Conector"/>
          <p:cNvSpPr/>
          <p:nvPr/>
        </p:nvSpPr>
        <p:spPr>
          <a:xfrm>
            <a:off x="2627313" y="2911475"/>
            <a:ext cx="1077912" cy="495300"/>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AR" sz="2000" dirty="0">
                <a:solidFill>
                  <a:schemeClr val="tx1"/>
                </a:solidFill>
              </a:rPr>
              <a:t>1999</a:t>
            </a:r>
          </a:p>
        </p:txBody>
      </p:sp>
      <p:sp>
        <p:nvSpPr>
          <p:cNvPr id="27654" name="8 CuadroTexto"/>
          <p:cNvSpPr txBox="1">
            <a:spLocks noChangeArrowheads="1"/>
          </p:cNvSpPr>
          <p:nvPr/>
        </p:nvSpPr>
        <p:spPr bwMode="auto">
          <a:xfrm>
            <a:off x="2439988" y="2341563"/>
            <a:ext cx="1441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AR" altLang="es-AR" sz="2000"/>
              <a:t>WCAG 1.0</a:t>
            </a:r>
          </a:p>
        </p:txBody>
      </p:sp>
      <p:sp>
        <p:nvSpPr>
          <p:cNvPr id="27655" name="10 CuadroTexto"/>
          <p:cNvSpPr txBox="1">
            <a:spLocks noChangeArrowheads="1"/>
          </p:cNvSpPr>
          <p:nvPr/>
        </p:nvSpPr>
        <p:spPr bwMode="auto">
          <a:xfrm>
            <a:off x="4940300" y="2341563"/>
            <a:ext cx="1431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AR" altLang="es-AR" sz="2000"/>
              <a:t>WCAG 2.0</a:t>
            </a:r>
          </a:p>
        </p:txBody>
      </p:sp>
      <p:graphicFrame>
        <p:nvGraphicFramePr>
          <p:cNvPr id="9" name="11 Tabla"/>
          <p:cNvGraphicFramePr>
            <a:graphicFrameLocks noGrp="1"/>
          </p:cNvGraphicFramePr>
          <p:nvPr>
            <p:extLst>
              <p:ext uri="{D42A27DB-BD31-4B8C-83A1-F6EECF244321}">
                <p14:modId xmlns:p14="http://schemas.microsoft.com/office/powerpoint/2010/main" val="819215264"/>
              </p:ext>
            </p:extLst>
          </p:nvPr>
        </p:nvGraphicFramePr>
        <p:xfrm>
          <a:off x="558800" y="3822700"/>
          <a:ext cx="8128000" cy="2286000"/>
        </p:xfrm>
        <a:graphic>
          <a:graphicData uri="http://schemas.openxmlformats.org/drawingml/2006/table">
            <a:tbl>
              <a:tblPr firstRow="1" bandRow="1">
                <a:effectLst>
                  <a:outerShdw blurRad="50800" dist="50800" dir="5400000" algn="ctr" rotWithShape="0">
                    <a:schemeClr val="tx1"/>
                  </a:outerShdw>
                </a:effectLst>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pPr algn="ctr"/>
                      <a:r>
                        <a:rPr lang="es-AR" sz="2000" dirty="0">
                          <a:solidFill>
                            <a:schemeClr val="tx1"/>
                          </a:solidFill>
                        </a:rPr>
                        <a:t>WCAG 1.0</a:t>
                      </a:r>
                    </a:p>
                  </a:txBody>
                  <a:tcPr/>
                </a:tc>
                <a:tc>
                  <a:txBody>
                    <a:bodyPr/>
                    <a:lstStyle/>
                    <a:p>
                      <a:pPr algn="ctr"/>
                      <a:r>
                        <a:rPr lang="es-AR" sz="2000" dirty="0">
                          <a:solidFill>
                            <a:schemeClr val="tx1"/>
                          </a:solidFill>
                        </a:rPr>
                        <a:t>WCAG 2.0</a:t>
                      </a:r>
                    </a:p>
                  </a:txBody>
                  <a:tcPr/>
                </a:tc>
                <a:extLst>
                  <a:ext uri="{0D108BD9-81ED-4DB2-BD59-A6C34878D82A}">
                    <a16:rowId xmlns:a16="http://schemas.microsoft.com/office/drawing/2014/main" val="10000"/>
                  </a:ext>
                </a:extLst>
              </a:tr>
              <a:tr h="370840">
                <a:tc>
                  <a:txBody>
                    <a:bodyPr/>
                    <a:lstStyle/>
                    <a:p>
                      <a:r>
                        <a:rPr lang="es-AR" sz="2000" dirty="0"/>
                        <a:t>14 pautas.</a:t>
                      </a:r>
                    </a:p>
                  </a:txBody>
                  <a:tcPr/>
                </a:tc>
                <a:tc>
                  <a:txBody>
                    <a:bodyPr/>
                    <a:lstStyle/>
                    <a:p>
                      <a:r>
                        <a:rPr lang="es-AR" sz="2000" dirty="0"/>
                        <a:t>4 principios,</a:t>
                      </a:r>
                      <a:r>
                        <a:rPr lang="es-AR" sz="2000" baseline="0" dirty="0"/>
                        <a:t> 12 pautas.</a:t>
                      </a:r>
                      <a:endParaRPr lang="es-AR" sz="2000" dirty="0"/>
                    </a:p>
                  </a:txBody>
                  <a:tcPr/>
                </a:tc>
                <a:extLst>
                  <a:ext uri="{0D108BD9-81ED-4DB2-BD59-A6C34878D82A}">
                    <a16:rowId xmlns:a16="http://schemas.microsoft.com/office/drawing/2014/main" val="10001"/>
                  </a:ext>
                </a:extLst>
              </a:tr>
              <a:tr h="370840">
                <a:tc>
                  <a:txBody>
                    <a:bodyPr/>
                    <a:lstStyle/>
                    <a:p>
                      <a:r>
                        <a:rPr lang="es-AR" sz="2000" dirty="0"/>
                        <a:t>65 puntos de verificación.</a:t>
                      </a:r>
                    </a:p>
                  </a:txBody>
                  <a:tcPr/>
                </a:tc>
                <a:tc>
                  <a:txBody>
                    <a:bodyPr/>
                    <a:lstStyle/>
                    <a:p>
                      <a:r>
                        <a:rPr lang="es-AR" sz="2000" dirty="0"/>
                        <a:t>61 criterios de conformidad.</a:t>
                      </a:r>
                    </a:p>
                  </a:txBody>
                  <a:tcPr/>
                </a:tc>
                <a:extLst>
                  <a:ext uri="{0D108BD9-81ED-4DB2-BD59-A6C34878D82A}">
                    <a16:rowId xmlns:a16="http://schemas.microsoft.com/office/drawing/2014/main" val="10002"/>
                  </a:ext>
                </a:extLst>
              </a:tr>
              <a:tr h="370840">
                <a:tc>
                  <a:txBody>
                    <a:bodyPr/>
                    <a:lstStyle/>
                    <a:p>
                      <a:r>
                        <a:rPr lang="es-AR" sz="2000" dirty="0"/>
                        <a:t>Prioridades:</a:t>
                      </a:r>
                      <a:r>
                        <a:rPr lang="es-AR" sz="2000" baseline="0" dirty="0"/>
                        <a:t> 1, 2, 3.</a:t>
                      </a:r>
                      <a:endParaRPr lang="es-AR" sz="2000" dirty="0"/>
                    </a:p>
                  </a:txBody>
                  <a:tcPr/>
                </a:tc>
                <a:tc>
                  <a:txBody>
                    <a:bodyPr/>
                    <a:lstStyle/>
                    <a:p>
                      <a:r>
                        <a:rPr lang="es-AR" sz="2000" dirty="0"/>
                        <a:t>Técnicas</a:t>
                      </a:r>
                      <a:r>
                        <a:rPr lang="es-AR" sz="2000" baseline="0" dirty="0"/>
                        <a:t> suficientes y recomendables.</a:t>
                      </a:r>
                      <a:endParaRPr lang="es-AR" sz="2000" dirty="0"/>
                    </a:p>
                  </a:txBody>
                  <a:tcPr/>
                </a:tc>
                <a:extLst>
                  <a:ext uri="{0D108BD9-81ED-4DB2-BD59-A6C34878D82A}">
                    <a16:rowId xmlns:a16="http://schemas.microsoft.com/office/drawing/2014/main" val="10003"/>
                  </a:ext>
                </a:extLst>
              </a:tr>
              <a:tr h="370840">
                <a:tc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s-AR" sz="2000" dirty="0"/>
                        <a:t>Nivel</a:t>
                      </a:r>
                      <a:r>
                        <a:rPr lang="es-AR" sz="2000" baseline="0" dirty="0"/>
                        <a:t> de conformidad: A, AA, AAA</a:t>
                      </a:r>
                      <a:endParaRPr lang="es-AR" sz="2000" dirty="0"/>
                    </a:p>
                  </a:txBody>
                  <a:tcPr/>
                </a:tc>
                <a:tc hMerge="1">
                  <a:txBody>
                    <a:bodyPr/>
                    <a:lstStyle/>
                    <a:p>
                      <a:endParaRPr lang="es-AR" dirty="0"/>
                    </a:p>
                  </a:txBody>
                  <a:tcPr/>
                </a:tc>
                <a:extLst>
                  <a:ext uri="{0D108BD9-81ED-4DB2-BD59-A6C34878D82A}">
                    <a16:rowId xmlns:a16="http://schemas.microsoft.com/office/drawing/2014/main" val="10004"/>
                  </a:ext>
                </a:extLst>
              </a:tr>
            </a:tbl>
          </a:graphicData>
        </a:graphic>
      </p:graphicFrame>
      <p:sp>
        <p:nvSpPr>
          <p:cNvPr id="10" name="6 Conector"/>
          <p:cNvSpPr/>
          <p:nvPr/>
        </p:nvSpPr>
        <p:spPr>
          <a:xfrm>
            <a:off x="5149850" y="2911475"/>
            <a:ext cx="1077913" cy="495300"/>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AR" sz="2000" dirty="0">
                <a:solidFill>
                  <a:schemeClr val="tx1"/>
                </a:solidFill>
              </a:rPr>
              <a:t>2008</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16</a:t>
            </a:fld>
            <a:endParaRPr lang="es-ES" altLang="es-A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Título"/>
          <p:cNvSpPr>
            <a:spLocks noGrp="1"/>
          </p:cNvSpPr>
          <p:nvPr>
            <p:ph type="title"/>
          </p:nvPr>
        </p:nvSpPr>
        <p:spPr>
          <a:xfrm>
            <a:off x="457200" y="274638"/>
            <a:ext cx="8229600" cy="654050"/>
          </a:xfrm>
        </p:spPr>
        <p:txBody>
          <a:bodyPr/>
          <a:lstStyle/>
          <a:p>
            <a:r>
              <a:rPr lang="es-AR" altLang="es-AR" b="1"/>
              <a:t>Pautas y leyes</a:t>
            </a:r>
          </a:p>
        </p:txBody>
      </p:sp>
      <p:pic>
        <p:nvPicPr>
          <p:cNvPr id="28675" name="Picture 2" descr="http://2.bp.blogspot.com/-vg6OPE0h0jM/U255yzWiDCI/AAAAAAAAF80/oOyDhsvveCg/s1600/mapa_visual_wcag2.png"/>
          <p:cNvPicPr>
            <a:picLocks noChangeAspect="1" noChangeArrowheads="1"/>
          </p:cNvPicPr>
          <p:nvPr/>
        </p:nvPicPr>
        <p:blipFill>
          <a:blip r:embed="rId3">
            <a:extLst>
              <a:ext uri="{28A0092B-C50C-407E-A947-70E740481C1C}">
                <a14:useLocalDpi xmlns:a14="http://schemas.microsoft.com/office/drawing/2010/main" val="0"/>
              </a:ext>
            </a:extLst>
          </a:blip>
          <a:srcRect l="829" t="7494" b="6020"/>
          <a:stretch>
            <a:fillRect/>
          </a:stretch>
        </p:blipFill>
        <p:spPr bwMode="auto">
          <a:xfrm>
            <a:off x="0" y="-10529"/>
            <a:ext cx="9122131" cy="6868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17</a:t>
            </a:fld>
            <a:endParaRPr lang="es-ES" altLang="es-A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1 Título"/>
          <p:cNvSpPr>
            <a:spLocks noGrp="1"/>
          </p:cNvSpPr>
          <p:nvPr>
            <p:ph type="title"/>
          </p:nvPr>
        </p:nvSpPr>
        <p:spPr>
          <a:xfrm>
            <a:off x="457200" y="274638"/>
            <a:ext cx="8229600" cy="654050"/>
          </a:xfrm>
        </p:spPr>
        <p:txBody>
          <a:bodyPr/>
          <a:lstStyle/>
          <a:p>
            <a:r>
              <a:rPr lang="es-AR" altLang="es-AR" b="1"/>
              <a:t>Pautas y leyes</a:t>
            </a:r>
          </a:p>
        </p:txBody>
      </p:sp>
      <p:sp>
        <p:nvSpPr>
          <p:cNvPr id="12291" name="2 Marcador de contenido"/>
          <p:cNvSpPr>
            <a:spLocks noGrp="1"/>
          </p:cNvSpPr>
          <p:nvPr>
            <p:ph idx="1"/>
          </p:nvPr>
        </p:nvSpPr>
        <p:spPr>
          <a:xfrm>
            <a:off x="457200" y="1600200"/>
            <a:ext cx="8229600" cy="4924425"/>
          </a:xfrm>
        </p:spPr>
        <p:txBody>
          <a:bodyPr/>
          <a:lstStyle/>
          <a:p>
            <a:pPr>
              <a:lnSpc>
                <a:spcPct val="90000"/>
              </a:lnSpc>
              <a:defRPr/>
            </a:pPr>
            <a:r>
              <a:rPr lang="es-AR" dirty="0"/>
              <a:t>Introducción a las WCAG 2.0</a:t>
            </a:r>
          </a:p>
          <a:p>
            <a:pPr marL="0" indent="0">
              <a:lnSpc>
                <a:spcPct val="90000"/>
              </a:lnSpc>
              <a:buFontTx/>
              <a:buNone/>
              <a:defRPr/>
            </a:pPr>
            <a:endParaRPr lang="es-AR" dirty="0"/>
          </a:p>
          <a:p>
            <a:pPr lvl="1" algn="just">
              <a:lnSpc>
                <a:spcPct val="90000"/>
              </a:lnSpc>
              <a:defRPr/>
            </a:pPr>
            <a:r>
              <a:rPr lang="es-AR" dirty="0"/>
              <a:t>Cantidades para Nivel de conformidad A:</a:t>
            </a:r>
          </a:p>
          <a:p>
            <a:pPr>
              <a:defRPr/>
            </a:pPr>
            <a:endParaRPr lang="es-AR" altLang="es-AR" dirty="0"/>
          </a:p>
        </p:txBody>
      </p:sp>
      <p:graphicFrame>
        <p:nvGraphicFramePr>
          <p:cNvPr id="4" name="11 Tabla"/>
          <p:cNvGraphicFramePr>
            <a:graphicFrameLocks noGrp="1"/>
          </p:cNvGraphicFramePr>
          <p:nvPr>
            <p:extLst>
              <p:ext uri="{D42A27DB-BD31-4B8C-83A1-F6EECF244321}">
                <p14:modId xmlns:p14="http://schemas.microsoft.com/office/powerpoint/2010/main" val="2445813342"/>
              </p:ext>
            </p:extLst>
          </p:nvPr>
        </p:nvGraphicFramePr>
        <p:xfrm>
          <a:off x="528638" y="2752725"/>
          <a:ext cx="8147051" cy="3736976"/>
        </p:xfrm>
        <a:graphic>
          <a:graphicData uri="http://schemas.openxmlformats.org/drawingml/2006/table">
            <a:tbl>
              <a:tblPr firstRow="1" bandRow="1">
                <a:tableStyleId>{5C22544A-7EE6-4342-B048-85BDC9FD1C3A}</a:tableStyleId>
              </a:tblPr>
              <a:tblGrid>
                <a:gridCol w="1810500">
                  <a:extLst>
                    <a:ext uri="{9D8B030D-6E8A-4147-A177-3AD203B41FA5}">
                      <a16:colId xmlns:a16="http://schemas.microsoft.com/office/drawing/2014/main" val="20000"/>
                    </a:ext>
                  </a:extLst>
                </a:gridCol>
                <a:gridCol w="1080094">
                  <a:extLst>
                    <a:ext uri="{9D8B030D-6E8A-4147-A177-3AD203B41FA5}">
                      <a16:colId xmlns:a16="http://schemas.microsoft.com/office/drawing/2014/main" val="20002"/>
                    </a:ext>
                  </a:extLst>
                </a:gridCol>
                <a:gridCol w="1368119">
                  <a:extLst>
                    <a:ext uri="{9D8B030D-6E8A-4147-A177-3AD203B41FA5}">
                      <a16:colId xmlns:a16="http://schemas.microsoft.com/office/drawing/2014/main" val="20003"/>
                    </a:ext>
                  </a:extLst>
                </a:gridCol>
                <a:gridCol w="648056">
                  <a:extLst>
                    <a:ext uri="{9D8B030D-6E8A-4147-A177-3AD203B41FA5}">
                      <a16:colId xmlns:a16="http://schemas.microsoft.com/office/drawing/2014/main" val="20004"/>
                    </a:ext>
                  </a:extLst>
                </a:gridCol>
                <a:gridCol w="504044">
                  <a:extLst>
                    <a:ext uri="{9D8B030D-6E8A-4147-A177-3AD203B41FA5}">
                      <a16:colId xmlns:a16="http://schemas.microsoft.com/office/drawing/2014/main" val="20005"/>
                    </a:ext>
                  </a:extLst>
                </a:gridCol>
                <a:gridCol w="576050">
                  <a:extLst>
                    <a:ext uri="{9D8B030D-6E8A-4147-A177-3AD203B41FA5}">
                      <a16:colId xmlns:a16="http://schemas.microsoft.com/office/drawing/2014/main" val="20006"/>
                    </a:ext>
                  </a:extLst>
                </a:gridCol>
                <a:gridCol w="504044">
                  <a:extLst>
                    <a:ext uri="{9D8B030D-6E8A-4147-A177-3AD203B41FA5}">
                      <a16:colId xmlns:a16="http://schemas.microsoft.com/office/drawing/2014/main" val="20001"/>
                    </a:ext>
                  </a:extLst>
                </a:gridCol>
                <a:gridCol w="576050">
                  <a:extLst>
                    <a:ext uri="{9D8B030D-6E8A-4147-A177-3AD203B41FA5}">
                      <a16:colId xmlns:a16="http://schemas.microsoft.com/office/drawing/2014/main" val="20007"/>
                    </a:ext>
                  </a:extLst>
                </a:gridCol>
                <a:gridCol w="1080094">
                  <a:extLst>
                    <a:ext uri="{9D8B030D-6E8A-4147-A177-3AD203B41FA5}">
                      <a16:colId xmlns:a16="http://schemas.microsoft.com/office/drawing/2014/main" val="20008"/>
                    </a:ext>
                  </a:extLst>
                </a:gridCol>
              </a:tblGrid>
              <a:tr h="963114">
                <a:tc rowSpan="2">
                  <a:txBody>
                    <a:bodyPr/>
                    <a:lstStyle/>
                    <a:p>
                      <a:pPr algn="ctr"/>
                      <a:r>
                        <a:rPr lang="es-AR" sz="2000" dirty="0">
                          <a:solidFill>
                            <a:schemeClr val="tx1"/>
                          </a:solidFill>
                        </a:rPr>
                        <a:t>Principios</a:t>
                      </a:r>
                    </a:p>
                  </a:txBody>
                  <a:tcPr marL="91438" marR="91438" marT="45723" marB="457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s-AR" sz="2000" dirty="0">
                          <a:solidFill>
                            <a:schemeClr val="tx1"/>
                          </a:solidFill>
                        </a:rPr>
                        <a:t>Pautas</a:t>
                      </a:r>
                    </a:p>
                  </a:txBody>
                  <a:tcPr marL="91438" marR="91438" marT="45723" marB="457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s-AR" sz="2000" dirty="0">
                          <a:solidFill>
                            <a:schemeClr val="tx1"/>
                          </a:solidFill>
                        </a:rPr>
                        <a:t>Criterios</a:t>
                      </a:r>
                    </a:p>
                  </a:txBody>
                  <a:tcPr marL="91438" marR="91438" marT="45723" marB="457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s-AR" sz="2000" dirty="0">
                          <a:solidFill>
                            <a:schemeClr val="tx1"/>
                          </a:solidFill>
                        </a:rPr>
                        <a:t>Técnicas</a:t>
                      </a:r>
                      <a:r>
                        <a:rPr lang="es-AR" sz="2000" baseline="0" dirty="0">
                          <a:solidFill>
                            <a:schemeClr val="tx1"/>
                          </a:solidFill>
                        </a:rPr>
                        <a:t> Suficientes</a:t>
                      </a:r>
                      <a:endParaRPr lang="es-AR" sz="2000" dirty="0">
                        <a:solidFill>
                          <a:schemeClr val="tx1"/>
                        </a:solidFill>
                      </a:endParaRPr>
                    </a:p>
                  </a:txBody>
                  <a:tcPr marL="91438" marR="91438" marT="45723" marB="457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s-AR" sz="2000" dirty="0"/>
                    </a:p>
                  </a:txBody>
                  <a:tcPr/>
                </a:tc>
                <a:tc hMerge="1">
                  <a:txBody>
                    <a:bodyPr/>
                    <a:lstStyle/>
                    <a:p>
                      <a:pPr algn="ctr"/>
                      <a:endParaRPr lang="es-AR" sz="2000" dirty="0"/>
                    </a:p>
                  </a:txBody>
                  <a:tcPr/>
                </a:tc>
                <a:tc gridSpan="3">
                  <a:txBody>
                    <a:bodyPr/>
                    <a:lstStyle/>
                    <a:p>
                      <a:pPr algn="ctr"/>
                      <a:r>
                        <a:rPr lang="es-AR" sz="2000" dirty="0">
                          <a:solidFill>
                            <a:schemeClr val="tx1"/>
                          </a:solidFill>
                        </a:rPr>
                        <a:t>Técnicas Recomendables</a:t>
                      </a:r>
                    </a:p>
                  </a:txBody>
                  <a:tcPr marL="91438" marR="91438" marT="45723" marB="457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s-AR" sz="2000" dirty="0"/>
                    </a:p>
                  </a:txBody>
                  <a:tcPr/>
                </a:tc>
                <a:tc hMerge="1">
                  <a:txBody>
                    <a:bodyPr/>
                    <a:lstStyle/>
                    <a:p>
                      <a:pPr algn="ctr"/>
                      <a:endParaRPr lang="es-AR" sz="2000" dirty="0"/>
                    </a:p>
                  </a:txBody>
                  <a:tcPr/>
                </a:tc>
                <a:extLst>
                  <a:ext uri="{0D108BD9-81ED-4DB2-BD59-A6C34878D82A}">
                    <a16:rowId xmlns:a16="http://schemas.microsoft.com/office/drawing/2014/main" val="10000"/>
                  </a:ext>
                </a:extLst>
              </a:tr>
              <a:tr h="396266">
                <a:tc vMerge="1">
                  <a:txBody>
                    <a:bodyPr/>
                    <a:lstStyle/>
                    <a:p>
                      <a:endParaRPr lang="es-AR" sz="2000" dirty="0"/>
                    </a:p>
                  </a:txBody>
                  <a:tcPr/>
                </a:tc>
                <a:tc vMerge="1">
                  <a:txBody>
                    <a:bodyPr/>
                    <a:lstStyle/>
                    <a:p>
                      <a:endParaRPr lang="es-AR" sz="2000" dirty="0"/>
                    </a:p>
                  </a:txBody>
                  <a:tcPr/>
                </a:tc>
                <a:tc vMerge="1">
                  <a:txBody>
                    <a:bodyPr/>
                    <a:lstStyle/>
                    <a:p>
                      <a:endParaRPr lang="es-AR" sz="2000" dirty="0"/>
                    </a:p>
                  </a:txBody>
                  <a:tcPr/>
                </a:tc>
                <a:tc>
                  <a:txBody>
                    <a:bodyPr/>
                    <a:lstStyle/>
                    <a:p>
                      <a:pPr algn="ctr"/>
                      <a:r>
                        <a:rPr lang="es-AR" sz="2000" b="1" dirty="0">
                          <a:solidFill>
                            <a:schemeClr val="tx1"/>
                          </a:solidFill>
                        </a:rPr>
                        <a:t>G</a:t>
                      </a:r>
                    </a:p>
                  </a:txBody>
                  <a:tcPr marL="91438" marR="91438" marT="45723" marB="457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s-AR" sz="2000" b="1" dirty="0">
                          <a:solidFill>
                            <a:schemeClr val="tx1"/>
                          </a:solidFill>
                        </a:rPr>
                        <a:t>H</a:t>
                      </a:r>
                    </a:p>
                  </a:txBody>
                  <a:tcPr marL="91438" marR="91438" marT="45723" marB="457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s-AR" sz="2000" b="1" dirty="0">
                          <a:solidFill>
                            <a:schemeClr val="tx1"/>
                          </a:solidFill>
                        </a:rPr>
                        <a:t>C</a:t>
                      </a:r>
                    </a:p>
                  </a:txBody>
                  <a:tcPr marL="91438" marR="91438" marT="45723" marB="457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s-AR" sz="2000" b="1" dirty="0">
                          <a:solidFill>
                            <a:schemeClr val="tx1"/>
                          </a:solidFill>
                        </a:rPr>
                        <a:t>G</a:t>
                      </a:r>
                    </a:p>
                  </a:txBody>
                  <a:tcPr marL="91438" marR="91438" marT="45723" marB="457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s-AR" sz="2000" b="1" dirty="0">
                          <a:solidFill>
                            <a:schemeClr val="tx1"/>
                          </a:solidFill>
                        </a:rPr>
                        <a:t>H</a:t>
                      </a:r>
                    </a:p>
                  </a:txBody>
                  <a:tcPr marL="91438" marR="91438" marT="45723" marB="457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s-AR" sz="2000" b="1" dirty="0">
                          <a:solidFill>
                            <a:schemeClr val="tx1"/>
                          </a:solidFill>
                        </a:rPr>
                        <a:t>C</a:t>
                      </a:r>
                    </a:p>
                  </a:txBody>
                  <a:tcPr marL="91438" marR="91438" marT="45723" marB="457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r h="396266">
                <a:tc>
                  <a:txBody>
                    <a:bodyPr/>
                    <a:lstStyle/>
                    <a:p>
                      <a:r>
                        <a:rPr lang="es-AR" sz="2000" dirty="0"/>
                        <a:t>Perceptible</a:t>
                      </a:r>
                    </a:p>
                  </a:txBody>
                  <a:tcPr marL="91438" marR="91438" marT="45723" marB="45723">
                    <a:lnT w="12700" cap="flat" cmpd="sng" algn="ctr">
                      <a:solidFill>
                        <a:schemeClr val="tx1"/>
                      </a:solidFill>
                      <a:prstDash val="solid"/>
                      <a:round/>
                      <a:headEnd type="none" w="med" len="med"/>
                      <a:tailEnd type="none" w="med" len="med"/>
                    </a:lnT>
                  </a:tcPr>
                </a:tc>
                <a:tc>
                  <a:txBody>
                    <a:bodyPr/>
                    <a:lstStyle/>
                    <a:p>
                      <a:pPr algn="ctr"/>
                      <a:r>
                        <a:rPr lang="es-AR" sz="2000" dirty="0"/>
                        <a:t>4</a:t>
                      </a:r>
                    </a:p>
                  </a:txBody>
                  <a:tcPr marL="91438" marR="91438" marT="45723" marB="45723">
                    <a:lnT w="12700" cap="flat" cmpd="sng" algn="ctr">
                      <a:solidFill>
                        <a:schemeClr val="tx1"/>
                      </a:solidFill>
                      <a:prstDash val="solid"/>
                      <a:round/>
                      <a:headEnd type="none" w="med" len="med"/>
                      <a:tailEnd type="none" w="med" len="med"/>
                    </a:lnT>
                  </a:tcPr>
                </a:tc>
                <a:tc>
                  <a:txBody>
                    <a:bodyPr/>
                    <a:lstStyle/>
                    <a:p>
                      <a:pPr algn="ctr"/>
                      <a:r>
                        <a:rPr lang="es-AR" sz="2000" dirty="0"/>
                        <a:t>9</a:t>
                      </a:r>
                    </a:p>
                  </a:txBody>
                  <a:tcPr marL="91438" marR="91438" marT="45723" marB="45723">
                    <a:lnT w="12700" cap="flat" cmpd="sng" algn="ctr">
                      <a:solidFill>
                        <a:schemeClr val="tx1"/>
                      </a:solidFill>
                      <a:prstDash val="solid"/>
                      <a:round/>
                      <a:headEnd type="none" w="med" len="med"/>
                      <a:tailEnd type="none" w="med" len="med"/>
                    </a:lnT>
                  </a:tcPr>
                </a:tc>
                <a:tc>
                  <a:txBody>
                    <a:bodyPr/>
                    <a:lstStyle/>
                    <a:p>
                      <a:pPr algn="ctr"/>
                      <a:r>
                        <a:rPr lang="es-AR" sz="2000" dirty="0"/>
                        <a:t>35</a:t>
                      </a:r>
                    </a:p>
                  </a:txBody>
                  <a:tcPr marL="91438" marR="91438" marT="45723" marB="45723">
                    <a:lnT w="12700" cap="flat" cmpd="sng" algn="ctr">
                      <a:solidFill>
                        <a:schemeClr val="tx1"/>
                      </a:solidFill>
                      <a:prstDash val="solid"/>
                      <a:round/>
                      <a:headEnd type="none" w="med" len="med"/>
                      <a:tailEnd type="none" w="med" len="med"/>
                    </a:lnT>
                  </a:tcPr>
                </a:tc>
                <a:tc>
                  <a:txBody>
                    <a:bodyPr/>
                    <a:lstStyle/>
                    <a:p>
                      <a:pPr algn="ctr"/>
                      <a:r>
                        <a:rPr lang="es-AR" sz="2000" dirty="0"/>
                        <a:t>29</a:t>
                      </a:r>
                    </a:p>
                  </a:txBody>
                  <a:tcPr marL="91438" marR="91438" marT="45723" marB="45723">
                    <a:lnT w="12700" cap="flat" cmpd="sng" algn="ctr">
                      <a:solidFill>
                        <a:schemeClr val="tx1"/>
                      </a:solidFill>
                      <a:prstDash val="solid"/>
                      <a:round/>
                      <a:headEnd type="none" w="med" len="med"/>
                      <a:tailEnd type="none" w="med" len="med"/>
                    </a:lnT>
                  </a:tcPr>
                </a:tc>
                <a:tc>
                  <a:txBody>
                    <a:bodyPr/>
                    <a:lstStyle/>
                    <a:p>
                      <a:pPr algn="ctr"/>
                      <a:r>
                        <a:rPr lang="es-AR" sz="2000" dirty="0"/>
                        <a:t>4</a:t>
                      </a:r>
                    </a:p>
                  </a:txBody>
                  <a:tcPr marL="91438" marR="91438" marT="45723" marB="45723">
                    <a:lnT w="12700" cap="flat" cmpd="sng" algn="ctr">
                      <a:solidFill>
                        <a:schemeClr val="tx1"/>
                      </a:solidFill>
                      <a:prstDash val="solid"/>
                      <a:round/>
                      <a:headEnd type="none" w="med" len="med"/>
                      <a:tailEnd type="none" w="med" len="med"/>
                    </a:lnT>
                  </a:tcPr>
                </a:tc>
                <a:tc>
                  <a:txBody>
                    <a:bodyPr/>
                    <a:lstStyle/>
                    <a:p>
                      <a:pPr algn="ctr"/>
                      <a:r>
                        <a:rPr lang="es-AR" sz="2000" dirty="0"/>
                        <a:t>2</a:t>
                      </a:r>
                    </a:p>
                  </a:txBody>
                  <a:tcPr marL="91438" marR="91438" marT="45723" marB="45723">
                    <a:lnT w="12700" cap="flat" cmpd="sng" algn="ctr">
                      <a:solidFill>
                        <a:schemeClr val="tx1"/>
                      </a:solidFill>
                      <a:prstDash val="solid"/>
                      <a:round/>
                      <a:headEnd type="none" w="med" len="med"/>
                      <a:tailEnd type="none" w="med" len="med"/>
                    </a:lnT>
                  </a:tcPr>
                </a:tc>
                <a:tc>
                  <a:txBody>
                    <a:bodyPr/>
                    <a:lstStyle/>
                    <a:p>
                      <a:pPr algn="ctr"/>
                      <a:r>
                        <a:rPr lang="es-AR" sz="2000" dirty="0"/>
                        <a:t>3</a:t>
                      </a:r>
                    </a:p>
                  </a:txBody>
                  <a:tcPr marL="91438" marR="91438" marT="45723" marB="45723">
                    <a:lnT w="12700" cap="flat" cmpd="sng" algn="ctr">
                      <a:solidFill>
                        <a:schemeClr val="tx1"/>
                      </a:solidFill>
                      <a:prstDash val="solid"/>
                      <a:round/>
                      <a:headEnd type="none" w="med" len="med"/>
                      <a:tailEnd type="none" w="med" len="med"/>
                    </a:lnT>
                  </a:tcPr>
                </a:tc>
                <a:tc>
                  <a:txBody>
                    <a:bodyPr/>
                    <a:lstStyle/>
                    <a:p>
                      <a:pPr algn="ctr"/>
                      <a:r>
                        <a:rPr lang="es-AR" sz="2000" dirty="0"/>
                        <a:t>3</a:t>
                      </a:r>
                    </a:p>
                  </a:txBody>
                  <a:tcPr marL="91438" marR="91438" marT="45723" marB="45723">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96266">
                <a:tc>
                  <a:txBody>
                    <a:bodyPr/>
                    <a:lstStyle/>
                    <a:p>
                      <a:r>
                        <a:rPr lang="es-AR" sz="2000" dirty="0"/>
                        <a:t>Operable</a:t>
                      </a:r>
                    </a:p>
                  </a:txBody>
                  <a:tcPr marL="91438" marR="91438" marT="45723" marB="45723"/>
                </a:tc>
                <a:tc>
                  <a:txBody>
                    <a:bodyPr/>
                    <a:lstStyle/>
                    <a:p>
                      <a:pPr algn="ctr"/>
                      <a:r>
                        <a:rPr lang="es-AR" sz="2000" dirty="0"/>
                        <a:t>4</a:t>
                      </a:r>
                    </a:p>
                  </a:txBody>
                  <a:tcPr marL="91438" marR="91438" marT="45723" marB="45723"/>
                </a:tc>
                <a:tc>
                  <a:txBody>
                    <a:bodyPr/>
                    <a:lstStyle/>
                    <a:p>
                      <a:pPr algn="ctr"/>
                      <a:r>
                        <a:rPr lang="es-AR" sz="2000" dirty="0"/>
                        <a:t>9</a:t>
                      </a:r>
                    </a:p>
                  </a:txBody>
                  <a:tcPr marL="91438" marR="91438" marT="45723" marB="45723"/>
                </a:tc>
                <a:tc>
                  <a:txBody>
                    <a:bodyPr/>
                    <a:lstStyle/>
                    <a:p>
                      <a:pPr algn="ctr"/>
                      <a:r>
                        <a:rPr lang="es-AR" sz="2000" dirty="0"/>
                        <a:t>23</a:t>
                      </a:r>
                    </a:p>
                  </a:txBody>
                  <a:tcPr marL="91438" marR="91438" marT="45723" marB="45723"/>
                </a:tc>
                <a:tc>
                  <a:txBody>
                    <a:bodyPr/>
                    <a:lstStyle/>
                    <a:p>
                      <a:pPr algn="ctr"/>
                      <a:r>
                        <a:rPr lang="es-AR" sz="2000" dirty="0"/>
                        <a:t>13</a:t>
                      </a:r>
                    </a:p>
                  </a:txBody>
                  <a:tcPr marL="91438" marR="91438" marT="45723" marB="45723"/>
                </a:tc>
                <a:tc>
                  <a:txBody>
                    <a:bodyPr/>
                    <a:lstStyle/>
                    <a:p>
                      <a:pPr algn="ctr"/>
                      <a:r>
                        <a:rPr lang="es-AR" sz="2000" dirty="0"/>
                        <a:t>2</a:t>
                      </a:r>
                    </a:p>
                  </a:txBody>
                  <a:tcPr marL="91438" marR="91438" marT="45723" marB="45723"/>
                </a:tc>
                <a:tc>
                  <a:txBody>
                    <a:bodyPr/>
                    <a:lstStyle/>
                    <a:p>
                      <a:pPr algn="ctr"/>
                      <a:r>
                        <a:rPr lang="es-AR" sz="2000" dirty="0"/>
                        <a:t>1</a:t>
                      </a:r>
                    </a:p>
                  </a:txBody>
                  <a:tcPr marL="91438" marR="91438" marT="45723" marB="45723"/>
                </a:tc>
                <a:tc>
                  <a:txBody>
                    <a:bodyPr/>
                    <a:lstStyle/>
                    <a:p>
                      <a:pPr algn="ctr"/>
                      <a:r>
                        <a:rPr lang="es-AR" sz="2000" dirty="0"/>
                        <a:t>2</a:t>
                      </a:r>
                    </a:p>
                  </a:txBody>
                  <a:tcPr marL="91438" marR="91438" marT="45723" marB="45723"/>
                </a:tc>
                <a:tc>
                  <a:txBody>
                    <a:bodyPr/>
                    <a:lstStyle/>
                    <a:p>
                      <a:pPr algn="ctr"/>
                      <a:r>
                        <a:rPr lang="es-AR" sz="2000" dirty="0"/>
                        <a:t>1</a:t>
                      </a:r>
                    </a:p>
                  </a:txBody>
                  <a:tcPr marL="91438" marR="91438" marT="45723" marB="45723"/>
                </a:tc>
                <a:extLst>
                  <a:ext uri="{0D108BD9-81ED-4DB2-BD59-A6C34878D82A}">
                    <a16:rowId xmlns:a16="http://schemas.microsoft.com/office/drawing/2014/main" val="10002"/>
                  </a:ext>
                </a:extLst>
              </a:tr>
              <a:tr h="396266">
                <a:tc>
                  <a:txBody>
                    <a:bodyPr/>
                    <a:lstStyle/>
                    <a:p>
                      <a:r>
                        <a:rPr lang="es-AR" sz="2000" dirty="0"/>
                        <a:t>Comprensible</a:t>
                      </a:r>
                    </a:p>
                  </a:txBody>
                  <a:tcPr marL="91438" marR="91438" marT="45723" marB="45723"/>
                </a:tc>
                <a:tc>
                  <a:txBody>
                    <a:bodyPr/>
                    <a:lstStyle/>
                    <a:p>
                      <a:pPr algn="ctr"/>
                      <a:r>
                        <a:rPr lang="es-AR" sz="2000" dirty="0"/>
                        <a:t>3</a:t>
                      </a:r>
                    </a:p>
                  </a:txBody>
                  <a:tcPr marL="91438" marR="91438" marT="45723" marB="45723"/>
                </a:tc>
                <a:tc>
                  <a:txBody>
                    <a:bodyPr/>
                    <a:lstStyle/>
                    <a:p>
                      <a:pPr algn="ctr"/>
                      <a:r>
                        <a:rPr lang="es-AR" sz="2000" dirty="0"/>
                        <a:t>5</a:t>
                      </a:r>
                    </a:p>
                  </a:txBody>
                  <a:tcPr marL="91438" marR="91438" marT="45723" marB="45723"/>
                </a:tc>
                <a:tc>
                  <a:txBody>
                    <a:bodyPr/>
                    <a:lstStyle/>
                    <a:p>
                      <a:pPr algn="ctr"/>
                      <a:r>
                        <a:rPr lang="es-AR" sz="2000" dirty="0"/>
                        <a:t>12</a:t>
                      </a:r>
                    </a:p>
                  </a:txBody>
                  <a:tcPr marL="91438" marR="91438" marT="45723" marB="45723"/>
                </a:tc>
                <a:tc>
                  <a:txBody>
                    <a:bodyPr/>
                    <a:lstStyle/>
                    <a:p>
                      <a:pPr algn="ctr"/>
                      <a:r>
                        <a:rPr lang="es-AR" sz="2000" dirty="0"/>
                        <a:t>7</a:t>
                      </a:r>
                    </a:p>
                  </a:txBody>
                  <a:tcPr marL="91438" marR="91438" marT="45723" marB="45723"/>
                </a:tc>
                <a:tc>
                  <a:txBody>
                    <a:bodyPr/>
                    <a:lstStyle/>
                    <a:p>
                      <a:pPr algn="ctr"/>
                      <a:r>
                        <a:rPr lang="es-AR" sz="2000" dirty="0"/>
                        <a:t>0</a:t>
                      </a:r>
                    </a:p>
                  </a:txBody>
                  <a:tcPr marL="91438" marR="91438" marT="45723" marB="45723"/>
                </a:tc>
                <a:tc>
                  <a:txBody>
                    <a:bodyPr/>
                    <a:lstStyle/>
                    <a:p>
                      <a:pPr algn="ctr"/>
                      <a:r>
                        <a:rPr lang="es-AR" sz="2000" dirty="0"/>
                        <a:t>6</a:t>
                      </a:r>
                    </a:p>
                  </a:txBody>
                  <a:tcPr marL="91438" marR="91438" marT="45723" marB="45723"/>
                </a:tc>
                <a:tc>
                  <a:txBody>
                    <a:bodyPr/>
                    <a:lstStyle/>
                    <a:p>
                      <a:pPr algn="ctr"/>
                      <a:r>
                        <a:rPr lang="es-AR" sz="2000" dirty="0"/>
                        <a:t>0</a:t>
                      </a:r>
                    </a:p>
                  </a:txBody>
                  <a:tcPr marL="91438" marR="91438" marT="45723" marB="45723"/>
                </a:tc>
                <a:tc>
                  <a:txBody>
                    <a:bodyPr/>
                    <a:lstStyle/>
                    <a:p>
                      <a:pPr algn="ctr"/>
                      <a:r>
                        <a:rPr lang="es-AR" sz="2000" dirty="0"/>
                        <a:t>0</a:t>
                      </a:r>
                    </a:p>
                  </a:txBody>
                  <a:tcPr marL="91438" marR="91438" marT="45723" marB="45723"/>
                </a:tc>
                <a:extLst>
                  <a:ext uri="{0D108BD9-81ED-4DB2-BD59-A6C34878D82A}">
                    <a16:rowId xmlns:a16="http://schemas.microsoft.com/office/drawing/2014/main" val="10003"/>
                  </a:ext>
                </a:extLst>
              </a:tr>
              <a:tr h="396266">
                <a:tc>
                  <a:txBody>
                    <a:bodyPr/>
                    <a:lstStyle/>
                    <a:p>
                      <a:r>
                        <a:rPr lang="es-AR" sz="2000" dirty="0"/>
                        <a:t>Robusto</a:t>
                      </a:r>
                    </a:p>
                  </a:txBody>
                  <a:tcPr marL="91438" marR="91438" marT="45723" marB="45723"/>
                </a:tc>
                <a:tc>
                  <a:txBody>
                    <a:bodyPr/>
                    <a:lstStyle/>
                    <a:p>
                      <a:pPr algn="ctr"/>
                      <a:r>
                        <a:rPr lang="es-AR" sz="2000" dirty="0"/>
                        <a:t>1</a:t>
                      </a:r>
                    </a:p>
                  </a:txBody>
                  <a:tcPr marL="91438" marR="91438" marT="45723" marB="45723"/>
                </a:tc>
                <a:tc>
                  <a:txBody>
                    <a:bodyPr/>
                    <a:lstStyle/>
                    <a:p>
                      <a:pPr algn="ctr"/>
                      <a:r>
                        <a:rPr lang="es-AR" sz="2000" dirty="0"/>
                        <a:t>2</a:t>
                      </a:r>
                    </a:p>
                  </a:txBody>
                  <a:tcPr marL="91438" marR="91438" marT="45723" marB="45723"/>
                </a:tc>
                <a:tc>
                  <a:txBody>
                    <a:bodyPr/>
                    <a:lstStyle/>
                    <a:p>
                      <a:pPr algn="ctr"/>
                      <a:r>
                        <a:rPr lang="es-AR" sz="2000" dirty="0"/>
                        <a:t>3</a:t>
                      </a:r>
                    </a:p>
                  </a:txBody>
                  <a:tcPr marL="91438" marR="91438" marT="45723" marB="45723"/>
                </a:tc>
                <a:tc>
                  <a:txBody>
                    <a:bodyPr/>
                    <a:lstStyle/>
                    <a:p>
                      <a:pPr algn="ctr"/>
                      <a:r>
                        <a:rPr lang="es-AR" sz="2000" dirty="0"/>
                        <a:t>10</a:t>
                      </a:r>
                    </a:p>
                  </a:txBody>
                  <a:tcPr marL="91438" marR="91438" marT="45723" marB="45723"/>
                </a:tc>
                <a:tc>
                  <a:txBody>
                    <a:bodyPr/>
                    <a:lstStyle/>
                    <a:p>
                      <a:pPr algn="ctr"/>
                      <a:r>
                        <a:rPr lang="es-AR" sz="2000" dirty="0"/>
                        <a:t>0</a:t>
                      </a:r>
                    </a:p>
                  </a:txBody>
                  <a:tcPr marL="91438" marR="91438" marT="45723" marB="45723"/>
                </a:tc>
                <a:tc>
                  <a:txBody>
                    <a:bodyPr/>
                    <a:lstStyle/>
                    <a:p>
                      <a:pPr algn="ctr"/>
                      <a:r>
                        <a:rPr lang="es-AR" sz="2000" dirty="0"/>
                        <a:t>0</a:t>
                      </a:r>
                    </a:p>
                  </a:txBody>
                  <a:tcPr marL="91438" marR="91438" marT="45723" marB="45723"/>
                </a:tc>
                <a:tc>
                  <a:txBody>
                    <a:bodyPr/>
                    <a:lstStyle/>
                    <a:p>
                      <a:pPr algn="ctr"/>
                      <a:r>
                        <a:rPr lang="es-AR" sz="2000" dirty="0"/>
                        <a:t>0</a:t>
                      </a:r>
                    </a:p>
                  </a:txBody>
                  <a:tcPr marL="91438" marR="91438" marT="45723" marB="45723"/>
                </a:tc>
                <a:tc>
                  <a:txBody>
                    <a:bodyPr/>
                    <a:lstStyle/>
                    <a:p>
                      <a:pPr algn="ctr"/>
                      <a:r>
                        <a:rPr lang="es-AR" sz="2000" dirty="0"/>
                        <a:t>0</a:t>
                      </a:r>
                    </a:p>
                  </a:txBody>
                  <a:tcPr marL="91438" marR="91438" marT="45723" marB="45723"/>
                </a:tc>
                <a:extLst>
                  <a:ext uri="{0D108BD9-81ED-4DB2-BD59-A6C34878D82A}">
                    <a16:rowId xmlns:a16="http://schemas.microsoft.com/office/drawing/2014/main" val="10005"/>
                  </a:ext>
                </a:extLst>
              </a:tr>
              <a:tr h="396266">
                <a:tc>
                  <a:txBody>
                    <a:bodyPr/>
                    <a:lstStyle/>
                    <a:p>
                      <a:endParaRPr lang="es-AR" sz="2000" dirty="0"/>
                    </a:p>
                  </a:txBody>
                  <a:tcPr marL="91438" marR="91438" marT="45723" marB="45723">
                    <a:noFill/>
                  </a:tcPr>
                </a:tc>
                <a:tc rowSpan="2">
                  <a:txBody>
                    <a:bodyPr/>
                    <a:lstStyle/>
                    <a:p>
                      <a:pPr algn="ctr"/>
                      <a:r>
                        <a:rPr lang="es-AR" sz="2000" b="1" dirty="0"/>
                        <a:t>12</a:t>
                      </a:r>
                    </a:p>
                  </a:txBody>
                  <a:tcPr marL="91438" marR="91438" marT="45723" marB="45723"/>
                </a:tc>
                <a:tc rowSpan="2">
                  <a:txBody>
                    <a:bodyPr/>
                    <a:lstStyle/>
                    <a:p>
                      <a:pPr algn="ctr"/>
                      <a:r>
                        <a:rPr lang="es-AR" sz="2000" b="1" dirty="0"/>
                        <a:t>25</a:t>
                      </a:r>
                    </a:p>
                  </a:txBody>
                  <a:tcPr marL="91438" marR="91438" marT="45723" marB="45723"/>
                </a:tc>
                <a:tc>
                  <a:txBody>
                    <a:bodyPr/>
                    <a:lstStyle/>
                    <a:p>
                      <a:pPr algn="ctr"/>
                      <a:r>
                        <a:rPr lang="es-AR" sz="2000" b="1" dirty="0"/>
                        <a:t>73</a:t>
                      </a:r>
                    </a:p>
                  </a:txBody>
                  <a:tcPr marL="91438" marR="91438" marT="45723" marB="45723"/>
                </a:tc>
                <a:tc>
                  <a:txBody>
                    <a:bodyPr/>
                    <a:lstStyle/>
                    <a:p>
                      <a:pPr algn="ctr"/>
                      <a:r>
                        <a:rPr lang="es-AR" sz="2000" b="1" dirty="0"/>
                        <a:t>59</a:t>
                      </a:r>
                    </a:p>
                  </a:txBody>
                  <a:tcPr marL="91438" marR="91438" marT="45723" marB="45723"/>
                </a:tc>
                <a:tc>
                  <a:txBody>
                    <a:bodyPr/>
                    <a:lstStyle/>
                    <a:p>
                      <a:pPr algn="ctr"/>
                      <a:r>
                        <a:rPr lang="es-AR" sz="2000" b="1" dirty="0"/>
                        <a:t>6</a:t>
                      </a:r>
                    </a:p>
                  </a:txBody>
                  <a:tcPr marL="91438" marR="91438" marT="45723" marB="45723"/>
                </a:tc>
                <a:tc>
                  <a:txBody>
                    <a:bodyPr/>
                    <a:lstStyle/>
                    <a:p>
                      <a:pPr algn="ctr"/>
                      <a:r>
                        <a:rPr lang="es-AR" sz="2000" b="1" dirty="0"/>
                        <a:t>9</a:t>
                      </a:r>
                    </a:p>
                  </a:txBody>
                  <a:tcPr marL="91438" marR="91438" marT="45723" marB="45723"/>
                </a:tc>
                <a:tc>
                  <a:txBody>
                    <a:bodyPr/>
                    <a:lstStyle/>
                    <a:p>
                      <a:pPr algn="ctr"/>
                      <a:r>
                        <a:rPr lang="es-AR" sz="2000" b="1" dirty="0"/>
                        <a:t>5</a:t>
                      </a:r>
                    </a:p>
                  </a:txBody>
                  <a:tcPr marL="91438" marR="91438" marT="45723" marB="45723"/>
                </a:tc>
                <a:tc>
                  <a:txBody>
                    <a:bodyPr/>
                    <a:lstStyle/>
                    <a:p>
                      <a:pPr algn="ctr"/>
                      <a:r>
                        <a:rPr lang="es-AR" sz="2000" b="1" dirty="0"/>
                        <a:t>4</a:t>
                      </a:r>
                    </a:p>
                  </a:txBody>
                  <a:tcPr marL="91438" marR="91438" marT="45723" marB="45723"/>
                </a:tc>
                <a:extLst>
                  <a:ext uri="{0D108BD9-81ED-4DB2-BD59-A6C34878D82A}">
                    <a16:rowId xmlns:a16="http://schemas.microsoft.com/office/drawing/2014/main" val="10006"/>
                  </a:ext>
                </a:extLst>
              </a:tr>
              <a:tr h="396266">
                <a:tc>
                  <a:txBody>
                    <a:bodyPr/>
                    <a:lstStyle/>
                    <a:p>
                      <a:endParaRPr lang="es-AR" sz="2000" dirty="0"/>
                    </a:p>
                  </a:txBody>
                  <a:tcPr marL="91438" marR="91438" marT="45723" marB="45723">
                    <a:noFill/>
                  </a:tcPr>
                </a:tc>
                <a:tc vMerge="1">
                  <a:txBody>
                    <a:bodyPr/>
                    <a:lstStyle/>
                    <a:p>
                      <a:pPr algn="ctr"/>
                      <a:endParaRPr lang="es-AR" sz="2000" dirty="0"/>
                    </a:p>
                  </a:txBody>
                  <a:tcPr/>
                </a:tc>
                <a:tc vMerge="1">
                  <a:txBody>
                    <a:bodyPr/>
                    <a:lstStyle/>
                    <a:p>
                      <a:pPr algn="ctr"/>
                      <a:endParaRPr lang="es-AR" sz="2000" dirty="0"/>
                    </a:p>
                  </a:txBody>
                  <a:tcPr/>
                </a:tc>
                <a:tc gridSpan="6">
                  <a:txBody>
                    <a:bodyPr/>
                    <a:lstStyle/>
                    <a:p>
                      <a:pPr algn="ctr"/>
                      <a:r>
                        <a:rPr lang="es-AR" sz="2000" b="1" dirty="0"/>
                        <a:t>146</a:t>
                      </a:r>
                    </a:p>
                  </a:txBody>
                  <a:tcPr marL="91438" marR="91438" marT="45723" marB="45723"/>
                </a:tc>
                <a:tc hMerge="1">
                  <a:txBody>
                    <a:bodyPr/>
                    <a:lstStyle/>
                    <a:p>
                      <a:pPr algn="ctr"/>
                      <a:endParaRPr lang="es-AR" sz="2000" dirty="0"/>
                    </a:p>
                  </a:txBody>
                  <a:tcPr/>
                </a:tc>
                <a:tc hMerge="1">
                  <a:txBody>
                    <a:bodyPr/>
                    <a:lstStyle/>
                    <a:p>
                      <a:pPr algn="ctr"/>
                      <a:endParaRPr lang="es-AR" sz="2000" dirty="0"/>
                    </a:p>
                  </a:txBody>
                  <a:tcPr/>
                </a:tc>
                <a:tc hMerge="1">
                  <a:txBody>
                    <a:bodyPr/>
                    <a:lstStyle/>
                    <a:p>
                      <a:pPr algn="ctr"/>
                      <a:endParaRPr lang="es-AR" sz="2000" dirty="0"/>
                    </a:p>
                  </a:txBody>
                  <a:tcPr/>
                </a:tc>
                <a:tc hMerge="1">
                  <a:txBody>
                    <a:bodyPr/>
                    <a:lstStyle/>
                    <a:p>
                      <a:pPr algn="ctr"/>
                      <a:endParaRPr lang="es-AR" sz="2000" dirty="0"/>
                    </a:p>
                  </a:txBody>
                  <a:tcPr/>
                </a:tc>
                <a:tc hMerge="1">
                  <a:txBody>
                    <a:bodyPr/>
                    <a:lstStyle/>
                    <a:p>
                      <a:pPr algn="ctr"/>
                      <a:endParaRPr lang="es-AR" sz="2000" dirty="0"/>
                    </a:p>
                  </a:txBody>
                  <a:tcPr/>
                </a:tc>
                <a:extLst>
                  <a:ext uri="{0D108BD9-81ED-4DB2-BD59-A6C34878D82A}">
                    <a16:rowId xmlns:a16="http://schemas.microsoft.com/office/drawing/2014/main" val="10007"/>
                  </a:ext>
                </a:extLst>
              </a:tr>
            </a:tbl>
          </a:graphicData>
        </a:graphic>
      </p:graphicFrame>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18</a:t>
            </a:fld>
            <a:endParaRPr lang="es-ES" altLang="es-A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1 Título"/>
          <p:cNvSpPr>
            <a:spLocks noGrp="1"/>
          </p:cNvSpPr>
          <p:nvPr>
            <p:ph type="title"/>
          </p:nvPr>
        </p:nvSpPr>
        <p:spPr>
          <a:xfrm>
            <a:off x="457200" y="274638"/>
            <a:ext cx="8229600" cy="654050"/>
          </a:xfrm>
        </p:spPr>
        <p:txBody>
          <a:bodyPr/>
          <a:lstStyle/>
          <a:p>
            <a:r>
              <a:rPr lang="es-AR" altLang="es-AR" b="1"/>
              <a:t>Pautas y leyes</a:t>
            </a:r>
          </a:p>
        </p:txBody>
      </p:sp>
      <p:sp>
        <p:nvSpPr>
          <p:cNvPr id="12291" name="2 Marcador de contenido"/>
          <p:cNvSpPr>
            <a:spLocks noGrp="1"/>
          </p:cNvSpPr>
          <p:nvPr>
            <p:ph idx="1"/>
          </p:nvPr>
        </p:nvSpPr>
        <p:spPr>
          <a:xfrm>
            <a:off x="457200" y="1600200"/>
            <a:ext cx="8229600" cy="4924425"/>
          </a:xfrm>
        </p:spPr>
        <p:txBody>
          <a:bodyPr/>
          <a:lstStyle/>
          <a:p>
            <a:pPr>
              <a:lnSpc>
                <a:spcPct val="90000"/>
              </a:lnSpc>
              <a:defRPr/>
            </a:pPr>
            <a:r>
              <a:rPr lang="es-AR" dirty="0"/>
              <a:t>Introducción a las WCAG 2.0</a:t>
            </a:r>
          </a:p>
          <a:p>
            <a:pPr marL="0" indent="0">
              <a:lnSpc>
                <a:spcPct val="90000"/>
              </a:lnSpc>
              <a:buFontTx/>
              <a:buNone/>
              <a:defRPr/>
            </a:pPr>
            <a:endParaRPr lang="es-AR" dirty="0"/>
          </a:p>
          <a:p>
            <a:pPr>
              <a:lnSpc>
                <a:spcPct val="90000"/>
              </a:lnSpc>
              <a:defRPr/>
            </a:pPr>
            <a:r>
              <a:rPr lang="es-AR" dirty="0"/>
              <a:t>Principios:</a:t>
            </a:r>
          </a:p>
          <a:p>
            <a:pPr lvl="1">
              <a:lnSpc>
                <a:spcPct val="90000"/>
              </a:lnSpc>
              <a:defRPr/>
            </a:pPr>
            <a:r>
              <a:rPr lang="es-AR" b="1" dirty="0"/>
              <a:t>1. Perceptible</a:t>
            </a:r>
            <a:r>
              <a:rPr lang="es-AR" dirty="0"/>
              <a:t>: la información y los componentes de la interfaz de usuario deben ser presentados a los usuarios de modo que ellos puedan percibirlos. </a:t>
            </a:r>
          </a:p>
          <a:p>
            <a:pPr lvl="1">
              <a:lnSpc>
                <a:spcPct val="90000"/>
              </a:lnSpc>
              <a:defRPr/>
            </a:pPr>
            <a:r>
              <a:rPr lang="es-AR" b="1" dirty="0"/>
              <a:t>2. Operable</a:t>
            </a:r>
            <a:r>
              <a:rPr lang="es-AR" dirty="0"/>
              <a:t>: los componentes de la interfaz de usuario y la navegación deben ser operables. </a:t>
            </a:r>
          </a:p>
          <a:p>
            <a:pPr lvl="1">
              <a:lnSpc>
                <a:spcPct val="90000"/>
              </a:lnSpc>
              <a:defRPr/>
            </a:pPr>
            <a:r>
              <a:rPr lang="es-AR" b="1" dirty="0"/>
              <a:t>3. Comprensible</a:t>
            </a:r>
            <a:r>
              <a:rPr lang="es-AR" dirty="0"/>
              <a:t>: la información y el manejo de la interfaz de usuario deben ser comprensibles. </a:t>
            </a:r>
          </a:p>
          <a:p>
            <a:pPr lvl="1">
              <a:lnSpc>
                <a:spcPct val="90000"/>
              </a:lnSpc>
              <a:defRPr/>
            </a:pPr>
            <a:r>
              <a:rPr lang="es-AR" b="1" dirty="0"/>
              <a:t>4. Robusto</a:t>
            </a:r>
            <a:r>
              <a:rPr lang="es-AR" dirty="0"/>
              <a:t>: el contenido debe ser suficientemente robusto como para ser interpretado de forma fiable por una amplia variedad de aplicaciones de usuario, incluyendo los productos de apoyo. </a:t>
            </a:r>
          </a:p>
          <a:p>
            <a:pPr>
              <a:defRPr/>
            </a:pPr>
            <a:endParaRPr lang="es-AR" alt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19</a:t>
            </a:fld>
            <a:endParaRPr lang="es-ES" altLang="es-A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1 Título"/>
          <p:cNvSpPr>
            <a:spLocks noGrp="1"/>
          </p:cNvSpPr>
          <p:nvPr>
            <p:ph type="title"/>
          </p:nvPr>
        </p:nvSpPr>
        <p:spPr>
          <a:xfrm>
            <a:off x="457200" y="274638"/>
            <a:ext cx="8229600" cy="654050"/>
          </a:xfrm>
        </p:spPr>
        <p:txBody>
          <a:bodyPr/>
          <a:lstStyle/>
          <a:p>
            <a:r>
              <a:rPr lang="es-AR" altLang="es-AR" b="1" dirty="0"/>
              <a:t>Pautas y leyes</a:t>
            </a:r>
          </a:p>
        </p:txBody>
      </p:sp>
      <p:graphicFrame>
        <p:nvGraphicFramePr>
          <p:cNvPr id="3" name="Tabla 2"/>
          <p:cNvGraphicFramePr>
            <a:graphicFrameLocks noGrp="1"/>
          </p:cNvGraphicFramePr>
          <p:nvPr>
            <p:extLst>
              <p:ext uri="{D42A27DB-BD31-4B8C-83A1-F6EECF244321}">
                <p14:modId xmlns:p14="http://schemas.microsoft.com/office/powerpoint/2010/main" val="2030275951"/>
              </p:ext>
            </p:extLst>
          </p:nvPr>
        </p:nvGraphicFramePr>
        <p:xfrm>
          <a:off x="269775" y="1340768"/>
          <a:ext cx="8694713" cy="5328280"/>
        </p:xfrm>
        <a:graphic>
          <a:graphicData uri="http://schemas.openxmlformats.org/drawingml/2006/table">
            <a:tbl>
              <a:tblPr firstRow="1" bandRow="1">
                <a:tableStyleId>{5C22544A-7EE6-4342-B048-85BDC9FD1C3A}</a:tableStyleId>
              </a:tblPr>
              <a:tblGrid>
                <a:gridCol w="3168352">
                  <a:extLst>
                    <a:ext uri="{9D8B030D-6E8A-4147-A177-3AD203B41FA5}">
                      <a16:colId xmlns:a16="http://schemas.microsoft.com/office/drawing/2014/main" val="20000"/>
                    </a:ext>
                  </a:extLst>
                </a:gridCol>
                <a:gridCol w="1512168">
                  <a:extLst>
                    <a:ext uri="{9D8B030D-6E8A-4147-A177-3AD203B41FA5}">
                      <a16:colId xmlns:a16="http://schemas.microsoft.com/office/drawing/2014/main" val="20001"/>
                    </a:ext>
                  </a:extLst>
                </a:gridCol>
                <a:gridCol w="1224136">
                  <a:extLst>
                    <a:ext uri="{9D8B030D-6E8A-4147-A177-3AD203B41FA5}">
                      <a16:colId xmlns:a16="http://schemas.microsoft.com/office/drawing/2014/main" val="20002"/>
                    </a:ext>
                  </a:extLst>
                </a:gridCol>
                <a:gridCol w="1584176">
                  <a:extLst>
                    <a:ext uri="{9D8B030D-6E8A-4147-A177-3AD203B41FA5}">
                      <a16:colId xmlns:a16="http://schemas.microsoft.com/office/drawing/2014/main" val="20003"/>
                    </a:ext>
                  </a:extLst>
                </a:gridCol>
                <a:gridCol w="1205881">
                  <a:extLst>
                    <a:ext uri="{9D8B030D-6E8A-4147-A177-3AD203B41FA5}">
                      <a16:colId xmlns:a16="http://schemas.microsoft.com/office/drawing/2014/main" val="20004"/>
                    </a:ext>
                  </a:extLst>
                </a:gridCol>
              </a:tblGrid>
              <a:tr h="621088">
                <a:tc>
                  <a:txBody>
                    <a:bodyPr/>
                    <a:lstStyle/>
                    <a:p>
                      <a:r>
                        <a:rPr lang="es-AR" dirty="0">
                          <a:solidFill>
                            <a:schemeClr val="tx1"/>
                          </a:solidFill>
                        </a:rPr>
                        <a:t>Pautas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solidFill>
                            <a:schemeClr val="tx1"/>
                          </a:solidFill>
                        </a:rPr>
                        <a:t>Perceptible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solidFill>
                            <a:schemeClr val="tx1"/>
                          </a:solidFill>
                        </a:rPr>
                        <a:t>Operable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AR" sz="1600" dirty="0">
                          <a:solidFill>
                            <a:schemeClr val="tx1"/>
                          </a:solidFill>
                        </a:rPr>
                        <a:t>Comprensible</a:t>
                      </a:r>
                    </a:p>
                    <a:p>
                      <a:pPr algn="ctr"/>
                      <a:endParaRPr lang="es-AR"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solidFill>
                            <a:schemeClr val="tx1"/>
                          </a:solidFill>
                        </a:rPr>
                        <a:t>Robusto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2266">
                <a:tc>
                  <a:txBody>
                    <a:bodyPr/>
                    <a:lstStyle/>
                    <a:p>
                      <a:r>
                        <a:rPr lang="es-AR" dirty="0"/>
                        <a:t>Alternativas textuales.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22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Medios tempodependientes.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22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Adaptable.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22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Distinguible.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2266">
                <a:tc>
                  <a:txBody>
                    <a:bodyPr/>
                    <a:lstStyle/>
                    <a:p>
                      <a:r>
                        <a:rPr lang="es-AR" dirty="0"/>
                        <a:t>Accesible por teclado.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922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Tiempo suficiente.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922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Convulsiones.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922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Navegable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922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Legible.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922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Predecible.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922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Entrada de datos asistida.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3922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Compatible.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20</a:t>
            </a:fld>
            <a:endParaRPr lang="es-ES" altLang="es-AR" dirty="0"/>
          </a:p>
        </p:txBody>
      </p:sp>
    </p:spTree>
    <p:extLst>
      <p:ext uri="{BB962C8B-B14F-4D97-AF65-F5344CB8AC3E}">
        <p14:creationId xmlns:p14="http://schemas.microsoft.com/office/powerpoint/2010/main" val="4062309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1 Título"/>
          <p:cNvSpPr>
            <a:spLocks noGrp="1"/>
          </p:cNvSpPr>
          <p:nvPr>
            <p:ph type="title"/>
          </p:nvPr>
        </p:nvSpPr>
        <p:spPr>
          <a:xfrm>
            <a:off x="457200" y="274638"/>
            <a:ext cx="8229600" cy="654050"/>
          </a:xfrm>
        </p:spPr>
        <p:txBody>
          <a:bodyPr/>
          <a:lstStyle/>
          <a:p>
            <a:r>
              <a:rPr lang="es-AR" altLang="es-AR" b="1" dirty="0"/>
              <a:t>Pautas y leyes</a:t>
            </a:r>
          </a:p>
        </p:txBody>
      </p:sp>
      <p:sp>
        <p:nvSpPr>
          <p:cNvPr id="12291" name="2 Marcador de contenido"/>
          <p:cNvSpPr>
            <a:spLocks noGrp="1"/>
          </p:cNvSpPr>
          <p:nvPr>
            <p:ph idx="1"/>
          </p:nvPr>
        </p:nvSpPr>
        <p:spPr>
          <a:xfrm>
            <a:off x="457200" y="1600200"/>
            <a:ext cx="8229600" cy="4924425"/>
          </a:xfrm>
        </p:spPr>
        <p:txBody>
          <a:bodyPr/>
          <a:lstStyle/>
          <a:p>
            <a:pPr>
              <a:lnSpc>
                <a:spcPct val="90000"/>
              </a:lnSpc>
              <a:defRPr/>
            </a:pPr>
            <a:r>
              <a:rPr lang="es-AR" dirty="0"/>
              <a:t>Introducción a las WCAG 2.0</a:t>
            </a:r>
          </a:p>
          <a:p>
            <a:pPr marL="0" indent="0">
              <a:lnSpc>
                <a:spcPct val="90000"/>
              </a:lnSpc>
              <a:buNone/>
              <a:defRPr/>
            </a:pPr>
            <a:endParaRPr lang="es-AR" dirty="0"/>
          </a:p>
          <a:p>
            <a:pPr lvl="1" algn="just">
              <a:lnSpc>
                <a:spcPct val="90000"/>
              </a:lnSpc>
              <a:defRPr/>
            </a:pPr>
            <a:r>
              <a:rPr lang="es-AR" dirty="0"/>
              <a:t>Niveles de Conformidad:</a:t>
            </a:r>
          </a:p>
          <a:p>
            <a:pPr lvl="1" algn="just">
              <a:lnSpc>
                <a:spcPct val="90000"/>
              </a:lnSpc>
              <a:defRPr/>
            </a:pPr>
            <a:endParaRPr lang="es-AR" dirty="0"/>
          </a:p>
          <a:p>
            <a:pPr marL="0" indent="0">
              <a:buFontTx/>
              <a:buNone/>
              <a:defRPr/>
            </a:pPr>
            <a:endParaRPr lang="es-AR" altLang="es-AR" dirty="0"/>
          </a:p>
        </p:txBody>
      </p:sp>
      <p:graphicFrame>
        <p:nvGraphicFramePr>
          <p:cNvPr id="2" name="Tabla 1"/>
          <p:cNvGraphicFramePr>
            <a:graphicFrameLocks noGrp="1"/>
          </p:cNvGraphicFramePr>
          <p:nvPr>
            <p:extLst>
              <p:ext uri="{D42A27DB-BD31-4B8C-83A1-F6EECF244321}">
                <p14:modId xmlns:p14="http://schemas.microsoft.com/office/powerpoint/2010/main" val="3623164739"/>
              </p:ext>
            </p:extLst>
          </p:nvPr>
        </p:nvGraphicFramePr>
        <p:xfrm>
          <a:off x="457200" y="2958089"/>
          <a:ext cx="8229600" cy="3090286"/>
        </p:xfrm>
        <a:graphic>
          <a:graphicData uri="http://schemas.openxmlformats.org/drawingml/2006/table">
            <a:tbl>
              <a:tblPr firstRow="1" bandRow="1">
                <a:tableStyleId>{5C22544A-7EE6-4342-B048-85BDC9FD1C3A}</a:tableStyleId>
              </a:tblPr>
              <a:tblGrid>
                <a:gridCol w="2746648">
                  <a:extLst>
                    <a:ext uri="{9D8B030D-6E8A-4147-A177-3AD203B41FA5}">
                      <a16:colId xmlns:a16="http://schemas.microsoft.com/office/drawing/2014/main" val="1787984952"/>
                    </a:ext>
                  </a:extLst>
                </a:gridCol>
                <a:gridCol w="2739752">
                  <a:extLst>
                    <a:ext uri="{9D8B030D-6E8A-4147-A177-3AD203B41FA5}">
                      <a16:colId xmlns:a16="http://schemas.microsoft.com/office/drawing/2014/main" val="1233709344"/>
                    </a:ext>
                  </a:extLst>
                </a:gridCol>
                <a:gridCol w="2743200">
                  <a:extLst>
                    <a:ext uri="{9D8B030D-6E8A-4147-A177-3AD203B41FA5}">
                      <a16:colId xmlns:a16="http://schemas.microsoft.com/office/drawing/2014/main" val="2180455723"/>
                    </a:ext>
                  </a:extLst>
                </a:gridCol>
              </a:tblGrid>
              <a:tr h="482313">
                <a:tc>
                  <a:txBody>
                    <a:bodyPr/>
                    <a:lstStyle/>
                    <a:p>
                      <a:pPr algn="ctr"/>
                      <a:endParaRPr lang="es-AR" sz="2000" dirty="0"/>
                    </a:p>
                  </a:txBody>
                  <a:tcPr marT="45725" marB="45725"/>
                </a:tc>
                <a:tc>
                  <a:txBody>
                    <a:bodyPr/>
                    <a:lstStyle/>
                    <a:p>
                      <a:pPr algn="ctr"/>
                      <a:endParaRPr lang="es-AR" sz="2000" dirty="0"/>
                    </a:p>
                  </a:txBody>
                  <a:tcPr marT="45725" marB="45725"/>
                </a:tc>
                <a:tc>
                  <a:txBody>
                    <a:bodyPr/>
                    <a:lstStyle/>
                    <a:p>
                      <a:pPr algn="ctr"/>
                      <a:endParaRPr lang="es-AR" sz="2000" dirty="0"/>
                    </a:p>
                  </a:txBody>
                  <a:tcPr marT="45725" marB="45725"/>
                </a:tc>
                <a:extLst>
                  <a:ext uri="{0D108BD9-81ED-4DB2-BD59-A6C34878D82A}">
                    <a16:rowId xmlns:a16="http://schemas.microsoft.com/office/drawing/2014/main" val="887524215"/>
                  </a:ext>
                </a:extLst>
              </a:tr>
              <a:tr h="26079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2000" dirty="0"/>
                        <a:t>Para lograr conformidad con el Nivel A (el mínimo), la página web satisface todos los Criterios de Conformidad del Nivel A.</a:t>
                      </a:r>
                    </a:p>
                  </a:txBody>
                  <a:tcPr marT="45725" marB="4572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2000" dirty="0"/>
                        <a:t>Para lograr conformidad con el Nivel AA, la página web satisface todos los Criterios de Conformidad de los Niveles A y AA.</a:t>
                      </a:r>
                    </a:p>
                  </a:txBody>
                  <a:tcPr marT="45725" marB="4572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2000" dirty="0"/>
                        <a:t>Para lograr conformidad con el Nivel AAA, la página web satisface todos los Criterios de Conformidad de los Niveles A, AA y AAA.</a:t>
                      </a:r>
                    </a:p>
                  </a:txBody>
                  <a:tcPr marT="45725" marB="45725"/>
                </a:tc>
                <a:extLst>
                  <a:ext uri="{0D108BD9-81ED-4DB2-BD59-A6C34878D82A}">
                    <a16:rowId xmlns:a16="http://schemas.microsoft.com/office/drawing/2014/main" val="120655075"/>
                  </a:ext>
                </a:extLst>
              </a:tr>
            </a:tbl>
          </a:graphicData>
        </a:graphic>
      </p:graphicFrame>
      <p:pic>
        <p:nvPicPr>
          <p:cNvPr id="34834" name="Picture 2" descr="Nivel de conformidad A: indica que se cumplen todos los criterios del nivel de conformidad A.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9422" y="2807489"/>
            <a:ext cx="1590483" cy="55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35" name="Picture 4" descr="Nivel de conformidad AA: indica que se cumplen todos los criterios de los niveles de conformidad A y A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2349" y="2810664"/>
            <a:ext cx="1559302" cy="55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36" name="Picture 6" descr="Nivel de conformidad AAA: indica que se cumplen todos los criterios de los niveles de conformidad A, AA y AA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64095" y="2811014"/>
            <a:ext cx="1614737" cy="580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Marcador de número de diapositiva 2"/>
          <p:cNvSpPr>
            <a:spLocks noGrp="1"/>
          </p:cNvSpPr>
          <p:nvPr>
            <p:ph type="sldNum" sz="quarter" idx="12"/>
          </p:nvPr>
        </p:nvSpPr>
        <p:spPr/>
        <p:txBody>
          <a:bodyPr/>
          <a:lstStyle/>
          <a:p>
            <a:pPr>
              <a:defRPr/>
            </a:pPr>
            <a:fld id="{4043C4F7-2767-4620-8EE5-22DF55586577}" type="slidenum">
              <a:rPr lang="es-ES" altLang="es-AR" smtClean="0"/>
              <a:pPr>
                <a:defRPr/>
              </a:pPr>
              <a:t>21</a:t>
            </a:fld>
            <a:endParaRPr lang="es-ES" altLang="es-A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1 Título"/>
          <p:cNvSpPr>
            <a:spLocks noGrp="1"/>
          </p:cNvSpPr>
          <p:nvPr>
            <p:ph type="title"/>
          </p:nvPr>
        </p:nvSpPr>
        <p:spPr>
          <a:xfrm>
            <a:off x="457200" y="274638"/>
            <a:ext cx="8229600" cy="654050"/>
          </a:xfrm>
        </p:spPr>
        <p:txBody>
          <a:bodyPr/>
          <a:lstStyle/>
          <a:p>
            <a:r>
              <a:rPr lang="es-AR" altLang="es-AR" b="1" dirty="0"/>
              <a:t>Pautas y leyes</a:t>
            </a:r>
          </a:p>
        </p:txBody>
      </p:sp>
      <p:sp>
        <p:nvSpPr>
          <p:cNvPr id="12291" name="2 Marcador de contenido"/>
          <p:cNvSpPr>
            <a:spLocks noGrp="1"/>
          </p:cNvSpPr>
          <p:nvPr>
            <p:ph idx="1"/>
          </p:nvPr>
        </p:nvSpPr>
        <p:spPr>
          <a:xfrm>
            <a:off x="457200" y="1600200"/>
            <a:ext cx="8229600" cy="4924425"/>
          </a:xfrm>
        </p:spPr>
        <p:txBody>
          <a:bodyPr/>
          <a:lstStyle/>
          <a:p>
            <a:pPr>
              <a:lnSpc>
                <a:spcPct val="90000"/>
              </a:lnSpc>
              <a:defRPr/>
            </a:pPr>
            <a:r>
              <a:rPr lang="es-AR" dirty="0"/>
              <a:t>En Argentina:</a:t>
            </a:r>
          </a:p>
          <a:p>
            <a:pPr lvl="1">
              <a:lnSpc>
                <a:spcPct val="90000"/>
              </a:lnSpc>
              <a:defRPr/>
            </a:pPr>
            <a:r>
              <a:rPr lang="es-AR" altLang="es-AR" dirty="0"/>
              <a:t>En noviembre de 2010 se aprobó en Argentina la Ley 26.653 de accesibilidad de la información en las páginas web</a:t>
            </a:r>
          </a:p>
          <a:p>
            <a:pPr lvl="1">
              <a:lnSpc>
                <a:spcPct val="90000"/>
              </a:lnSpc>
              <a:defRPr/>
            </a:pPr>
            <a:r>
              <a:rPr lang="es-AR" altLang="es-AR" dirty="0"/>
              <a:t>Es una de las primeras legislaciones sobre accesibilidad web que se promulgan en Sudamérica.</a:t>
            </a:r>
          </a:p>
          <a:p>
            <a:pPr lvl="1">
              <a:lnSpc>
                <a:spcPct val="90000"/>
              </a:lnSpc>
              <a:defRPr/>
            </a:pPr>
            <a:r>
              <a:rPr lang="es-AR" dirty="0"/>
              <a:t>La Ley garantiza y amplía el acceso a la información pública a las personas con discapacidad. Mediante esta ley, el Estado Nacional deberá respetar en los diseños de sus páginas Web las normas y requisitos sobre accesibilidad de la información que faciliten el acceso a sus contenidos para todas las personas con discapacidad, con el objeto de garantizarles la igualdad real de oportunidades y trato, evitando así todo tipo de discriminación.</a:t>
            </a:r>
            <a:endParaRPr lang="es-AR" alt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22</a:t>
            </a:fld>
            <a:endParaRPr lang="es-ES" altLang="es-AR" dirty="0"/>
          </a:p>
        </p:txBody>
      </p:sp>
    </p:spTree>
    <p:extLst>
      <p:ext uri="{BB962C8B-B14F-4D97-AF65-F5344CB8AC3E}">
        <p14:creationId xmlns:p14="http://schemas.microsoft.com/office/powerpoint/2010/main" val="1503124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1 Título"/>
          <p:cNvSpPr>
            <a:spLocks noGrp="1"/>
          </p:cNvSpPr>
          <p:nvPr>
            <p:ph type="title"/>
          </p:nvPr>
        </p:nvSpPr>
        <p:spPr>
          <a:xfrm>
            <a:off x="457200" y="274638"/>
            <a:ext cx="8229600" cy="654050"/>
          </a:xfrm>
        </p:spPr>
        <p:txBody>
          <a:bodyPr/>
          <a:lstStyle/>
          <a:p>
            <a:r>
              <a:rPr lang="es-AR" altLang="es-AR" b="1" dirty="0"/>
              <a:t>Pautas y leyes</a:t>
            </a:r>
          </a:p>
        </p:txBody>
      </p:sp>
      <p:sp>
        <p:nvSpPr>
          <p:cNvPr id="12291" name="2 Marcador de contenido"/>
          <p:cNvSpPr>
            <a:spLocks noGrp="1"/>
          </p:cNvSpPr>
          <p:nvPr>
            <p:ph idx="1"/>
          </p:nvPr>
        </p:nvSpPr>
        <p:spPr>
          <a:xfrm>
            <a:off x="457200" y="1600200"/>
            <a:ext cx="8229600" cy="4924425"/>
          </a:xfrm>
        </p:spPr>
        <p:txBody>
          <a:bodyPr/>
          <a:lstStyle/>
          <a:p>
            <a:pPr>
              <a:lnSpc>
                <a:spcPct val="90000"/>
              </a:lnSpc>
              <a:defRPr/>
            </a:pPr>
            <a:r>
              <a:rPr lang="es-AR" dirty="0"/>
              <a:t>En Argentina:</a:t>
            </a:r>
          </a:p>
          <a:p>
            <a:pPr lvl="1"/>
            <a:r>
              <a:rPr lang="es-AR" dirty="0"/>
              <a:t>La Disposición ONTI 02/2014 de agosto de 2014, establece entre los puntos más importantes: </a:t>
            </a:r>
          </a:p>
          <a:p>
            <a:pPr lvl="2"/>
            <a:r>
              <a:rPr lang="es-AR" i="1" dirty="0"/>
              <a:t>“ARTICULO 1 — Apruébese la “Norma de Accesibilidad Web 2.0.” que como Anexo I forma parte de dicha Disposición.</a:t>
            </a:r>
            <a:endParaRPr lang="es-AR" dirty="0"/>
          </a:p>
          <a:p>
            <a:pPr lvl="2"/>
            <a:r>
              <a:rPr lang="es-AR" i="1" dirty="0"/>
              <a:t>ARTICULO 2 — Apruébense los “Niveles Mínimos de Conformidad” que como Anexo II forma parte integrante de dicha Disposición.</a:t>
            </a:r>
            <a:endParaRPr lang="es-AR" dirty="0"/>
          </a:p>
          <a:p>
            <a:pPr lvl="2"/>
            <a:r>
              <a:rPr lang="es-AR" i="1" dirty="0"/>
              <a:t>ARTICULO 3 — Establécese que el nivel mínimo de conformidad a ser cumplimentado por los organismos, durante el primer período evaluatorio deberá ser de CINCUENTA (50) puntos y en el segundo período el umbral de aprobación se establecerá en OCHENTA (80), acorde lo establecido en el Anexo II que aprueba la Disposición.”</a:t>
            </a:r>
            <a:endParaRPr lang="es-AR" alt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23</a:t>
            </a:fld>
            <a:endParaRPr lang="es-ES" altLang="es-AR" dirty="0"/>
          </a:p>
        </p:txBody>
      </p:sp>
    </p:spTree>
    <p:extLst>
      <p:ext uri="{BB962C8B-B14F-4D97-AF65-F5344CB8AC3E}">
        <p14:creationId xmlns:p14="http://schemas.microsoft.com/office/powerpoint/2010/main" val="2715457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1 Título"/>
          <p:cNvSpPr>
            <a:spLocks noGrp="1"/>
          </p:cNvSpPr>
          <p:nvPr>
            <p:ph type="title"/>
          </p:nvPr>
        </p:nvSpPr>
        <p:spPr>
          <a:xfrm>
            <a:off x="457200" y="274638"/>
            <a:ext cx="8229600" cy="654050"/>
          </a:xfrm>
        </p:spPr>
        <p:txBody>
          <a:bodyPr/>
          <a:lstStyle/>
          <a:p>
            <a:r>
              <a:rPr lang="es-AR" altLang="es-AR" b="1" dirty="0"/>
              <a:t>Pautas y leyes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24</a:t>
            </a:fld>
            <a:endParaRPr lang="es-ES" altLang="es-AR" dirty="0"/>
          </a:p>
        </p:txBody>
      </p:sp>
      <p:pic>
        <p:nvPicPr>
          <p:cNvPr id="1026" name="Picture 2" descr="http://servicios.infoleg.gob.ar/infolegInternet/anexos/230000-234999/233667/disp2-20-08-2014.JPG"/>
          <p:cNvPicPr>
            <a:picLocks noChangeAspect="1" noChangeArrowheads="1"/>
          </p:cNvPicPr>
          <p:nvPr/>
        </p:nvPicPr>
        <p:blipFill rotWithShape="1">
          <a:blip r:embed="rId3">
            <a:extLst>
              <a:ext uri="{28A0092B-C50C-407E-A947-70E740481C1C}">
                <a14:useLocalDpi xmlns:a14="http://schemas.microsoft.com/office/drawing/2010/main" val="0"/>
              </a:ext>
            </a:extLst>
          </a:blip>
          <a:srcRect l="2122" t="5562" r="4244"/>
          <a:stretch/>
        </p:blipFill>
        <p:spPr bwMode="auto">
          <a:xfrm>
            <a:off x="0" y="1401413"/>
            <a:ext cx="9121122" cy="4810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3595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dirty="0"/>
              <a:t>Organización</a:t>
            </a:r>
          </a:p>
        </p:txBody>
      </p:sp>
      <p:sp>
        <p:nvSpPr>
          <p:cNvPr id="35843" name="2 Marcador de contenido"/>
          <p:cNvSpPr>
            <a:spLocks noGrp="1"/>
          </p:cNvSpPr>
          <p:nvPr>
            <p:ph idx="1"/>
          </p:nvPr>
        </p:nvSpPr>
        <p:spPr/>
        <p:txBody>
          <a:bodyPr/>
          <a:lstStyle/>
          <a:p>
            <a:r>
              <a:rPr lang="es-AR" altLang="es-AR" dirty="0"/>
              <a:t>¿Qué es la accesibilidad web?</a:t>
            </a:r>
          </a:p>
          <a:p>
            <a:r>
              <a:rPr lang="es-AR" altLang="es-AR" dirty="0"/>
              <a:t>Pautas y leyes.</a:t>
            </a:r>
          </a:p>
          <a:p>
            <a:r>
              <a:rPr lang="es-AR" altLang="es-AR" b="1" dirty="0">
                <a:solidFill>
                  <a:srgbClr val="0070C0"/>
                </a:solidFill>
              </a:rPr>
              <a:t>Contenido accesible.</a:t>
            </a:r>
          </a:p>
          <a:p>
            <a:r>
              <a:rPr lang="es-AR" altLang="es-AR" dirty="0"/>
              <a:t>Navegación accesible.</a:t>
            </a:r>
          </a:p>
          <a:p>
            <a:r>
              <a:rPr lang="es-AR" altLang="es-AR" dirty="0"/>
              <a:t>Diseño accesible.</a:t>
            </a:r>
          </a:p>
          <a:p>
            <a:r>
              <a:rPr lang="es-AR" altLang="es-AR" dirty="0"/>
              <a:t>Análisis y evaluación de la accesibilidad web.</a:t>
            </a:r>
          </a:p>
          <a:p>
            <a:r>
              <a:rPr lang="es-AR" altLang="es-AR" dirty="0"/>
              <a:t>Conclusiones.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25</a:t>
            </a:fld>
            <a:endParaRPr lang="es-ES" altLang="es-A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1 Título"/>
          <p:cNvSpPr>
            <a:spLocks noGrp="1"/>
          </p:cNvSpPr>
          <p:nvPr>
            <p:ph type="title"/>
          </p:nvPr>
        </p:nvSpPr>
        <p:spPr>
          <a:xfrm>
            <a:off x="457200" y="274638"/>
            <a:ext cx="8229600" cy="654050"/>
          </a:xfrm>
        </p:spPr>
        <p:txBody>
          <a:bodyPr/>
          <a:lstStyle/>
          <a:p>
            <a:r>
              <a:rPr lang="es-AR" altLang="es-AR" b="1" dirty="0"/>
              <a:t>Contenido accesible</a:t>
            </a:r>
          </a:p>
        </p:txBody>
      </p:sp>
      <p:sp>
        <p:nvSpPr>
          <p:cNvPr id="36867" name="2 Marcador de contenido"/>
          <p:cNvSpPr>
            <a:spLocks noGrp="1"/>
          </p:cNvSpPr>
          <p:nvPr>
            <p:ph idx="1"/>
          </p:nvPr>
        </p:nvSpPr>
        <p:spPr/>
        <p:txBody>
          <a:bodyPr/>
          <a:lstStyle/>
          <a:p>
            <a:r>
              <a:rPr lang="es-AR" altLang="es-AR" dirty="0"/>
              <a:t>Definición</a:t>
            </a:r>
          </a:p>
          <a:p>
            <a:endParaRPr lang="es-AR" altLang="es-AR" dirty="0"/>
          </a:p>
          <a:p>
            <a:pPr lvl="1" algn="just">
              <a:lnSpc>
                <a:spcPct val="90000"/>
              </a:lnSpc>
            </a:pPr>
            <a:r>
              <a:rPr lang="es-AR" altLang="es-AR" dirty="0"/>
              <a:t>Información contenida en una página web o en una aplicación web, incluyendo:</a:t>
            </a:r>
          </a:p>
          <a:p>
            <a:pPr lvl="1" algn="just">
              <a:lnSpc>
                <a:spcPct val="90000"/>
              </a:lnSpc>
            </a:pPr>
            <a:endParaRPr lang="es-AR" altLang="es-AR" dirty="0"/>
          </a:p>
          <a:p>
            <a:pPr lvl="3" algn="just">
              <a:lnSpc>
                <a:spcPct val="90000"/>
              </a:lnSpc>
            </a:pPr>
            <a:r>
              <a:rPr lang="es-AR" altLang="es-AR" dirty="0"/>
              <a:t>texto, </a:t>
            </a:r>
          </a:p>
          <a:p>
            <a:pPr lvl="3" algn="just">
              <a:lnSpc>
                <a:spcPct val="90000"/>
              </a:lnSpc>
            </a:pPr>
            <a:r>
              <a:rPr lang="es-AR" altLang="es-AR" dirty="0"/>
              <a:t>imágenes, </a:t>
            </a:r>
          </a:p>
          <a:p>
            <a:pPr lvl="3" algn="just">
              <a:lnSpc>
                <a:spcPct val="90000"/>
              </a:lnSpc>
            </a:pPr>
            <a:r>
              <a:rPr lang="es-AR" altLang="es-AR" dirty="0"/>
              <a:t>formularios, </a:t>
            </a:r>
          </a:p>
          <a:p>
            <a:pPr lvl="3" algn="just">
              <a:lnSpc>
                <a:spcPct val="90000"/>
              </a:lnSpc>
            </a:pPr>
            <a:r>
              <a:rPr lang="es-AR" altLang="es-AR" dirty="0"/>
              <a:t>sonido, </a:t>
            </a:r>
          </a:p>
          <a:p>
            <a:pPr lvl="3" algn="just">
              <a:lnSpc>
                <a:spcPct val="90000"/>
              </a:lnSpc>
            </a:pPr>
            <a:r>
              <a:rPr lang="es-AR" altLang="es-AR" dirty="0"/>
              <a:t>etc.</a:t>
            </a:r>
          </a:p>
          <a:p>
            <a:pPr lvl="1"/>
            <a:endParaRPr lang="es-AR" alt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26</a:t>
            </a:fld>
            <a:endParaRPr lang="es-ES" altLang="es-A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1 Título"/>
          <p:cNvSpPr>
            <a:spLocks noGrp="1"/>
          </p:cNvSpPr>
          <p:nvPr>
            <p:ph type="title"/>
          </p:nvPr>
        </p:nvSpPr>
        <p:spPr>
          <a:xfrm>
            <a:off x="457200" y="274638"/>
            <a:ext cx="8229600" cy="654050"/>
          </a:xfrm>
        </p:spPr>
        <p:txBody>
          <a:bodyPr/>
          <a:lstStyle/>
          <a:p>
            <a:r>
              <a:rPr lang="es-AR" altLang="es-AR" b="1" dirty="0"/>
              <a:t>Contenido accesible</a:t>
            </a:r>
          </a:p>
        </p:txBody>
      </p:sp>
      <p:sp>
        <p:nvSpPr>
          <p:cNvPr id="37891" name="2 Marcador de contenido"/>
          <p:cNvSpPr>
            <a:spLocks noGrp="1"/>
          </p:cNvSpPr>
          <p:nvPr>
            <p:ph idx="1"/>
          </p:nvPr>
        </p:nvSpPr>
        <p:spPr>
          <a:xfrm>
            <a:off x="457200" y="1600200"/>
            <a:ext cx="8229600" cy="4781550"/>
          </a:xfrm>
        </p:spPr>
        <p:txBody>
          <a:bodyPr/>
          <a:lstStyle/>
          <a:p>
            <a:r>
              <a:rPr lang="es-AR" altLang="es-AR" dirty="0"/>
              <a:t>Pautas que nombran directamente al contenido web:</a:t>
            </a:r>
          </a:p>
          <a:p>
            <a:pPr marL="0" indent="0">
              <a:buNone/>
            </a:pPr>
            <a:endParaRPr lang="es-AR" altLang="es-AR" dirty="0"/>
          </a:p>
          <a:p>
            <a:pPr lvl="1" algn="just">
              <a:lnSpc>
                <a:spcPct val="90000"/>
              </a:lnSpc>
              <a:spcBef>
                <a:spcPts val="600"/>
              </a:spcBef>
            </a:pPr>
            <a:r>
              <a:rPr lang="es-AR" altLang="es-AR" sz="1800" dirty="0"/>
              <a:t>1.1 Proporcionar alternativas textuales para todo </a:t>
            </a:r>
            <a:r>
              <a:rPr lang="es-AR" altLang="es-AR" sz="1800" b="1" dirty="0"/>
              <a:t>contenido no textual</a:t>
            </a:r>
            <a:r>
              <a:rPr lang="es-AR" altLang="es-AR" sz="1800" dirty="0"/>
              <a:t>.</a:t>
            </a:r>
          </a:p>
          <a:p>
            <a:pPr lvl="1" algn="just">
              <a:lnSpc>
                <a:spcPct val="90000"/>
              </a:lnSpc>
              <a:spcBef>
                <a:spcPts val="600"/>
              </a:spcBef>
            </a:pPr>
            <a:r>
              <a:rPr lang="es-AR" altLang="es-AR" sz="1800" dirty="0"/>
              <a:t>1.3 Crear </a:t>
            </a:r>
            <a:r>
              <a:rPr lang="es-AR" altLang="es-AR" sz="1800" b="1" dirty="0"/>
              <a:t>contenido</a:t>
            </a:r>
            <a:r>
              <a:rPr lang="es-AR" altLang="es-AR" sz="1800" dirty="0"/>
              <a:t> que pueda presentarse de diferentes formas (por ejemplo, con una disposición mas simple) sin perder información o estructura.</a:t>
            </a:r>
          </a:p>
          <a:p>
            <a:pPr lvl="1" algn="just">
              <a:lnSpc>
                <a:spcPct val="90000"/>
              </a:lnSpc>
              <a:spcBef>
                <a:spcPts val="600"/>
              </a:spcBef>
            </a:pPr>
            <a:r>
              <a:rPr lang="es-AR" altLang="es-AR" sz="1800" dirty="0"/>
              <a:t>1.4 Facilitar a los usuarios ver y oír el </a:t>
            </a:r>
            <a:r>
              <a:rPr lang="es-AR" altLang="es-AR" sz="1800" b="1" dirty="0"/>
              <a:t>contenido</a:t>
            </a:r>
            <a:r>
              <a:rPr lang="es-AR" altLang="es-AR" sz="1800" dirty="0"/>
              <a:t>.</a:t>
            </a:r>
          </a:p>
          <a:p>
            <a:pPr lvl="1" algn="just">
              <a:lnSpc>
                <a:spcPct val="90000"/>
              </a:lnSpc>
              <a:spcBef>
                <a:spcPts val="600"/>
              </a:spcBef>
            </a:pPr>
            <a:r>
              <a:rPr lang="es-AR" altLang="es-AR" sz="1800" dirty="0"/>
              <a:t>2.2 Proporcionar a los usuarios el tiempo suficiente para leer y usar el </a:t>
            </a:r>
            <a:r>
              <a:rPr lang="es-AR" altLang="es-AR" sz="1800" b="1" dirty="0"/>
              <a:t>contenido</a:t>
            </a:r>
            <a:r>
              <a:rPr lang="es-AR" altLang="es-AR" sz="1800" dirty="0"/>
              <a:t>.</a:t>
            </a:r>
          </a:p>
          <a:p>
            <a:pPr lvl="1" algn="just">
              <a:lnSpc>
                <a:spcPct val="90000"/>
              </a:lnSpc>
              <a:spcBef>
                <a:spcPts val="600"/>
              </a:spcBef>
            </a:pPr>
            <a:r>
              <a:rPr lang="es-AR" altLang="es-AR" sz="1800" dirty="0"/>
              <a:t>2.3 No diseñar </a:t>
            </a:r>
            <a:r>
              <a:rPr lang="es-AR" altLang="es-AR" sz="1800" b="1" dirty="0"/>
              <a:t>contenido</a:t>
            </a:r>
            <a:r>
              <a:rPr lang="es-AR" altLang="es-AR" sz="1800" dirty="0"/>
              <a:t> de un modo que se sepa podría provocar ataques, espasmos o convulsiones.</a:t>
            </a:r>
          </a:p>
          <a:p>
            <a:pPr lvl="1" algn="just">
              <a:lnSpc>
                <a:spcPct val="90000"/>
              </a:lnSpc>
              <a:spcBef>
                <a:spcPts val="600"/>
              </a:spcBef>
            </a:pPr>
            <a:r>
              <a:rPr lang="es-AR" altLang="es-AR" sz="1800" dirty="0"/>
              <a:t>2.4 Proporcionar medios para ayudar a los usuarios a navegar, encontrar </a:t>
            </a:r>
            <a:r>
              <a:rPr lang="es-AR" altLang="es-AR" sz="1800" b="1" dirty="0"/>
              <a:t>contenido</a:t>
            </a:r>
            <a:r>
              <a:rPr lang="es-AR" altLang="es-AR" sz="1800" dirty="0"/>
              <a:t> y determinar dónde se encuentran.</a:t>
            </a:r>
          </a:p>
          <a:p>
            <a:pPr lvl="1" algn="just">
              <a:lnSpc>
                <a:spcPct val="90000"/>
              </a:lnSpc>
              <a:spcBef>
                <a:spcPts val="600"/>
              </a:spcBef>
            </a:pPr>
            <a:r>
              <a:rPr lang="es-AR" altLang="es-AR" sz="1800" dirty="0"/>
              <a:t>3.1 Hacer que los </a:t>
            </a:r>
            <a:r>
              <a:rPr lang="es-AR" altLang="es-AR" sz="1800" b="1" dirty="0"/>
              <a:t>contenidos</a:t>
            </a:r>
            <a:r>
              <a:rPr lang="es-AR" altLang="es-AR" sz="1800" dirty="0"/>
              <a:t> textuales resulten legibles y comprensibles.</a:t>
            </a:r>
          </a:p>
          <a:p>
            <a:endParaRPr lang="es-AR" altLang="es-AR" dirty="0"/>
          </a:p>
          <a:p>
            <a:pPr lvl="1"/>
            <a:endParaRPr lang="es-AR" alt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27</a:t>
            </a:fld>
            <a:endParaRPr lang="es-ES" altLang="es-A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1 Título"/>
          <p:cNvSpPr>
            <a:spLocks noGrp="1"/>
          </p:cNvSpPr>
          <p:nvPr>
            <p:ph type="title"/>
          </p:nvPr>
        </p:nvSpPr>
        <p:spPr>
          <a:xfrm>
            <a:off x="457200" y="274638"/>
            <a:ext cx="8229600" cy="654050"/>
          </a:xfrm>
        </p:spPr>
        <p:txBody>
          <a:bodyPr/>
          <a:lstStyle/>
          <a:p>
            <a:r>
              <a:rPr lang="es-AR" altLang="es-AR" b="1"/>
              <a:t>Contenido accesible</a:t>
            </a:r>
          </a:p>
        </p:txBody>
      </p:sp>
      <p:sp>
        <p:nvSpPr>
          <p:cNvPr id="56323" name="2 Marcador de contenido"/>
          <p:cNvSpPr>
            <a:spLocks noGrp="1"/>
          </p:cNvSpPr>
          <p:nvPr>
            <p:ph idx="1"/>
          </p:nvPr>
        </p:nvSpPr>
        <p:spPr>
          <a:xfrm>
            <a:off x="430213" y="1916113"/>
            <a:ext cx="8229600" cy="4321175"/>
          </a:xfrm>
        </p:spPr>
        <p:txBody>
          <a:bodyPr/>
          <a:lstStyle/>
          <a:p>
            <a:pPr>
              <a:lnSpc>
                <a:spcPct val="90000"/>
              </a:lnSpc>
            </a:pPr>
            <a:r>
              <a:rPr lang="es-AR" altLang="es-AR"/>
              <a:t>Audio y video. Texto alternativo.</a:t>
            </a:r>
          </a:p>
          <a:p>
            <a:pPr lvl="1">
              <a:lnSpc>
                <a:spcPct val="90000"/>
              </a:lnSpc>
            </a:pPr>
            <a:endParaRPr lang="es-AR" altLang="es-AR"/>
          </a:p>
          <a:p>
            <a:pPr lvl="1">
              <a:lnSpc>
                <a:spcPct val="90000"/>
              </a:lnSpc>
            </a:pPr>
            <a:r>
              <a:rPr lang="es-AR" altLang="es-AR" b="1"/>
              <a:t>Pauta 1.2 Medios tempodependientes. </a:t>
            </a:r>
            <a:r>
              <a:rPr lang="es-AR" altLang="es-AR"/>
              <a:t>Proporcionar alternativas para los medios tempodependientes.</a:t>
            </a:r>
          </a:p>
          <a:p>
            <a:pPr lvl="1">
              <a:lnSpc>
                <a:spcPct val="90000"/>
              </a:lnSpc>
            </a:pPr>
            <a:endParaRPr lang="es-AR" altLang="es-AR"/>
          </a:p>
          <a:p>
            <a:pPr lvl="1">
              <a:lnSpc>
                <a:spcPct val="90000"/>
              </a:lnSpc>
            </a:pPr>
            <a:r>
              <a:rPr lang="es-AR" altLang="es-AR"/>
              <a:t>Engloba 9 criterios de conformidad:</a:t>
            </a:r>
          </a:p>
          <a:p>
            <a:pPr lvl="2">
              <a:lnSpc>
                <a:spcPct val="90000"/>
              </a:lnSpc>
            </a:pPr>
            <a:r>
              <a:rPr lang="es-AR" altLang="es-AR"/>
              <a:t>“sólo audio”, “sólo vídeo” y “multimedia sincronizado”, según si dicho contenido es “grabado” o “en directo”.</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28</a:t>
            </a:fld>
            <a:endParaRPr lang="es-ES" altLang="es-A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21175"/>
          </a:xfrm>
        </p:spPr>
        <p:txBody>
          <a:bodyPr/>
          <a:lstStyle/>
          <a:p>
            <a:pPr>
              <a:lnSpc>
                <a:spcPct val="90000"/>
              </a:lnSpc>
            </a:pPr>
            <a:r>
              <a:rPr lang="es-AR" altLang="es-AR" dirty="0"/>
              <a:t>Audio y video. Terminología:</a:t>
            </a:r>
          </a:p>
          <a:p>
            <a:pPr lvl="1">
              <a:lnSpc>
                <a:spcPct val="90000"/>
              </a:lnSpc>
            </a:pPr>
            <a:endParaRPr lang="es-AR" altLang="es-AR" dirty="0"/>
          </a:p>
          <a:p>
            <a:pPr>
              <a:lnSpc>
                <a:spcPct val="90000"/>
              </a:lnSpc>
            </a:pPr>
            <a:r>
              <a:rPr lang="es-AR" altLang="es-AR" b="1" dirty="0"/>
              <a:t>Sólo audio: </a:t>
            </a:r>
            <a:r>
              <a:rPr lang="es-AR" altLang="es-AR" dirty="0"/>
              <a:t>una presentación basada en el tiempo que contiene únicamente audio (sin video y sin interacción).</a:t>
            </a:r>
          </a:p>
          <a:p>
            <a:pPr>
              <a:lnSpc>
                <a:spcPct val="90000"/>
              </a:lnSpc>
            </a:pPr>
            <a:r>
              <a:rPr lang="es-AR" altLang="es-AR" b="1" dirty="0"/>
              <a:t>Sólo vídeo:</a:t>
            </a:r>
            <a:r>
              <a:rPr lang="es-AR" altLang="es-AR" dirty="0"/>
              <a:t> una presentación basada en el tiempo que contiene únicamente imágenes (vídeo), sin sonidos (audio) ni interacción.</a:t>
            </a:r>
          </a:p>
          <a:p>
            <a:pPr>
              <a:lnSpc>
                <a:spcPct val="90000"/>
              </a:lnSpc>
            </a:pPr>
            <a:r>
              <a:rPr lang="es-AR" altLang="es-AR" b="1" dirty="0"/>
              <a:t>Multimedia sincronizado: </a:t>
            </a:r>
            <a:r>
              <a:rPr lang="es-AR" altLang="es-AR" dirty="0"/>
              <a:t>audio o video sincronizado con otro formato para presentar información y/o con componentes interactivos basados en el tiempo, por ejemplo una película con vídeo y audio.</a:t>
            </a:r>
          </a:p>
          <a:p>
            <a:pPr>
              <a:lnSpc>
                <a:spcPct val="90000"/>
              </a:lnSpc>
            </a:pPr>
            <a:r>
              <a:rPr lang="es-AR" altLang="es-AR" b="1" dirty="0"/>
              <a:t>Grabado:</a:t>
            </a:r>
            <a:r>
              <a:rPr lang="es-AR" altLang="es-AR" dirty="0"/>
              <a:t> información que no es en directo.</a:t>
            </a:r>
          </a:p>
          <a:p>
            <a:pPr>
              <a:lnSpc>
                <a:spcPct val="90000"/>
              </a:lnSpc>
            </a:pPr>
            <a:r>
              <a:rPr lang="es-AR" altLang="es-AR" b="1" dirty="0"/>
              <a:t>En directo: </a:t>
            </a:r>
            <a:r>
              <a:rPr lang="es-AR" altLang="es-AR" dirty="0"/>
              <a:t>la información capturada de un evento de la vida real y transmitida al receptor sin más demora que el retardo intencional de la emisión.</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29</a:t>
            </a:fld>
            <a:endParaRPr lang="es-ES" altLang="es-A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360759"/>
          </a:xfrm>
        </p:spPr>
        <p:txBody>
          <a:bodyPr/>
          <a:lstStyle/>
          <a:p>
            <a:pPr>
              <a:lnSpc>
                <a:spcPct val="90000"/>
              </a:lnSpc>
            </a:pPr>
            <a:r>
              <a:rPr lang="es-AR" altLang="es-AR" dirty="0"/>
              <a:t>Audio y video. </a:t>
            </a:r>
            <a:r>
              <a:rPr lang="es-AR" dirty="0"/>
              <a:t>Texto alternativo</a:t>
            </a:r>
            <a:r>
              <a:rPr lang="es-AR" altLang="es-AR" dirty="0"/>
              <a:t>:</a:t>
            </a:r>
          </a:p>
        </p:txBody>
      </p:sp>
      <p:graphicFrame>
        <p:nvGraphicFramePr>
          <p:cNvPr id="4" name="Tabla 3"/>
          <p:cNvGraphicFramePr>
            <a:graphicFrameLocks noGrp="1"/>
          </p:cNvGraphicFramePr>
          <p:nvPr>
            <p:extLst>
              <p:ext uri="{D42A27DB-BD31-4B8C-83A1-F6EECF244321}">
                <p14:modId xmlns:p14="http://schemas.microsoft.com/office/powerpoint/2010/main" val="645185615"/>
              </p:ext>
            </p:extLst>
          </p:nvPr>
        </p:nvGraphicFramePr>
        <p:xfrm>
          <a:off x="539969" y="2420888"/>
          <a:ext cx="8119844" cy="3505200"/>
        </p:xfrm>
        <a:graphic>
          <a:graphicData uri="http://schemas.openxmlformats.org/drawingml/2006/table">
            <a:tbl>
              <a:tblPr firstRow="1" bandRow="1">
                <a:tableStyleId>{5C22544A-7EE6-4342-B048-85BDC9FD1C3A}</a:tableStyleId>
              </a:tblPr>
              <a:tblGrid>
                <a:gridCol w="2518243">
                  <a:extLst>
                    <a:ext uri="{9D8B030D-6E8A-4147-A177-3AD203B41FA5}">
                      <a16:colId xmlns:a16="http://schemas.microsoft.com/office/drawing/2014/main" val="2188540485"/>
                    </a:ext>
                  </a:extLst>
                </a:gridCol>
                <a:gridCol w="3169972">
                  <a:extLst>
                    <a:ext uri="{9D8B030D-6E8A-4147-A177-3AD203B41FA5}">
                      <a16:colId xmlns:a16="http://schemas.microsoft.com/office/drawing/2014/main" val="3107740521"/>
                    </a:ext>
                  </a:extLst>
                </a:gridCol>
                <a:gridCol w="2431629">
                  <a:extLst>
                    <a:ext uri="{9D8B030D-6E8A-4147-A177-3AD203B41FA5}">
                      <a16:colId xmlns:a16="http://schemas.microsoft.com/office/drawing/2014/main" val="1168698988"/>
                    </a:ext>
                  </a:extLst>
                </a:gridCol>
              </a:tblGrid>
              <a:tr h="370840">
                <a:tc>
                  <a:txBody>
                    <a:bodyPr/>
                    <a:lstStyle/>
                    <a:p>
                      <a:pPr algn="ctr"/>
                      <a:endParaRPr lang="es-AR" sz="2000" dirty="0"/>
                    </a:p>
                  </a:txBody>
                  <a:tcPr/>
                </a:tc>
                <a:tc gridSpan="2">
                  <a:txBody>
                    <a:bodyPr/>
                    <a:lstStyle/>
                    <a:p>
                      <a:pPr algn="ctr"/>
                      <a:r>
                        <a:rPr lang="es-AR" sz="2000" dirty="0"/>
                        <a:t>A</a:t>
                      </a:r>
                    </a:p>
                  </a:txBody>
                  <a:tcPr/>
                </a:tc>
                <a:tc hMerge="1">
                  <a:txBody>
                    <a:bodyPr/>
                    <a:lstStyle/>
                    <a:p>
                      <a:endParaRPr lang="es-AR" dirty="0"/>
                    </a:p>
                  </a:txBody>
                  <a:tcPr/>
                </a:tc>
                <a:extLst>
                  <a:ext uri="{0D108BD9-81ED-4DB2-BD59-A6C34878D82A}">
                    <a16:rowId xmlns:a16="http://schemas.microsoft.com/office/drawing/2014/main" val="934668851"/>
                  </a:ext>
                </a:extLst>
              </a:tr>
              <a:tr h="370840">
                <a:tc>
                  <a:txBody>
                    <a:bodyPr/>
                    <a:lstStyle/>
                    <a:p>
                      <a:endParaRPr lang="es-AR" sz="2000" dirty="0"/>
                    </a:p>
                  </a:txBody>
                  <a:tcPr/>
                </a:tc>
                <a:tc>
                  <a:txBody>
                    <a:bodyPr/>
                    <a:lstStyle/>
                    <a:p>
                      <a:pPr algn="ctr"/>
                      <a:r>
                        <a:rPr lang="es-AR" sz="2000" b="1" dirty="0"/>
                        <a:t>Grabado</a:t>
                      </a:r>
                    </a:p>
                  </a:txBody>
                  <a:tcPr/>
                </a:tc>
                <a:tc>
                  <a:txBody>
                    <a:bodyPr/>
                    <a:lstStyle/>
                    <a:p>
                      <a:pPr algn="ctr"/>
                      <a:r>
                        <a:rPr lang="es-AR" sz="2000" b="1" dirty="0"/>
                        <a:t>En directo</a:t>
                      </a:r>
                    </a:p>
                  </a:txBody>
                  <a:tcPr/>
                </a:tc>
                <a:extLst>
                  <a:ext uri="{0D108BD9-81ED-4DB2-BD59-A6C34878D82A}">
                    <a16:rowId xmlns:a16="http://schemas.microsoft.com/office/drawing/2014/main" val="3844487394"/>
                  </a:ext>
                </a:extLst>
              </a:tr>
              <a:tr h="370840">
                <a:tc>
                  <a:txBody>
                    <a:bodyPr/>
                    <a:lstStyle/>
                    <a:p>
                      <a:r>
                        <a:rPr lang="es-AR" sz="2000" b="1" dirty="0"/>
                        <a:t>Sólo</a:t>
                      </a:r>
                      <a:r>
                        <a:rPr lang="es-AR" sz="2000" b="1" baseline="0" dirty="0"/>
                        <a:t> audio</a:t>
                      </a:r>
                      <a:endParaRPr lang="es-AR" sz="2000" b="1" dirty="0"/>
                    </a:p>
                  </a:txBody>
                  <a:tcPr/>
                </a:tc>
                <a:tc>
                  <a:txBody>
                    <a:bodyPr/>
                    <a:lstStyle/>
                    <a:p>
                      <a:pPr algn="ctr"/>
                      <a:r>
                        <a:rPr lang="es-AR" sz="2000" dirty="0"/>
                        <a:t>Transcripción textual</a:t>
                      </a:r>
                    </a:p>
                  </a:txBody>
                  <a:tcPr anchor="ctr"/>
                </a:tc>
                <a:tc>
                  <a:txBody>
                    <a:bodyPr/>
                    <a:lstStyle/>
                    <a:p>
                      <a:pPr algn="ctr"/>
                      <a:r>
                        <a:rPr lang="es-AR" sz="2000" dirty="0"/>
                        <a:t>-</a:t>
                      </a:r>
                    </a:p>
                  </a:txBody>
                  <a:tcPr anchor="ctr"/>
                </a:tc>
                <a:extLst>
                  <a:ext uri="{0D108BD9-81ED-4DB2-BD59-A6C34878D82A}">
                    <a16:rowId xmlns:a16="http://schemas.microsoft.com/office/drawing/2014/main" val="2000229781"/>
                  </a:ext>
                </a:extLst>
              </a:tr>
              <a:tr h="370840">
                <a:tc>
                  <a:txBody>
                    <a:bodyPr/>
                    <a:lstStyle/>
                    <a:p>
                      <a:r>
                        <a:rPr lang="es-AR" sz="2000" b="1" dirty="0"/>
                        <a:t>Sólo vídeo</a:t>
                      </a:r>
                    </a:p>
                  </a:txBody>
                  <a:tcPr/>
                </a:tc>
                <a:tc>
                  <a:txBody>
                    <a:bodyPr/>
                    <a:lstStyle/>
                    <a:p>
                      <a:pPr algn="ctr"/>
                      <a:r>
                        <a:rPr lang="es-AR" sz="2000" dirty="0"/>
                        <a:t>Transcripción</a:t>
                      </a:r>
                      <a:r>
                        <a:rPr lang="es-AR" sz="2000" baseline="0" dirty="0"/>
                        <a:t> textual </a:t>
                      </a:r>
                    </a:p>
                    <a:p>
                      <a:pPr algn="ctr"/>
                      <a:r>
                        <a:rPr lang="es-AR" sz="2000" baseline="0" dirty="0"/>
                        <a:t>o </a:t>
                      </a:r>
                    </a:p>
                    <a:p>
                      <a:pPr algn="ctr"/>
                      <a:r>
                        <a:rPr lang="es-AR" sz="2000" baseline="0" dirty="0"/>
                        <a:t>Alternativa en audio</a:t>
                      </a:r>
                      <a:endParaRPr lang="es-AR" sz="2000" dirty="0"/>
                    </a:p>
                  </a:txBody>
                  <a:tcPr anchor="ctr"/>
                </a:tc>
                <a:tc>
                  <a:txBody>
                    <a:bodyPr/>
                    <a:lstStyle/>
                    <a:p>
                      <a:pPr algn="ctr"/>
                      <a:r>
                        <a:rPr lang="es-AR" sz="2000" dirty="0"/>
                        <a:t>-</a:t>
                      </a:r>
                    </a:p>
                  </a:txBody>
                  <a:tcPr anchor="ctr"/>
                </a:tc>
                <a:extLst>
                  <a:ext uri="{0D108BD9-81ED-4DB2-BD59-A6C34878D82A}">
                    <a16:rowId xmlns:a16="http://schemas.microsoft.com/office/drawing/2014/main" val="1757754126"/>
                  </a:ext>
                </a:extLst>
              </a:tr>
              <a:tr h="370840">
                <a:tc>
                  <a:txBody>
                    <a:bodyPr/>
                    <a:lstStyle/>
                    <a:p>
                      <a:r>
                        <a:rPr lang="es-AR" sz="2000" b="1" dirty="0"/>
                        <a:t>Multimedia sincronizada</a:t>
                      </a:r>
                    </a:p>
                  </a:txBody>
                  <a:tcPr/>
                </a:tc>
                <a:tc>
                  <a:txBody>
                    <a:bodyPr/>
                    <a:lstStyle/>
                    <a:p>
                      <a:pPr algn="ctr"/>
                      <a:r>
                        <a:rPr lang="es-AR" sz="2000" dirty="0"/>
                        <a:t>Subtítulos</a:t>
                      </a:r>
                    </a:p>
                    <a:p>
                      <a:pPr algn="ctr"/>
                      <a:r>
                        <a:rPr lang="es-AR" sz="2000" dirty="0"/>
                        <a:t>+</a:t>
                      </a:r>
                    </a:p>
                    <a:p>
                      <a:pPr algn="ctr"/>
                      <a:r>
                        <a:rPr lang="es-AR" sz="2000" dirty="0"/>
                        <a:t>Transcripción</a:t>
                      </a:r>
                      <a:r>
                        <a:rPr lang="es-AR" sz="2000" baseline="0" dirty="0"/>
                        <a:t> textual o Audiodescripción</a:t>
                      </a:r>
                      <a:endParaRPr lang="es-AR" sz="2000" dirty="0"/>
                    </a:p>
                  </a:txBody>
                  <a:tcPr anchor="ctr"/>
                </a:tc>
                <a:tc>
                  <a:txBody>
                    <a:bodyPr/>
                    <a:lstStyle/>
                    <a:p>
                      <a:pPr algn="ctr"/>
                      <a:r>
                        <a:rPr lang="es-AR" sz="2000" dirty="0"/>
                        <a:t>-</a:t>
                      </a:r>
                    </a:p>
                  </a:txBody>
                  <a:tcPr anchor="ctr"/>
                </a:tc>
                <a:extLst>
                  <a:ext uri="{0D108BD9-81ED-4DB2-BD59-A6C34878D82A}">
                    <a16:rowId xmlns:a16="http://schemas.microsoft.com/office/drawing/2014/main" val="3817562574"/>
                  </a:ext>
                </a:extLst>
              </a:tr>
            </a:tbl>
          </a:graphicData>
        </a:graphic>
      </p:graphicFrame>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30</a:t>
            </a:fld>
            <a:endParaRPr lang="es-ES" altLang="es-AR" dirty="0"/>
          </a:p>
        </p:txBody>
      </p:sp>
    </p:spTree>
    <p:extLst>
      <p:ext uri="{BB962C8B-B14F-4D97-AF65-F5344CB8AC3E}">
        <p14:creationId xmlns:p14="http://schemas.microsoft.com/office/powerpoint/2010/main" val="28011304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21175"/>
          </a:xfrm>
        </p:spPr>
        <p:txBody>
          <a:bodyPr/>
          <a:lstStyle/>
          <a:p>
            <a:pPr>
              <a:lnSpc>
                <a:spcPct val="90000"/>
              </a:lnSpc>
            </a:pPr>
            <a:r>
              <a:rPr lang="es-AR" dirty="0"/>
              <a:t>Subtítulos para el contenido multimedia:</a:t>
            </a:r>
          </a:p>
          <a:p>
            <a:pPr marL="0" indent="0">
              <a:lnSpc>
                <a:spcPct val="90000"/>
              </a:lnSpc>
              <a:buNone/>
            </a:pPr>
            <a:endParaRPr lang="es-AR" dirty="0"/>
          </a:p>
          <a:p>
            <a:pPr lvl="1">
              <a:lnSpc>
                <a:spcPct val="90000"/>
              </a:lnSpc>
            </a:pPr>
            <a:r>
              <a:rPr lang="es-AR" dirty="0"/>
              <a:t>1.2.2 Subtítulos (grabados): se proporcionan subtítulos para el contenido de audio grabado dentro de contenido multimedia sincronizado, excepto cuando la presentación es un contenido multimedia alternativo al texto y está claramente identificado como tal. (Nivel A)</a:t>
            </a:r>
          </a:p>
          <a:p>
            <a:pPr marL="457200" lvl="1" indent="0">
              <a:lnSpc>
                <a:spcPct val="90000"/>
              </a:lnSpc>
              <a:buNone/>
            </a:pPr>
            <a:endParaRPr lang="es-AR" dirty="0"/>
          </a:p>
          <a:p>
            <a:pPr lvl="1">
              <a:lnSpc>
                <a:spcPct val="90000"/>
              </a:lnSpc>
            </a:pPr>
            <a:r>
              <a:rPr lang="es-AR" dirty="0"/>
              <a:t>1.2.4 Subtítulos (en directo): se proporcionan subtítulos para todo el contenido de audio de los multimedia sincronizados. (Nivel AA)</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31</a:t>
            </a:fld>
            <a:endParaRPr lang="es-ES" altLang="es-AR" dirty="0"/>
          </a:p>
        </p:txBody>
      </p:sp>
    </p:spTree>
    <p:extLst>
      <p:ext uri="{BB962C8B-B14F-4D97-AF65-F5344CB8AC3E}">
        <p14:creationId xmlns:p14="http://schemas.microsoft.com/office/powerpoint/2010/main" val="35085380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2767"/>
          </a:xfrm>
        </p:spPr>
        <p:txBody>
          <a:bodyPr/>
          <a:lstStyle/>
          <a:p>
            <a:pPr>
              <a:lnSpc>
                <a:spcPct val="90000"/>
              </a:lnSpc>
            </a:pPr>
            <a:r>
              <a:rPr lang="es-AR" dirty="0"/>
              <a:t>Subtítulos para el contenido multimedia:</a:t>
            </a:r>
          </a:p>
          <a:p>
            <a:pPr marL="0" indent="0">
              <a:lnSpc>
                <a:spcPct val="90000"/>
              </a:lnSpc>
              <a:buNone/>
            </a:pPr>
            <a:endParaRPr lang="es-AR" dirty="0"/>
          </a:p>
        </p:txBody>
      </p:sp>
      <p:graphicFrame>
        <p:nvGraphicFramePr>
          <p:cNvPr id="4" name="Tabla 3"/>
          <p:cNvGraphicFramePr>
            <a:graphicFrameLocks noGrp="1"/>
          </p:cNvGraphicFramePr>
          <p:nvPr>
            <p:extLst>
              <p:ext uri="{D42A27DB-BD31-4B8C-83A1-F6EECF244321}">
                <p14:modId xmlns:p14="http://schemas.microsoft.com/office/powerpoint/2010/main" val="79138423"/>
              </p:ext>
            </p:extLst>
          </p:nvPr>
        </p:nvGraphicFramePr>
        <p:xfrm>
          <a:off x="477452" y="2319609"/>
          <a:ext cx="8128000" cy="38404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845057815"/>
                    </a:ext>
                  </a:extLst>
                </a:gridCol>
                <a:gridCol w="4064000">
                  <a:extLst>
                    <a:ext uri="{9D8B030D-6E8A-4147-A177-3AD203B41FA5}">
                      <a16:colId xmlns:a16="http://schemas.microsoft.com/office/drawing/2014/main" val="931760179"/>
                    </a:ext>
                  </a:extLst>
                </a:gridCol>
              </a:tblGrid>
              <a:tr h="370840">
                <a:tc>
                  <a:txBody>
                    <a:bodyPr/>
                    <a:lstStyle/>
                    <a:p>
                      <a:pPr algn="ctr"/>
                      <a:r>
                        <a:rPr lang="es-AR" sz="2000" dirty="0">
                          <a:solidFill>
                            <a:schemeClr val="tx1"/>
                          </a:solidFill>
                        </a:rPr>
                        <a:t>Subtítulos normales</a:t>
                      </a:r>
                    </a:p>
                  </a:txBody>
                  <a:tcPr/>
                </a:tc>
                <a:tc>
                  <a:txBody>
                    <a:bodyPr/>
                    <a:lstStyle/>
                    <a:p>
                      <a:pPr algn="ctr"/>
                      <a:r>
                        <a:rPr lang="es-AR" sz="2000" dirty="0">
                          <a:solidFill>
                            <a:schemeClr val="tx1"/>
                          </a:solidFill>
                        </a:rPr>
                        <a:t>Subtítulos</a:t>
                      </a:r>
                      <a:r>
                        <a:rPr lang="es-AR" sz="2000" baseline="0" dirty="0">
                          <a:solidFill>
                            <a:schemeClr val="tx1"/>
                          </a:solidFill>
                        </a:rPr>
                        <a:t> para sordos</a:t>
                      </a:r>
                      <a:endParaRPr lang="es-AR" sz="2000" dirty="0">
                        <a:solidFill>
                          <a:schemeClr val="tx1"/>
                        </a:solidFill>
                      </a:endParaRPr>
                    </a:p>
                  </a:txBody>
                  <a:tcPr/>
                </a:tc>
                <a:extLst>
                  <a:ext uri="{0D108BD9-81ED-4DB2-BD59-A6C34878D82A}">
                    <a16:rowId xmlns:a16="http://schemas.microsoft.com/office/drawing/2014/main" val="1732690035"/>
                  </a:ext>
                </a:extLst>
              </a:tr>
              <a:tr h="370840">
                <a:tc>
                  <a:txBody>
                    <a:bodyPr/>
                    <a:lstStyle/>
                    <a:p>
                      <a:r>
                        <a:rPr lang="es-AR" sz="2000" b="1" dirty="0"/>
                        <a:t>Obi-</a:t>
                      </a:r>
                      <a:r>
                        <a:rPr lang="es-AR" sz="2000" b="1" dirty="0" err="1"/>
                        <a:t>Wan</a:t>
                      </a:r>
                      <a:r>
                        <a:rPr lang="es-AR" sz="2000" b="1" dirty="0"/>
                        <a:t> no te dijo lo que le pasó a tu padre.</a:t>
                      </a:r>
                    </a:p>
                    <a:p>
                      <a:endParaRPr lang="es-AR" sz="2000" b="1" dirty="0"/>
                    </a:p>
                    <a:p>
                      <a:r>
                        <a:rPr lang="es-AR" sz="2000" b="1" baseline="0" dirty="0"/>
                        <a:t>¡</a:t>
                      </a:r>
                      <a:r>
                        <a:rPr lang="es-AR" sz="2000" b="1" dirty="0"/>
                        <a:t>Me dijo lo suficiente! </a:t>
                      </a:r>
                      <a:r>
                        <a:rPr lang="es-AR" sz="2000" b="1" baseline="0" dirty="0"/>
                        <a:t>¡</a:t>
                      </a:r>
                      <a:r>
                        <a:rPr lang="es-AR" sz="2000" b="1" dirty="0"/>
                        <a:t>Dijo que tú le mataste!</a:t>
                      </a:r>
                    </a:p>
                    <a:p>
                      <a:endParaRPr lang="es-AR" sz="2000" b="1" dirty="0"/>
                    </a:p>
                    <a:p>
                      <a:r>
                        <a:rPr lang="es-AR" sz="2000" b="1" dirty="0"/>
                        <a:t>No.</a:t>
                      </a:r>
                      <a:r>
                        <a:rPr lang="es-AR" sz="2000" b="1" baseline="0" dirty="0"/>
                        <a:t> Yo soy tu padre.</a:t>
                      </a:r>
                      <a:endParaRPr lang="es-AR" sz="2000" b="1" dirty="0"/>
                    </a:p>
                  </a:txBody>
                  <a:tcPr/>
                </a:tc>
                <a:tc>
                  <a:txBody>
                    <a:bodyPr/>
                    <a:lstStyle/>
                    <a:p>
                      <a:r>
                        <a:rPr lang="es-AR" sz="2000" b="1" dirty="0">
                          <a:solidFill>
                            <a:srgbClr val="FF0000"/>
                          </a:solidFill>
                        </a:rPr>
                        <a:t>[♫ Música ceremoniosa]</a:t>
                      </a:r>
                    </a:p>
                    <a:p>
                      <a:endParaRPr lang="es-AR" sz="2000" b="1" dirty="0">
                        <a:solidFill>
                          <a:srgbClr val="FF0000"/>
                        </a:solidFill>
                      </a:endParaRPr>
                    </a:p>
                    <a:p>
                      <a:r>
                        <a:rPr lang="es-AR" sz="2000" b="1" dirty="0">
                          <a:solidFill>
                            <a:srgbClr val="00B050"/>
                          </a:solidFill>
                        </a:rPr>
                        <a:t>Obi-</a:t>
                      </a:r>
                      <a:r>
                        <a:rPr lang="es-AR" sz="2000" b="1" dirty="0" err="1">
                          <a:solidFill>
                            <a:srgbClr val="00B050"/>
                          </a:solidFill>
                        </a:rPr>
                        <a:t>Wan</a:t>
                      </a:r>
                      <a:r>
                        <a:rPr lang="es-AR" sz="2000" b="1" dirty="0">
                          <a:solidFill>
                            <a:srgbClr val="00B050"/>
                          </a:solidFill>
                        </a:rPr>
                        <a:t> no te dijo lo que le pasó a tu padre.</a:t>
                      </a:r>
                    </a:p>
                    <a:p>
                      <a:endParaRPr lang="es-AR" sz="2000" b="1" dirty="0">
                        <a:solidFill>
                          <a:srgbClr val="00B050"/>
                        </a:solidFill>
                      </a:endParaRPr>
                    </a:p>
                    <a:p>
                      <a:r>
                        <a:rPr lang="es-AR" sz="2000" b="1" dirty="0">
                          <a:solidFill>
                            <a:schemeClr val="tx1"/>
                          </a:solidFill>
                        </a:rPr>
                        <a:t>[Silbido del viento]</a:t>
                      </a:r>
                    </a:p>
                    <a:p>
                      <a:endParaRPr lang="es-AR" sz="2000" b="1" dirty="0">
                        <a:solidFill>
                          <a:schemeClr val="tx1"/>
                        </a:solidFill>
                      </a:endParaRPr>
                    </a:p>
                    <a:p>
                      <a:r>
                        <a:rPr lang="es-AR" sz="2000" b="1" baseline="0" dirty="0">
                          <a:solidFill>
                            <a:srgbClr val="0070C0"/>
                          </a:solidFill>
                        </a:rPr>
                        <a:t>¡</a:t>
                      </a:r>
                      <a:r>
                        <a:rPr lang="es-AR" sz="2000" b="1" dirty="0">
                          <a:solidFill>
                            <a:srgbClr val="0070C0"/>
                          </a:solidFill>
                        </a:rPr>
                        <a:t>Me dijo lo suficiente! </a:t>
                      </a:r>
                      <a:r>
                        <a:rPr lang="es-AR" sz="2000" b="1" baseline="0" dirty="0">
                          <a:solidFill>
                            <a:srgbClr val="0070C0"/>
                          </a:solidFill>
                        </a:rPr>
                        <a:t>¡</a:t>
                      </a:r>
                      <a:r>
                        <a:rPr lang="es-AR" sz="2000" b="1" dirty="0">
                          <a:solidFill>
                            <a:srgbClr val="0070C0"/>
                          </a:solidFill>
                        </a:rPr>
                        <a:t>Dijo que tú le mataste!</a:t>
                      </a:r>
                    </a:p>
                    <a:p>
                      <a:endParaRPr lang="es-AR" sz="2000" b="1" dirty="0">
                        <a:solidFill>
                          <a:srgbClr val="0070C0"/>
                        </a:solidFill>
                      </a:endParaRPr>
                    </a:p>
                    <a:p>
                      <a:r>
                        <a:rPr lang="es-AR" sz="2000" b="1" dirty="0">
                          <a:solidFill>
                            <a:srgbClr val="00B050"/>
                          </a:solidFill>
                        </a:rPr>
                        <a:t>No.</a:t>
                      </a:r>
                      <a:r>
                        <a:rPr lang="es-AR" sz="2000" b="1" baseline="0" dirty="0">
                          <a:solidFill>
                            <a:srgbClr val="00B050"/>
                          </a:solidFill>
                        </a:rPr>
                        <a:t> Yo soy tu padre.</a:t>
                      </a:r>
                      <a:endParaRPr lang="es-AR" sz="2000" dirty="0"/>
                    </a:p>
                  </a:txBody>
                  <a:tcPr/>
                </a:tc>
                <a:extLst>
                  <a:ext uri="{0D108BD9-81ED-4DB2-BD59-A6C34878D82A}">
                    <a16:rowId xmlns:a16="http://schemas.microsoft.com/office/drawing/2014/main" val="85792261"/>
                  </a:ext>
                </a:extLst>
              </a:tr>
            </a:tbl>
          </a:graphicData>
        </a:graphic>
      </p:graphicFrame>
      <p:sp>
        <p:nvSpPr>
          <p:cNvPr id="5" name="Bocadillo: rectángulo con esquinas redondeadas 4"/>
          <p:cNvSpPr/>
          <p:nvPr/>
        </p:nvSpPr>
        <p:spPr>
          <a:xfrm>
            <a:off x="1763688" y="5085184"/>
            <a:ext cx="2249347" cy="1152128"/>
          </a:xfrm>
          <a:prstGeom prst="wedgeRoundRectCallout">
            <a:avLst>
              <a:gd name="adj1" fmla="val 77450"/>
              <a:gd name="adj2" fmla="val -177887"/>
              <a:gd name="adj3" fmla="val 1666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AR" sz="2000" dirty="0">
                <a:solidFill>
                  <a:schemeClr val="tx1"/>
                </a:solidFill>
              </a:rPr>
              <a:t>Código de color:</a:t>
            </a:r>
          </a:p>
          <a:p>
            <a:r>
              <a:rPr lang="es-AR" sz="2000" b="1" dirty="0" err="1">
                <a:solidFill>
                  <a:srgbClr val="00B050"/>
                </a:solidFill>
              </a:rPr>
              <a:t>Darth</a:t>
            </a:r>
            <a:r>
              <a:rPr lang="es-AR" sz="2000" b="1" dirty="0">
                <a:solidFill>
                  <a:srgbClr val="00B050"/>
                </a:solidFill>
              </a:rPr>
              <a:t> </a:t>
            </a:r>
            <a:r>
              <a:rPr lang="es-AR" sz="2000" b="1" dirty="0" err="1">
                <a:solidFill>
                  <a:srgbClr val="00B050"/>
                </a:solidFill>
              </a:rPr>
              <a:t>Vader</a:t>
            </a:r>
            <a:endParaRPr lang="es-AR" sz="2000" b="1" dirty="0">
              <a:solidFill>
                <a:srgbClr val="00B050"/>
              </a:solidFill>
            </a:endParaRPr>
          </a:p>
          <a:p>
            <a:r>
              <a:rPr lang="es-AR" sz="2000" b="1" dirty="0" err="1">
                <a:solidFill>
                  <a:srgbClr val="0070C0"/>
                </a:solidFill>
              </a:rPr>
              <a:t>Luke</a:t>
            </a:r>
            <a:r>
              <a:rPr lang="es-AR" sz="2000" b="1" dirty="0">
                <a:solidFill>
                  <a:srgbClr val="0070C0"/>
                </a:solidFill>
              </a:rPr>
              <a:t> </a:t>
            </a:r>
            <a:r>
              <a:rPr lang="es-AR" sz="2000" b="1" dirty="0" err="1">
                <a:solidFill>
                  <a:srgbClr val="0070C0"/>
                </a:solidFill>
              </a:rPr>
              <a:t>Skywalker</a:t>
            </a:r>
            <a:endParaRPr lang="es-AR" sz="2000" b="1" dirty="0">
              <a:solidFill>
                <a:srgbClr val="0070C0"/>
              </a:solidFill>
            </a:endParaRP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32</a:t>
            </a:fld>
            <a:endParaRPr lang="es-ES" altLang="es-AR" dirty="0"/>
          </a:p>
        </p:txBody>
      </p:sp>
    </p:spTree>
    <p:extLst>
      <p:ext uri="{BB962C8B-B14F-4D97-AF65-F5344CB8AC3E}">
        <p14:creationId xmlns:p14="http://schemas.microsoft.com/office/powerpoint/2010/main" val="18162414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2132856"/>
            <a:ext cx="8256587" cy="3313087"/>
          </a:xfrm>
        </p:spPr>
        <p:txBody>
          <a:bodyPr/>
          <a:lstStyle/>
          <a:p>
            <a:pPr algn="just">
              <a:lnSpc>
                <a:spcPct val="90000"/>
              </a:lnSpc>
            </a:pPr>
            <a:r>
              <a:rPr lang="es-AR" dirty="0"/>
              <a:t>Otros requisitos relacionados con el audio, con el contenido que destella, con el tiempo que se impone al contenido o con el contenido que debe poderse pausar, detener u ocultar.</a:t>
            </a:r>
          </a:p>
          <a:p>
            <a:pPr marL="0" indent="0" algn="just">
              <a:lnSpc>
                <a:spcPct val="90000"/>
              </a:lnSpc>
              <a:buNone/>
            </a:pPr>
            <a:endParaRPr lang="es-AR" dirty="0"/>
          </a:p>
          <a:p>
            <a:pPr lvl="3" algn="just">
              <a:lnSpc>
                <a:spcPct val="90000"/>
              </a:lnSpc>
            </a:pPr>
            <a:r>
              <a:rPr lang="es-AR" b="1" dirty="0"/>
              <a:t>Audio.</a:t>
            </a:r>
          </a:p>
          <a:p>
            <a:pPr lvl="4" algn="just">
              <a:lnSpc>
                <a:spcPct val="90000"/>
              </a:lnSpc>
            </a:pPr>
            <a:endParaRPr lang="es-AR" dirty="0"/>
          </a:p>
          <a:p>
            <a:pPr lvl="3" algn="just">
              <a:lnSpc>
                <a:spcPct val="90000"/>
              </a:lnSpc>
            </a:pPr>
            <a:r>
              <a:rPr lang="es-AR" b="1" dirty="0"/>
              <a:t>Destellos.</a:t>
            </a:r>
          </a:p>
          <a:p>
            <a:pPr lvl="3" algn="just">
              <a:lnSpc>
                <a:spcPct val="90000"/>
              </a:lnSpc>
            </a:pPr>
            <a:endParaRPr lang="es-AR" b="1" dirty="0"/>
          </a:p>
          <a:p>
            <a:pPr lvl="3" algn="just">
              <a:lnSpc>
                <a:spcPct val="90000"/>
              </a:lnSpc>
            </a:pPr>
            <a:r>
              <a:rPr lang="es-AR" b="1" dirty="0"/>
              <a:t>Tiempo suficiente.</a:t>
            </a:r>
          </a:p>
          <a:p>
            <a:pPr>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33</a:t>
            </a:fld>
            <a:endParaRPr lang="es-ES" altLang="es-AR" dirty="0"/>
          </a:p>
        </p:txBody>
      </p:sp>
    </p:spTree>
    <p:extLst>
      <p:ext uri="{BB962C8B-B14F-4D97-AF65-F5344CB8AC3E}">
        <p14:creationId xmlns:p14="http://schemas.microsoft.com/office/powerpoint/2010/main" val="6280427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21175"/>
          </a:xfrm>
        </p:spPr>
        <p:txBody>
          <a:bodyPr/>
          <a:lstStyle/>
          <a:p>
            <a:pPr>
              <a:lnSpc>
                <a:spcPct val="90000"/>
              </a:lnSpc>
            </a:pPr>
            <a:r>
              <a:rPr lang="es-AR" b="1" dirty="0"/>
              <a:t>Audio:</a:t>
            </a:r>
          </a:p>
          <a:p>
            <a:pPr marL="0" indent="0">
              <a:lnSpc>
                <a:spcPct val="90000"/>
              </a:lnSpc>
              <a:buNone/>
            </a:pPr>
            <a:endParaRPr lang="es-AR" b="1" dirty="0"/>
          </a:p>
          <a:p>
            <a:pPr lvl="1">
              <a:lnSpc>
                <a:spcPct val="90000"/>
              </a:lnSpc>
            </a:pPr>
            <a:r>
              <a:rPr lang="es-AR" b="1" dirty="0"/>
              <a:t>Pauta 1.4.2 Control de audio. [Nivel A]</a:t>
            </a:r>
          </a:p>
          <a:p>
            <a:pPr marL="457200" lvl="1" indent="0">
              <a:lnSpc>
                <a:spcPct val="90000"/>
              </a:lnSpc>
              <a:buNone/>
            </a:pPr>
            <a:endParaRPr lang="es-AR" b="1" dirty="0"/>
          </a:p>
          <a:p>
            <a:pPr marL="857250" lvl="2" indent="0">
              <a:lnSpc>
                <a:spcPct val="90000"/>
              </a:lnSpc>
              <a:buNone/>
            </a:pPr>
            <a:r>
              <a:rPr lang="es-AR" dirty="0"/>
              <a:t>Si el audio de una página web suena automáticamente durante más de 3 segundos, se proporciona ya sea un mecanismo para pausar o detener el audio, o un mecanismo para controlar el volumen del sonido que es independiente del nivel de volumen global del sistema.</a:t>
            </a:r>
          </a:p>
          <a:p>
            <a:pPr>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34</a:t>
            </a:fld>
            <a:endParaRPr lang="es-ES" altLang="es-AR" dirty="0"/>
          </a:p>
        </p:txBody>
      </p:sp>
    </p:spTree>
    <p:extLst>
      <p:ext uri="{BB962C8B-B14F-4D97-AF65-F5344CB8AC3E}">
        <p14:creationId xmlns:p14="http://schemas.microsoft.com/office/powerpoint/2010/main" val="19250437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21175"/>
          </a:xfrm>
        </p:spPr>
        <p:txBody>
          <a:bodyPr/>
          <a:lstStyle/>
          <a:p>
            <a:pPr>
              <a:lnSpc>
                <a:spcPct val="90000"/>
              </a:lnSpc>
            </a:pPr>
            <a:r>
              <a:rPr lang="es-AR" b="1" dirty="0"/>
              <a:t>Destellos:</a:t>
            </a:r>
          </a:p>
          <a:p>
            <a:pPr marL="0" indent="0">
              <a:lnSpc>
                <a:spcPct val="90000"/>
              </a:lnSpc>
              <a:buNone/>
            </a:pPr>
            <a:endParaRPr lang="es-AR" b="1" dirty="0"/>
          </a:p>
          <a:p>
            <a:pPr lvl="1">
              <a:lnSpc>
                <a:spcPct val="90000"/>
              </a:lnSpc>
            </a:pPr>
            <a:r>
              <a:rPr lang="es-AR" b="1" dirty="0"/>
              <a:t>Pauta 2.3.1 Umbral de tres destellos o menos. [Nivel A]</a:t>
            </a:r>
          </a:p>
          <a:p>
            <a:pPr marL="457200" lvl="1" indent="0">
              <a:lnSpc>
                <a:spcPct val="90000"/>
              </a:lnSpc>
              <a:buNone/>
            </a:pPr>
            <a:endParaRPr lang="es-AR" b="1" dirty="0"/>
          </a:p>
          <a:p>
            <a:pPr marL="857250" lvl="2" indent="0">
              <a:lnSpc>
                <a:spcPct val="90000"/>
              </a:lnSpc>
              <a:buNone/>
            </a:pPr>
            <a:r>
              <a:rPr lang="es-AR" dirty="0"/>
              <a:t>Las páginas web no contienen nada que destelle más de tres veces en un segundo, o el destello está por debajo del umbral de destello general y de destello rojo.</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35</a:t>
            </a:fld>
            <a:endParaRPr lang="es-ES" altLang="es-AR" dirty="0"/>
          </a:p>
        </p:txBody>
      </p:sp>
    </p:spTree>
    <p:extLst>
      <p:ext uri="{BB962C8B-B14F-4D97-AF65-F5344CB8AC3E}">
        <p14:creationId xmlns:p14="http://schemas.microsoft.com/office/powerpoint/2010/main" val="16728096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21175"/>
          </a:xfrm>
        </p:spPr>
        <p:txBody>
          <a:bodyPr/>
          <a:lstStyle/>
          <a:p>
            <a:pPr>
              <a:lnSpc>
                <a:spcPct val="90000"/>
              </a:lnSpc>
            </a:pPr>
            <a:r>
              <a:rPr lang="es-AR" b="1" dirty="0"/>
              <a:t>Tiempo suficiente:</a:t>
            </a:r>
          </a:p>
          <a:p>
            <a:pPr marL="0" indent="0">
              <a:lnSpc>
                <a:spcPct val="90000"/>
              </a:lnSpc>
              <a:buNone/>
            </a:pPr>
            <a:endParaRPr lang="es-AR" b="1" dirty="0"/>
          </a:p>
          <a:p>
            <a:pPr lvl="1">
              <a:lnSpc>
                <a:spcPct val="90000"/>
              </a:lnSpc>
            </a:pPr>
            <a:r>
              <a:rPr lang="es-AR" b="1" dirty="0"/>
              <a:t>Pauta 2.2.1 Tiempo ajustable. [Nivel A]</a:t>
            </a:r>
          </a:p>
          <a:p>
            <a:pPr marL="857250" lvl="2" indent="0">
              <a:lnSpc>
                <a:spcPct val="90000"/>
              </a:lnSpc>
              <a:buNone/>
            </a:pPr>
            <a:r>
              <a:rPr lang="es-AR" dirty="0"/>
              <a:t>Para cada límite de tiempo impuesto por el contenido, se cumple al menos uno de los siguientes casos: Apagar, Ajustar, Extender, Excepción de tiempo real, Excepción por ser esencial, Excepción de 20 horas.</a:t>
            </a:r>
          </a:p>
          <a:p>
            <a:pPr marL="457200" lvl="1" indent="0">
              <a:lnSpc>
                <a:spcPct val="90000"/>
              </a:lnSpc>
              <a:buNone/>
            </a:pPr>
            <a:endParaRPr lang="es-AR" dirty="0"/>
          </a:p>
          <a:p>
            <a:pPr lvl="1">
              <a:lnSpc>
                <a:spcPct val="90000"/>
              </a:lnSpc>
            </a:pPr>
            <a:r>
              <a:rPr lang="es-AR" b="1" dirty="0"/>
              <a:t>Pauta 2.2.2 Poner en pausa, detener, ocultar. [Nivel A]</a:t>
            </a:r>
          </a:p>
          <a:p>
            <a:pPr marL="857250" lvl="2" indent="0">
              <a:lnSpc>
                <a:spcPct val="90000"/>
              </a:lnSpc>
              <a:buNone/>
            </a:pPr>
            <a:r>
              <a:rPr lang="es-AR" dirty="0"/>
              <a:t>Para la información que tiene movimiento, parpadeo, se desplaza o se actualiza automáticamente, se cumplen todos los casos siguientes: Movimiento, parpadeo, desplazamiento o Actualizaciones automáticas.</a:t>
            </a:r>
          </a:p>
          <a:p>
            <a:pPr>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36</a:t>
            </a:fld>
            <a:endParaRPr lang="es-ES" altLang="es-AR" dirty="0"/>
          </a:p>
        </p:txBody>
      </p:sp>
    </p:spTree>
    <p:extLst>
      <p:ext uri="{BB962C8B-B14F-4D97-AF65-F5344CB8AC3E}">
        <p14:creationId xmlns:p14="http://schemas.microsoft.com/office/powerpoint/2010/main" val="12720495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465215"/>
          </a:xfrm>
        </p:spPr>
        <p:txBody>
          <a:bodyPr/>
          <a:lstStyle/>
          <a:p>
            <a:pPr>
              <a:lnSpc>
                <a:spcPct val="90000"/>
              </a:lnSpc>
            </a:pPr>
            <a:r>
              <a:rPr lang="es-AR" dirty="0"/>
              <a:t>Encabezados</a:t>
            </a:r>
          </a:p>
          <a:p>
            <a:pPr marL="0" indent="0">
              <a:lnSpc>
                <a:spcPct val="90000"/>
              </a:lnSpc>
              <a:buNone/>
            </a:pPr>
            <a:endParaRPr lang="es-AR" dirty="0"/>
          </a:p>
          <a:p>
            <a:pPr lvl="1">
              <a:lnSpc>
                <a:spcPct val="90000"/>
              </a:lnSpc>
            </a:pPr>
            <a:r>
              <a:rPr lang="es-AR" dirty="0"/>
              <a:t>Facilitan la navegabilidad:</a:t>
            </a:r>
          </a:p>
          <a:p>
            <a:pPr lvl="2">
              <a:lnSpc>
                <a:spcPct val="90000"/>
              </a:lnSpc>
            </a:pPr>
            <a:r>
              <a:rPr lang="es-AR" dirty="0"/>
              <a:t>Encabezados claros y descriptivos:</a:t>
            </a:r>
          </a:p>
          <a:p>
            <a:pPr lvl="3">
              <a:lnSpc>
                <a:spcPct val="90000"/>
              </a:lnSpc>
            </a:pPr>
            <a:r>
              <a:rPr lang="es-AR" dirty="0"/>
              <a:t>Encontrar más fácilmente la información buscada.</a:t>
            </a:r>
          </a:p>
          <a:p>
            <a:pPr lvl="3">
              <a:lnSpc>
                <a:spcPct val="90000"/>
              </a:lnSpc>
            </a:pPr>
            <a:r>
              <a:rPr lang="es-AR" dirty="0"/>
              <a:t>Comprender las relaciones entre las distintas partes del contenido.</a:t>
            </a:r>
          </a:p>
          <a:p>
            <a:pPr lvl="3">
              <a:lnSpc>
                <a:spcPct val="90000"/>
              </a:lnSpc>
            </a:pPr>
            <a:endParaRPr lang="es-AR" dirty="0"/>
          </a:p>
          <a:p>
            <a:pPr lvl="1">
              <a:lnSpc>
                <a:spcPct val="90000"/>
              </a:lnSpc>
            </a:pPr>
            <a:r>
              <a:rPr lang="es-AR" dirty="0"/>
              <a:t>Contenidos adaptables</a:t>
            </a:r>
          </a:p>
          <a:p>
            <a:pPr lvl="2">
              <a:lnSpc>
                <a:spcPct val="90000"/>
              </a:lnSpc>
            </a:pPr>
            <a:r>
              <a:rPr lang="es-AR" b="1" dirty="0"/>
              <a:t>Pauta 1.3.1 Información y relaciones. [Nivel A]</a:t>
            </a:r>
          </a:p>
          <a:p>
            <a:pPr marL="1371600" lvl="3" indent="0">
              <a:lnSpc>
                <a:spcPct val="90000"/>
              </a:lnSpc>
              <a:buNone/>
            </a:pPr>
            <a:r>
              <a:rPr lang="es-AR" dirty="0"/>
              <a:t>La información, estructura y relaciones comunicadas a través de la presentación pueden ser determinadas por software o están disponibles como texto.</a:t>
            </a:r>
          </a:p>
          <a:p>
            <a:pPr lvl="1">
              <a:lnSpc>
                <a:spcPct val="90000"/>
              </a:lnSpc>
            </a:pPr>
            <a:endParaRPr lang="es-AR" dirty="0"/>
          </a:p>
          <a:p>
            <a:pPr>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37</a:t>
            </a:fld>
            <a:endParaRPr lang="es-ES" altLang="es-AR" dirty="0"/>
          </a:p>
        </p:txBody>
      </p:sp>
    </p:spTree>
    <p:extLst>
      <p:ext uri="{BB962C8B-B14F-4D97-AF65-F5344CB8AC3E}">
        <p14:creationId xmlns:p14="http://schemas.microsoft.com/office/powerpoint/2010/main" val="1611487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465215"/>
          </a:xfrm>
        </p:spPr>
        <p:txBody>
          <a:bodyPr/>
          <a:lstStyle/>
          <a:p>
            <a:pPr algn="just">
              <a:lnSpc>
                <a:spcPct val="90000"/>
              </a:lnSpc>
            </a:pPr>
            <a:r>
              <a:rPr lang="es-AR" dirty="0"/>
              <a:t>Marcado de idioma</a:t>
            </a:r>
          </a:p>
          <a:p>
            <a:pPr marL="0" indent="0" algn="just">
              <a:lnSpc>
                <a:spcPct val="90000"/>
              </a:lnSpc>
              <a:buNone/>
            </a:pPr>
            <a:endParaRPr lang="es-AR" dirty="0"/>
          </a:p>
          <a:p>
            <a:pPr lvl="1" algn="just">
              <a:lnSpc>
                <a:spcPct val="90000"/>
              </a:lnSpc>
            </a:pPr>
            <a:r>
              <a:rPr lang="es-AR" dirty="0"/>
              <a:t>Incrementa la legibilidad de un documento.</a:t>
            </a:r>
          </a:p>
          <a:p>
            <a:pPr lvl="1" algn="just">
              <a:lnSpc>
                <a:spcPct val="90000"/>
              </a:lnSpc>
            </a:pPr>
            <a:r>
              <a:rPr lang="es-AR" dirty="0"/>
              <a:t>Es importante porque facilita la lectura y los motores de búsqueda identifican los contenidos en el idioma deseado.</a:t>
            </a:r>
          </a:p>
          <a:p>
            <a:pPr lvl="1" algn="just">
              <a:lnSpc>
                <a:spcPct val="90000"/>
              </a:lnSpc>
            </a:pPr>
            <a:endParaRPr lang="es-AR" dirty="0"/>
          </a:p>
          <a:p>
            <a:pPr lvl="1" algn="just">
              <a:lnSpc>
                <a:spcPct val="90000"/>
              </a:lnSpc>
            </a:pPr>
            <a:r>
              <a:rPr lang="es-AR" dirty="0"/>
              <a:t>¿Para qué sirve?</a:t>
            </a:r>
          </a:p>
          <a:p>
            <a:pPr marL="457200" lvl="1" indent="0" algn="just">
              <a:lnSpc>
                <a:spcPct val="90000"/>
              </a:lnSpc>
              <a:buNone/>
            </a:pPr>
            <a:endParaRPr lang="es-AR" dirty="0"/>
          </a:p>
          <a:p>
            <a:pPr lvl="2" algn="just">
              <a:lnSpc>
                <a:spcPct val="90000"/>
              </a:lnSpc>
            </a:pPr>
            <a:r>
              <a:rPr lang="es-AR" dirty="0"/>
              <a:t>Traducir automáticamente el texto de los botones.</a:t>
            </a:r>
          </a:p>
          <a:p>
            <a:pPr lvl="2" algn="just">
              <a:lnSpc>
                <a:spcPct val="90000"/>
              </a:lnSpc>
            </a:pPr>
            <a:r>
              <a:rPr lang="es-AR" dirty="0"/>
              <a:t>Cambiar la voz al pronunciar el texto.</a:t>
            </a:r>
          </a:p>
          <a:p>
            <a:pPr lvl="2" algn="just">
              <a:lnSpc>
                <a:spcPct val="90000"/>
              </a:lnSpc>
            </a:pPr>
            <a:r>
              <a:rPr lang="es-AR" dirty="0"/>
              <a:t>Aplicar la corrección ortográfica.</a:t>
            </a:r>
          </a:p>
          <a:p>
            <a:pPr lvl="2" algn="just">
              <a:lnSpc>
                <a:spcPct val="90000"/>
              </a:lnSpc>
            </a:pPr>
            <a:r>
              <a:rPr lang="es-AR" dirty="0"/>
              <a:t>Aplicar fuentes u otros estilos según corresponda.</a:t>
            </a:r>
          </a:p>
          <a:p>
            <a:pPr marL="457200">
              <a:lnSpc>
                <a:spcPct val="90000"/>
              </a:lnSpc>
            </a:pPr>
            <a:endParaRPr lang="es-AR" dirty="0"/>
          </a:p>
          <a:p>
            <a:pPr lvl="1" algn="just">
              <a:lnSpc>
                <a:spcPct val="90000"/>
              </a:lnSpc>
            </a:pPr>
            <a:endParaRPr lang="es-AR" dirty="0"/>
          </a:p>
          <a:p>
            <a:pPr marL="457200" lvl="1" indent="0" algn="just">
              <a:lnSpc>
                <a:spcPct val="90000"/>
              </a:lnSpc>
              <a:buNone/>
            </a:pPr>
            <a:endParaRPr lang="es-AR" dirty="0"/>
          </a:p>
          <a:p>
            <a:pPr marL="457200">
              <a:lnSpc>
                <a:spcPct val="90000"/>
              </a:lnSpc>
            </a:pPr>
            <a:endParaRPr lang="es-AR" dirty="0"/>
          </a:p>
          <a:p>
            <a:pPr>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38</a:t>
            </a:fld>
            <a:endParaRPr lang="es-ES" altLang="es-AR" dirty="0"/>
          </a:p>
        </p:txBody>
      </p:sp>
    </p:spTree>
    <p:extLst>
      <p:ext uri="{BB962C8B-B14F-4D97-AF65-F5344CB8AC3E}">
        <p14:creationId xmlns:p14="http://schemas.microsoft.com/office/powerpoint/2010/main" val="6761119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1224855"/>
          </a:xfrm>
        </p:spPr>
        <p:txBody>
          <a:bodyPr/>
          <a:lstStyle/>
          <a:p>
            <a:pPr algn="just">
              <a:lnSpc>
                <a:spcPct val="90000"/>
              </a:lnSpc>
            </a:pPr>
            <a:r>
              <a:rPr lang="es-AR" dirty="0"/>
              <a:t>Marcado de idioma</a:t>
            </a:r>
          </a:p>
          <a:p>
            <a:pPr marL="0" indent="0" algn="just">
              <a:lnSpc>
                <a:spcPct val="90000"/>
              </a:lnSpc>
              <a:buNone/>
            </a:pPr>
            <a:endParaRPr lang="es-AR" dirty="0"/>
          </a:p>
          <a:p>
            <a:pPr lvl="1" algn="just">
              <a:lnSpc>
                <a:spcPct val="90000"/>
              </a:lnSpc>
            </a:pPr>
            <a:r>
              <a:rPr lang="es-AR" dirty="0"/>
              <a:t>Ejemplo: Traducir automáticamente el texto de los botones.</a:t>
            </a:r>
          </a:p>
          <a:p>
            <a:pPr marL="914400" lvl="2" indent="0" algn="just">
              <a:lnSpc>
                <a:spcPct val="90000"/>
              </a:lnSpc>
              <a:buNone/>
            </a:pPr>
            <a:endParaRPr lang="es-AR" dirty="0"/>
          </a:p>
          <a:p>
            <a:pPr marL="114300" indent="0">
              <a:lnSpc>
                <a:spcPct val="90000"/>
              </a:lnSpc>
              <a:buNone/>
            </a:pPr>
            <a:endParaRPr lang="es-AR" dirty="0"/>
          </a:p>
          <a:p>
            <a:pPr>
              <a:lnSpc>
                <a:spcPct val="90000"/>
              </a:lnSpc>
            </a:pPr>
            <a:endParaRPr lang="es-AR" dirty="0"/>
          </a:p>
        </p:txBody>
      </p:sp>
      <p:sp>
        <p:nvSpPr>
          <p:cNvPr id="4" name="4 Bisel"/>
          <p:cNvSpPr/>
          <p:nvPr/>
        </p:nvSpPr>
        <p:spPr>
          <a:xfrm>
            <a:off x="3059832" y="3662228"/>
            <a:ext cx="1290918" cy="466165"/>
          </a:xfrm>
          <a:prstGeom prst="bevel">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dirty="0"/>
              <a:t>Help</a:t>
            </a:r>
          </a:p>
        </p:txBody>
      </p:sp>
      <p:sp>
        <p:nvSpPr>
          <p:cNvPr id="5" name="5 Bisel"/>
          <p:cNvSpPr/>
          <p:nvPr/>
        </p:nvSpPr>
        <p:spPr>
          <a:xfrm>
            <a:off x="4870703" y="3680158"/>
            <a:ext cx="1290918" cy="466165"/>
          </a:xfrm>
          <a:prstGeom prst="bevel">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dirty="0"/>
              <a:t>Ayuda</a:t>
            </a:r>
          </a:p>
        </p:txBody>
      </p:sp>
      <p:sp>
        <p:nvSpPr>
          <p:cNvPr id="6" name="6 CuadroTexto"/>
          <p:cNvSpPr txBox="1"/>
          <p:nvPr/>
        </p:nvSpPr>
        <p:spPr>
          <a:xfrm>
            <a:off x="2915816" y="4841865"/>
            <a:ext cx="1605844" cy="1323439"/>
          </a:xfrm>
          <a:prstGeom prst="rect">
            <a:avLst/>
          </a:prstGeom>
          <a:noFill/>
        </p:spPr>
        <p:txBody>
          <a:bodyPr wrap="square" rtlCol="0">
            <a:spAutoFit/>
          </a:bodyPr>
          <a:lstStyle/>
          <a:p>
            <a:pPr algn="ctr"/>
            <a:r>
              <a:rPr lang="es-AR" sz="2000" dirty="0"/>
              <a:t>Sin marcar el idioma del documento</a:t>
            </a:r>
          </a:p>
        </p:txBody>
      </p:sp>
      <p:sp>
        <p:nvSpPr>
          <p:cNvPr id="7" name="7 Flecha derecha"/>
          <p:cNvSpPr/>
          <p:nvPr/>
        </p:nvSpPr>
        <p:spPr>
          <a:xfrm>
            <a:off x="4476255" y="3841523"/>
            <a:ext cx="277906" cy="1434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9 CuadroTexto"/>
          <p:cNvSpPr txBox="1"/>
          <p:nvPr/>
        </p:nvSpPr>
        <p:spPr>
          <a:xfrm>
            <a:off x="4843861" y="4773849"/>
            <a:ext cx="2104403" cy="400110"/>
          </a:xfrm>
          <a:prstGeom prst="rect">
            <a:avLst/>
          </a:prstGeom>
          <a:noFill/>
        </p:spPr>
        <p:txBody>
          <a:bodyPr wrap="square" rtlCol="0">
            <a:spAutoFit/>
          </a:bodyPr>
          <a:lstStyle/>
          <a:p>
            <a:pPr algn="ctr"/>
            <a:r>
              <a:rPr lang="es-AR" sz="2000" dirty="0"/>
              <a:t>&lt;</a:t>
            </a:r>
            <a:r>
              <a:rPr lang="es-AR" sz="2000" dirty="0" err="1"/>
              <a:t>html</a:t>
            </a:r>
            <a:r>
              <a:rPr lang="es-AR" sz="2000" dirty="0"/>
              <a:t> </a:t>
            </a:r>
            <a:r>
              <a:rPr lang="es-AR" sz="2000" dirty="0" err="1"/>
              <a:t>lang</a:t>
            </a:r>
            <a:r>
              <a:rPr lang="es-AR" sz="2000" dirty="0"/>
              <a:t>=“es”&gt;</a:t>
            </a:r>
          </a:p>
        </p:txBody>
      </p:sp>
      <p:sp>
        <p:nvSpPr>
          <p:cNvPr id="9" name="10 Flecha arriba"/>
          <p:cNvSpPr/>
          <p:nvPr/>
        </p:nvSpPr>
        <p:spPr>
          <a:xfrm>
            <a:off x="3678397" y="4235969"/>
            <a:ext cx="71717" cy="54684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11 Flecha arriba"/>
          <p:cNvSpPr/>
          <p:nvPr/>
        </p:nvSpPr>
        <p:spPr>
          <a:xfrm>
            <a:off x="5534147" y="4253894"/>
            <a:ext cx="71717" cy="54684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39</a:t>
            </a:fld>
            <a:endParaRPr lang="es-ES" altLang="es-AR" dirty="0"/>
          </a:p>
        </p:txBody>
      </p:sp>
    </p:spTree>
    <p:extLst>
      <p:ext uri="{BB962C8B-B14F-4D97-AF65-F5344CB8AC3E}">
        <p14:creationId xmlns:p14="http://schemas.microsoft.com/office/powerpoint/2010/main" val="38283466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465215"/>
          </a:xfrm>
        </p:spPr>
        <p:txBody>
          <a:bodyPr/>
          <a:lstStyle/>
          <a:p>
            <a:pPr algn="just">
              <a:lnSpc>
                <a:spcPct val="90000"/>
              </a:lnSpc>
            </a:pPr>
            <a:r>
              <a:rPr lang="es-AR" dirty="0"/>
              <a:t>Marcado de idioma</a:t>
            </a:r>
          </a:p>
          <a:p>
            <a:pPr marL="0" indent="0" algn="just">
              <a:lnSpc>
                <a:spcPct val="90000"/>
              </a:lnSpc>
              <a:buNone/>
            </a:pPr>
            <a:endParaRPr lang="es-AR" dirty="0"/>
          </a:p>
          <a:p>
            <a:pPr lvl="1" algn="just">
              <a:lnSpc>
                <a:spcPct val="90000"/>
              </a:lnSpc>
            </a:pPr>
            <a:r>
              <a:rPr lang="es-AR" dirty="0"/>
              <a:t>¿Qué marcamos como idioma?</a:t>
            </a:r>
          </a:p>
          <a:p>
            <a:pPr lvl="1" algn="just">
              <a:lnSpc>
                <a:spcPct val="90000"/>
              </a:lnSpc>
            </a:pPr>
            <a:endParaRPr lang="es-AR" dirty="0"/>
          </a:p>
          <a:p>
            <a:pPr lvl="2" algn="just">
              <a:lnSpc>
                <a:spcPct val="90000"/>
              </a:lnSpc>
            </a:pPr>
            <a:r>
              <a:rPr lang="es-AR" b="1" dirty="0"/>
              <a:t>Idioma de la página</a:t>
            </a:r>
            <a:r>
              <a:rPr lang="es-AR" dirty="0"/>
              <a:t>, al inicio del documento [Nivel A].</a:t>
            </a:r>
          </a:p>
          <a:p>
            <a:pPr lvl="2" algn="just">
              <a:lnSpc>
                <a:spcPct val="90000"/>
              </a:lnSpc>
            </a:pPr>
            <a:endParaRPr lang="es-AR" dirty="0"/>
          </a:p>
          <a:p>
            <a:pPr lvl="3">
              <a:lnSpc>
                <a:spcPct val="90000"/>
              </a:lnSpc>
            </a:pPr>
            <a:r>
              <a:rPr lang="es-AR" b="1" dirty="0"/>
              <a:t>3.1.1 Idioma de la página. [Nivel A]</a:t>
            </a:r>
          </a:p>
          <a:p>
            <a:pPr lvl="2">
              <a:lnSpc>
                <a:spcPct val="90000"/>
              </a:lnSpc>
              <a:buNone/>
            </a:pPr>
            <a:r>
              <a:rPr lang="es-AR" dirty="0"/>
              <a:t>	El idioma predeterminado de cada página web puede ser determinado por software.</a:t>
            </a:r>
          </a:p>
          <a:p>
            <a:pPr marL="1371600" lvl="3" indent="0" algn="just">
              <a:lnSpc>
                <a:spcPct val="90000"/>
              </a:lnSpc>
              <a:buNone/>
            </a:pPr>
            <a:endParaRPr lang="es-AR" dirty="0"/>
          </a:p>
          <a:p>
            <a:pPr lvl="2" algn="just">
              <a:lnSpc>
                <a:spcPct val="90000"/>
              </a:lnSpc>
            </a:pPr>
            <a:r>
              <a:rPr lang="es-AR" b="1" dirty="0"/>
              <a:t>Idioma de las partes</a:t>
            </a:r>
            <a:r>
              <a:rPr lang="es-AR" dirty="0"/>
              <a:t>, cualquier cambio de idioma a lo largo del texto [Nivel AA].</a:t>
            </a:r>
          </a:p>
          <a:p>
            <a:pPr marL="457200">
              <a:lnSpc>
                <a:spcPct val="90000"/>
              </a:lnSpc>
            </a:pPr>
            <a:endParaRPr lang="es-AR" dirty="0"/>
          </a:p>
          <a:p>
            <a:pPr>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40</a:t>
            </a:fld>
            <a:endParaRPr lang="es-ES" altLang="es-AR" dirty="0"/>
          </a:p>
        </p:txBody>
      </p:sp>
    </p:spTree>
    <p:extLst>
      <p:ext uri="{BB962C8B-B14F-4D97-AF65-F5344CB8AC3E}">
        <p14:creationId xmlns:p14="http://schemas.microsoft.com/office/powerpoint/2010/main" val="34942135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Tablas</a:t>
            </a:r>
          </a:p>
          <a:p>
            <a:pPr marL="0" indent="0">
              <a:lnSpc>
                <a:spcPct val="90000"/>
              </a:lnSpc>
              <a:buNone/>
            </a:pPr>
            <a:endParaRPr lang="es-AR" dirty="0"/>
          </a:p>
          <a:p>
            <a:pPr lvl="1">
              <a:lnSpc>
                <a:spcPct val="90000"/>
              </a:lnSpc>
            </a:pPr>
            <a:r>
              <a:rPr lang="es-AR" dirty="0"/>
              <a:t>¿Para qué sirven?</a:t>
            </a:r>
          </a:p>
          <a:p>
            <a:pPr marL="457200" lvl="1" indent="0">
              <a:lnSpc>
                <a:spcPct val="90000"/>
              </a:lnSpc>
              <a:buNone/>
            </a:pPr>
            <a:endParaRPr lang="es-AR" dirty="0"/>
          </a:p>
          <a:p>
            <a:pPr lvl="2">
              <a:lnSpc>
                <a:spcPct val="90000"/>
              </a:lnSpc>
            </a:pPr>
            <a:r>
              <a:rPr lang="es-AR" dirty="0"/>
              <a:t>Mostrar información tabular.</a:t>
            </a:r>
          </a:p>
          <a:p>
            <a:pPr lvl="2">
              <a:lnSpc>
                <a:spcPct val="90000"/>
              </a:lnSpc>
            </a:pPr>
            <a:endParaRPr lang="es-AR" dirty="0"/>
          </a:p>
          <a:p>
            <a:pPr lvl="2">
              <a:lnSpc>
                <a:spcPct val="90000"/>
              </a:lnSpc>
            </a:pPr>
            <a:r>
              <a:rPr lang="es-AR" b="1" dirty="0">
                <a:solidFill>
                  <a:srgbClr val="FF0000"/>
                </a:solidFill>
              </a:rPr>
              <a:t>NO</a:t>
            </a:r>
            <a:r>
              <a:rPr lang="es-AR" dirty="0"/>
              <a:t> sirven para dotar de presentación a los contenidos de nuestros sitios web.</a:t>
            </a:r>
          </a:p>
          <a:p>
            <a:pPr lvl="2">
              <a:lnSpc>
                <a:spcPct val="90000"/>
              </a:lnSpc>
            </a:pPr>
            <a:endParaRPr lang="es-AR" dirty="0"/>
          </a:p>
          <a:p>
            <a:pPr lvl="2">
              <a:lnSpc>
                <a:spcPct val="90000"/>
              </a:lnSpc>
            </a:pPr>
            <a:r>
              <a:rPr lang="es-AR" b="1" dirty="0">
                <a:solidFill>
                  <a:srgbClr val="FF0000"/>
                </a:solidFill>
              </a:rPr>
              <a:t>NO</a:t>
            </a:r>
            <a:r>
              <a:rPr lang="es-AR" dirty="0"/>
              <a:t> usar tablas para maquetar nuestros sitios web.</a:t>
            </a:r>
          </a:p>
          <a:p>
            <a:pPr lvl="2">
              <a:lnSpc>
                <a:spcPct val="90000"/>
              </a:lnSpc>
            </a:pPr>
            <a:endParaRPr lang="es-AR" dirty="0"/>
          </a:p>
          <a:p>
            <a:pPr lvl="2">
              <a:lnSpc>
                <a:spcPct val="90000"/>
              </a:lnSpc>
            </a:pPr>
            <a:r>
              <a:rPr lang="es-AR" b="1" dirty="0">
                <a:solidFill>
                  <a:srgbClr val="00B050"/>
                </a:solidFill>
              </a:rPr>
              <a:t>SI</a:t>
            </a:r>
            <a:r>
              <a:rPr lang="es-AR" dirty="0"/>
              <a:t> usarlas para las tablas de datos.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41</a:t>
            </a:fld>
            <a:endParaRPr lang="es-ES" altLang="es-AR" dirty="0"/>
          </a:p>
        </p:txBody>
      </p:sp>
    </p:spTree>
    <p:extLst>
      <p:ext uri="{BB962C8B-B14F-4D97-AF65-F5344CB8AC3E}">
        <p14:creationId xmlns:p14="http://schemas.microsoft.com/office/powerpoint/2010/main" val="28215727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1440879"/>
          </a:xfrm>
        </p:spPr>
        <p:txBody>
          <a:bodyPr/>
          <a:lstStyle/>
          <a:p>
            <a:pPr>
              <a:lnSpc>
                <a:spcPct val="90000"/>
              </a:lnSpc>
            </a:pPr>
            <a:r>
              <a:rPr lang="es-AR" dirty="0"/>
              <a:t>Tablas</a:t>
            </a:r>
          </a:p>
          <a:p>
            <a:pPr marL="0" indent="0">
              <a:lnSpc>
                <a:spcPct val="90000"/>
              </a:lnSpc>
              <a:buNone/>
            </a:pPr>
            <a:endParaRPr lang="es-AR" dirty="0"/>
          </a:p>
          <a:p>
            <a:pPr lvl="1" algn="just">
              <a:lnSpc>
                <a:spcPct val="90000"/>
              </a:lnSpc>
            </a:pPr>
            <a:r>
              <a:rPr lang="es-AR" dirty="0"/>
              <a:t>¿Cómo se leen las tablas?</a:t>
            </a:r>
          </a:p>
          <a:p>
            <a:pPr lvl="1" algn="ctr">
              <a:lnSpc>
                <a:spcPct val="90000"/>
              </a:lnSpc>
              <a:buNone/>
            </a:pPr>
            <a:r>
              <a:rPr lang="es-AR" i="1" dirty="0"/>
              <a:t>Visitantes de rrrr.com por países</a:t>
            </a:r>
          </a:p>
          <a:p>
            <a:pPr lvl="2" algn="just">
              <a:lnSpc>
                <a:spcPct val="90000"/>
              </a:lnSpc>
              <a:buNone/>
            </a:pPr>
            <a:endParaRPr lang="es-AR" dirty="0"/>
          </a:p>
        </p:txBody>
      </p:sp>
      <p:graphicFrame>
        <p:nvGraphicFramePr>
          <p:cNvPr id="6" name="3 Tabla"/>
          <p:cNvGraphicFramePr>
            <a:graphicFrameLocks noGrp="1"/>
          </p:cNvGraphicFramePr>
          <p:nvPr>
            <p:extLst>
              <p:ext uri="{D42A27DB-BD31-4B8C-83A1-F6EECF244321}">
                <p14:modId xmlns:p14="http://schemas.microsoft.com/office/powerpoint/2010/main" val="2943330810"/>
              </p:ext>
            </p:extLst>
          </p:nvPr>
        </p:nvGraphicFramePr>
        <p:xfrm>
          <a:off x="899592" y="3324398"/>
          <a:ext cx="7344815" cy="1889760"/>
        </p:xfrm>
        <a:graphic>
          <a:graphicData uri="http://schemas.openxmlformats.org/drawingml/2006/table">
            <a:tbl>
              <a:tblPr firstRow="1" bandRow="1">
                <a:tableStyleId>{5C22544A-7EE6-4342-B048-85BDC9FD1C3A}</a:tableStyleId>
              </a:tblPr>
              <a:tblGrid>
                <a:gridCol w="1468963">
                  <a:extLst>
                    <a:ext uri="{9D8B030D-6E8A-4147-A177-3AD203B41FA5}">
                      <a16:colId xmlns:a16="http://schemas.microsoft.com/office/drawing/2014/main" val="20000"/>
                    </a:ext>
                  </a:extLst>
                </a:gridCol>
                <a:gridCol w="1468963">
                  <a:extLst>
                    <a:ext uri="{9D8B030D-6E8A-4147-A177-3AD203B41FA5}">
                      <a16:colId xmlns:a16="http://schemas.microsoft.com/office/drawing/2014/main" val="20001"/>
                    </a:ext>
                  </a:extLst>
                </a:gridCol>
                <a:gridCol w="1468963">
                  <a:extLst>
                    <a:ext uri="{9D8B030D-6E8A-4147-A177-3AD203B41FA5}">
                      <a16:colId xmlns:a16="http://schemas.microsoft.com/office/drawing/2014/main" val="20002"/>
                    </a:ext>
                  </a:extLst>
                </a:gridCol>
                <a:gridCol w="1468963">
                  <a:extLst>
                    <a:ext uri="{9D8B030D-6E8A-4147-A177-3AD203B41FA5}">
                      <a16:colId xmlns:a16="http://schemas.microsoft.com/office/drawing/2014/main" val="20003"/>
                    </a:ext>
                  </a:extLst>
                </a:gridCol>
                <a:gridCol w="1468963">
                  <a:extLst>
                    <a:ext uri="{9D8B030D-6E8A-4147-A177-3AD203B41FA5}">
                      <a16:colId xmlns:a16="http://schemas.microsoft.com/office/drawing/2014/main" val="20004"/>
                    </a:ext>
                  </a:extLst>
                </a:gridCol>
              </a:tblGrid>
              <a:tr h="229101">
                <a:tc rowSpan="2">
                  <a:txBody>
                    <a:bodyPr/>
                    <a:lstStyle/>
                    <a:p>
                      <a:pPr algn="ctr"/>
                      <a:r>
                        <a:rPr lang="es-AR" sz="2000" dirty="0">
                          <a:solidFill>
                            <a:schemeClr val="tx1"/>
                          </a:solidFill>
                        </a:rPr>
                        <a:t>MES</a:t>
                      </a:r>
                    </a:p>
                  </a:txBody>
                  <a:tcPr anchor="ctr"/>
                </a:tc>
                <a:tc gridSpan="2">
                  <a:txBody>
                    <a:bodyPr/>
                    <a:lstStyle/>
                    <a:p>
                      <a:pPr algn="ctr"/>
                      <a:r>
                        <a:rPr lang="es-AR" sz="2000" dirty="0">
                          <a:solidFill>
                            <a:schemeClr val="tx1"/>
                          </a:solidFill>
                        </a:rPr>
                        <a:t>ARGENTINA</a:t>
                      </a:r>
                    </a:p>
                  </a:txBody>
                  <a:tcPr/>
                </a:tc>
                <a:tc hMerge="1">
                  <a:txBody>
                    <a:bodyPr/>
                    <a:lstStyle/>
                    <a:p>
                      <a:endParaRPr lang="es-AR" dirty="0"/>
                    </a:p>
                  </a:txBody>
                  <a:tcPr/>
                </a:tc>
                <a:tc gridSpan="2">
                  <a:txBody>
                    <a:bodyPr/>
                    <a:lstStyle/>
                    <a:p>
                      <a:pPr algn="ctr"/>
                      <a:r>
                        <a:rPr lang="es-AR" sz="2000" dirty="0">
                          <a:solidFill>
                            <a:schemeClr val="tx1"/>
                          </a:solidFill>
                        </a:rPr>
                        <a:t>CHILE</a:t>
                      </a:r>
                    </a:p>
                  </a:txBody>
                  <a:tcPr/>
                </a:tc>
                <a:tc hMerge="1">
                  <a:txBody>
                    <a:bodyPr/>
                    <a:lstStyle/>
                    <a:p>
                      <a:endParaRPr lang="es-AR" dirty="0"/>
                    </a:p>
                  </a:txBody>
                  <a:tcPr/>
                </a:tc>
                <a:extLst>
                  <a:ext uri="{0D108BD9-81ED-4DB2-BD59-A6C34878D82A}">
                    <a16:rowId xmlns:a16="http://schemas.microsoft.com/office/drawing/2014/main" val="10000"/>
                  </a:ext>
                </a:extLst>
              </a:tr>
              <a:tr h="395434">
                <a:tc vMerge="1">
                  <a:txBody>
                    <a:bodyPr/>
                    <a:lstStyle/>
                    <a:p>
                      <a:endParaRPr lang="es-AR" dirty="0"/>
                    </a:p>
                  </a:txBody>
                  <a:tcPr/>
                </a:tc>
                <a:tc>
                  <a:txBody>
                    <a:bodyPr/>
                    <a:lstStyle/>
                    <a:p>
                      <a:pPr algn="ctr"/>
                      <a:r>
                        <a:rPr lang="es-AR" sz="2000" b="1" dirty="0">
                          <a:solidFill>
                            <a:schemeClr val="tx1"/>
                          </a:solidFill>
                        </a:rPr>
                        <a:t>Hablan español</a:t>
                      </a:r>
                    </a:p>
                  </a:txBody>
                  <a:tcPr>
                    <a:solidFill>
                      <a:schemeClr val="accent1"/>
                    </a:solidFill>
                  </a:tcPr>
                </a:tc>
                <a:tc>
                  <a:txBody>
                    <a:bodyPr/>
                    <a:lstStyle/>
                    <a:p>
                      <a:pPr algn="ctr"/>
                      <a:r>
                        <a:rPr lang="es-AR" sz="2000" b="1" dirty="0">
                          <a:solidFill>
                            <a:schemeClr val="tx1"/>
                          </a:solidFill>
                        </a:rPr>
                        <a:t>No hablan español</a:t>
                      </a:r>
                    </a:p>
                  </a:txBody>
                  <a:tcPr>
                    <a:solidFill>
                      <a:schemeClr val="accent1"/>
                    </a:solidFill>
                  </a:tcPr>
                </a:tc>
                <a:tc>
                  <a:txBody>
                    <a:bodyPr/>
                    <a:lstStyle/>
                    <a:p>
                      <a:pPr algn="ctr"/>
                      <a:r>
                        <a:rPr lang="es-AR" sz="2000" b="1" dirty="0">
                          <a:solidFill>
                            <a:schemeClr val="tx1"/>
                          </a:solidFill>
                        </a:rPr>
                        <a:t>Hablan</a:t>
                      </a:r>
                      <a:r>
                        <a:rPr lang="es-AR" sz="2000" b="1" baseline="0" dirty="0">
                          <a:solidFill>
                            <a:schemeClr val="tx1"/>
                          </a:solidFill>
                        </a:rPr>
                        <a:t> español</a:t>
                      </a:r>
                      <a:endParaRPr lang="es-AR" sz="2000" b="1" dirty="0">
                        <a:solidFill>
                          <a:schemeClr val="tx1"/>
                        </a:solidFill>
                      </a:endParaRPr>
                    </a:p>
                  </a:txBody>
                  <a:tcPr>
                    <a:solidFill>
                      <a:schemeClr val="accent1"/>
                    </a:solidFill>
                  </a:tcPr>
                </a:tc>
                <a:tc>
                  <a:txBody>
                    <a:bodyPr/>
                    <a:lstStyle/>
                    <a:p>
                      <a:pPr algn="ctr"/>
                      <a:r>
                        <a:rPr lang="es-AR" sz="2000" b="1" dirty="0">
                          <a:solidFill>
                            <a:schemeClr val="tx1"/>
                          </a:solidFill>
                        </a:rPr>
                        <a:t>No hablan español</a:t>
                      </a:r>
                    </a:p>
                  </a:txBody>
                  <a:tcPr>
                    <a:solidFill>
                      <a:schemeClr val="accent1"/>
                    </a:solidFill>
                  </a:tcPr>
                </a:tc>
                <a:extLst>
                  <a:ext uri="{0D108BD9-81ED-4DB2-BD59-A6C34878D82A}">
                    <a16:rowId xmlns:a16="http://schemas.microsoft.com/office/drawing/2014/main" val="10001"/>
                  </a:ext>
                </a:extLst>
              </a:tr>
              <a:tr h="229101">
                <a:tc>
                  <a:txBody>
                    <a:bodyPr/>
                    <a:lstStyle/>
                    <a:p>
                      <a:r>
                        <a:rPr lang="es-AR" sz="2000" b="1" dirty="0">
                          <a:solidFill>
                            <a:schemeClr val="tx1"/>
                          </a:solidFill>
                        </a:rPr>
                        <a:t>Enero</a:t>
                      </a:r>
                    </a:p>
                  </a:txBody>
                  <a:tcPr>
                    <a:solidFill>
                      <a:schemeClr val="accent1"/>
                    </a:solidFill>
                  </a:tcPr>
                </a:tc>
                <a:tc>
                  <a:txBody>
                    <a:bodyPr/>
                    <a:lstStyle/>
                    <a:p>
                      <a:r>
                        <a:rPr lang="es-AR" sz="2000" dirty="0">
                          <a:solidFill>
                            <a:schemeClr val="tx1"/>
                          </a:solidFill>
                        </a:rPr>
                        <a:t>10</a:t>
                      </a:r>
                    </a:p>
                  </a:txBody>
                  <a:tcPr/>
                </a:tc>
                <a:tc>
                  <a:txBody>
                    <a:bodyPr/>
                    <a:lstStyle/>
                    <a:p>
                      <a:r>
                        <a:rPr lang="es-AR" sz="2000" dirty="0">
                          <a:solidFill>
                            <a:schemeClr val="tx1"/>
                          </a:solidFill>
                        </a:rPr>
                        <a:t>0</a:t>
                      </a:r>
                    </a:p>
                  </a:txBody>
                  <a:tcPr/>
                </a:tc>
                <a:tc>
                  <a:txBody>
                    <a:bodyPr/>
                    <a:lstStyle/>
                    <a:p>
                      <a:r>
                        <a:rPr lang="es-AR" sz="2000" dirty="0">
                          <a:solidFill>
                            <a:schemeClr val="tx1"/>
                          </a:solidFill>
                        </a:rPr>
                        <a:t>15</a:t>
                      </a:r>
                    </a:p>
                  </a:txBody>
                  <a:tcPr/>
                </a:tc>
                <a:tc>
                  <a:txBody>
                    <a:bodyPr/>
                    <a:lstStyle/>
                    <a:p>
                      <a:r>
                        <a:rPr lang="es-AR" sz="2000" dirty="0">
                          <a:solidFill>
                            <a:schemeClr val="tx1"/>
                          </a:solidFill>
                        </a:rPr>
                        <a:t>5</a:t>
                      </a:r>
                    </a:p>
                  </a:txBody>
                  <a:tcPr/>
                </a:tc>
                <a:extLst>
                  <a:ext uri="{0D108BD9-81ED-4DB2-BD59-A6C34878D82A}">
                    <a16:rowId xmlns:a16="http://schemas.microsoft.com/office/drawing/2014/main" val="10002"/>
                  </a:ext>
                </a:extLst>
              </a:tr>
              <a:tr h="229101">
                <a:tc>
                  <a:txBody>
                    <a:bodyPr/>
                    <a:lstStyle/>
                    <a:p>
                      <a:r>
                        <a:rPr lang="es-AR" sz="2000" b="1" dirty="0">
                          <a:solidFill>
                            <a:schemeClr val="tx1"/>
                          </a:solidFill>
                        </a:rPr>
                        <a:t>Febrero</a:t>
                      </a:r>
                    </a:p>
                  </a:txBody>
                  <a:tcPr>
                    <a:solidFill>
                      <a:schemeClr val="accent1"/>
                    </a:solidFill>
                  </a:tcPr>
                </a:tc>
                <a:tc>
                  <a:txBody>
                    <a:bodyPr/>
                    <a:lstStyle/>
                    <a:p>
                      <a:r>
                        <a:rPr lang="es-AR" sz="2000" dirty="0">
                          <a:solidFill>
                            <a:schemeClr val="tx1"/>
                          </a:solidFill>
                        </a:rPr>
                        <a:t>11</a:t>
                      </a:r>
                    </a:p>
                  </a:txBody>
                  <a:tcPr/>
                </a:tc>
                <a:tc>
                  <a:txBody>
                    <a:bodyPr/>
                    <a:lstStyle/>
                    <a:p>
                      <a:r>
                        <a:rPr lang="es-AR" sz="2000" dirty="0">
                          <a:solidFill>
                            <a:schemeClr val="tx1"/>
                          </a:solidFill>
                        </a:rPr>
                        <a:t>0</a:t>
                      </a:r>
                    </a:p>
                  </a:txBody>
                  <a:tcPr/>
                </a:tc>
                <a:tc>
                  <a:txBody>
                    <a:bodyPr/>
                    <a:lstStyle/>
                    <a:p>
                      <a:r>
                        <a:rPr lang="es-AR" sz="2000" dirty="0">
                          <a:solidFill>
                            <a:schemeClr val="tx1"/>
                          </a:solidFill>
                        </a:rPr>
                        <a:t>20</a:t>
                      </a:r>
                    </a:p>
                  </a:txBody>
                  <a:tcPr/>
                </a:tc>
                <a:tc>
                  <a:txBody>
                    <a:bodyPr/>
                    <a:lstStyle/>
                    <a:p>
                      <a:r>
                        <a:rPr lang="es-AR" sz="2000" dirty="0">
                          <a:solidFill>
                            <a:schemeClr val="tx1"/>
                          </a:solidFill>
                        </a:rPr>
                        <a:t>2</a:t>
                      </a:r>
                    </a:p>
                  </a:txBody>
                  <a:tcPr/>
                </a:tc>
                <a:extLst>
                  <a:ext uri="{0D108BD9-81ED-4DB2-BD59-A6C34878D82A}">
                    <a16:rowId xmlns:a16="http://schemas.microsoft.com/office/drawing/2014/main" val="10003"/>
                  </a:ext>
                </a:extLst>
              </a:tr>
            </a:tbl>
          </a:graphicData>
        </a:graphic>
      </p:graphicFrame>
      <p:sp>
        <p:nvSpPr>
          <p:cNvPr id="7" name="2 Marcador de contenido"/>
          <p:cNvSpPr txBox="1">
            <a:spLocks/>
          </p:cNvSpPr>
          <p:nvPr/>
        </p:nvSpPr>
        <p:spPr bwMode="auto">
          <a:xfrm>
            <a:off x="433810" y="5589241"/>
            <a:ext cx="82296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cs typeface="+mn-cs"/>
              </a:defRPr>
            </a:lvl2pPr>
            <a:lvl3pPr marL="1143000" indent="-228600" algn="l" rtl="0" eaLnBrk="0" fontAlgn="base" hangingPunct="0">
              <a:spcBef>
                <a:spcPct val="20000"/>
              </a:spcBef>
              <a:spcAft>
                <a:spcPct val="0"/>
              </a:spcAft>
              <a:buChar char="•"/>
              <a:defRPr sz="20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114300" indent="0" algn="just">
              <a:lnSpc>
                <a:spcPct val="90000"/>
              </a:lnSpc>
            </a:pPr>
            <a:r>
              <a:rPr lang="es-AR" dirty="0"/>
              <a:t> Personas videntes: En el mes de Enero, en Argentina 10 visitantes de rrrr.com hablaban español.</a:t>
            </a:r>
          </a:p>
          <a:p>
            <a:pPr marL="114300" indent="0" algn="just">
              <a:lnSpc>
                <a:spcPct val="90000"/>
              </a:lnSpc>
            </a:pPr>
            <a:r>
              <a:rPr lang="es-AR" dirty="0"/>
              <a:t> Personas invidentes: ¿Cómo perciben la tabla?</a:t>
            </a:r>
            <a:endParaRPr lang="es-AR" kern="0"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42</a:t>
            </a:fld>
            <a:endParaRPr lang="es-ES" altLang="es-AR" dirty="0"/>
          </a:p>
        </p:txBody>
      </p:sp>
    </p:spTree>
    <p:extLst>
      <p:ext uri="{BB962C8B-B14F-4D97-AF65-F5344CB8AC3E}">
        <p14:creationId xmlns:p14="http://schemas.microsoft.com/office/powerpoint/2010/main" val="42738747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4933872" cy="1440879"/>
          </a:xfrm>
        </p:spPr>
        <p:txBody>
          <a:bodyPr/>
          <a:lstStyle/>
          <a:p>
            <a:pPr>
              <a:lnSpc>
                <a:spcPct val="90000"/>
              </a:lnSpc>
            </a:pPr>
            <a:r>
              <a:rPr lang="es-AR" dirty="0"/>
              <a:t>Tablas</a:t>
            </a:r>
          </a:p>
          <a:p>
            <a:pPr marL="0" indent="0">
              <a:lnSpc>
                <a:spcPct val="90000"/>
              </a:lnSpc>
              <a:buNone/>
            </a:pPr>
            <a:endParaRPr lang="es-AR" dirty="0"/>
          </a:p>
          <a:p>
            <a:pPr lvl="1" algn="just">
              <a:lnSpc>
                <a:spcPct val="90000"/>
              </a:lnSpc>
            </a:pPr>
            <a:r>
              <a:rPr lang="es-AR" dirty="0"/>
              <a:t>¿Cómo se leen las tablas?</a:t>
            </a:r>
          </a:p>
          <a:p>
            <a:pPr lvl="1">
              <a:lnSpc>
                <a:spcPct val="90000"/>
              </a:lnSpc>
              <a:buNone/>
            </a:pPr>
            <a:r>
              <a:rPr lang="es-AR" i="1" dirty="0"/>
              <a:t>Visitantes de rrrr.com por países</a:t>
            </a:r>
          </a:p>
          <a:p>
            <a:pPr lvl="2" algn="just">
              <a:lnSpc>
                <a:spcPct val="90000"/>
              </a:lnSpc>
              <a:buNone/>
            </a:pPr>
            <a:endParaRPr lang="es-AR" dirty="0"/>
          </a:p>
        </p:txBody>
      </p:sp>
      <p:graphicFrame>
        <p:nvGraphicFramePr>
          <p:cNvPr id="6" name="3 Tabla"/>
          <p:cNvGraphicFramePr>
            <a:graphicFrameLocks noGrp="1"/>
          </p:cNvGraphicFramePr>
          <p:nvPr>
            <p:extLst>
              <p:ext uri="{D42A27DB-BD31-4B8C-83A1-F6EECF244321}">
                <p14:modId xmlns:p14="http://schemas.microsoft.com/office/powerpoint/2010/main" val="975610132"/>
              </p:ext>
            </p:extLst>
          </p:nvPr>
        </p:nvGraphicFramePr>
        <p:xfrm>
          <a:off x="611560" y="3403225"/>
          <a:ext cx="4752525" cy="1904803"/>
        </p:xfrm>
        <a:graphic>
          <a:graphicData uri="http://schemas.openxmlformats.org/drawingml/2006/table">
            <a:tbl>
              <a:tblPr firstRow="1" bandRow="1">
                <a:tableStyleId>{5C22544A-7EE6-4342-B048-85BDC9FD1C3A}</a:tableStyleId>
              </a:tblPr>
              <a:tblGrid>
                <a:gridCol w="950505">
                  <a:extLst>
                    <a:ext uri="{9D8B030D-6E8A-4147-A177-3AD203B41FA5}">
                      <a16:colId xmlns:a16="http://schemas.microsoft.com/office/drawing/2014/main" val="20000"/>
                    </a:ext>
                  </a:extLst>
                </a:gridCol>
                <a:gridCol w="950505">
                  <a:extLst>
                    <a:ext uri="{9D8B030D-6E8A-4147-A177-3AD203B41FA5}">
                      <a16:colId xmlns:a16="http://schemas.microsoft.com/office/drawing/2014/main" val="20001"/>
                    </a:ext>
                  </a:extLst>
                </a:gridCol>
                <a:gridCol w="950505">
                  <a:extLst>
                    <a:ext uri="{9D8B030D-6E8A-4147-A177-3AD203B41FA5}">
                      <a16:colId xmlns:a16="http://schemas.microsoft.com/office/drawing/2014/main" val="20002"/>
                    </a:ext>
                  </a:extLst>
                </a:gridCol>
                <a:gridCol w="950505">
                  <a:extLst>
                    <a:ext uri="{9D8B030D-6E8A-4147-A177-3AD203B41FA5}">
                      <a16:colId xmlns:a16="http://schemas.microsoft.com/office/drawing/2014/main" val="20003"/>
                    </a:ext>
                  </a:extLst>
                </a:gridCol>
                <a:gridCol w="950505">
                  <a:extLst>
                    <a:ext uri="{9D8B030D-6E8A-4147-A177-3AD203B41FA5}">
                      <a16:colId xmlns:a16="http://schemas.microsoft.com/office/drawing/2014/main" val="20004"/>
                    </a:ext>
                  </a:extLst>
                </a:gridCol>
              </a:tblGrid>
              <a:tr h="343923">
                <a:tc rowSpan="2">
                  <a:txBody>
                    <a:bodyPr/>
                    <a:lstStyle/>
                    <a:p>
                      <a:pPr algn="ctr"/>
                      <a:r>
                        <a:rPr lang="es-AR" sz="1600" dirty="0">
                          <a:solidFill>
                            <a:schemeClr val="tx1"/>
                          </a:solidFill>
                        </a:rPr>
                        <a:t>MES</a:t>
                      </a:r>
                    </a:p>
                  </a:txBody>
                  <a:tcPr anchor="ctr"/>
                </a:tc>
                <a:tc gridSpan="2">
                  <a:txBody>
                    <a:bodyPr/>
                    <a:lstStyle/>
                    <a:p>
                      <a:pPr algn="ctr"/>
                      <a:r>
                        <a:rPr lang="es-AR" sz="1600" dirty="0">
                          <a:solidFill>
                            <a:schemeClr val="tx1"/>
                          </a:solidFill>
                        </a:rPr>
                        <a:t>ARGENTINA</a:t>
                      </a:r>
                    </a:p>
                  </a:txBody>
                  <a:tcPr/>
                </a:tc>
                <a:tc hMerge="1">
                  <a:txBody>
                    <a:bodyPr/>
                    <a:lstStyle/>
                    <a:p>
                      <a:endParaRPr lang="es-AR" dirty="0"/>
                    </a:p>
                  </a:txBody>
                  <a:tcPr/>
                </a:tc>
                <a:tc gridSpan="2">
                  <a:txBody>
                    <a:bodyPr/>
                    <a:lstStyle/>
                    <a:p>
                      <a:pPr algn="ctr"/>
                      <a:r>
                        <a:rPr lang="es-AR" sz="1600" dirty="0">
                          <a:solidFill>
                            <a:schemeClr val="tx1"/>
                          </a:solidFill>
                        </a:rPr>
                        <a:t>CHILE</a:t>
                      </a:r>
                    </a:p>
                  </a:txBody>
                  <a:tcPr/>
                </a:tc>
                <a:tc hMerge="1">
                  <a:txBody>
                    <a:bodyPr/>
                    <a:lstStyle/>
                    <a:p>
                      <a:endParaRPr lang="es-AR" dirty="0"/>
                    </a:p>
                  </a:txBody>
                  <a:tcPr/>
                </a:tc>
                <a:extLst>
                  <a:ext uri="{0D108BD9-81ED-4DB2-BD59-A6C34878D82A}">
                    <a16:rowId xmlns:a16="http://schemas.microsoft.com/office/drawing/2014/main" val="10000"/>
                  </a:ext>
                </a:extLst>
              </a:tr>
              <a:tr h="873034">
                <a:tc vMerge="1">
                  <a:txBody>
                    <a:bodyPr/>
                    <a:lstStyle/>
                    <a:p>
                      <a:endParaRPr lang="es-AR" dirty="0"/>
                    </a:p>
                  </a:txBody>
                  <a:tcPr/>
                </a:tc>
                <a:tc>
                  <a:txBody>
                    <a:bodyPr/>
                    <a:lstStyle/>
                    <a:p>
                      <a:pPr algn="ctr"/>
                      <a:r>
                        <a:rPr lang="es-AR" sz="1600" b="1" dirty="0">
                          <a:solidFill>
                            <a:schemeClr val="tx1"/>
                          </a:solidFill>
                        </a:rPr>
                        <a:t>Hablan español</a:t>
                      </a:r>
                    </a:p>
                  </a:txBody>
                  <a:tcPr>
                    <a:solidFill>
                      <a:schemeClr val="accent1"/>
                    </a:solidFill>
                  </a:tcPr>
                </a:tc>
                <a:tc>
                  <a:txBody>
                    <a:bodyPr/>
                    <a:lstStyle/>
                    <a:p>
                      <a:pPr algn="ctr"/>
                      <a:r>
                        <a:rPr lang="es-AR" sz="1600" b="1" dirty="0">
                          <a:solidFill>
                            <a:schemeClr val="tx1"/>
                          </a:solidFill>
                        </a:rPr>
                        <a:t>No hablan español</a:t>
                      </a:r>
                    </a:p>
                  </a:txBody>
                  <a:tcPr>
                    <a:solidFill>
                      <a:schemeClr val="accent1"/>
                    </a:solidFill>
                  </a:tcPr>
                </a:tc>
                <a:tc>
                  <a:txBody>
                    <a:bodyPr/>
                    <a:lstStyle/>
                    <a:p>
                      <a:pPr algn="ctr"/>
                      <a:r>
                        <a:rPr lang="es-AR" sz="1600" b="1" dirty="0">
                          <a:solidFill>
                            <a:schemeClr val="tx1"/>
                          </a:solidFill>
                        </a:rPr>
                        <a:t>Hablan</a:t>
                      </a:r>
                      <a:r>
                        <a:rPr lang="es-AR" sz="1600" b="1" baseline="0" dirty="0">
                          <a:solidFill>
                            <a:schemeClr val="tx1"/>
                          </a:solidFill>
                        </a:rPr>
                        <a:t> español</a:t>
                      </a:r>
                      <a:endParaRPr lang="es-AR" sz="1600" b="1" dirty="0">
                        <a:solidFill>
                          <a:schemeClr val="tx1"/>
                        </a:solidFill>
                      </a:endParaRPr>
                    </a:p>
                  </a:txBody>
                  <a:tcPr>
                    <a:solidFill>
                      <a:schemeClr val="accent1"/>
                    </a:solidFill>
                  </a:tcPr>
                </a:tc>
                <a:tc>
                  <a:txBody>
                    <a:bodyPr/>
                    <a:lstStyle/>
                    <a:p>
                      <a:pPr algn="ctr"/>
                      <a:r>
                        <a:rPr lang="es-AR" sz="1600" b="1" dirty="0">
                          <a:solidFill>
                            <a:schemeClr val="tx1"/>
                          </a:solidFill>
                        </a:rPr>
                        <a:t>No hablan español</a:t>
                      </a:r>
                    </a:p>
                  </a:txBody>
                  <a:tcPr>
                    <a:solidFill>
                      <a:schemeClr val="accent1"/>
                    </a:solidFill>
                  </a:tcPr>
                </a:tc>
                <a:extLst>
                  <a:ext uri="{0D108BD9-81ED-4DB2-BD59-A6C34878D82A}">
                    <a16:rowId xmlns:a16="http://schemas.microsoft.com/office/drawing/2014/main" val="10001"/>
                  </a:ext>
                </a:extLst>
              </a:tr>
              <a:tr h="343923">
                <a:tc>
                  <a:txBody>
                    <a:bodyPr/>
                    <a:lstStyle/>
                    <a:p>
                      <a:r>
                        <a:rPr lang="es-AR" sz="1600" b="1" dirty="0">
                          <a:solidFill>
                            <a:schemeClr val="tx1"/>
                          </a:solidFill>
                        </a:rPr>
                        <a:t>Enero</a:t>
                      </a:r>
                    </a:p>
                  </a:txBody>
                  <a:tcPr>
                    <a:solidFill>
                      <a:schemeClr val="accent1"/>
                    </a:solidFill>
                  </a:tcPr>
                </a:tc>
                <a:tc>
                  <a:txBody>
                    <a:bodyPr/>
                    <a:lstStyle/>
                    <a:p>
                      <a:r>
                        <a:rPr lang="es-AR" sz="1600" dirty="0">
                          <a:solidFill>
                            <a:schemeClr val="tx1"/>
                          </a:solidFill>
                        </a:rPr>
                        <a:t>10</a:t>
                      </a:r>
                    </a:p>
                  </a:txBody>
                  <a:tcPr/>
                </a:tc>
                <a:tc>
                  <a:txBody>
                    <a:bodyPr/>
                    <a:lstStyle/>
                    <a:p>
                      <a:r>
                        <a:rPr lang="es-AR" sz="1600" dirty="0">
                          <a:solidFill>
                            <a:schemeClr val="tx1"/>
                          </a:solidFill>
                        </a:rPr>
                        <a:t>0</a:t>
                      </a:r>
                    </a:p>
                  </a:txBody>
                  <a:tcPr/>
                </a:tc>
                <a:tc>
                  <a:txBody>
                    <a:bodyPr/>
                    <a:lstStyle/>
                    <a:p>
                      <a:r>
                        <a:rPr lang="es-AR" sz="1600" dirty="0">
                          <a:solidFill>
                            <a:schemeClr val="tx1"/>
                          </a:solidFill>
                        </a:rPr>
                        <a:t>15</a:t>
                      </a:r>
                    </a:p>
                  </a:txBody>
                  <a:tcPr/>
                </a:tc>
                <a:tc>
                  <a:txBody>
                    <a:bodyPr/>
                    <a:lstStyle/>
                    <a:p>
                      <a:r>
                        <a:rPr lang="es-AR" sz="1600" dirty="0">
                          <a:solidFill>
                            <a:schemeClr val="tx1"/>
                          </a:solidFill>
                        </a:rPr>
                        <a:t>5</a:t>
                      </a:r>
                    </a:p>
                  </a:txBody>
                  <a:tcPr/>
                </a:tc>
                <a:extLst>
                  <a:ext uri="{0D108BD9-81ED-4DB2-BD59-A6C34878D82A}">
                    <a16:rowId xmlns:a16="http://schemas.microsoft.com/office/drawing/2014/main" val="10002"/>
                  </a:ext>
                </a:extLst>
              </a:tr>
              <a:tr h="343923">
                <a:tc>
                  <a:txBody>
                    <a:bodyPr/>
                    <a:lstStyle/>
                    <a:p>
                      <a:r>
                        <a:rPr lang="es-AR" sz="1600" b="1" dirty="0">
                          <a:solidFill>
                            <a:schemeClr val="tx1"/>
                          </a:solidFill>
                        </a:rPr>
                        <a:t>Febrero</a:t>
                      </a:r>
                    </a:p>
                  </a:txBody>
                  <a:tcPr>
                    <a:solidFill>
                      <a:schemeClr val="accent1"/>
                    </a:solidFill>
                  </a:tcPr>
                </a:tc>
                <a:tc>
                  <a:txBody>
                    <a:bodyPr/>
                    <a:lstStyle/>
                    <a:p>
                      <a:r>
                        <a:rPr lang="es-AR" sz="1600" dirty="0">
                          <a:solidFill>
                            <a:schemeClr val="tx1"/>
                          </a:solidFill>
                        </a:rPr>
                        <a:t>11</a:t>
                      </a:r>
                    </a:p>
                  </a:txBody>
                  <a:tcPr/>
                </a:tc>
                <a:tc>
                  <a:txBody>
                    <a:bodyPr/>
                    <a:lstStyle/>
                    <a:p>
                      <a:r>
                        <a:rPr lang="es-AR" sz="1600" dirty="0">
                          <a:solidFill>
                            <a:schemeClr val="tx1"/>
                          </a:solidFill>
                        </a:rPr>
                        <a:t>0</a:t>
                      </a:r>
                    </a:p>
                  </a:txBody>
                  <a:tcPr/>
                </a:tc>
                <a:tc>
                  <a:txBody>
                    <a:bodyPr/>
                    <a:lstStyle/>
                    <a:p>
                      <a:r>
                        <a:rPr lang="es-AR" sz="1600" dirty="0">
                          <a:solidFill>
                            <a:schemeClr val="tx1"/>
                          </a:solidFill>
                        </a:rPr>
                        <a:t>20</a:t>
                      </a:r>
                    </a:p>
                  </a:txBody>
                  <a:tcPr/>
                </a:tc>
                <a:tc>
                  <a:txBody>
                    <a:bodyPr/>
                    <a:lstStyle/>
                    <a:p>
                      <a:r>
                        <a:rPr lang="es-AR" sz="1600" dirty="0">
                          <a:solidFill>
                            <a:schemeClr val="tx1"/>
                          </a:solidFill>
                        </a:rPr>
                        <a:t>2</a:t>
                      </a:r>
                    </a:p>
                  </a:txBody>
                  <a:tcPr/>
                </a:tc>
                <a:extLst>
                  <a:ext uri="{0D108BD9-81ED-4DB2-BD59-A6C34878D82A}">
                    <a16:rowId xmlns:a16="http://schemas.microsoft.com/office/drawing/2014/main" val="10003"/>
                  </a:ext>
                </a:extLst>
              </a:tr>
            </a:tbl>
          </a:graphicData>
        </a:graphic>
      </p:graphicFrame>
      <p:sp>
        <p:nvSpPr>
          <p:cNvPr id="7" name="2 Marcador de contenido"/>
          <p:cNvSpPr txBox="1">
            <a:spLocks/>
          </p:cNvSpPr>
          <p:nvPr/>
        </p:nvSpPr>
        <p:spPr bwMode="auto">
          <a:xfrm>
            <a:off x="1854831" y="5733256"/>
            <a:ext cx="2265982" cy="432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cs typeface="+mn-cs"/>
              </a:defRPr>
            </a:lvl2pPr>
            <a:lvl3pPr marL="1143000" indent="-228600" algn="l" rtl="0" eaLnBrk="0" fontAlgn="base" hangingPunct="0">
              <a:spcBef>
                <a:spcPct val="20000"/>
              </a:spcBef>
              <a:spcAft>
                <a:spcPct val="0"/>
              </a:spcAft>
              <a:buChar char="•"/>
              <a:defRPr sz="20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114300" indent="0" algn="just">
              <a:lnSpc>
                <a:spcPct val="90000"/>
              </a:lnSpc>
              <a:buNone/>
            </a:pPr>
            <a:r>
              <a:rPr lang="es-AR" b="1" dirty="0">
                <a:solidFill>
                  <a:srgbClr val="FF0000"/>
                </a:solidFill>
              </a:rPr>
              <a:t>NO ACCESIBLE</a:t>
            </a:r>
            <a:endParaRPr lang="es-AR" b="1" kern="0" dirty="0">
              <a:solidFill>
                <a:srgbClr val="FF0000"/>
              </a:solidFill>
            </a:endParaRPr>
          </a:p>
        </p:txBody>
      </p:sp>
      <p:graphicFrame>
        <p:nvGraphicFramePr>
          <p:cNvPr id="8" name="5 Tabla"/>
          <p:cNvGraphicFramePr>
            <a:graphicFrameLocks noGrp="1"/>
          </p:cNvGraphicFramePr>
          <p:nvPr>
            <p:extLst>
              <p:ext uri="{D42A27DB-BD31-4B8C-83A1-F6EECF244321}">
                <p14:modId xmlns:p14="http://schemas.microsoft.com/office/powerpoint/2010/main" val="3376320872"/>
              </p:ext>
            </p:extLst>
          </p:nvPr>
        </p:nvGraphicFramePr>
        <p:xfrm>
          <a:off x="5844950" y="476672"/>
          <a:ext cx="3293035" cy="6278880"/>
        </p:xfrm>
        <a:graphic>
          <a:graphicData uri="http://schemas.openxmlformats.org/drawingml/2006/table">
            <a:tbl>
              <a:tblPr firstRow="1" bandRow="1">
                <a:tableStyleId>{5C22544A-7EE6-4342-B048-85BDC9FD1C3A}</a:tableStyleId>
              </a:tblPr>
              <a:tblGrid>
                <a:gridCol w="3293035">
                  <a:extLst>
                    <a:ext uri="{9D8B030D-6E8A-4147-A177-3AD203B41FA5}">
                      <a16:colId xmlns:a16="http://schemas.microsoft.com/office/drawing/2014/main" val="20000"/>
                    </a:ext>
                  </a:extLst>
                </a:gridCol>
              </a:tblGrid>
              <a:tr h="260786">
                <a:tc>
                  <a:txBody>
                    <a:bodyPr/>
                    <a:lstStyle/>
                    <a:p>
                      <a:pPr algn="ctr"/>
                      <a:r>
                        <a:rPr lang="es-AR" sz="1600" dirty="0">
                          <a:solidFill>
                            <a:schemeClr val="tx1"/>
                          </a:solidFill>
                        </a:rPr>
                        <a:t>Visitantes de rrrr.com por países</a:t>
                      </a:r>
                    </a:p>
                  </a:txBody>
                  <a:tcPr>
                    <a:solidFill>
                      <a:schemeClr val="bg1"/>
                    </a:solidFill>
                  </a:tcPr>
                </a:tc>
                <a:extLst>
                  <a:ext uri="{0D108BD9-81ED-4DB2-BD59-A6C34878D82A}">
                    <a16:rowId xmlns:a16="http://schemas.microsoft.com/office/drawing/2014/main" val="10000"/>
                  </a:ext>
                </a:extLst>
              </a:tr>
              <a:tr h="260786">
                <a:tc>
                  <a:txBody>
                    <a:bodyPr/>
                    <a:lstStyle/>
                    <a:p>
                      <a:pPr algn="ctr"/>
                      <a:r>
                        <a:rPr lang="es-AR" sz="1600" b="1" dirty="0">
                          <a:solidFill>
                            <a:schemeClr val="tx1"/>
                          </a:solidFill>
                        </a:rPr>
                        <a:t>MES</a:t>
                      </a:r>
                    </a:p>
                  </a:txBody>
                  <a:tcPr>
                    <a:solidFill>
                      <a:schemeClr val="accent1"/>
                    </a:solidFill>
                  </a:tcPr>
                </a:tc>
                <a:extLst>
                  <a:ext uri="{0D108BD9-81ED-4DB2-BD59-A6C34878D82A}">
                    <a16:rowId xmlns:a16="http://schemas.microsoft.com/office/drawing/2014/main" val="10001"/>
                  </a:ext>
                </a:extLst>
              </a:tr>
              <a:tr h="260786">
                <a:tc>
                  <a:txBody>
                    <a:bodyPr/>
                    <a:lstStyle/>
                    <a:p>
                      <a:pPr algn="ctr"/>
                      <a:r>
                        <a:rPr lang="es-AR" sz="1600" b="1" dirty="0">
                          <a:solidFill>
                            <a:schemeClr val="tx1"/>
                          </a:solidFill>
                        </a:rPr>
                        <a:t>ARGENTINA</a:t>
                      </a:r>
                    </a:p>
                  </a:txBody>
                  <a:tcPr>
                    <a:solidFill>
                      <a:schemeClr val="accent1"/>
                    </a:solidFill>
                  </a:tcPr>
                </a:tc>
                <a:extLst>
                  <a:ext uri="{0D108BD9-81ED-4DB2-BD59-A6C34878D82A}">
                    <a16:rowId xmlns:a16="http://schemas.microsoft.com/office/drawing/2014/main" val="10002"/>
                  </a:ext>
                </a:extLst>
              </a:tr>
              <a:tr h="260786">
                <a:tc>
                  <a:txBody>
                    <a:bodyPr/>
                    <a:lstStyle/>
                    <a:p>
                      <a:pPr algn="ctr"/>
                      <a:r>
                        <a:rPr lang="es-AR" sz="1600" b="1" dirty="0">
                          <a:solidFill>
                            <a:schemeClr val="tx1"/>
                          </a:solidFill>
                        </a:rPr>
                        <a:t>CHILE</a:t>
                      </a:r>
                    </a:p>
                  </a:txBody>
                  <a:tcPr>
                    <a:solidFill>
                      <a:schemeClr val="accent1"/>
                    </a:solidFill>
                  </a:tcPr>
                </a:tc>
                <a:extLst>
                  <a:ext uri="{0D108BD9-81ED-4DB2-BD59-A6C34878D82A}">
                    <a16:rowId xmlns:a16="http://schemas.microsoft.com/office/drawing/2014/main" val="10003"/>
                  </a:ext>
                </a:extLst>
              </a:tr>
              <a:tr h="260786">
                <a:tc>
                  <a:txBody>
                    <a:bodyPr/>
                    <a:lstStyle/>
                    <a:p>
                      <a:pPr algn="ctr"/>
                      <a:r>
                        <a:rPr lang="es-AR" sz="1600" b="1" dirty="0">
                          <a:solidFill>
                            <a:schemeClr val="tx1"/>
                          </a:solidFill>
                        </a:rPr>
                        <a:t>Hablan español</a:t>
                      </a:r>
                    </a:p>
                  </a:txBody>
                  <a:tcPr>
                    <a:solidFill>
                      <a:schemeClr val="accent1"/>
                    </a:solidFill>
                  </a:tcPr>
                </a:tc>
                <a:extLst>
                  <a:ext uri="{0D108BD9-81ED-4DB2-BD59-A6C34878D82A}">
                    <a16:rowId xmlns:a16="http://schemas.microsoft.com/office/drawing/2014/main" val="10004"/>
                  </a:ext>
                </a:extLst>
              </a:tr>
              <a:tr h="260786">
                <a:tc>
                  <a:txBody>
                    <a:bodyPr/>
                    <a:lstStyle/>
                    <a:p>
                      <a:pPr algn="ctr"/>
                      <a:r>
                        <a:rPr lang="es-AR" sz="1600" b="1" dirty="0">
                          <a:solidFill>
                            <a:schemeClr val="tx1"/>
                          </a:solidFill>
                        </a:rPr>
                        <a:t>No hablan español</a:t>
                      </a:r>
                    </a:p>
                  </a:txBody>
                  <a:tcPr>
                    <a:solidFill>
                      <a:schemeClr val="accent1"/>
                    </a:solidFill>
                  </a:tcPr>
                </a:tc>
                <a:extLst>
                  <a:ext uri="{0D108BD9-81ED-4DB2-BD59-A6C34878D82A}">
                    <a16:rowId xmlns:a16="http://schemas.microsoft.com/office/drawing/2014/main" val="10005"/>
                  </a:ext>
                </a:extLst>
              </a:tr>
              <a:tr h="260786">
                <a:tc>
                  <a:txBody>
                    <a:bodyPr/>
                    <a:lstStyle/>
                    <a:p>
                      <a:pPr algn="ctr"/>
                      <a:r>
                        <a:rPr lang="es-AR" sz="1600" b="1" dirty="0">
                          <a:solidFill>
                            <a:schemeClr val="tx1"/>
                          </a:solidFill>
                        </a:rPr>
                        <a:t>Hablan español</a:t>
                      </a:r>
                    </a:p>
                  </a:txBody>
                  <a:tcPr>
                    <a:solidFill>
                      <a:schemeClr val="accent1"/>
                    </a:solidFill>
                  </a:tcPr>
                </a:tc>
                <a:extLst>
                  <a:ext uri="{0D108BD9-81ED-4DB2-BD59-A6C34878D82A}">
                    <a16:rowId xmlns:a16="http://schemas.microsoft.com/office/drawing/2014/main" val="10006"/>
                  </a:ext>
                </a:extLst>
              </a:tr>
              <a:tr h="260786">
                <a:tc>
                  <a:txBody>
                    <a:bodyPr/>
                    <a:lstStyle/>
                    <a:p>
                      <a:pPr algn="ctr"/>
                      <a:r>
                        <a:rPr lang="es-AR" sz="1600" b="1" dirty="0">
                          <a:solidFill>
                            <a:schemeClr val="tx1"/>
                          </a:solidFill>
                        </a:rPr>
                        <a:t>No hablan español</a:t>
                      </a:r>
                    </a:p>
                  </a:txBody>
                  <a:tcPr>
                    <a:solidFill>
                      <a:schemeClr val="accent1"/>
                    </a:solidFill>
                  </a:tcPr>
                </a:tc>
                <a:extLst>
                  <a:ext uri="{0D108BD9-81ED-4DB2-BD59-A6C34878D82A}">
                    <a16:rowId xmlns:a16="http://schemas.microsoft.com/office/drawing/2014/main" val="10007"/>
                  </a:ext>
                </a:extLst>
              </a:tr>
              <a:tr h="260786">
                <a:tc>
                  <a:txBody>
                    <a:bodyPr/>
                    <a:lstStyle/>
                    <a:p>
                      <a:pPr algn="ctr"/>
                      <a:r>
                        <a:rPr lang="es-AR" sz="1600" b="1" dirty="0">
                          <a:solidFill>
                            <a:schemeClr val="tx1"/>
                          </a:solidFill>
                        </a:rPr>
                        <a:t>Enero</a:t>
                      </a:r>
                    </a:p>
                  </a:txBody>
                  <a:tcPr>
                    <a:solidFill>
                      <a:schemeClr val="accent1"/>
                    </a:solidFill>
                  </a:tcPr>
                </a:tc>
                <a:extLst>
                  <a:ext uri="{0D108BD9-81ED-4DB2-BD59-A6C34878D82A}">
                    <a16:rowId xmlns:a16="http://schemas.microsoft.com/office/drawing/2014/main" val="10008"/>
                  </a:ext>
                </a:extLst>
              </a:tr>
              <a:tr h="260786">
                <a:tc>
                  <a:txBody>
                    <a:bodyPr/>
                    <a:lstStyle/>
                    <a:p>
                      <a:pPr algn="ctr"/>
                      <a:r>
                        <a:rPr lang="es-AR" sz="1600" dirty="0"/>
                        <a:t>10</a:t>
                      </a:r>
                    </a:p>
                  </a:txBody>
                  <a:tcPr>
                    <a:solidFill>
                      <a:schemeClr val="accent2">
                        <a:lumMod val="20000"/>
                        <a:lumOff val="80000"/>
                      </a:schemeClr>
                    </a:solidFill>
                  </a:tcPr>
                </a:tc>
                <a:extLst>
                  <a:ext uri="{0D108BD9-81ED-4DB2-BD59-A6C34878D82A}">
                    <a16:rowId xmlns:a16="http://schemas.microsoft.com/office/drawing/2014/main" val="10009"/>
                  </a:ext>
                </a:extLst>
              </a:tr>
              <a:tr h="260786">
                <a:tc>
                  <a:txBody>
                    <a:bodyPr/>
                    <a:lstStyle/>
                    <a:p>
                      <a:pPr algn="ctr"/>
                      <a:r>
                        <a:rPr lang="es-AR" sz="1600" dirty="0"/>
                        <a:t>0</a:t>
                      </a:r>
                    </a:p>
                  </a:txBody>
                  <a:tcPr>
                    <a:solidFill>
                      <a:schemeClr val="accent2">
                        <a:lumMod val="20000"/>
                        <a:lumOff val="80000"/>
                      </a:schemeClr>
                    </a:solidFill>
                  </a:tcPr>
                </a:tc>
                <a:extLst>
                  <a:ext uri="{0D108BD9-81ED-4DB2-BD59-A6C34878D82A}">
                    <a16:rowId xmlns:a16="http://schemas.microsoft.com/office/drawing/2014/main" val="10010"/>
                  </a:ext>
                </a:extLst>
              </a:tr>
              <a:tr h="260786">
                <a:tc>
                  <a:txBody>
                    <a:bodyPr/>
                    <a:lstStyle/>
                    <a:p>
                      <a:pPr algn="ctr"/>
                      <a:r>
                        <a:rPr lang="es-AR" sz="1600" dirty="0"/>
                        <a:t>15</a:t>
                      </a:r>
                    </a:p>
                  </a:txBody>
                  <a:tcPr>
                    <a:solidFill>
                      <a:schemeClr val="accent2">
                        <a:lumMod val="20000"/>
                        <a:lumOff val="80000"/>
                      </a:schemeClr>
                    </a:solidFill>
                  </a:tcPr>
                </a:tc>
                <a:extLst>
                  <a:ext uri="{0D108BD9-81ED-4DB2-BD59-A6C34878D82A}">
                    <a16:rowId xmlns:a16="http://schemas.microsoft.com/office/drawing/2014/main" val="10011"/>
                  </a:ext>
                </a:extLst>
              </a:tr>
              <a:tr h="260786">
                <a:tc>
                  <a:txBody>
                    <a:bodyPr/>
                    <a:lstStyle/>
                    <a:p>
                      <a:pPr algn="ctr"/>
                      <a:r>
                        <a:rPr lang="es-AR" sz="1600" dirty="0"/>
                        <a:t>5</a:t>
                      </a:r>
                    </a:p>
                  </a:txBody>
                  <a:tcPr>
                    <a:solidFill>
                      <a:schemeClr val="accent2">
                        <a:lumMod val="20000"/>
                        <a:lumOff val="80000"/>
                      </a:schemeClr>
                    </a:solidFill>
                  </a:tcPr>
                </a:tc>
                <a:extLst>
                  <a:ext uri="{0D108BD9-81ED-4DB2-BD59-A6C34878D82A}">
                    <a16:rowId xmlns:a16="http://schemas.microsoft.com/office/drawing/2014/main" val="10012"/>
                  </a:ext>
                </a:extLst>
              </a:tr>
              <a:tr h="260786">
                <a:tc>
                  <a:txBody>
                    <a:bodyPr/>
                    <a:lstStyle/>
                    <a:p>
                      <a:pPr algn="ctr"/>
                      <a:r>
                        <a:rPr lang="es-AR" sz="1600" b="1" dirty="0"/>
                        <a:t>Febrero</a:t>
                      </a:r>
                    </a:p>
                  </a:txBody>
                  <a:tcPr>
                    <a:solidFill>
                      <a:schemeClr val="accent1"/>
                    </a:solidFill>
                  </a:tcPr>
                </a:tc>
                <a:extLst>
                  <a:ext uri="{0D108BD9-81ED-4DB2-BD59-A6C34878D82A}">
                    <a16:rowId xmlns:a16="http://schemas.microsoft.com/office/drawing/2014/main" val="10013"/>
                  </a:ext>
                </a:extLst>
              </a:tr>
              <a:tr h="260786">
                <a:tc>
                  <a:txBody>
                    <a:bodyPr/>
                    <a:lstStyle/>
                    <a:p>
                      <a:pPr algn="ctr"/>
                      <a:r>
                        <a:rPr lang="es-AR" sz="1600" dirty="0"/>
                        <a:t>11</a:t>
                      </a:r>
                    </a:p>
                  </a:txBody>
                  <a:tcPr>
                    <a:solidFill>
                      <a:schemeClr val="accent2">
                        <a:lumMod val="20000"/>
                        <a:lumOff val="80000"/>
                      </a:schemeClr>
                    </a:solidFill>
                  </a:tcPr>
                </a:tc>
                <a:extLst>
                  <a:ext uri="{0D108BD9-81ED-4DB2-BD59-A6C34878D82A}">
                    <a16:rowId xmlns:a16="http://schemas.microsoft.com/office/drawing/2014/main" val="10014"/>
                  </a:ext>
                </a:extLst>
              </a:tr>
              <a:tr h="260786">
                <a:tc>
                  <a:txBody>
                    <a:bodyPr/>
                    <a:lstStyle/>
                    <a:p>
                      <a:pPr algn="ctr"/>
                      <a:r>
                        <a:rPr lang="es-AR" sz="1600" dirty="0"/>
                        <a:t>0</a:t>
                      </a:r>
                    </a:p>
                  </a:txBody>
                  <a:tcPr>
                    <a:solidFill>
                      <a:schemeClr val="accent2">
                        <a:lumMod val="20000"/>
                        <a:lumOff val="80000"/>
                      </a:schemeClr>
                    </a:solidFill>
                  </a:tcPr>
                </a:tc>
                <a:extLst>
                  <a:ext uri="{0D108BD9-81ED-4DB2-BD59-A6C34878D82A}">
                    <a16:rowId xmlns:a16="http://schemas.microsoft.com/office/drawing/2014/main" val="10015"/>
                  </a:ext>
                </a:extLst>
              </a:tr>
              <a:tr h="260786">
                <a:tc>
                  <a:txBody>
                    <a:bodyPr/>
                    <a:lstStyle/>
                    <a:p>
                      <a:pPr algn="ctr"/>
                      <a:r>
                        <a:rPr lang="es-AR" sz="1600" dirty="0"/>
                        <a:t>20</a:t>
                      </a:r>
                    </a:p>
                  </a:txBody>
                  <a:tcPr>
                    <a:solidFill>
                      <a:schemeClr val="accent2">
                        <a:lumMod val="20000"/>
                        <a:lumOff val="80000"/>
                      </a:schemeClr>
                    </a:solidFill>
                  </a:tcPr>
                </a:tc>
                <a:extLst>
                  <a:ext uri="{0D108BD9-81ED-4DB2-BD59-A6C34878D82A}">
                    <a16:rowId xmlns:a16="http://schemas.microsoft.com/office/drawing/2014/main" val="10016"/>
                  </a:ext>
                </a:extLst>
              </a:tr>
              <a:tr h="260786">
                <a:tc>
                  <a:txBody>
                    <a:bodyPr/>
                    <a:lstStyle/>
                    <a:p>
                      <a:pPr algn="ctr"/>
                      <a:r>
                        <a:rPr lang="es-AR" sz="1600" dirty="0"/>
                        <a:t>2</a:t>
                      </a:r>
                    </a:p>
                  </a:txBody>
                  <a:tcPr>
                    <a:solidFill>
                      <a:schemeClr val="accent2">
                        <a:lumMod val="20000"/>
                        <a:lumOff val="80000"/>
                      </a:schemeClr>
                    </a:solidFill>
                  </a:tcPr>
                </a:tc>
                <a:extLst>
                  <a:ext uri="{0D108BD9-81ED-4DB2-BD59-A6C34878D82A}">
                    <a16:rowId xmlns:a16="http://schemas.microsoft.com/office/drawing/2014/main" val="10017"/>
                  </a:ext>
                </a:extLst>
              </a:tr>
            </a:tbl>
          </a:graphicData>
        </a:graphic>
      </p:graphicFrame>
      <p:pic>
        <p:nvPicPr>
          <p:cNvPr id="9" name="Picture 2"/>
          <p:cNvPicPr>
            <a:picLocks noChangeAspect="1" noChangeArrowheads="1"/>
          </p:cNvPicPr>
          <p:nvPr/>
        </p:nvPicPr>
        <p:blipFill>
          <a:blip r:embed="rId3" cstate="print"/>
          <a:srcRect/>
          <a:stretch>
            <a:fillRect/>
          </a:stretch>
        </p:blipFill>
        <p:spPr bwMode="auto">
          <a:xfrm>
            <a:off x="5456003" y="4149037"/>
            <a:ext cx="398333" cy="413178"/>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43</a:t>
            </a:fld>
            <a:endParaRPr lang="es-ES" altLang="es-AR" dirty="0"/>
          </a:p>
        </p:txBody>
      </p:sp>
    </p:spTree>
    <p:extLst>
      <p:ext uri="{BB962C8B-B14F-4D97-AF65-F5344CB8AC3E}">
        <p14:creationId xmlns:p14="http://schemas.microsoft.com/office/powerpoint/2010/main" val="1480339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4933872" cy="1440879"/>
          </a:xfrm>
        </p:spPr>
        <p:txBody>
          <a:bodyPr/>
          <a:lstStyle/>
          <a:p>
            <a:pPr>
              <a:lnSpc>
                <a:spcPct val="90000"/>
              </a:lnSpc>
            </a:pPr>
            <a:r>
              <a:rPr lang="es-AR" dirty="0"/>
              <a:t>Tablas</a:t>
            </a:r>
          </a:p>
          <a:p>
            <a:pPr marL="0" indent="0">
              <a:lnSpc>
                <a:spcPct val="90000"/>
              </a:lnSpc>
              <a:buNone/>
            </a:pPr>
            <a:endParaRPr lang="es-AR" dirty="0"/>
          </a:p>
          <a:p>
            <a:pPr lvl="1" algn="just">
              <a:lnSpc>
                <a:spcPct val="90000"/>
              </a:lnSpc>
            </a:pPr>
            <a:r>
              <a:rPr lang="es-AR" dirty="0"/>
              <a:t>¿Cómo se leen las tablas?</a:t>
            </a:r>
          </a:p>
          <a:p>
            <a:pPr lvl="1">
              <a:lnSpc>
                <a:spcPct val="90000"/>
              </a:lnSpc>
              <a:buNone/>
            </a:pPr>
            <a:r>
              <a:rPr lang="es-AR" i="1" dirty="0"/>
              <a:t>Visitantes de rrrr.com por países</a:t>
            </a:r>
          </a:p>
          <a:p>
            <a:pPr lvl="2" algn="just">
              <a:lnSpc>
                <a:spcPct val="90000"/>
              </a:lnSpc>
              <a:buNone/>
            </a:pPr>
            <a:endParaRPr lang="es-AR" dirty="0"/>
          </a:p>
        </p:txBody>
      </p:sp>
      <p:graphicFrame>
        <p:nvGraphicFramePr>
          <p:cNvPr id="6" name="3 Tabla"/>
          <p:cNvGraphicFramePr>
            <a:graphicFrameLocks noGrp="1"/>
          </p:cNvGraphicFramePr>
          <p:nvPr/>
        </p:nvGraphicFramePr>
        <p:xfrm>
          <a:off x="611560" y="3403225"/>
          <a:ext cx="4752525" cy="1904803"/>
        </p:xfrm>
        <a:graphic>
          <a:graphicData uri="http://schemas.openxmlformats.org/drawingml/2006/table">
            <a:tbl>
              <a:tblPr firstRow="1" bandRow="1">
                <a:tableStyleId>{5C22544A-7EE6-4342-B048-85BDC9FD1C3A}</a:tableStyleId>
              </a:tblPr>
              <a:tblGrid>
                <a:gridCol w="950505">
                  <a:extLst>
                    <a:ext uri="{9D8B030D-6E8A-4147-A177-3AD203B41FA5}">
                      <a16:colId xmlns:a16="http://schemas.microsoft.com/office/drawing/2014/main" val="20000"/>
                    </a:ext>
                  </a:extLst>
                </a:gridCol>
                <a:gridCol w="950505">
                  <a:extLst>
                    <a:ext uri="{9D8B030D-6E8A-4147-A177-3AD203B41FA5}">
                      <a16:colId xmlns:a16="http://schemas.microsoft.com/office/drawing/2014/main" val="20001"/>
                    </a:ext>
                  </a:extLst>
                </a:gridCol>
                <a:gridCol w="950505">
                  <a:extLst>
                    <a:ext uri="{9D8B030D-6E8A-4147-A177-3AD203B41FA5}">
                      <a16:colId xmlns:a16="http://schemas.microsoft.com/office/drawing/2014/main" val="20002"/>
                    </a:ext>
                  </a:extLst>
                </a:gridCol>
                <a:gridCol w="950505">
                  <a:extLst>
                    <a:ext uri="{9D8B030D-6E8A-4147-A177-3AD203B41FA5}">
                      <a16:colId xmlns:a16="http://schemas.microsoft.com/office/drawing/2014/main" val="20003"/>
                    </a:ext>
                  </a:extLst>
                </a:gridCol>
                <a:gridCol w="950505">
                  <a:extLst>
                    <a:ext uri="{9D8B030D-6E8A-4147-A177-3AD203B41FA5}">
                      <a16:colId xmlns:a16="http://schemas.microsoft.com/office/drawing/2014/main" val="20004"/>
                    </a:ext>
                  </a:extLst>
                </a:gridCol>
              </a:tblGrid>
              <a:tr h="343923">
                <a:tc rowSpan="2">
                  <a:txBody>
                    <a:bodyPr/>
                    <a:lstStyle/>
                    <a:p>
                      <a:pPr algn="ctr"/>
                      <a:r>
                        <a:rPr lang="es-AR" sz="1600" dirty="0">
                          <a:solidFill>
                            <a:schemeClr val="tx1"/>
                          </a:solidFill>
                        </a:rPr>
                        <a:t>MES</a:t>
                      </a:r>
                    </a:p>
                  </a:txBody>
                  <a:tcPr anchor="ctr"/>
                </a:tc>
                <a:tc gridSpan="2">
                  <a:txBody>
                    <a:bodyPr/>
                    <a:lstStyle/>
                    <a:p>
                      <a:pPr algn="ctr"/>
                      <a:r>
                        <a:rPr lang="es-AR" sz="1600" dirty="0">
                          <a:solidFill>
                            <a:schemeClr val="tx1"/>
                          </a:solidFill>
                        </a:rPr>
                        <a:t>ARGENTINA</a:t>
                      </a:r>
                    </a:p>
                  </a:txBody>
                  <a:tcPr/>
                </a:tc>
                <a:tc hMerge="1">
                  <a:txBody>
                    <a:bodyPr/>
                    <a:lstStyle/>
                    <a:p>
                      <a:endParaRPr lang="es-AR" dirty="0"/>
                    </a:p>
                  </a:txBody>
                  <a:tcPr/>
                </a:tc>
                <a:tc gridSpan="2">
                  <a:txBody>
                    <a:bodyPr/>
                    <a:lstStyle/>
                    <a:p>
                      <a:pPr algn="ctr"/>
                      <a:r>
                        <a:rPr lang="es-AR" sz="1600" dirty="0">
                          <a:solidFill>
                            <a:schemeClr val="tx1"/>
                          </a:solidFill>
                        </a:rPr>
                        <a:t>CHILE</a:t>
                      </a:r>
                    </a:p>
                  </a:txBody>
                  <a:tcPr/>
                </a:tc>
                <a:tc hMerge="1">
                  <a:txBody>
                    <a:bodyPr/>
                    <a:lstStyle/>
                    <a:p>
                      <a:endParaRPr lang="es-AR" dirty="0"/>
                    </a:p>
                  </a:txBody>
                  <a:tcPr/>
                </a:tc>
                <a:extLst>
                  <a:ext uri="{0D108BD9-81ED-4DB2-BD59-A6C34878D82A}">
                    <a16:rowId xmlns:a16="http://schemas.microsoft.com/office/drawing/2014/main" val="10000"/>
                  </a:ext>
                </a:extLst>
              </a:tr>
              <a:tr h="873034">
                <a:tc vMerge="1">
                  <a:txBody>
                    <a:bodyPr/>
                    <a:lstStyle/>
                    <a:p>
                      <a:endParaRPr lang="es-AR" dirty="0"/>
                    </a:p>
                  </a:txBody>
                  <a:tcPr/>
                </a:tc>
                <a:tc>
                  <a:txBody>
                    <a:bodyPr/>
                    <a:lstStyle/>
                    <a:p>
                      <a:pPr algn="ctr"/>
                      <a:r>
                        <a:rPr lang="es-AR" sz="1600" b="1" dirty="0">
                          <a:solidFill>
                            <a:schemeClr val="tx1"/>
                          </a:solidFill>
                        </a:rPr>
                        <a:t>Hablan español</a:t>
                      </a:r>
                    </a:p>
                  </a:txBody>
                  <a:tcPr>
                    <a:solidFill>
                      <a:schemeClr val="accent1"/>
                    </a:solidFill>
                  </a:tcPr>
                </a:tc>
                <a:tc>
                  <a:txBody>
                    <a:bodyPr/>
                    <a:lstStyle/>
                    <a:p>
                      <a:pPr algn="ctr"/>
                      <a:r>
                        <a:rPr lang="es-AR" sz="1600" b="1" dirty="0">
                          <a:solidFill>
                            <a:schemeClr val="tx1"/>
                          </a:solidFill>
                        </a:rPr>
                        <a:t>No hablan español</a:t>
                      </a:r>
                    </a:p>
                  </a:txBody>
                  <a:tcPr>
                    <a:solidFill>
                      <a:schemeClr val="accent1"/>
                    </a:solidFill>
                  </a:tcPr>
                </a:tc>
                <a:tc>
                  <a:txBody>
                    <a:bodyPr/>
                    <a:lstStyle/>
                    <a:p>
                      <a:pPr algn="ctr"/>
                      <a:r>
                        <a:rPr lang="es-AR" sz="1600" b="1" dirty="0">
                          <a:solidFill>
                            <a:schemeClr val="tx1"/>
                          </a:solidFill>
                        </a:rPr>
                        <a:t>Hablan</a:t>
                      </a:r>
                      <a:r>
                        <a:rPr lang="es-AR" sz="1600" b="1" baseline="0" dirty="0">
                          <a:solidFill>
                            <a:schemeClr val="tx1"/>
                          </a:solidFill>
                        </a:rPr>
                        <a:t> español</a:t>
                      </a:r>
                      <a:endParaRPr lang="es-AR" sz="1600" b="1" dirty="0">
                        <a:solidFill>
                          <a:schemeClr val="tx1"/>
                        </a:solidFill>
                      </a:endParaRPr>
                    </a:p>
                  </a:txBody>
                  <a:tcPr>
                    <a:solidFill>
                      <a:schemeClr val="accent1"/>
                    </a:solidFill>
                  </a:tcPr>
                </a:tc>
                <a:tc>
                  <a:txBody>
                    <a:bodyPr/>
                    <a:lstStyle/>
                    <a:p>
                      <a:pPr algn="ctr"/>
                      <a:r>
                        <a:rPr lang="es-AR" sz="1600" b="1" dirty="0">
                          <a:solidFill>
                            <a:schemeClr val="tx1"/>
                          </a:solidFill>
                        </a:rPr>
                        <a:t>No hablan español</a:t>
                      </a:r>
                    </a:p>
                  </a:txBody>
                  <a:tcPr>
                    <a:solidFill>
                      <a:schemeClr val="accent1"/>
                    </a:solidFill>
                  </a:tcPr>
                </a:tc>
                <a:extLst>
                  <a:ext uri="{0D108BD9-81ED-4DB2-BD59-A6C34878D82A}">
                    <a16:rowId xmlns:a16="http://schemas.microsoft.com/office/drawing/2014/main" val="10001"/>
                  </a:ext>
                </a:extLst>
              </a:tr>
              <a:tr h="343923">
                <a:tc>
                  <a:txBody>
                    <a:bodyPr/>
                    <a:lstStyle/>
                    <a:p>
                      <a:r>
                        <a:rPr lang="es-AR" sz="1600" b="1" dirty="0">
                          <a:solidFill>
                            <a:schemeClr val="tx1"/>
                          </a:solidFill>
                        </a:rPr>
                        <a:t>Enero</a:t>
                      </a:r>
                    </a:p>
                  </a:txBody>
                  <a:tcPr>
                    <a:solidFill>
                      <a:schemeClr val="accent1"/>
                    </a:solidFill>
                  </a:tcPr>
                </a:tc>
                <a:tc>
                  <a:txBody>
                    <a:bodyPr/>
                    <a:lstStyle/>
                    <a:p>
                      <a:r>
                        <a:rPr lang="es-AR" sz="1600" dirty="0">
                          <a:solidFill>
                            <a:schemeClr val="tx1"/>
                          </a:solidFill>
                        </a:rPr>
                        <a:t>10</a:t>
                      </a:r>
                    </a:p>
                  </a:txBody>
                  <a:tcPr/>
                </a:tc>
                <a:tc>
                  <a:txBody>
                    <a:bodyPr/>
                    <a:lstStyle/>
                    <a:p>
                      <a:r>
                        <a:rPr lang="es-AR" sz="1600" dirty="0">
                          <a:solidFill>
                            <a:schemeClr val="tx1"/>
                          </a:solidFill>
                        </a:rPr>
                        <a:t>0</a:t>
                      </a:r>
                    </a:p>
                  </a:txBody>
                  <a:tcPr/>
                </a:tc>
                <a:tc>
                  <a:txBody>
                    <a:bodyPr/>
                    <a:lstStyle/>
                    <a:p>
                      <a:r>
                        <a:rPr lang="es-AR" sz="1600" dirty="0">
                          <a:solidFill>
                            <a:schemeClr val="tx1"/>
                          </a:solidFill>
                        </a:rPr>
                        <a:t>15</a:t>
                      </a:r>
                    </a:p>
                  </a:txBody>
                  <a:tcPr/>
                </a:tc>
                <a:tc>
                  <a:txBody>
                    <a:bodyPr/>
                    <a:lstStyle/>
                    <a:p>
                      <a:r>
                        <a:rPr lang="es-AR" sz="1600" dirty="0">
                          <a:solidFill>
                            <a:schemeClr val="tx1"/>
                          </a:solidFill>
                        </a:rPr>
                        <a:t>5</a:t>
                      </a:r>
                    </a:p>
                  </a:txBody>
                  <a:tcPr/>
                </a:tc>
                <a:extLst>
                  <a:ext uri="{0D108BD9-81ED-4DB2-BD59-A6C34878D82A}">
                    <a16:rowId xmlns:a16="http://schemas.microsoft.com/office/drawing/2014/main" val="10002"/>
                  </a:ext>
                </a:extLst>
              </a:tr>
              <a:tr h="343923">
                <a:tc>
                  <a:txBody>
                    <a:bodyPr/>
                    <a:lstStyle/>
                    <a:p>
                      <a:r>
                        <a:rPr lang="es-AR" sz="1600" b="1" dirty="0">
                          <a:solidFill>
                            <a:schemeClr val="tx1"/>
                          </a:solidFill>
                        </a:rPr>
                        <a:t>Febrero</a:t>
                      </a:r>
                    </a:p>
                  </a:txBody>
                  <a:tcPr>
                    <a:solidFill>
                      <a:schemeClr val="accent1"/>
                    </a:solidFill>
                  </a:tcPr>
                </a:tc>
                <a:tc>
                  <a:txBody>
                    <a:bodyPr/>
                    <a:lstStyle/>
                    <a:p>
                      <a:r>
                        <a:rPr lang="es-AR" sz="1600" dirty="0">
                          <a:solidFill>
                            <a:schemeClr val="tx1"/>
                          </a:solidFill>
                        </a:rPr>
                        <a:t>11</a:t>
                      </a:r>
                    </a:p>
                  </a:txBody>
                  <a:tcPr/>
                </a:tc>
                <a:tc>
                  <a:txBody>
                    <a:bodyPr/>
                    <a:lstStyle/>
                    <a:p>
                      <a:r>
                        <a:rPr lang="es-AR" sz="1600" dirty="0">
                          <a:solidFill>
                            <a:schemeClr val="tx1"/>
                          </a:solidFill>
                        </a:rPr>
                        <a:t>0</a:t>
                      </a:r>
                    </a:p>
                  </a:txBody>
                  <a:tcPr/>
                </a:tc>
                <a:tc>
                  <a:txBody>
                    <a:bodyPr/>
                    <a:lstStyle/>
                    <a:p>
                      <a:r>
                        <a:rPr lang="es-AR" sz="1600" dirty="0">
                          <a:solidFill>
                            <a:schemeClr val="tx1"/>
                          </a:solidFill>
                        </a:rPr>
                        <a:t>20</a:t>
                      </a:r>
                    </a:p>
                  </a:txBody>
                  <a:tcPr/>
                </a:tc>
                <a:tc>
                  <a:txBody>
                    <a:bodyPr/>
                    <a:lstStyle/>
                    <a:p>
                      <a:r>
                        <a:rPr lang="es-AR" sz="1600" dirty="0">
                          <a:solidFill>
                            <a:schemeClr val="tx1"/>
                          </a:solidFill>
                        </a:rPr>
                        <a:t>2</a:t>
                      </a:r>
                    </a:p>
                  </a:txBody>
                  <a:tcPr/>
                </a:tc>
                <a:extLst>
                  <a:ext uri="{0D108BD9-81ED-4DB2-BD59-A6C34878D82A}">
                    <a16:rowId xmlns:a16="http://schemas.microsoft.com/office/drawing/2014/main" val="10003"/>
                  </a:ext>
                </a:extLst>
              </a:tr>
            </a:tbl>
          </a:graphicData>
        </a:graphic>
      </p:graphicFrame>
      <p:sp>
        <p:nvSpPr>
          <p:cNvPr id="7" name="2 Marcador de contenido"/>
          <p:cNvSpPr txBox="1">
            <a:spLocks/>
          </p:cNvSpPr>
          <p:nvPr/>
        </p:nvSpPr>
        <p:spPr bwMode="auto">
          <a:xfrm>
            <a:off x="1854831" y="5733256"/>
            <a:ext cx="2265982" cy="432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cs typeface="+mn-cs"/>
              </a:defRPr>
            </a:lvl2pPr>
            <a:lvl3pPr marL="1143000" indent="-228600" algn="l" rtl="0" eaLnBrk="0" fontAlgn="base" hangingPunct="0">
              <a:spcBef>
                <a:spcPct val="20000"/>
              </a:spcBef>
              <a:spcAft>
                <a:spcPct val="0"/>
              </a:spcAft>
              <a:buChar char="•"/>
              <a:defRPr sz="20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114300" indent="0" algn="just">
              <a:lnSpc>
                <a:spcPct val="90000"/>
              </a:lnSpc>
              <a:buNone/>
            </a:pPr>
            <a:r>
              <a:rPr lang="es-AR" b="1" dirty="0">
                <a:solidFill>
                  <a:srgbClr val="00B050"/>
                </a:solidFill>
              </a:rPr>
              <a:t>ACCESIBLE</a:t>
            </a:r>
            <a:endParaRPr lang="es-AR" b="1" kern="0" dirty="0">
              <a:solidFill>
                <a:srgbClr val="00B050"/>
              </a:solidFill>
            </a:endParaRPr>
          </a:p>
        </p:txBody>
      </p:sp>
      <p:pic>
        <p:nvPicPr>
          <p:cNvPr id="9" name="Picture 2"/>
          <p:cNvPicPr>
            <a:picLocks noChangeAspect="1" noChangeArrowheads="1"/>
          </p:cNvPicPr>
          <p:nvPr/>
        </p:nvPicPr>
        <p:blipFill>
          <a:blip r:embed="rId3" cstate="print"/>
          <a:srcRect/>
          <a:stretch>
            <a:fillRect/>
          </a:stretch>
        </p:blipFill>
        <p:spPr bwMode="auto">
          <a:xfrm>
            <a:off x="5456003" y="4149037"/>
            <a:ext cx="398333" cy="413178"/>
          </a:xfrm>
          <a:prstGeom prst="rect">
            <a:avLst/>
          </a:prstGeom>
          <a:noFill/>
          <a:ln w="9525">
            <a:noFill/>
            <a:miter lim="800000"/>
            <a:headEnd/>
            <a:tailEnd/>
          </a:ln>
          <a:effectLst/>
        </p:spPr>
      </p:pic>
      <p:graphicFrame>
        <p:nvGraphicFramePr>
          <p:cNvPr id="10" name="5 Tabla"/>
          <p:cNvGraphicFramePr>
            <a:graphicFrameLocks noGrp="1"/>
          </p:cNvGraphicFramePr>
          <p:nvPr>
            <p:extLst>
              <p:ext uri="{D42A27DB-BD31-4B8C-83A1-F6EECF244321}">
                <p14:modId xmlns:p14="http://schemas.microsoft.com/office/powerpoint/2010/main" val="1699124093"/>
              </p:ext>
            </p:extLst>
          </p:nvPr>
        </p:nvGraphicFramePr>
        <p:xfrm>
          <a:off x="5854336" y="709381"/>
          <a:ext cx="3293035" cy="5887970"/>
        </p:xfrm>
        <a:graphic>
          <a:graphicData uri="http://schemas.openxmlformats.org/drawingml/2006/table">
            <a:tbl>
              <a:tblPr firstRow="1" bandRow="1">
                <a:tableStyleId>{5C22544A-7EE6-4342-B048-85BDC9FD1C3A}</a:tableStyleId>
              </a:tblPr>
              <a:tblGrid>
                <a:gridCol w="3293035">
                  <a:extLst>
                    <a:ext uri="{9D8B030D-6E8A-4147-A177-3AD203B41FA5}">
                      <a16:colId xmlns:a16="http://schemas.microsoft.com/office/drawing/2014/main" val="20000"/>
                    </a:ext>
                  </a:extLst>
                </a:gridCol>
              </a:tblGrid>
              <a:tr h="756555">
                <a:tc>
                  <a:txBody>
                    <a:bodyPr/>
                    <a:lstStyle/>
                    <a:p>
                      <a:pPr algn="l">
                        <a:buFont typeface="Arial" pitchFamily="34" charset="0"/>
                        <a:buChar char="•"/>
                      </a:pPr>
                      <a:r>
                        <a:rPr lang="es-AR" sz="2000" dirty="0">
                          <a:solidFill>
                            <a:schemeClr val="tx1"/>
                          </a:solidFill>
                        </a:rPr>
                        <a:t> </a:t>
                      </a:r>
                      <a:r>
                        <a:rPr lang="es-AR" sz="2000" dirty="0" err="1">
                          <a:solidFill>
                            <a:schemeClr val="tx1"/>
                          </a:solidFill>
                        </a:rPr>
                        <a:t>Caption</a:t>
                      </a:r>
                      <a:r>
                        <a:rPr lang="es-AR" sz="2000" dirty="0">
                          <a:solidFill>
                            <a:schemeClr val="tx1"/>
                          </a:solidFill>
                        </a:rPr>
                        <a:t>: </a:t>
                      </a:r>
                      <a:r>
                        <a:rPr lang="es-AR" sz="2000" b="0" dirty="0">
                          <a:solidFill>
                            <a:schemeClr val="tx1"/>
                          </a:solidFill>
                        </a:rPr>
                        <a:t>Visitantes</a:t>
                      </a:r>
                      <a:r>
                        <a:rPr lang="es-AR" sz="2000" b="0" baseline="0" dirty="0">
                          <a:solidFill>
                            <a:schemeClr val="tx1"/>
                          </a:solidFill>
                        </a:rPr>
                        <a:t> de rrrr.com por países.</a:t>
                      </a:r>
                      <a:endParaRPr lang="es-AR" sz="2000" b="0" dirty="0">
                        <a:solidFill>
                          <a:schemeClr val="tx1"/>
                        </a:solidFill>
                      </a:endParaRPr>
                    </a:p>
                  </a:txBody>
                  <a:tcPr>
                    <a:solidFill>
                      <a:schemeClr val="bg1"/>
                    </a:solidFill>
                  </a:tcPr>
                </a:tc>
                <a:extLst>
                  <a:ext uri="{0D108BD9-81ED-4DB2-BD59-A6C34878D82A}">
                    <a16:rowId xmlns:a16="http://schemas.microsoft.com/office/drawing/2014/main" val="10000"/>
                  </a:ext>
                </a:extLst>
              </a:tr>
              <a:tr h="2401239">
                <a:tc>
                  <a:txBody>
                    <a:bodyPr/>
                    <a:lstStyle/>
                    <a:p>
                      <a:pPr algn="l">
                        <a:buFont typeface="Arial" pitchFamily="34" charset="0"/>
                        <a:buChar char="•"/>
                      </a:pPr>
                      <a:r>
                        <a:rPr lang="es-AR" sz="2000" b="1" dirty="0">
                          <a:solidFill>
                            <a:schemeClr val="tx1"/>
                          </a:solidFill>
                        </a:rPr>
                        <a:t> </a:t>
                      </a:r>
                      <a:r>
                        <a:rPr lang="es-AR" sz="2000" b="1" dirty="0" err="1">
                          <a:solidFill>
                            <a:schemeClr val="tx1"/>
                          </a:solidFill>
                        </a:rPr>
                        <a:t>Summary</a:t>
                      </a:r>
                      <a:r>
                        <a:rPr lang="es-AR" sz="2000" dirty="0">
                          <a:solidFill>
                            <a:schemeClr val="tx1"/>
                          </a:solidFill>
                        </a:rPr>
                        <a:t>:</a:t>
                      </a:r>
                      <a:r>
                        <a:rPr lang="es-AR" sz="2000" baseline="0" dirty="0">
                          <a:solidFill>
                            <a:schemeClr val="tx1"/>
                          </a:solidFill>
                        </a:rPr>
                        <a:t> Visitantes que hemos tenido en rrrr.com clasificados por países y meses. De cada país se indica que número de usuarios hablan español y cuales no.</a:t>
                      </a:r>
                      <a:endParaRPr lang="es-AR" sz="2000" dirty="0">
                        <a:solidFill>
                          <a:schemeClr val="tx1"/>
                        </a:solidFill>
                      </a:endParaRPr>
                    </a:p>
                  </a:txBody>
                  <a:tcPr>
                    <a:solidFill>
                      <a:schemeClr val="bg1"/>
                    </a:solidFill>
                  </a:tcPr>
                </a:tc>
                <a:extLst>
                  <a:ext uri="{0D108BD9-81ED-4DB2-BD59-A6C34878D82A}">
                    <a16:rowId xmlns:a16="http://schemas.microsoft.com/office/drawing/2014/main" val="10001"/>
                  </a:ext>
                </a:extLst>
              </a:tr>
              <a:tr h="2730176">
                <a:tc>
                  <a:txBody>
                    <a:bodyPr/>
                    <a:lstStyle/>
                    <a:p>
                      <a:pPr algn="l">
                        <a:buFont typeface="Arial" pitchFamily="34" charset="0"/>
                        <a:buChar char="•"/>
                      </a:pPr>
                      <a:r>
                        <a:rPr lang="es-AR" sz="2000" baseline="0" dirty="0">
                          <a:solidFill>
                            <a:schemeClr val="tx1"/>
                          </a:solidFill>
                        </a:rPr>
                        <a:t> Argentina, si, Enero=10, Argentina, no, Enero=0, Chile, si, Enero=15, Chile, no, Enero=5, Argentina, si, Febrero=11, Argentina, no, Febrero=0, Chile, si, Febrero=20, Chile, no, Febrero=2</a:t>
                      </a:r>
                      <a:endParaRPr lang="es-AR" sz="2000" dirty="0">
                        <a:solidFill>
                          <a:schemeClr val="tx1"/>
                        </a:solidFill>
                      </a:endParaRPr>
                    </a:p>
                  </a:txBody>
                  <a:tcPr>
                    <a:solidFill>
                      <a:schemeClr val="bg1"/>
                    </a:solidFill>
                  </a:tcPr>
                </a:tc>
                <a:extLst>
                  <a:ext uri="{0D108BD9-81ED-4DB2-BD59-A6C34878D82A}">
                    <a16:rowId xmlns:a16="http://schemas.microsoft.com/office/drawing/2014/main" val="10002"/>
                  </a:ext>
                </a:extLst>
              </a:tr>
            </a:tbl>
          </a:graphicData>
        </a:graphic>
      </p:graphicFrame>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44</a:t>
            </a:fld>
            <a:endParaRPr lang="es-ES" altLang="es-AR" dirty="0"/>
          </a:p>
        </p:txBody>
      </p:sp>
    </p:spTree>
    <p:extLst>
      <p:ext uri="{BB962C8B-B14F-4D97-AF65-F5344CB8AC3E}">
        <p14:creationId xmlns:p14="http://schemas.microsoft.com/office/powerpoint/2010/main" val="4597577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Tablas</a:t>
            </a:r>
          </a:p>
          <a:p>
            <a:pPr lvl="1" algn="just">
              <a:lnSpc>
                <a:spcPct val="90000"/>
              </a:lnSpc>
            </a:pPr>
            <a:r>
              <a:rPr lang="es-AR" dirty="0"/>
              <a:t>¿Cómo se hacen las tablas accesibles?</a:t>
            </a:r>
          </a:p>
          <a:p>
            <a:pPr lvl="2" algn="just">
              <a:lnSpc>
                <a:spcPct val="90000"/>
              </a:lnSpc>
            </a:pPr>
            <a:r>
              <a:rPr lang="es-AR" b="1" dirty="0"/>
              <a:t>1.3.1 Información y relaciones. </a:t>
            </a:r>
            <a:r>
              <a:rPr lang="es-AR" dirty="0"/>
              <a:t>Técnicas suficientes:</a:t>
            </a:r>
          </a:p>
          <a:p>
            <a:pPr lvl="3"/>
            <a:r>
              <a:rPr lang="es-AR" b="1" dirty="0"/>
              <a:t>H51</a:t>
            </a:r>
            <a:r>
              <a:rPr lang="es-AR" dirty="0"/>
              <a:t> Usar tablas para presentar información tabular.</a:t>
            </a:r>
          </a:p>
          <a:p>
            <a:pPr lvl="3"/>
            <a:r>
              <a:rPr lang="es-AR" b="1" dirty="0"/>
              <a:t>H39</a:t>
            </a:r>
            <a:r>
              <a:rPr lang="es-AR" dirty="0"/>
              <a:t> Usar elementos </a:t>
            </a:r>
            <a:r>
              <a:rPr lang="es-AR" b="1" dirty="0" err="1"/>
              <a:t>caption</a:t>
            </a:r>
            <a:r>
              <a:rPr lang="es-AR" dirty="0"/>
              <a:t> para asociar títulos de tabla con las tabla de datos.</a:t>
            </a:r>
          </a:p>
          <a:p>
            <a:pPr lvl="3"/>
            <a:r>
              <a:rPr lang="es-AR" b="1" dirty="0"/>
              <a:t>H73</a:t>
            </a:r>
            <a:r>
              <a:rPr lang="es-AR" dirty="0"/>
              <a:t> Usar el atributo </a:t>
            </a:r>
            <a:r>
              <a:rPr lang="es-AR" b="1" dirty="0" err="1"/>
              <a:t>summary</a:t>
            </a:r>
            <a:r>
              <a:rPr lang="es-AR" dirty="0"/>
              <a:t> del elemento </a:t>
            </a:r>
            <a:r>
              <a:rPr lang="es-AR" b="1" dirty="0" err="1"/>
              <a:t>table</a:t>
            </a:r>
            <a:r>
              <a:rPr lang="es-AR" dirty="0"/>
              <a:t> para proporcionar un resumen a la tabla de datos.</a:t>
            </a:r>
          </a:p>
          <a:p>
            <a:pPr lvl="3"/>
            <a:r>
              <a:rPr lang="es-AR" b="1" dirty="0"/>
              <a:t>H63</a:t>
            </a:r>
            <a:r>
              <a:rPr lang="es-AR" dirty="0"/>
              <a:t> Usar el atributo </a:t>
            </a:r>
            <a:r>
              <a:rPr lang="es-AR" b="1" dirty="0" err="1"/>
              <a:t>scope</a:t>
            </a:r>
            <a:r>
              <a:rPr lang="es-AR" dirty="0"/>
              <a:t> para asociar celdas de encabezado y celdas de datos en las tablas de datos.</a:t>
            </a:r>
          </a:p>
          <a:p>
            <a:pPr lvl="3"/>
            <a:r>
              <a:rPr lang="es-AR" b="1" dirty="0"/>
              <a:t>H43</a:t>
            </a:r>
            <a:r>
              <a:rPr lang="es-AR" dirty="0"/>
              <a:t> Usar el atributo </a:t>
            </a:r>
            <a:r>
              <a:rPr lang="es-AR" b="1" dirty="0"/>
              <a:t>id</a:t>
            </a:r>
            <a:r>
              <a:rPr lang="es-AR" dirty="0"/>
              <a:t> y </a:t>
            </a:r>
            <a:r>
              <a:rPr lang="es-AR" b="1" dirty="0" err="1"/>
              <a:t>headers</a:t>
            </a:r>
            <a:r>
              <a:rPr lang="es-AR" dirty="0"/>
              <a:t> para asociar las celdas de datos con las celdas de encabezado en las tablas de datos.</a:t>
            </a:r>
            <a:endParaRPr lang="es-AR" b="1" dirty="0">
              <a:solidFill>
                <a:srgbClr val="00B050"/>
              </a:solidFill>
            </a:endParaRPr>
          </a:p>
          <a:p>
            <a:pPr lvl="2" algn="just">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45</a:t>
            </a:fld>
            <a:endParaRPr lang="es-ES" altLang="es-AR" dirty="0"/>
          </a:p>
        </p:txBody>
      </p:sp>
    </p:spTree>
    <p:extLst>
      <p:ext uri="{BB962C8B-B14F-4D97-AF65-F5344CB8AC3E}">
        <p14:creationId xmlns:p14="http://schemas.microsoft.com/office/powerpoint/2010/main" val="12070672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lnSpc>
                <a:spcPct val="80000"/>
              </a:lnSpc>
            </a:pPr>
            <a:r>
              <a:rPr lang="es-AR" dirty="0"/>
              <a:t>Como etiquetar correctamente los controles del formulario</a:t>
            </a:r>
          </a:p>
          <a:p>
            <a:pPr lvl="1">
              <a:lnSpc>
                <a:spcPct val="80000"/>
              </a:lnSpc>
            </a:pPr>
            <a:endParaRPr lang="es-AR" dirty="0"/>
          </a:p>
          <a:p>
            <a:pPr lvl="2">
              <a:lnSpc>
                <a:spcPct val="80000"/>
              </a:lnSpc>
            </a:pPr>
            <a:r>
              <a:rPr lang="es-AR" b="1" dirty="0"/>
              <a:t>H44 </a:t>
            </a:r>
            <a:r>
              <a:rPr lang="es-ES" dirty="0"/>
              <a:t>Utilizando elementos </a:t>
            </a:r>
            <a:r>
              <a:rPr lang="es-ES" b="1" dirty="0" err="1"/>
              <a:t>label</a:t>
            </a:r>
            <a:r>
              <a:rPr lang="es-ES" dirty="0"/>
              <a:t> para asociar etiquetas de texto con los controles de formulario.</a:t>
            </a:r>
            <a:r>
              <a:rPr lang="es-AR" dirty="0"/>
              <a:t> </a:t>
            </a:r>
          </a:p>
          <a:p>
            <a:pPr lvl="2">
              <a:lnSpc>
                <a:spcPct val="80000"/>
              </a:lnSpc>
            </a:pPr>
            <a:endParaRPr lang="es-AR" dirty="0"/>
          </a:p>
          <a:p>
            <a:pPr lvl="2">
              <a:lnSpc>
                <a:spcPct val="80000"/>
              </a:lnSpc>
            </a:pPr>
            <a:r>
              <a:rPr lang="es-AR" dirty="0"/>
              <a:t>Elemento </a:t>
            </a:r>
            <a:r>
              <a:rPr lang="es-AR" b="1" dirty="0"/>
              <a:t>LABEL</a:t>
            </a:r>
          </a:p>
          <a:p>
            <a:pPr lvl="3">
              <a:lnSpc>
                <a:spcPct val="80000"/>
              </a:lnSpc>
            </a:pPr>
            <a:r>
              <a:rPr lang="es-AR" dirty="0"/>
              <a:t>Permite indicar semánticamente que texto funciona como etiqueta de un campo de formulario. Debe ser único en la página.</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46</a:t>
            </a:fld>
            <a:endParaRPr lang="es-ES" altLang="es-AR" dirty="0"/>
          </a:p>
        </p:txBody>
      </p:sp>
    </p:spTree>
    <p:extLst>
      <p:ext uri="{BB962C8B-B14F-4D97-AF65-F5344CB8AC3E}">
        <p14:creationId xmlns:p14="http://schemas.microsoft.com/office/powerpoint/2010/main" val="17571385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lnSpc>
                <a:spcPct val="80000"/>
              </a:lnSpc>
            </a:pPr>
            <a:r>
              <a:rPr lang="es-AR" dirty="0"/>
              <a:t>Como etiquetar correctamente los controles del formulario</a:t>
            </a:r>
          </a:p>
          <a:p>
            <a:pPr lvl="2">
              <a:lnSpc>
                <a:spcPct val="80000"/>
              </a:lnSpc>
            </a:pPr>
            <a:endParaRPr lang="es-AR" dirty="0"/>
          </a:p>
          <a:p>
            <a:pPr lvl="2">
              <a:lnSpc>
                <a:spcPct val="80000"/>
              </a:lnSpc>
            </a:pPr>
            <a:r>
              <a:rPr lang="es-AR" dirty="0"/>
              <a:t>Debe usarse con los elementos:</a:t>
            </a:r>
          </a:p>
          <a:p>
            <a:pPr lvl="3">
              <a:lnSpc>
                <a:spcPct val="80000"/>
              </a:lnSpc>
            </a:pPr>
            <a:r>
              <a:rPr lang="es-AR" b="1" dirty="0"/>
              <a:t>Áreas de texto.</a:t>
            </a:r>
          </a:p>
          <a:p>
            <a:pPr lvl="3">
              <a:lnSpc>
                <a:spcPct val="80000"/>
              </a:lnSpc>
            </a:pPr>
            <a:r>
              <a:rPr lang="es-AR" b="1" dirty="0"/>
              <a:t>Listas.</a:t>
            </a:r>
          </a:p>
          <a:p>
            <a:pPr lvl="3">
              <a:lnSpc>
                <a:spcPct val="80000"/>
              </a:lnSpc>
            </a:pPr>
            <a:r>
              <a:rPr lang="es-AR" b="1" dirty="0"/>
              <a:t>Campos de Texto.</a:t>
            </a:r>
          </a:p>
          <a:p>
            <a:pPr lvl="3">
              <a:lnSpc>
                <a:spcPct val="80000"/>
              </a:lnSpc>
            </a:pPr>
            <a:r>
              <a:rPr lang="es-AR" b="1" dirty="0"/>
              <a:t>Casillas de Verificación.</a:t>
            </a:r>
          </a:p>
          <a:p>
            <a:pPr lvl="1" algn="just">
              <a:lnSpc>
                <a:spcPct val="90000"/>
              </a:lnSpc>
            </a:pPr>
            <a:endParaRPr lang="es-AR" dirty="0"/>
          </a:p>
        </p:txBody>
      </p:sp>
      <p:pic>
        <p:nvPicPr>
          <p:cNvPr id="4" name="Picture 4"/>
          <p:cNvPicPr>
            <a:picLocks noChangeAspect="1" noChangeArrowheads="1"/>
          </p:cNvPicPr>
          <p:nvPr/>
        </p:nvPicPr>
        <p:blipFill rotWithShape="1">
          <a:blip r:embed="rId3" cstate="print"/>
          <a:srcRect l="11506" t="58901" r="53129" b="34071"/>
          <a:stretch/>
        </p:blipFill>
        <p:spPr bwMode="auto">
          <a:xfrm>
            <a:off x="2195736" y="4869160"/>
            <a:ext cx="5318305" cy="792088"/>
          </a:xfrm>
          <a:prstGeom prst="rect">
            <a:avLst/>
          </a:prstGeom>
          <a:noFill/>
          <a:ln w="9525" algn="ctr">
            <a:noFill/>
            <a:miter lim="800000"/>
            <a:headEnd/>
            <a:tailEnd/>
          </a:ln>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47</a:t>
            </a:fld>
            <a:endParaRPr lang="es-ES" altLang="es-AR" dirty="0"/>
          </a:p>
        </p:txBody>
      </p:sp>
    </p:spTree>
    <p:extLst>
      <p:ext uri="{BB962C8B-B14F-4D97-AF65-F5344CB8AC3E}">
        <p14:creationId xmlns:p14="http://schemas.microsoft.com/office/powerpoint/2010/main" val="3631010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algn="just">
              <a:lnSpc>
                <a:spcPct val="90000"/>
              </a:lnSpc>
            </a:pPr>
            <a:endParaRPr lang="es-AR" dirty="0"/>
          </a:p>
          <a:p>
            <a:pPr lvl="1"/>
            <a:r>
              <a:rPr lang="es-AR" dirty="0"/>
              <a:t>¿Dónde se sitúa la etiqueta respecto al campo?</a:t>
            </a:r>
          </a:p>
          <a:p>
            <a:pPr lvl="1"/>
            <a:r>
              <a:rPr lang="es-AR" dirty="0"/>
              <a:t>Técnica G162</a:t>
            </a:r>
          </a:p>
          <a:p>
            <a:pPr lvl="2"/>
            <a:r>
              <a:rPr lang="es-AR" dirty="0"/>
              <a:t>Antes del campo:</a:t>
            </a:r>
          </a:p>
          <a:p>
            <a:pPr lvl="3"/>
            <a:r>
              <a:rPr lang="es-AR" dirty="0"/>
              <a:t>Área de Texto.</a:t>
            </a:r>
          </a:p>
          <a:p>
            <a:pPr lvl="3"/>
            <a:r>
              <a:rPr lang="es-AR" dirty="0"/>
              <a:t>Lista.</a:t>
            </a:r>
          </a:p>
          <a:p>
            <a:pPr lvl="3"/>
            <a:r>
              <a:rPr lang="es-AR" dirty="0"/>
              <a:t>Campo de texto.</a:t>
            </a:r>
          </a:p>
          <a:p>
            <a:pPr lvl="2"/>
            <a:r>
              <a:rPr lang="es-AR" dirty="0"/>
              <a:t>Después del campo:</a:t>
            </a:r>
          </a:p>
          <a:p>
            <a:pPr lvl="3"/>
            <a:r>
              <a:rPr lang="es-AR" dirty="0"/>
              <a:t>Casilla de Verificación.</a:t>
            </a:r>
          </a:p>
          <a:p>
            <a:pPr lvl="3"/>
            <a:r>
              <a:rPr lang="es-AR" dirty="0"/>
              <a:t>Botones de radio.</a:t>
            </a:r>
          </a:p>
          <a:p>
            <a:pPr lvl="1" algn="just">
              <a:lnSpc>
                <a:spcPct val="90000"/>
              </a:lnSpc>
            </a:pPr>
            <a:endParaRPr lang="es-AR" dirty="0"/>
          </a:p>
        </p:txBody>
      </p:sp>
      <p:pic>
        <p:nvPicPr>
          <p:cNvPr id="4" name="Picture 5"/>
          <p:cNvPicPr>
            <a:picLocks noChangeAspect="1" noChangeArrowheads="1"/>
          </p:cNvPicPr>
          <p:nvPr/>
        </p:nvPicPr>
        <p:blipFill>
          <a:blip r:embed="rId3" cstate="print"/>
          <a:srcRect l="9229" t="58073" r="71582" b="33072"/>
          <a:stretch>
            <a:fillRect/>
          </a:stretch>
        </p:blipFill>
        <p:spPr bwMode="auto">
          <a:xfrm>
            <a:off x="4932040" y="3068960"/>
            <a:ext cx="4104456" cy="1420371"/>
          </a:xfrm>
          <a:prstGeom prst="rect">
            <a:avLst/>
          </a:prstGeom>
          <a:noFill/>
          <a:ln w="9525" algn="ctr">
            <a:noFill/>
            <a:miter lim="800000"/>
            <a:headEnd/>
            <a:tailEnd/>
          </a:ln>
        </p:spPr>
      </p:pic>
      <p:pic>
        <p:nvPicPr>
          <p:cNvPr id="5" name="Picture 6"/>
          <p:cNvPicPr>
            <a:picLocks noChangeAspect="1" noChangeArrowheads="1"/>
          </p:cNvPicPr>
          <p:nvPr/>
        </p:nvPicPr>
        <p:blipFill>
          <a:blip r:embed="rId4" cstate="print"/>
          <a:srcRect l="9229" t="44270" r="71582" b="46875"/>
          <a:stretch>
            <a:fillRect/>
          </a:stretch>
        </p:blipFill>
        <p:spPr bwMode="auto">
          <a:xfrm>
            <a:off x="4932040" y="4797151"/>
            <a:ext cx="4104456" cy="1420371"/>
          </a:xfrm>
          <a:prstGeom prst="rect">
            <a:avLst/>
          </a:prstGeom>
          <a:noFill/>
          <a:ln w="9525" algn="ctr">
            <a:noFill/>
            <a:miter lim="800000"/>
            <a:headEnd/>
            <a:tailEnd/>
          </a:ln>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48</a:t>
            </a:fld>
            <a:endParaRPr lang="es-ES" altLang="es-AR" dirty="0"/>
          </a:p>
        </p:txBody>
      </p:sp>
    </p:spTree>
    <p:extLst>
      <p:ext uri="{BB962C8B-B14F-4D97-AF65-F5344CB8AC3E}">
        <p14:creationId xmlns:p14="http://schemas.microsoft.com/office/powerpoint/2010/main" val="8327142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lnSpc>
                <a:spcPct val="80000"/>
              </a:lnSpc>
            </a:pPr>
            <a:r>
              <a:rPr lang="es-AR" dirty="0"/>
              <a:t>Usar controles estándar HTML asegura que (Técnica H91)</a:t>
            </a:r>
          </a:p>
          <a:p>
            <a:pPr lvl="1">
              <a:lnSpc>
                <a:spcPct val="80000"/>
              </a:lnSpc>
            </a:pPr>
            <a:endParaRPr lang="es-AR" dirty="0"/>
          </a:p>
          <a:p>
            <a:pPr lvl="2">
              <a:lnSpc>
                <a:spcPct val="80000"/>
              </a:lnSpc>
            </a:pPr>
            <a:r>
              <a:rPr lang="es-AR" dirty="0"/>
              <a:t>Puedan ser operables por teclado.</a:t>
            </a:r>
          </a:p>
          <a:p>
            <a:pPr lvl="2">
              <a:lnSpc>
                <a:spcPct val="80000"/>
              </a:lnSpc>
            </a:pPr>
            <a:r>
              <a:rPr lang="es-AR" dirty="0"/>
              <a:t>Su nombre, función, estado y valor, y sus cambios, puedan ser determinados por software.</a:t>
            </a:r>
          </a:p>
          <a:p>
            <a:pPr lvl="2">
              <a:lnSpc>
                <a:spcPct val="80000"/>
              </a:lnSpc>
            </a:pPr>
            <a:endParaRPr lang="es-AR" dirty="0"/>
          </a:p>
          <a:p>
            <a:pPr lvl="1">
              <a:lnSpc>
                <a:spcPct val="80000"/>
              </a:lnSpc>
            </a:pPr>
            <a:r>
              <a:rPr lang="es-AR" dirty="0"/>
              <a:t>Informar, semánticamente, de la estructura y de relaciones entre los campos que se comunican a través de la presentación para que puedan ser determinada por software, es decir que la aplicaciones puedan extraer y presentar esta información de distintas maneras (Pauta 1.3.1)</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49</a:t>
            </a:fld>
            <a:endParaRPr lang="es-ES" altLang="es-AR" dirty="0"/>
          </a:p>
        </p:txBody>
      </p:sp>
    </p:spTree>
    <p:extLst>
      <p:ext uri="{BB962C8B-B14F-4D97-AF65-F5344CB8AC3E}">
        <p14:creationId xmlns:p14="http://schemas.microsoft.com/office/powerpoint/2010/main" val="34031857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r>
              <a:rPr lang="es-AR" dirty="0"/>
              <a:t>Los controles de formulario no pueden provocar un cambio de contexto como abrir otra página o ventana, mover el foco a otro componente o enviar un formulario de forma automática o sin conocimiento del usuario. (Pauta 3.2 Predecible: Hacer que las páginas web aparezcan y operen de manera predecible)</a:t>
            </a:r>
          </a:p>
          <a:p>
            <a:pPr lvl="2"/>
            <a:r>
              <a:rPr lang="es-AR" dirty="0"/>
              <a:t>Ni al recibir el foco.</a:t>
            </a:r>
          </a:p>
          <a:p>
            <a:pPr lvl="2"/>
            <a:r>
              <a:rPr lang="es-AR" dirty="0"/>
              <a:t>Ni al entrar datos o cambiar su estado.</a:t>
            </a:r>
          </a:p>
          <a:p>
            <a:pPr lvl="1"/>
            <a:r>
              <a:rPr lang="es-AR" dirty="0"/>
              <a:t>Por ejemplo, el formulario se enviará con un botón “</a:t>
            </a:r>
            <a:r>
              <a:rPr lang="es-AR" dirty="0" err="1"/>
              <a:t>submit</a:t>
            </a:r>
            <a:r>
              <a:rPr lang="es-AR" dirty="0"/>
              <a:t>”</a:t>
            </a:r>
          </a:p>
          <a:p>
            <a:pPr lvl="2"/>
            <a:r>
              <a:rPr lang="es-AR" dirty="0"/>
              <a:t>&lt;input </a:t>
            </a:r>
            <a:r>
              <a:rPr lang="es-AR" dirty="0" err="1"/>
              <a:t>type</a:t>
            </a:r>
            <a:r>
              <a:rPr lang="es-AR" dirty="0"/>
              <a:t>=“</a:t>
            </a:r>
            <a:r>
              <a:rPr lang="es-AR" dirty="0" err="1"/>
              <a:t>submit</a:t>
            </a:r>
            <a:r>
              <a:rPr lang="es-AR" dirty="0"/>
              <a:t>” </a:t>
            </a:r>
            <a:r>
              <a:rPr lang="es-AR" dirty="0" err="1"/>
              <a:t>name</a:t>
            </a:r>
            <a:r>
              <a:rPr lang="es-AR" dirty="0"/>
              <a:t>=“enviar” </a:t>
            </a:r>
            <a:r>
              <a:rPr lang="es-AR" dirty="0" err="1"/>
              <a:t>value</a:t>
            </a:r>
            <a:r>
              <a:rPr lang="es-AR" dirty="0"/>
              <a:t>=“Enviar” /&gt;</a:t>
            </a:r>
          </a:p>
          <a:p>
            <a:pPr lvl="1"/>
            <a:r>
              <a:rPr lang="es-AR" dirty="0"/>
              <a:t>Por ejemplo, opción de una lista seleccionada + botón</a:t>
            </a:r>
          </a:p>
          <a:p>
            <a:pPr lvl="1" algn="just">
              <a:lnSpc>
                <a:spcPct val="90000"/>
              </a:lnSpc>
            </a:pPr>
            <a:endParaRPr lang="es-AR" dirty="0"/>
          </a:p>
          <a:p>
            <a:pPr lvl="1" algn="just">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50</a:t>
            </a:fld>
            <a:endParaRPr lang="es-ES" altLang="es-AR" dirty="0"/>
          </a:p>
        </p:txBody>
      </p:sp>
    </p:spTree>
    <p:extLst>
      <p:ext uri="{BB962C8B-B14F-4D97-AF65-F5344CB8AC3E}">
        <p14:creationId xmlns:p14="http://schemas.microsoft.com/office/powerpoint/2010/main" val="13464776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r>
              <a:rPr lang="es-AR" dirty="0"/>
              <a:t>¿Cómo prevenir los errores de los usuarios en los formularios?</a:t>
            </a:r>
          </a:p>
          <a:p>
            <a:pPr lvl="1"/>
            <a:endParaRPr lang="es-AR" dirty="0"/>
          </a:p>
          <a:p>
            <a:pPr lvl="2"/>
            <a:r>
              <a:rPr lang="es-AR" dirty="0"/>
              <a:t>Identificar los campos obligatorios (Técnica H90)</a:t>
            </a:r>
          </a:p>
          <a:p>
            <a:pPr lvl="2"/>
            <a:endParaRPr lang="es-AR" dirty="0"/>
          </a:p>
          <a:p>
            <a:pPr lvl="2"/>
            <a:r>
              <a:rPr lang="es-AR" dirty="0"/>
              <a:t>No identificar sólo por el color  (G205)</a:t>
            </a:r>
          </a:p>
          <a:p>
            <a:pPr lvl="2"/>
            <a:endParaRPr lang="es-AR" dirty="0"/>
          </a:p>
          <a:p>
            <a:pPr lvl="2"/>
            <a:r>
              <a:rPr lang="es-AR" dirty="0"/>
              <a:t>Informa del formato requerido (Técnica G89)</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51</a:t>
            </a:fld>
            <a:endParaRPr lang="es-ES" altLang="es-AR" dirty="0"/>
          </a:p>
        </p:txBody>
      </p:sp>
    </p:spTree>
    <p:extLst>
      <p:ext uri="{BB962C8B-B14F-4D97-AF65-F5344CB8AC3E}">
        <p14:creationId xmlns:p14="http://schemas.microsoft.com/office/powerpoint/2010/main" val="26963797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r>
              <a:rPr lang="es-AR" dirty="0"/>
              <a:t>¿Cómo prevenir los errores de los usuarios en los formularios?</a:t>
            </a:r>
          </a:p>
          <a:p>
            <a:pPr lvl="1"/>
            <a:endParaRPr lang="es-AR" dirty="0"/>
          </a:p>
          <a:p>
            <a:pPr lvl="2"/>
            <a:r>
              <a:rPr lang="es-AR" dirty="0"/>
              <a:t>Identificar los campos obligatorios (Técnica H90)</a:t>
            </a:r>
          </a:p>
          <a:p>
            <a:pPr marL="914400" lvl="2" indent="0">
              <a:buNone/>
            </a:pPr>
            <a:endParaRPr lang="es-AR" dirty="0"/>
          </a:p>
          <a:p>
            <a:pPr lvl="2">
              <a:buNone/>
            </a:pPr>
            <a:r>
              <a:rPr lang="es-AR" dirty="0"/>
              <a:t>Nombre (obligatorio):                                                 </a:t>
            </a:r>
            <a:r>
              <a:rPr lang="es-AR" b="1" dirty="0">
                <a:solidFill>
                  <a:srgbClr val="00B050"/>
                </a:solidFill>
              </a:rPr>
              <a:t>BIEN</a:t>
            </a:r>
          </a:p>
        </p:txBody>
      </p:sp>
      <p:sp>
        <p:nvSpPr>
          <p:cNvPr id="4" name="3 CuadroTexto"/>
          <p:cNvSpPr txBox="1"/>
          <p:nvPr/>
        </p:nvSpPr>
        <p:spPr>
          <a:xfrm>
            <a:off x="4067944" y="4055667"/>
            <a:ext cx="3006233" cy="373075"/>
          </a:xfrm>
          <a:prstGeom prst="rect">
            <a:avLst/>
          </a:prstGeom>
          <a:noFill/>
          <a:ln>
            <a:solidFill>
              <a:schemeClr val="tx1"/>
            </a:solidFill>
          </a:ln>
        </p:spPr>
        <p:txBody>
          <a:bodyPr wrap="square" rtlCol="0">
            <a:spAutoFit/>
          </a:bodyPr>
          <a:lstStyle/>
          <a:p>
            <a:endParaRPr lang="es-AR" dirty="0"/>
          </a:p>
        </p:txBody>
      </p:sp>
      <p:sp>
        <p:nvSpPr>
          <p:cNvPr id="5" name="4 CuadroTexto"/>
          <p:cNvSpPr txBox="1"/>
          <p:nvPr/>
        </p:nvSpPr>
        <p:spPr>
          <a:xfrm>
            <a:off x="2381512" y="4047547"/>
            <a:ext cx="1470408" cy="381195"/>
          </a:xfrm>
          <a:prstGeom prst="rect">
            <a:avLst/>
          </a:prstGeom>
          <a:noFill/>
          <a:ln w="25400">
            <a:solidFill>
              <a:srgbClr val="00B050"/>
            </a:solidFill>
          </a:ln>
        </p:spPr>
        <p:txBody>
          <a:bodyPr wrap="square" rtlCol="0">
            <a:spAutoFit/>
          </a:bodyPr>
          <a:lstStyle/>
          <a:p>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52</a:t>
            </a:fld>
            <a:endParaRPr lang="es-ES" altLang="es-AR" dirty="0"/>
          </a:p>
        </p:txBody>
      </p:sp>
    </p:spTree>
    <p:extLst>
      <p:ext uri="{BB962C8B-B14F-4D97-AF65-F5344CB8AC3E}">
        <p14:creationId xmlns:p14="http://schemas.microsoft.com/office/powerpoint/2010/main" val="26602206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r>
              <a:rPr lang="es-AR" dirty="0"/>
              <a:t>¿Cómo prevenir los errores de los usuarios en los formularios?</a:t>
            </a:r>
          </a:p>
          <a:p>
            <a:pPr lvl="1"/>
            <a:endParaRPr lang="es-AR" dirty="0"/>
          </a:p>
          <a:p>
            <a:pPr lvl="2"/>
            <a:r>
              <a:rPr lang="es-AR" dirty="0"/>
              <a:t>No identificar sólo por el color  (G205)</a:t>
            </a:r>
          </a:p>
          <a:p>
            <a:pPr marL="914400" lvl="2" indent="0">
              <a:buNone/>
            </a:pPr>
            <a:endParaRPr lang="es-AR" dirty="0"/>
          </a:p>
          <a:p>
            <a:pPr lvl="2">
              <a:buNone/>
            </a:pPr>
            <a:r>
              <a:rPr lang="es-AR" dirty="0"/>
              <a:t>Nombre:                                                  </a:t>
            </a:r>
            <a:r>
              <a:rPr lang="es-AR" b="1" dirty="0">
                <a:solidFill>
                  <a:srgbClr val="FF0000"/>
                </a:solidFill>
              </a:rPr>
              <a:t>MAL</a:t>
            </a:r>
          </a:p>
          <a:p>
            <a:pPr lvl="2">
              <a:buNone/>
            </a:pPr>
            <a:endParaRPr lang="es-AR" b="1" dirty="0">
              <a:solidFill>
                <a:srgbClr val="FF0000"/>
              </a:solidFill>
            </a:endParaRPr>
          </a:p>
          <a:p>
            <a:pPr lvl="2">
              <a:buNone/>
            </a:pPr>
            <a:r>
              <a:rPr lang="es-AR" b="1" dirty="0">
                <a:solidFill>
                  <a:srgbClr val="00B0F0"/>
                </a:solidFill>
              </a:rPr>
              <a:t>Nombre:</a:t>
            </a:r>
            <a:r>
              <a:rPr lang="es-AR" dirty="0"/>
              <a:t>                                                 </a:t>
            </a:r>
            <a:r>
              <a:rPr lang="es-AR" b="1" dirty="0">
                <a:solidFill>
                  <a:srgbClr val="FF0000"/>
                </a:solidFill>
              </a:rPr>
              <a:t>MAL</a:t>
            </a:r>
          </a:p>
        </p:txBody>
      </p:sp>
      <p:sp>
        <p:nvSpPr>
          <p:cNvPr id="4" name="3 CuadroTexto"/>
          <p:cNvSpPr txBox="1"/>
          <p:nvPr/>
        </p:nvSpPr>
        <p:spPr>
          <a:xfrm>
            <a:off x="2573879" y="4055667"/>
            <a:ext cx="3006233" cy="373075"/>
          </a:xfrm>
          <a:prstGeom prst="rect">
            <a:avLst/>
          </a:prstGeom>
          <a:solidFill>
            <a:schemeClr val="accent1"/>
          </a:solidFill>
          <a:ln>
            <a:solidFill>
              <a:schemeClr val="tx1"/>
            </a:solidFill>
          </a:ln>
        </p:spPr>
        <p:txBody>
          <a:bodyPr wrap="square" rtlCol="0">
            <a:spAutoFit/>
          </a:bodyPr>
          <a:lstStyle/>
          <a:p>
            <a:endParaRPr lang="es-AR" dirty="0"/>
          </a:p>
        </p:txBody>
      </p:sp>
      <p:sp>
        <p:nvSpPr>
          <p:cNvPr id="6" name="3 CuadroTexto"/>
          <p:cNvSpPr txBox="1"/>
          <p:nvPr/>
        </p:nvSpPr>
        <p:spPr>
          <a:xfrm>
            <a:off x="2573878" y="4789582"/>
            <a:ext cx="3006233" cy="373075"/>
          </a:xfrm>
          <a:prstGeom prst="rect">
            <a:avLst/>
          </a:prstGeom>
          <a:noFill/>
          <a:ln>
            <a:solidFill>
              <a:schemeClr val="tx1"/>
            </a:solidFill>
          </a:ln>
        </p:spPr>
        <p:txBody>
          <a:bodyPr wrap="square" rtlCol="0">
            <a:spAutoFit/>
          </a:bodyPr>
          <a:lstStyle/>
          <a:p>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53</a:t>
            </a:fld>
            <a:endParaRPr lang="es-ES" altLang="es-AR" dirty="0"/>
          </a:p>
        </p:txBody>
      </p:sp>
    </p:spTree>
    <p:extLst>
      <p:ext uri="{BB962C8B-B14F-4D97-AF65-F5344CB8AC3E}">
        <p14:creationId xmlns:p14="http://schemas.microsoft.com/office/powerpoint/2010/main" val="18857319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r>
              <a:rPr lang="es-AR" dirty="0"/>
              <a:t>¿Cómo prevenir los errores de los usuarios en los formularios?</a:t>
            </a:r>
          </a:p>
          <a:p>
            <a:pPr lvl="1"/>
            <a:endParaRPr lang="es-AR" dirty="0"/>
          </a:p>
          <a:p>
            <a:pPr lvl="2"/>
            <a:r>
              <a:rPr lang="es-AR" dirty="0"/>
              <a:t>Informa del formato requerido (Técnica G89)</a:t>
            </a:r>
          </a:p>
          <a:p>
            <a:pPr marL="914400" lvl="2" indent="0">
              <a:buNone/>
            </a:pPr>
            <a:endParaRPr lang="es-AR" dirty="0"/>
          </a:p>
          <a:p>
            <a:pPr lvl="2">
              <a:buNone/>
            </a:pPr>
            <a:r>
              <a:rPr lang="es-AR" dirty="0"/>
              <a:t>Fecha (</a:t>
            </a:r>
            <a:r>
              <a:rPr lang="es-AR" dirty="0" err="1"/>
              <a:t>dd</a:t>
            </a:r>
            <a:r>
              <a:rPr lang="es-AR" dirty="0"/>
              <a:t>/mm/</a:t>
            </a:r>
            <a:r>
              <a:rPr lang="es-AR" dirty="0" err="1"/>
              <a:t>aaaa</a:t>
            </a:r>
            <a:r>
              <a:rPr lang="es-AR" dirty="0"/>
              <a:t>):                                                 </a:t>
            </a:r>
            <a:r>
              <a:rPr lang="es-AR" b="1" dirty="0">
                <a:solidFill>
                  <a:srgbClr val="00B050"/>
                </a:solidFill>
              </a:rPr>
              <a:t>BIEN</a:t>
            </a:r>
          </a:p>
          <a:p>
            <a:pPr lvl="2">
              <a:buNone/>
            </a:pPr>
            <a:r>
              <a:rPr lang="es-AR" b="1" dirty="0">
                <a:solidFill>
                  <a:srgbClr val="00B050"/>
                </a:solidFill>
              </a:rPr>
              <a:t>			           </a:t>
            </a:r>
            <a:r>
              <a:rPr lang="es-AR" dirty="0"/>
              <a:t>Por ejemplo:  01/10/2016</a:t>
            </a:r>
            <a:endParaRPr lang="es-AR" b="1" dirty="0">
              <a:solidFill>
                <a:srgbClr val="00B050"/>
              </a:solidFill>
            </a:endParaRPr>
          </a:p>
        </p:txBody>
      </p:sp>
      <p:sp>
        <p:nvSpPr>
          <p:cNvPr id="4" name="3 CuadroTexto"/>
          <p:cNvSpPr txBox="1"/>
          <p:nvPr/>
        </p:nvSpPr>
        <p:spPr>
          <a:xfrm>
            <a:off x="3995936" y="4055667"/>
            <a:ext cx="3006233" cy="373075"/>
          </a:xfrm>
          <a:prstGeom prst="rect">
            <a:avLst/>
          </a:prstGeom>
          <a:noFill/>
          <a:ln>
            <a:solidFill>
              <a:schemeClr val="tx1"/>
            </a:solidFill>
          </a:ln>
        </p:spPr>
        <p:txBody>
          <a:bodyPr wrap="square" rtlCol="0">
            <a:spAutoFit/>
          </a:bodyPr>
          <a:lstStyle/>
          <a:p>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54</a:t>
            </a:fld>
            <a:endParaRPr lang="es-ES" altLang="es-AR" dirty="0"/>
          </a:p>
        </p:txBody>
      </p:sp>
    </p:spTree>
    <p:extLst>
      <p:ext uri="{BB962C8B-B14F-4D97-AF65-F5344CB8AC3E}">
        <p14:creationId xmlns:p14="http://schemas.microsoft.com/office/powerpoint/2010/main" val="5303436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r>
              <a:rPr lang="es-AR" dirty="0"/>
              <a:t>¿Cómo mejorar la accesibilidad de los mensajes de validación de los formularios?</a:t>
            </a:r>
          </a:p>
          <a:p>
            <a:pPr lvl="1"/>
            <a:r>
              <a:rPr lang="es-AR" dirty="0"/>
              <a:t>Identificar  y describir los errores mediante texto (Criterio 3.3.1 Identificación de errores)</a:t>
            </a:r>
          </a:p>
          <a:p>
            <a:pPr lvl="2"/>
            <a:r>
              <a:rPr lang="es-AR" dirty="0"/>
              <a:t>Objetivo: que todos los usuarios se percaten de que se ha producido un error y donde.</a:t>
            </a:r>
          </a:p>
          <a:p>
            <a:pPr lvl="2"/>
            <a:r>
              <a:rPr lang="es-AR" dirty="0"/>
              <a:t>¿Cómo se hace?</a:t>
            </a:r>
          </a:p>
          <a:p>
            <a:pPr lvl="3"/>
            <a:r>
              <a:rPr lang="es-AR" dirty="0"/>
              <a:t>Informando mediante texto, al comienzo del formulario, de los errores existentes.</a:t>
            </a:r>
          </a:p>
          <a:p>
            <a:pPr lvl="3"/>
            <a:r>
              <a:rPr lang="es-AR" dirty="0"/>
              <a:t>Describiendo el problema e identificando los campos con error.</a:t>
            </a:r>
          </a:p>
          <a:p>
            <a:pPr lvl="1"/>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55</a:t>
            </a:fld>
            <a:endParaRPr lang="es-ES" altLang="es-AR" dirty="0"/>
          </a:p>
        </p:txBody>
      </p:sp>
    </p:spTree>
    <p:extLst>
      <p:ext uri="{BB962C8B-B14F-4D97-AF65-F5344CB8AC3E}">
        <p14:creationId xmlns:p14="http://schemas.microsoft.com/office/powerpoint/2010/main" val="26159186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61529" y="1523053"/>
            <a:ext cx="8229600" cy="1008831"/>
          </a:xfrm>
        </p:spPr>
        <p:txBody>
          <a:bodyPr/>
          <a:lstStyle/>
          <a:p>
            <a:pPr>
              <a:lnSpc>
                <a:spcPct val="90000"/>
              </a:lnSpc>
            </a:pPr>
            <a:r>
              <a:rPr lang="es-AR" dirty="0"/>
              <a:t>Formularios</a:t>
            </a:r>
          </a:p>
          <a:p>
            <a:pPr lvl="1"/>
            <a:r>
              <a:rPr lang="es-AR" dirty="0"/>
              <a:t>Ejemplo:</a:t>
            </a:r>
          </a:p>
        </p:txBody>
      </p:sp>
      <p:sp>
        <p:nvSpPr>
          <p:cNvPr id="4" name="3 CuadroTexto"/>
          <p:cNvSpPr txBox="1"/>
          <p:nvPr/>
        </p:nvSpPr>
        <p:spPr>
          <a:xfrm>
            <a:off x="683568" y="2492896"/>
            <a:ext cx="4032448" cy="3662541"/>
          </a:xfrm>
          <a:prstGeom prst="rect">
            <a:avLst/>
          </a:prstGeom>
          <a:noFill/>
        </p:spPr>
        <p:txBody>
          <a:bodyPr wrap="square" rtlCol="0">
            <a:spAutoFit/>
          </a:bodyPr>
          <a:lstStyle/>
          <a:p>
            <a:r>
              <a:rPr lang="es-AR" sz="2000" b="1" dirty="0"/>
              <a:t>Suscripción al boletín de noticias</a:t>
            </a:r>
          </a:p>
          <a:p>
            <a:endParaRPr lang="es-AR" sz="1600" dirty="0"/>
          </a:p>
          <a:p>
            <a:endParaRPr lang="es-AR" sz="1600" dirty="0"/>
          </a:p>
          <a:p>
            <a:r>
              <a:rPr lang="es-AR" sz="2000" dirty="0"/>
              <a:t>Nombre y apellidos (obligatorios):</a:t>
            </a:r>
          </a:p>
          <a:p>
            <a:endParaRPr lang="es-AR" sz="2000" dirty="0"/>
          </a:p>
          <a:p>
            <a:endParaRPr lang="es-AR" sz="2000" dirty="0"/>
          </a:p>
          <a:p>
            <a:r>
              <a:rPr lang="es-AR" sz="2000" dirty="0"/>
              <a:t>Email (obligatorio):</a:t>
            </a:r>
          </a:p>
          <a:p>
            <a:endParaRPr lang="es-AR" sz="2000" dirty="0"/>
          </a:p>
          <a:p>
            <a:endParaRPr lang="es-AR" sz="2000" dirty="0"/>
          </a:p>
          <a:p>
            <a:endParaRPr lang="es-AR" sz="2000" dirty="0"/>
          </a:p>
          <a:p>
            <a:endParaRPr lang="es-AR" sz="2000" dirty="0"/>
          </a:p>
        </p:txBody>
      </p:sp>
      <p:sp>
        <p:nvSpPr>
          <p:cNvPr id="5" name="4 CuadroTexto"/>
          <p:cNvSpPr txBox="1"/>
          <p:nvPr/>
        </p:nvSpPr>
        <p:spPr>
          <a:xfrm>
            <a:off x="706699" y="3963912"/>
            <a:ext cx="2501900" cy="400110"/>
          </a:xfrm>
          <a:prstGeom prst="rect">
            <a:avLst/>
          </a:prstGeom>
          <a:noFill/>
          <a:ln>
            <a:solidFill>
              <a:schemeClr val="accent1"/>
            </a:solidFill>
          </a:ln>
        </p:spPr>
        <p:txBody>
          <a:bodyPr wrap="square" rtlCol="0">
            <a:spAutoFit/>
          </a:bodyPr>
          <a:lstStyle/>
          <a:p>
            <a:r>
              <a:rPr lang="es-AR" sz="2000" dirty="0"/>
              <a:t>Pablo Pandolfo</a:t>
            </a:r>
          </a:p>
        </p:txBody>
      </p:sp>
      <p:sp>
        <p:nvSpPr>
          <p:cNvPr id="6" name="5 CuadroTexto"/>
          <p:cNvSpPr txBox="1"/>
          <p:nvPr/>
        </p:nvSpPr>
        <p:spPr>
          <a:xfrm>
            <a:off x="728479" y="5254903"/>
            <a:ext cx="2501900" cy="400110"/>
          </a:xfrm>
          <a:prstGeom prst="rect">
            <a:avLst/>
          </a:prstGeom>
          <a:noFill/>
          <a:ln>
            <a:solidFill>
              <a:schemeClr val="accent1"/>
            </a:solidFill>
          </a:ln>
        </p:spPr>
        <p:txBody>
          <a:bodyPr wrap="square" rtlCol="0">
            <a:spAutoFit/>
          </a:bodyPr>
          <a:lstStyle/>
          <a:p>
            <a:endParaRPr lang="es-AR" sz="2000" dirty="0"/>
          </a:p>
        </p:txBody>
      </p:sp>
      <p:sp>
        <p:nvSpPr>
          <p:cNvPr id="7" name="6 CuadroTexto"/>
          <p:cNvSpPr txBox="1"/>
          <p:nvPr/>
        </p:nvSpPr>
        <p:spPr>
          <a:xfrm>
            <a:off x="706699" y="5765194"/>
            <a:ext cx="1653665" cy="400110"/>
          </a:xfrm>
          <a:prstGeom prst="rect">
            <a:avLst/>
          </a:prstGeom>
          <a:solidFill>
            <a:schemeClr val="accent1"/>
          </a:solidFill>
          <a:ln>
            <a:solidFill>
              <a:schemeClr val="accent1"/>
            </a:solidFill>
          </a:ln>
        </p:spPr>
        <p:txBody>
          <a:bodyPr wrap="square" rtlCol="0">
            <a:spAutoFit/>
          </a:bodyPr>
          <a:lstStyle/>
          <a:p>
            <a:r>
              <a:rPr lang="es-AR" sz="2000" b="1" dirty="0"/>
              <a:t>Suscribirme</a:t>
            </a:r>
          </a:p>
        </p:txBody>
      </p:sp>
      <p:sp>
        <p:nvSpPr>
          <p:cNvPr id="8" name="12 Flecha derecha"/>
          <p:cNvSpPr/>
          <p:nvPr/>
        </p:nvSpPr>
        <p:spPr>
          <a:xfrm>
            <a:off x="3848912" y="5937491"/>
            <a:ext cx="609600" cy="2179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7 CuadroTexto"/>
          <p:cNvSpPr txBox="1"/>
          <p:nvPr/>
        </p:nvSpPr>
        <p:spPr>
          <a:xfrm>
            <a:off x="4857877" y="2492896"/>
            <a:ext cx="4127500" cy="3231654"/>
          </a:xfrm>
          <a:prstGeom prst="rect">
            <a:avLst/>
          </a:prstGeom>
          <a:noFill/>
        </p:spPr>
        <p:txBody>
          <a:bodyPr wrap="square" rtlCol="0">
            <a:spAutoFit/>
          </a:bodyPr>
          <a:lstStyle/>
          <a:p>
            <a:r>
              <a:rPr lang="es-AR" sz="2000" b="1" dirty="0"/>
              <a:t>Suscripción al boletín de noticias</a:t>
            </a:r>
          </a:p>
          <a:p>
            <a:r>
              <a:rPr lang="es-AR" sz="1600" b="1" dirty="0"/>
              <a:t>Ha ocurrido un error: El </a:t>
            </a:r>
            <a:r>
              <a:rPr lang="es-AR" sz="1600" b="1" u="sng" dirty="0"/>
              <a:t>campo “Email” </a:t>
            </a:r>
            <a:r>
              <a:rPr lang="es-AR" sz="1600" b="1" dirty="0"/>
              <a:t>es obligatorio.</a:t>
            </a:r>
          </a:p>
          <a:p>
            <a:r>
              <a:rPr lang="es-AR" sz="2000" dirty="0"/>
              <a:t>Nombre y apellidos (obligatorios):</a:t>
            </a:r>
          </a:p>
          <a:p>
            <a:endParaRPr lang="es-AR" sz="2000" dirty="0"/>
          </a:p>
          <a:p>
            <a:endParaRPr lang="es-AR" sz="2000" dirty="0"/>
          </a:p>
          <a:p>
            <a:r>
              <a:rPr lang="es-AR" sz="2000" dirty="0"/>
              <a:t>Email (obligatorio): </a:t>
            </a:r>
            <a:r>
              <a:rPr lang="es-AR" sz="1600" b="1" dirty="0">
                <a:solidFill>
                  <a:srgbClr val="0070C0"/>
                </a:solidFill>
              </a:rPr>
              <a:t>Por favor, indique su email.</a:t>
            </a:r>
          </a:p>
          <a:p>
            <a:endParaRPr lang="es-AR" sz="1600" dirty="0"/>
          </a:p>
          <a:p>
            <a:endParaRPr lang="es-AR" sz="2000" dirty="0"/>
          </a:p>
        </p:txBody>
      </p:sp>
      <p:sp>
        <p:nvSpPr>
          <p:cNvPr id="10" name="9 CuadroTexto"/>
          <p:cNvSpPr txBox="1"/>
          <p:nvPr/>
        </p:nvSpPr>
        <p:spPr>
          <a:xfrm>
            <a:off x="4950420" y="3964994"/>
            <a:ext cx="2501900" cy="400110"/>
          </a:xfrm>
          <a:prstGeom prst="rect">
            <a:avLst/>
          </a:prstGeom>
          <a:noFill/>
          <a:ln>
            <a:solidFill>
              <a:schemeClr val="accent1"/>
            </a:solidFill>
          </a:ln>
        </p:spPr>
        <p:txBody>
          <a:bodyPr wrap="square" rtlCol="0">
            <a:spAutoFit/>
          </a:bodyPr>
          <a:lstStyle/>
          <a:p>
            <a:r>
              <a:rPr lang="es-AR" sz="2000" dirty="0"/>
              <a:t>Pablo Pandolfo</a:t>
            </a:r>
          </a:p>
        </p:txBody>
      </p:sp>
      <p:sp>
        <p:nvSpPr>
          <p:cNvPr id="11" name="10 CuadroTexto"/>
          <p:cNvSpPr txBox="1"/>
          <p:nvPr/>
        </p:nvSpPr>
        <p:spPr>
          <a:xfrm>
            <a:off x="4969371" y="5254903"/>
            <a:ext cx="2501900" cy="400110"/>
          </a:xfrm>
          <a:prstGeom prst="rect">
            <a:avLst/>
          </a:prstGeom>
          <a:solidFill>
            <a:schemeClr val="accent5"/>
          </a:solidFill>
          <a:ln>
            <a:solidFill>
              <a:schemeClr val="accent1"/>
            </a:solidFill>
          </a:ln>
        </p:spPr>
        <p:txBody>
          <a:bodyPr wrap="square" rtlCol="0">
            <a:spAutoFit/>
          </a:bodyPr>
          <a:lstStyle/>
          <a:p>
            <a:endParaRPr lang="es-AR" sz="2000" dirty="0"/>
          </a:p>
        </p:txBody>
      </p:sp>
      <p:sp>
        <p:nvSpPr>
          <p:cNvPr id="21" name="6 CuadroTexto"/>
          <p:cNvSpPr txBox="1"/>
          <p:nvPr/>
        </p:nvSpPr>
        <p:spPr>
          <a:xfrm>
            <a:off x="4969371" y="5769339"/>
            <a:ext cx="1653665" cy="400110"/>
          </a:xfrm>
          <a:prstGeom prst="rect">
            <a:avLst/>
          </a:prstGeom>
          <a:solidFill>
            <a:schemeClr val="accent1"/>
          </a:solidFill>
          <a:ln>
            <a:solidFill>
              <a:schemeClr val="accent1"/>
            </a:solidFill>
          </a:ln>
        </p:spPr>
        <p:txBody>
          <a:bodyPr wrap="square" rtlCol="0">
            <a:spAutoFit/>
          </a:bodyPr>
          <a:lstStyle/>
          <a:p>
            <a:r>
              <a:rPr lang="es-AR" sz="2000" b="1" dirty="0"/>
              <a:t>Suscribirme</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56</a:t>
            </a:fld>
            <a:endParaRPr lang="es-ES" altLang="es-AR" dirty="0"/>
          </a:p>
        </p:txBody>
      </p:sp>
    </p:spTree>
    <p:extLst>
      <p:ext uri="{BB962C8B-B14F-4D97-AF65-F5344CB8AC3E}">
        <p14:creationId xmlns:p14="http://schemas.microsoft.com/office/powerpoint/2010/main" val="14867663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a:t>Organización</a:t>
            </a:r>
          </a:p>
        </p:txBody>
      </p:sp>
      <p:sp>
        <p:nvSpPr>
          <p:cNvPr id="35843" name="2 Marcador de contenido"/>
          <p:cNvSpPr>
            <a:spLocks noGrp="1"/>
          </p:cNvSpPr>
          <p:nvPr>
            <p:ph idx="1"/>
          </p:nvPr>
        </p:nvSpPr>
        <p:spPr/>
        <p:txBody>
          <a:bodyPr/>
          <a:lstStyle/>
          <a:p>
            <a:r>
              <a:rPr lang="es-AR" altLang="es-AR" dirty="0"/>
              <a:t>¿Qué es la accesibilidad web?</a:t>
            </a:r>
          </a:p>
          <a:p>
            <a:r>
              <a:rPr lang="es-AR" altLang="es-AR" dirty="0"/>
              <a:t>Pautas y leyes.</a:t>
            </a:r>
          </a:p>
          <a:p>
            <a:r>
              <a:rPr lang="es-AR" altLang="es-AR" dirty="0"/>
              <a:t>Contenido accesible.</a:t>
            </a:r>
          </a:p>
          <a:p>
            <a:r>
              <a:rPr lang="es-AR" altLang="es-AR" b="1" dirty="0">
                <a:solidFill>
                  <a:srgbClr val="0070C0"/>
                </a:solidFill>
              </a:rPr>
              <a:t>Navegación accesible.</a:t>
            </a:r>
          </a:p>
          <a:p>
            <a:r>
              <a:rPr lang="es-AR" altLang="es-AR" dirty="0"/>
              <a:t>Diseño accesible.</a:t>
            </a:r>
          </a:p>
          <a:p>
            <a:r>
              <a:rPr lang="es-AR" altLang="es-AR" dirty="0"/>
              <a:t>Análisis y evaluación de la accesibilidad web.</a:t>
            </a:r>
          </a:p>
          <a:p>
            <a:r>
              <a:rPr lang="es-AR" altLang="es-AR" dirty="0"/>
              <a:t>Conclusiones.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57</a:t>
            </a:fld>
            <a:endParaRPr lang="es-ES" altLang="es-AR" dirty="0"/>
          </a:p>
        </p:txBody>
      </p:sp>
    </p:spTree>
    <p:extLst>
      <p:ext uri="{BB962C8B-B14F-4D97-AF65-F5344CB8AC3E}">
        <p14:creationId xmlns:p14="http://schemas.microsoft.com/office/powerpoint/2010/main" val="14339475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393207"/>
          </a:xfrm>
        </p:spPr>
        <p:txBody>
          <a:bodyPr/>
          <a:lstStyle/>
          <a:p>
            <a:r>
              <a:rPr lang="es-AR" b="1" dirty="0"/>
              <a:t>Pauta 2.4 Navegable</a:t>
            </a:r>
            <a:r>
              <a:rPr lang="es-AR" dirty="0"/>
              <a:t>: Proporcionar medios para ayudar a los usuarios a navegar, encontrar contenido y determinar donde se encuentran.</a:t>
            </a:r>
          </a:p>
          <a:p>
            <a:endParaRPr lang="es-AR" dirty="0"/>
          </a:p>
          <a:p>
            <a:r>
              <a:rPr lang="es-AR" dirty="0"/>
              <a:t>Objetivos  de una navegación accesible:</a:t>
            </a:r>
          </a:p>
          <a:p>
            <a:pPr lvl="1"/>
            <a:r>
              <a:rPr lang="es-AR" dirty="0"/>
              <a:t>Que el usuario encuentre lo que necesita.</a:t>
            </a:r>
          </a:p>
          <a:p>
            <a:pPr lvl="1"/>
            <a:r>
              <a:rPr lang="es-AR" dirty="0"/>
              <a:t>Que el usuario en todo momento pueda contestar a las preguntas:</a:t>
            </a:r>
          </a:p>
          <a:p>
            <a:pPr lvl="2"/>
            <a:r>
              <a:rPr lang="es-AR" dirty="0"/>
              <a:t>¿Dónde estoy? (ubicación y orientación)</a:t>
            </a:r>
          </a:p>
          <a:p>
            <a:pPr lvl="2"/>
            <a:r>
              <a:rPr lang="es-AR" dirty="0"/>
              <a:t>¿A dónde puedo ir? (navegación)</a:t>
            </a:r>
          </a:p>
          <a:p>
            <a:pPr lvl="1"/>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58</a:t>
            </a:fld>
            <a:endParaRPr lang="es-ES" altLang="es-AR" dirty="0"/>
          </a:p>
        </p:txBody>
      </p:sp>
    </p:spTree>
    <p:extLst>
      <p:ext uri="{BB962C8B-B14F-4D97-AF65-F5344CB8AC3E}">
        <p14:creationId xmlns:p14="http://schemas.microsoft.com/office/powerpoint/2010/main" val="22117174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393207"/>
          </a:xfrm>
        </p:spPr>
        <p:txBody>
          <a:bodyPr/>
          <a:lstStyle/>
          <a:p>
            <a:r>
              <a:rPr lang="es-AR" dirty="0"/>
              <a:t>Para lograr una navegación accesible, los criterios de conformidad de esta pauta hacen referencia a:</a:t>
            </a:r>
          </a:p>
          <a:p>
            <a:endParaRPr lang="es-AR" dirty="0"/>
          </a:p>
          <a:p>
            <a:pPr lvl="3"/>
            <a:r>
              <a:rPr lang="es-AR" dirty="0"/>
              <a:t>Saltar contenido repetido.</a:t>
            </a:r>
          </a:p>
          <a:p>
            <a:pPr lvl="3"/>
            <a:r>
              <a:rPr lang="es-AR" dirty="0"/>
              <a:t>Identificar el contenido.</a:t>
            </a:r>
          </a:p>
          <a:p>
            <a:pPr lvl="3"/>
            <a:r>
              <a:rPr lang="es-AR" dirty="0"/>
              <a:t>Describir adecuadamente el propósito de los enlaces.</a:t>
            </a:r>
          </a:p>
          <a:p>
            <a:pPr lvl="3"/>
            <a:r>
              <a:rPr lang="es-AR" dirty="0"/>
              <a:t>Información sobre la localización de los sitios.</a:t>
            </a:r>
          </a:p>
          <a:p>
            <a:pPr lvl="3"/>
            <a:r>
              <a:rPr lang="es-AR" dirty="0"/>
              <a:t>Orden adecuado del foco y visibilidad del mismo.</a:t>
            </a:r>
          </a:p>
          <a:p>
            <a:pPr lvl="1"/>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59</a:t>
            </a:fld>
            <a:endParaRPr lang="es-ES" altLang="es-AR" dirty="0"/>
          </a:p>
        </p:txBody>
      </p:sp>
    </p:spTree>
    <p:extLst>
      <p:ext uri="{BB962C8B-B14F-4D97-AF65-F5344CB8AC3E}">
        <p14:creationId xmlns:p14="http://schemas.microsoft.com/office/powerpoint/2010/main" val="19459075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323528" y="1635994"/>
            <a:ext cx="8229600" cy="4609231"/>
          </a:xfrm>
        </p:spPr>
        <p:txBody>
          <a:bodyPr/>
          <a:lstStyle/>
          <a:p>
            <a:r>
              <a:rPr lang="es-AR" dirty="0"/>
              <a:t>El título de la página</a:t>
            </a:r>
          </a:p>
          <a:p>
            <a:endParaRPr lang="es-AR" dirty="0"/>
          </a:p>
          <a:p>
            <a:pPr lvl="1"/>
            <a:r>
              <a:rPr lang="es-AR" dirty="0"/>
              <a:t>Importancia:</a:t>
            </a:r>
          </a:p>
          <a:p>
            <a:pPr lvl="2"/>
            <a:r>
              <a:rPr lang="es-AR" dirty="0"/>
              <a:t>Permite identificar la página web que se está visualizando en un navegador.</a:t>
            </a:r>
          </a:p>
          <a:p>
            <a:pPr lvl="2"/>
            <a:endParaRPr lang="es-AR" dirty="0"/>
          </a:p>
          <a:p>
            <a:pPr lvl="1"/>
            <a:r>
              <a:rPr lang="es-AR" dirty="0"/>
              <a:t>Muchas páginas web tienen un título erróneo o no significativo, cuando una página web se carga la primera vez un lector de pantalla anuncia el título de la página.</a:t>
            </a:r>
          </a:p>
          <a:p>
            <a:pPr marL="457200" lvl="1" indent="0">
              <a:buNone/>
            </a:pPr>
            <a:endParaRPr lang="es-AR" dirty="0"/>
          </a:p>
          <a:p>
            <a:pPr lvl="1"/>
            <a:r>
              <a:rPr lang="es-AR" b="1" dirty="0"/>
              <a:t>Criterio 2.4.2 Título de páginas.</a:t>
            </a:r>
            <a:endParaRPr lang="es-AR" dirty="0"/>
          </a:p>
          <a:p>
            <a:pPr marL="857250" lvl="2" indent="0">
              <a:buNone/>
            </a:pPr>
            <a:r>
              <a:rPr lang="es-AR" dirty="0"/>
              <a:t>Las páginas web tienen títulos que describen su temática o propósito. [Nivel A]</a:t>
            </a:r>
          </a:p>
          <a:p>
            <a:pPr lvl="1"/>
            <a:endParaRPr lang="es-AR" dirty="0"/>
          </a:p>
          <a:p>
            <a:endParaRPr lang="es-AR" dirty="0"/>
          </a:p>
          <a:p>
            <a:pPr lvl="1"/>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60</a:t>
            </a:fld>
            <a:endParaRPr lang="es-ES" altLang="es-AR" dirty="0"/>
          </a:p>
        </p:txBody>
      </p:sp>
    </p:spTree>
    <p:extLst>
      <p:ext uri="{BB962C8B-B14F-4D97-AF65-F5344CB8AC3E}">
        <p14:creationId xmlns:p14="http://schemas.microsoft.com/office/powerpoint/2010/main" val="17317574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393207"/>
          </a:xfrm>
        </p:spPr>
        <p:txBody>
          <a:bodyPr/>
          <a:lstStyle/>
          <a:p>
            <a:r>
              <a:rPr lang="es-AR" dirty="0"/>
              <a:t>El título de la página</a:t>
            </a:r>
          </a:p>
          <a:p>
            <a:endParaRPr lang="es-AR" dirty="0"/>
          </a:p>
          <a:p>
            <a:pPr lvl="1"/>
            <a:r>
              <a:rPr lang="es-AR" dirty="0"/>
              <a:t>Titulo adecuado:</a:t>
            </a:r>
          </a:p>
          <a:p>
            <a:pPr lvl="2"/>
            <a:r>
              <a:rPr lang="es-AR" dirty="0"/>
              <a:t>Ayuda a identificar si el contenido es relevante.</a:t>
            </a:r>
          </a:p>
          <a:p>
            <a:pPr lvl="2"/>
            <a:r>
              <a:rPr lang="es-AR" dirty="0"/>
              <a:t>Ayuda a diferenciar múltiples ventanas o pestañas.</a:t>
            </a:r>
          </a:p>
          <a:p>
            <a:pPr lvl="2"/>
            <a:r>
              <a:rPr lang="es-AR" dirty="0"/>
              <a:t>Ayuda a identificar el contenido de una página web.</a:t>
            </a:r>
          </a:p>
          <a:p>
            <a:pPr lvl="3"/>
            <a:r>
              <a:rPr lang="es-AR" dirty="0"/>
              <a:t>“Introducción”                                              </a:t>
            </a:r>
            <a:r>
              <a:rPr lang="es-AR" b="1" dirty="0">
                <a:solidFill>
                  <a:srgbClr val="FF0000"/>
                </a:solidFill>
              </a:rPr>
              <a:t>NO</a:t>
            </a:r>
          </a:p>
          <a:p>
            <a:pPr lvl="3"/>
            <a:r>
              <a:rPr lang="es-AR" dirty="0"/>
              <a:t>“Introducción a la apicultura medieval”       </a:t>
            </a:r>
            <a:r>
              <a:rPr lang="es-AR" b="1" dirty="0">
                <a:solidFill>
                  <a:srgbClr val="00B050"/>
                </a:solidFill>
              </a:rPr>
              <a:t>SI</a:t>
            </a:r>
          </a:p>
          <a:p>
            <a:pPr marL="914400" lvl="2" indent="0">
              <a:buNone/>
            </a:pPr>
            <a:endParaRPr lang="es-AR" dirty="0"/>
          </a:p>
          <a:p>
            <a:pPr lvl="1"/>
            <a:r>
              <a:rPr lang="es-AR" dirty="0"/>
              <a:t>Todos los documentos HTML deben tener un elemento TITLE en la sección HEAD.</a:t>
            </a:r>
          </a:p>
          <a:p>
            <a:pPr marL="914400" lvl="2" indent="0">
              <a:buNone/>
            </a:pPr>
            <a:r>
              <a:rPr lang="es-AR" dirty="0"/>
              <a:t>	&lt;</a:t>
            </a:r>
            <a:r>
              <a:rPr lang="es-AR" dirty="0" err="1"/>
              <a:t>title</a:t>
            </a:r>
            <a:r>
              <a:rPr lang="es-AR" dirty="0"/>
              <a:t>&gt; Accesibilidad Web: ¿Qué es? &lt;/</a:t>
            </a:r>
            <a:r>
              <a:rPr lang="es-AR" dirty="0" err="1"/>
              <a:t>title</a:t>
            </a:r>
            <a:r>
              <a:rPr lang="es-AR" dirty="0"/>
              <a:t>&gt;</a:t>
            </a:r>
          </a:p>
          <a:p>
            <a:pPr lvl="2"/>
            <a:endParaRPr lang="es-AR" dirty="0"/>
          </a:p>
          <a:p>
            <a:pPr lvl="1"/>
            <a:endParaRPr lang="es-AR" dirty="0"/>
          </a:p>
          <a:p>
            <a:pPr lvl="1"/>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61</a:t>
            </a:fld>
            <a:endParaRPr lang="es-ES" altLang="es-AR" dirty="0"/>
          </a:p>
        </p:txBody>
      </p:sp>
    </p:spTree>
    <p:extLst>
      <p:ext uri="{BB962C8B-B14F-4D97-AF65-F5344CB8AC3E}">
        <p14:creationId xmlns:p14="http://schemas.microsoft.com/office/powerpoint/2010/main" val="24059471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2881039"/>
          </a:xfrm>
        </p:spPr>
        <p:txBody>
          <a:bodyPr/>
          <a:lstStyle/>
          <a:p>
            <a:r>
              <a:rPr lang="es-AR" dirty="0"/>
              <a:t>Enlaces accesibles</a:t>
            </a:r>
          </a:p>
          <a:p>
            <a:pPr marL="0" indent="0">
              <a:buNone/>
            </a:pPr>
            <a:endParaRPr lang="es-AR" dirty="0"/>
          </a:p>
          <a:p>
            <a:pPr lvl="1"/>
            <a:r>
              <a:rPr lang="es-AR" dirty="0"/>
              <a:t>Son la base de la navegación en un sitio web.</a:t>
            </a:r>
          </a:p>
          <a:p>
            <a:pPr lvl="1"/>
            <a:endParaRPr lang="es-AR" dirty="0"/>
          </a:p>
          <a:p>
            <a:pPr lvl="1"/>
            <a:r>
              <a:rPr lang="es-AR" dirty="0"/>
              <a:t>Asegurarse que los enlaces sean perceptibles, operables y comprensibles por todos los usuarios.</a:t>
            </a:r>
          </a:p>
          <a:p>
            <a:pPr lvl="1"/>
            <a:endParaRPr lang="es-AR" dirty="0"/>
          </a:p>
          <a:p>
            <a:pPr lvl="1"/>
            <a:r>
              <a:rPr lang="es-AR" dirty="0"/>
              <a:t>¿Cómo se definen los enlaces en HTML?</a:t>
            </a:r>
          </a:p>
          <a:p>
            <a:pPr lvl="1"/>
            <a:endParaRPr lang="es-AR" dirty="0"/>
          </a:p>
        </p:txBody>
      </p:sp>
      <p:sp>
        <p:nvSpPr>
          <p:cNvPr id="4" name="3 CuadroTexto"/>
          <p:cNvSpPr txBox="1"/>
          <p:nvPr/>
        </p:nvSpPr>
        <p:spPr>
          <a:xfrm>
            <a:off x="880014" y="4968969"/>
            <a:ext cx="2683874" cy="1323439"/>
          </a:xfrm>
          <a:prstGeom prst="rect">
            <a:avLst/>
          </a:prstGeom>
          <a:noFill/>
          <a:ln>
            <a:solidFill>
              <a:schemeClr val="accent1"/>
            </a:solidFill>
          </a:ln>
        </p:spPr>
        <p:txBody>
          <a:bodyPr wrap="square" rtlCol="0">
            <a:spAutoFit/>
          </a:bodyPr>
          <a:lstStyle/>
          <a:p>
            <a:r>
              <a:rPr lang="es-AR" sz="2000" b="1" u="sng" dirty="0">
                <a:solidFill>
                  <a:srgbClr val="0070C0"/>
                </a:solidFill>
              </a:rPr>
              <a:t>Glosario de términos de accesibilidad</a:t>
            </a:r>
          </a:p>
          <a:p>
            <a:endParaRPr lang="es-AR" sz="2000" dirty="0"/>
          </a:p>
        </p:txBody>
      </p:sp>
      <p:sp>
        <p:nvSpPr>
          <p:cNvPr id="5" name="CuadroTexto 8"/>
          <p:cNvSpPr txBox="1"/>
          <p:nvPr/>
        </p:nvSpPr>
        <p:spPr>
          <a:xfrm>
            <a:off x="3715313" y="4957638"/>
            <a:ext cx="4971487" cy="1323439"/>
          </a:xfrm>
          <a:prstGeom prst="rect">
            <a:avLst/>
          </a:prstGeom>
          <a:noFill/>
          <a:ln>
            <a:solidFill>
              <a:schemeClr val="accent1">
                <a:shade val="50000"/>
              </a:schemeClr>
            </a:solidFill>
          </a:ln>
        </p:spPr>
        <p:txBody>
          <a:bodyPr wrap="square" rtlCol="0">
            <a:spAutoFit/>
          </a:bodyPr>
          <a:lstStyle/>
          <a:p>
            <a:r>
              <a:rPr lang="es-AR" sz="2000" dirty="0"/>
              <a:t>&lt;</a:t>
            </a:r>
            <a:r>
              <a:rPr lang="es-AR" sz="2000" b="1" dirty="0">
                <a:solidFill>
                  <a:srgbClr val="0070C0"/>
                </a:solidFill>
              </a:rPr>
              <a:t>a</a:t>
            </a:r>
            <a:r>
              <a:rPr lang="es-AR" sz="2000" dirty="0"/>
              <a:t> </a:t>
            </a:r>
            <a:r>
              <a:rPr lang="es-AR" sz="2000" dirty="0" err="1"/>
              <a:t>href</a:t>
            </a:r>
            <a:r>
              <a:rPr lang="es-AR" sz="2000" dirty="0"/>
              <a:t>=“</a:t>
            </a:r>
            <a:r>
              <a:rPr lang="es-AR" sz="2000" dirty="0" err="1"/>
              <a:t>glosario.php</a:t>
            </a:r>
            <a:r>
              <a:rPr lang="es-AR" sz="2000" dirty="0"/>
              <a:t>”  target=“_</a:t>
            </a:r>
            <a:r>
              <a:rPr lang="es-AR" sz="2000" dirty="0" err="1"/>
              <a:t>blank</a:t>
            </a:r>
            <a:r>
              <a:rPr lang="es-AR" sz="2000" dirty="0"/>
              <a:t>” </a:t>
            </a:r>
            <a:r>
              <a:rPr lang="es-AR" sz="2000" dirty="0" err="1"/>
              <a:t>title</a:t>
            </a:r>
            <a:r>
              <a:rPr lang="es-AR" sz="2000" dirty="0"/>
              <a:t>=“Se abre en ventana nueva”&gt; </a:t>
            </a:r>
          </a:p>
          <a:p>
            <a:r>
              <a:rPr lang="es-AR" sz="2000" dirty="0"/>
              <a:t>Glosario de términos de accesibilidad </a:t>
            </a:r>
          </a:p>
          <a:p>
            <a:r>
              <a:rPr lang="es-AR" sz="2000" b="1" dirty="0">
                <a:solidFill>
                  <a:srgbClr val="0070C0"/>
                </a:solidFill>
              </a:rPr>
              <a:t>&lt;/a&gt;</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62</a:t>
            </a:fld>
            <a:endParaRPr lang="es-ES" altLang="es-AR" dirty="0"/>
          </a:p>
        </p:txBody>
      </p:sp>
    </p:spTree>
    <p:extLst>
      <p:ext uri="{BB962C8B-B14F-4D97-AF65-F5344CB8AC3E}">
        <p14:creationId xmlns:p14="http://schemas.microsoft.com/office/powerpoint/2010/main" val="1748804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Perceptible</a:t>
            </a:r>
          </a:p>
          <a:p>
            <a:pPr lvl="1"/>
            <a:endParaRPr lang="es-AR" dirty="0"/>
          </a:p>
          <a:p>
            <a:pPr lvl="2"/>
            <a:r>
              <a:rPr lang="es-AR" dirty="0"/>
              <a:t>Suficiente contraste de color con el color de fondo.</a:t>
            </a:r>
          </a:p>
          <a:p>
            <a:pPr lvl="2"/>
            <a:endParaRPr lang="es-AR" dirty="0"/>
          </a:p>
          <a:p>
            <a:pPr lvl="2"/>
            <a:r>
              <a:rPr lang="es-AR" dirty="0"/>
              <a:t>La información de que es un enlace no debe depender únicamente del color:</a:t>
            </a:r>
          </a:p>
          <a:p>
            <a:pPr lvl="3"/>
            <a:r>
              <a:rPr lang="es-AR" dirty="0"/>
              <a:t>Subrayar los enlaces incluidos dentro de un texto.</a:t>
            </a:r>
          </a:p>
          <a:p>
            <a:pPr lvl="3"/>
            <a:endParaRPr lang="es-AR" dirty="0"/>
          </a:p>
          <a:p>
            <a:pPr lvl="2"/>
            <a:r>
              <a:rPr lang="es-AR" dirty="0"/>
              <a:t>Diferenciar visualmente los enlaces visitados – no visitados.</a:t>
            </a:r>
          </a:p>
          <a:p>
            <a:pPr lvl="1"/>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63</a:t>
            </a:fld>
            <a:endParaRPr lang="es-ES" altLang="es-AR" dirty="0"/>
          </a:p>
        </p:txBody>
      </p:sp>
    </p:spTree>
    <p:extLst>
      <p:ext uri="{BB962C8B-B14F-4D97-AF65-F5344CB8AC3E}">
        <p14:creationId xmlns:p14="http://schemas.microsoft.com/office/powerpoint/2010/main" val="39371257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3097063"/>
          </a:xfrm>
        </p:spPr>
        <p:txBody>
          <a:bodyPr/>
          <a:lstStyle/>
          <a:p>
            <a:r>
              <a:rPr lang="es-AR" dirty="0"/>
              <a:t>Enlaces accesibles</a:t>
            </a:r>
          </a:p>
          <a:p>
            <a:pPr marL="0" indent="0">
              <a:buNone/>
            </a:pPr>
            <a:endParaRPr lang="es-AR" dirty="0"/>
          </a:p>
          <a:p>
            <a:pPr lvl="2"/>
            <a:r>
              <a:rPr lang="es-AR" dirty="0"/>
              <a:t>Subrayar los enlaces incluidos dentro de un texto.</a:t>
            </a:r>
          </a:p>
          <a:p>
            <a:pPr lvl="2"/>
            <a:endParaRPr lang="es-AR" dirty="0"/>
          </a:p>
          <a:p>
            <a:pPr lvl="2"/>
            <a:endParaRPr lang="es-AR" dirty="0"/>
          </a:p>
          <a:p>
            <a:pPr marL="914400" lvl="2" indent="0">
              <a:buNone/>
            </a:pPr>
            <a:r>
              <a:rPr lang="es-AR" dirty="0"/>
              <a:t>		         </a:t>
            </a:r>
            <a:r>
              <a:rPr lang="es-AR" b="1" dirty="0">
                <a:solidFill>
                  <a:srgbClr val="FF0000"/>
                </a:solidFill>
              </a:rPr>
              <a:t>MAL</a:t>
            </a:r>
            <a:r>
              <a:rPr lang="es-AR" dirty="0"/>
              <a:t>			         </a:t>
            </a:r>
            <a:r>
              <a:rPr lang="es-AR" b="1" dirty="0">
                <a:solidFill>
                  <a:srgbClr val="00B050"/>
                </a:solidFill>
              </a:rPr>
              <a:t>BIEN</a:t>
            </a:r>
          </a:p>
          <a:p>
            <a:pPr lvl="3"/>
            <a:endParaRPr lang="es-AR" dirty="0"/>
          </a:p>
          <a:p>
            <a:pPr lvl="2"/>
            <a:endParaRPr lang="es-AR" dirty="0"/>
          </a:p>
          <a:p>
            <a:pPr lvl="2"/>
            <a:endParaRPr lang="es-AR" dirty="0"/>
          </a:p>
          <a:p>
            <a:pPr lvl="2"/>
            <a:r>
              <a:rPr lang="es-AR" dirty="0"/>
              <a:t>Diferenciar </a:t>
            </a:r>
          </a:p>
          <a:p>
            <a:pPr marL="914400" lvl="2" indent="0">
              <a:buNone/>
            </a:pPr>
            <a:r>
              <a:rPr lang="es-AR" dirty="0"/>
              <a:t>   visualmente </a:t>
            </a:r>
          </a:p>
          <a:p>
            <a:pPr marL="914400" lvl="2" indent="0">
              <a:buNone/>
            </a:pPr>
            <a:r>
              <a:rPr lang="es-AR" dirty="0"/>
              <a:t>   los  enlaces </a:t>
            </a:r>
          </a:p>
          <a:p>
            <a:pPr marL="914400" lvl="2" indent="0">
              <a:buNone/>
            </a:pPr>
            <a:r>
              <a:rPr lang="es-AR" dirty="0"/>
              <a:t>   visitados – no visitados.</a:t>
            </a:r>
          </a:p>
          <a:p>
            <a:pPr lvl="1"/>
            <a:endParaRPr lang="es-AR" dirty="0"/>
          </a:p>
        </p:txBody>
      </p:sp>
      <p:sp>
        <p:nvSpPr>
          <p:cNvPr id="7" name="3 CuadroTexto"/>
          <p:cNvSpPr txBox="1"/>
          <p:nvPr/>
        </p:nvSpPr>
        <p:spPr>
          <a:xfrm>
            <a:off x="1475656" y="3140968"/>
            <a:ext cx="2336800" cy="1631216"/>
          </a:xfrm>
          <a:prstGeom prst="rect">
            <a:avLst/>
          </a:prstGeom>
          <a:noFill/>
          <a:ln>
            <a:solidFill>
              <a:schemeClr val="accent1"/>
            </a:solidFill>
          </a:ln>
        </p:spPr>
        <p:txBody>
          <a:bodyPr wrap="square" rtlCol="0">
            <a:spAutoFit/>
          </a:bodyPr>
          <a:lstStyle/>
          <a:p>
            <a:r>
              <a:rPr lang="es-AR" sz="2000" dirty="0"/>
              <a:t>Las </a:t>
            </a:r>
            <a:r>
              <a:rPr lang="es-AR" sz="2000" b="1" dirty="0">
                <a:solidFill>
                  <a:srgbClr val="0070C0"/>
                </a:solidFill>
              </a:rPr>
              <a:t>WCAG 2.0 </a:t>
            </a:r>
            <a:r>
              <a:rPr lang="es-AR" sz="2000" dirty="0"/>
              <a:t>se han desarrollado mediante el proceso del W3C en…</a:t>
            </a:r>
          </a:p>
        </p:txBody>
      </p:sp>
      <p:sp>
        <p:nvSpPr>
          <p:cNvPr id="8" name="4 CuadroTexto"/>
          <p:cNvSpPr txBox="1"/>
          <p:nvPr/>
        </p:nvSpPr>
        <p:spPr>
          <a:xfrm>
            <a:off x="5086871" y="3140968"/>
            <a:ext cx="2336800" cy="1631216"/>
          </a:xfrm>
          <a:prstGeom prst="rect">
            <a:avLst/>
          </a:prstGeom>
          <a:noFill/>
          <a:ln>
            <a:solidFill>
              <a:schemeClr val="accent1"/>
            </a:solidFill>
          </a:ln>
        </p:spPr>
        <p:txBody>
          <a:bodyPr wrap="square" rtlCol="0">
            <a:spAutoFit/>
          </a:bodyPr>
          <a:lstStyle/>
          <a:p>
            <a:r>
              <a:rPr lang="es-AR" sz="2000" dirty="0"/>
              <a:t>Las </a:t>
            </a:r>
            <a:r>
              <a:rPr lang="es-AR" sz="2000" b="1" u="sng" dirty="0">
                <a:solidFill>
                  <a:srgbClr val="0070C0"/>
                </a:solidFill>
              </a:rPr>
              <a:t>WCAG 2.0</a:t>
            </a:r>
            <a:r>
              <a:rPr lang="es-AR" sz="2000" b="1" u="sng" dirty="0"/>
              <a:t> </a:t>
            </a:r>
            <a:r>
              <a:rPr lang="es-AR" sz="2000" dirty="0"/>
              <a:t>se han desarrollado mediante el proceso del W3C en…</a:t>
            </a:r>
          </a:p>
        </p:txBody>
      </p:sp>
      <p:sp>
        <p:nvSpPr>
          <p:cNvPr id="9" name="5 CuadroTexto"/>
          <p:cNvSpPr txBox="1"/>
          <p:nvPr/>
        </p:nvSpPr>
        <p:spPr>
          <a:xfrm>
            <a:off x="5086871" y="5013176"/>
            <a:ext cx="2336800" cy="1631216"/>
          </a:xfrm>
          <a:prstGeom prst="rect">
            <a:avLst/>
          </a:prstGeom>
          <a:noFill/>
          <a:ln>
            <a:solidFill>
              <a:schemeClr val="accent1"/>
            </a:solidFill>
          </a:ln>
        </p:spPr>
        <p:txBody>
          <a:bodyPr wrap="square" rtlCol="0">
            <a:spAutoFit/>
          </a:bodyPr>
          <a:lstStyle/>
          <a:p>
            <a:r>
              <a:rPr lang="es-AR" sz="2000" dirty="0"/>
              <a:t>Las </a:t>
            </a:r>
            <a:r>
              <a:rPr lang="es-AR" sz="2000" b="1" u="sng" dirty="0">
                <a:solidFill>
                  <a:srgbClr val="7030A0"/>
                </a:solidFill>
              </a:rPr>
              <a:t>WCAG 2.0 </a:t>
            </a:r>
            <a:r>
              <a:rPr lang="es-AR" sz="2000" dirty="0"/>
              <a:t>se han desarrollado mediante el proceso del W3C en…</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64</a:t>
            </a:fld>
            <a:endParaRPr lang="es-ES" altLang="es-AR" dirty="0"/>
          </a:p>
        </p:txBody>
      </p:sp>
    </p:spTree>
    <p:extLst>
      <p:ext uri="{BB962C8B-B14F-4D97-AF65-F5344CB8AC3E}">
        <p14:creationId xmlns:p14="http://schemas.microsoft.com/office/powerpoint/2010/main" val="6733201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Operable</a:t>
            </a:r>
          </a:p>
          <a:p>
            <a:pPr lvl="2"/>
            <a:r>
              <a:rPr lang="es-AR" dirty="0"/>
              <a:t>Usar el elemento nativo &lt;a&gt;:</a:t>
            </a:r>
          </a:p>
          <a:p>
            <a:pPr lvl="3"/>
            <a:r>
              <a:rPr lang="es-AR" dirty="0"/>
              <a:t>Operable por teclado y por mouse.</a:t>
            </a:r>
          </a:p>
          <a:p>
            <a:pPr lvl="3"/>
            <a:r>
              <a:rPr lang="es-AR" dirty="0"/>
              <a:t>Correcta interacción con los productos de apoyo.</a:t>
            </a:r>
          </a:p>
          <a:p>
            <a:pPr lvl="3"/>
            <a:r>
              <a:rPr lang="es-AR" dirty="0"/>
              <a:t>No dependan de JavaScript.</a:t>
            </a:r>
          </a:p>
          <a:p>
            <a:pPr lvl="2"/>
            <a:endParaRPr lang="es-AR" dirty="0"/>
          </a:p>
          <a:p>
            <a:pPr marL="3657600" lvl="8" indent="0">
              <a:buNone/>
            </a:pPr>
            <a:r>
              <a:rPr lang="es-AR" dirty="0"/>
              <a:t>                                                      </a:t>
            </a:r>
            <a:r>
              <a:rPr lang="es-AR" b="1" dirty="0">
                <a:solidFill>
                  <a:srgbClr val="FF0000"/>
                </a:solidFill>
              </a:rPr>
              <a:t>MAL</a:t>
            </a:r>
          </a:p>
          <a:p>
            <a:pPr marL="3657600" lvl="8" indent="0">
              <a:buNone/>
            </a:pPr>
            <a:endParaRPr lang="es-AR" dirty="0"/>
          </a:p>
          <a:p>
            <a:pPr marL="3657600" lvl="8" indent="0">
              <a:buNone/>
            </a:pPr>
            <a:endParaRPr lang="es-AR" dirty="0"/>
          </a:p>
          <a:p>
            <a:pPr marL="3657600" lvl="8" indent="0">
              <a:buNone/>
            </a:pPr>
            <a:r>
              <a:rPr lang="es-AR" dirty="0"/>
              <a:t>			              </a:t>
            </a:r>
            <a:r>
              <a:rPr lang="es-AR" b="1" dirty="0">
                <a:solidFill>
                  <a:srgbClr val="00B050"/>
                </a:solidFill>
              </a:rPr>
              <a:t>BIEN</a:t>
            </a:r>
            <a:r>
              <a:rPr lang="es-AR" dirty="0"/>
              <a:t> 		</a:t>
            </a:r>
          </a:p>
        </p:txBody>
      </p:sp>
      <p:sp>
        <p:nvSpPr>
          <p:cNvPr id="4" name="6 CuadroTexto"/>
          <p:cNvSpPr txBox="1"/>
          <p:nvPr/>
        </p:nvSpPr>
        <p:spPr>
          <a:xfrm>
            <a:off x="457200" y="4581128"/>
            <a:ext cx="7228281" cy="1015663"/>
          </a:xfrm>
          <a:prstGeom prst="rect">
            <a:avLst/>
          </a:prstGeom>
          <a:noFill/>
          <a:ln>
            <a:solidFill>
              <a:schemeClr val="accent1"/>
            </a:solidFill>
          </a:ln>
        </p:spPr>
        <p:txBody>
          <a:bodyPr wrap="square" rtlCol="0">
            <a:spAutoFit/>
          </a:bodyPr>
          <a:lstStyle/>
          <a:p>
            <a:r>
              <a:rPr lang="es-AR" sz="2000" dirty="0"/>
              <a:t>&lt;a </a:t>
            </a:r>
            <a:r>
              <a:rPr lang="es-AR" sz="2000" dirty="0" err="1"/>
              <a:t>href</a:t>
            </a:r>
            <a:r>
              <a:rPr lang="es-AR" sz="2000" dirty="0"/>
              <a:t>=“</a:t>
            </a:r>
            <a:r>
              <a:rPr lang="es-AR" sz="2000" dirty="0" err="1"/>
              <a:t>javascript</a:t>
            </a:r>
            <a:r>
              <a:rPr lang="es-AR" sz="2000" dirty="0"/>
              <a:t>:;”</a:t>
            </a:r>
          </a:p>
          <a:p>
            <a:r>
              <a:rPr lang="es-AR" sz="2000" dirty="0" err="1"/>
              <a:t>onclick</a:t>
            </a:r>
            <a:r>
              <a:rPr lang="es-AR" sz="2000" dirty="0"/>
              <a:t>=“</a:t>
            </a:r>
            <a:r>
              <a:rPr lang="es-AR" sz="2000" dirty="0" err="1"/>
              <a:t>document.location.href</a:t>
            </a:r>
            <a:r>
              <a:rPr lang="es-AR" sz="2000" dirty="0"/>
              <a:t>=“mapa.html”&gt; Mapa web &lt;/a&gt;</a:t>
            </a:r>
          </a:p>
          <a:p>
            <a:endParaRPr lang="es-AR" sz="2000" dirty="0"/>
          </a:p>
        </p:txBody>
      </p:sp>
      <p:sp>
        <p:nvSpPr>
          <p:cNvPr id="5" name="7 CuadroTexto"/>
          <p:cNvSpPr txBox="1"/>
          <p:nvPr/>
        </p:nvSpPr>
        <p:spPr>
          <a:xfrm>
            <a:off x="448469" y="5745450"/>
            <a:ext cx="7228281" cy="707886"/>
          </a:xfrm>
          <a:prstGeom prst="rect">
            <a:avLst/>
          </a:prstGeom>
          <a:noFill/>
          <a:ln>
            <a:solidFill>
              <a:schemeClr val="accent1"/>
            </a:solidFill>
          </a:ln>
        </p:spPr>
        <p:txBody>
          <a:bodyPr wrap="square" rtlCol="0">
            <a:spAutoFit/>
          </a:bodyPr>
          <a:lstStyle/>
          <a:p>
            <a:r>
              <a:rPr lang="es-AR" sz="2000" dirty="0"/>
              <a:t>&lt;a </a:t>
            </a:r>
            <a:r>
              <a:rPr lang="es-AR" sz="2000" dirty="0" err="1"/>
              <a:t>href</a:t>
            </a:r>
            <a:r>
              <a:rPr lang="es-AR" sz="2000" dirty="0"/>
              <a:t>=“mapa.html”&gt;</a:t>
            </a:r>
            <a:r>
              <a:rPr lang="es-AR" sz="2000" dirty="0" err="1"/>
              <a:t>Mapq</a:t>
            </a:r>
            <a:r>
              <a:rPr lang="es-AR" sz="2000" dirty="0"/>
              <a:t> web &lt;/a&gt;</a:t>
            </a:r>
          </a:p>
          <a:p>
            <a:endParaRPr lang="es-AR" sz="2000"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65</a:t>
            </a:fld>
            <a:endParaRPr lang="es-ES" altLang="es-AR" dirty="0"/>
          </a:p>
        </p:txBody>
      </p:sp>
    </p:spTree>
    <p:extLst>
      <p:ext uri="{BB962C8B-B14F-4D97-AF65-F5344CB8AC3E}">
        <p14:creationId xmlns:p14="http://schemas.microsoft.com/office/powerpoint/2010/main" val="12744661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Comprensibles		</a:t>
            </a:r>
          </a:p>
        </p:txBody>
      </p:sp>
      <p:sp>
        <p:nvSpPr>
          <p:cNvPr id="6" name="5 CuadroTexto"/>
          <p:cNvSpPr txBox="1"/>
          <p:nvPr/>
        </p:nvSpPr>
        <p:spPr>
          <a:xfrm>
            <a:off x="899592" y="3212976"/>
            <a:ext cx="2520280" cy="2862322"/>
          </a:xfrm>
          <a:prstGeom prst="rect">
            <a:avLst/>
          </a:prstGeom>
          <a:noFill/>
          <a:ln>
            <a:solidFill>
              <a:schemeClr val="accent1"/>
            </a:solidFill>
          </a:ln>
        </p:spPr>
        <p:txBody>
          <a:bodyPr wrap="square" rtlCol="0">
            <a:spAutoFit/>
          </a:bodyPr>
          <a:lstStyle/>
          <a:p>
            <a:r>
              <a:rPr lang="es-AR" sz="2000" dirty="0"/>
              <a:t>Las Pautas de Accesibilidad para el Contenido Web </a:t>
            </a:r>
          </a:p>
          <a:p>
            <a:r>
              <a:rPr lang="es-AR" sz="2000" dirty="0"/>
              <a:t> definen cómo crear contenidos web más accesible para las personas con discapacidad.</a:t>
            </a:r>
          </a:p>
          <a:p>
            <a:r>
              <a:rPr lang="es-AR" sz="2000" b="1" u="sng" dirty="0">
                <a:solidFill>
                  <a:srgbClr val="0070C0"/>
                </a:solidFill>
              </a:rPr>
              <a:t>Más Información</a:t>
            </a:r>
            <a:r>
              <a:rPr lang="es-AR" sz="2000" b="1" dirty="0">
                <a:solidFill>
                  <a:srgbClr val="0070C0"/>
                </a:solidFill>
              </a:rPr>
              <a:t> </a:t>
            </a:r>
            <a:r>
              <a:rPr lang="es-AR" sz="2000" b="1" dirty="0">
                <a:solidFill>
                  <a:srgbClr val="C00000"/>
                </a:solidFill>
              </a:rPr>
              <a:t>?</a:t>
            </a:r>
            <a:endParaRPr lang="es-AR" sz="2000" b="1" u="sng" dirty="0">
              <a:solidFill>
                <a:srgbClr val="C00000"/>
              </a:solidFill>
            </a:endParaRPr>
          </a:p>
        </p:txBody>
      </p:sp>
      <p:sp>
        <p:nvSpPr>
          <p:cNvPr id="7" name="10 Llamada de nube"/>
          <p:cNvSpPr/>
          <p:nvPr/>
        </p:nvSpPr>
        <p:spPr>
          <a:xfrm>
            <a:off x="3531847" y="2204865"/>
            <a:ext cx="4915133" cy="1361850"/>
          </a:xfrm>
          <a:prstGeom prst="cloudCallout">
            <a:avLst>
              <a:gd name="adj1" fmla="val -32033"/>
              <a:gd name="adj2" fmla="val 8588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dirty="0">
                <a:solidFill>
                  <a:schemeClr val="tx1"/>
                </a:solidFill>
              </a:rPr>
              <a:t>¿Qué contenido o información encontraré en el documento destino?</a:t>
            </a:r>
          </a:p>
        </p:txBody>
      </p:sp>
      <p:sp>
        <p:nvSpPr>
          <p:cNvPr id="8" name="12 Llamada de nube"/>
          <p:cNvSpPr/>
          <p:nvPr/>
        </p:nvSpPr>
        <p:spPr>
          <a:xfrm>
            <a:off x="4860032" y="4087874"/>
            <a:ext cx="3292888" cy="1417587"/>
          </a:xfrm>
          <a:prstGeom prst="cloudCallout">
            <a:avLst>
              <a:gd name="adj1" fmla="val -56842"/>
              <a:gd name="adj2" fmla="val -2225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dirty="0">
                <a:solidFill>
                  <a:schemeClr val="tx1"/>
                </a:solidFill>
              </a:rPr>
              <a:t>¿Qué acción o funcionalidad invoca?</a:t>
            </a:r>
          </a:p>
        </p:txBody>
      </p:sp>
      <p:pic>
        <p:nvPicPr>
          <p:cNvPr id="9" name="Picture 7" descr="Resultado de imagen para pensador dibujo"/>
          <p:cNvPicPr>
            <a:picLocks noChangeAspect="1" noChangeArrowheads="1"/>
          </p:cNvPicPr>
          <p:nvPr/>
        </p:nvPicPr>
        <p:blipFill>
          <a:blip r:embed="rId3" cstate="print"/>
          <a:srcRect/>
          <a:stretch>
            <a:fillRect/>
          </a:stretch>
        </p:blipFill>
        <p:spPr bwMode="auto">
          <a:xfrm>
            <a:off x="3567707" y="3922872"/>
            <a:ext cx="1004293" cy="1442529"/>
          </a:xfrm>
          <a:prstGeom prst="rect">
            <a:avLst/>
          </a:prstGeom>
          <a:noFill/>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66</a:t>
            </a:fld>
            <a:endParaRPr lang="es-ES" altLang="es-AR" dirty="0"/>
          </a:p>
        </p:txBody>
      </p:sp>
    </p:spTree>
    <p:extLst>
      <p:ext uri="{BB962C8B-B14F-4D97-AF65-F5344CB8AC3E}">
        <p14:creationId xmlns:p14="http://schemas.microsoft.com/office/powerpoint/2010/main" val="6351152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Propósito de los enlaces (WCAG 2.0)</a:t>
            </a:r>
          </a:p>
          <a:p>
            <a:pPr lvl="1"/>
            <a:endParaRPr lang="es-AR" dirty="0"/>
          </a:p>
          <a:p>
            <a:pPr lvl="2"/>
            <a:r>
              <a:rPr lang="es-AR" b="1" dirty="0"/>
              <a:t>Criterio 2.4.4 Propósito de los enlaces (en contexto)</a:t>
            </a:r>
          </a:p>
          <a:p>
            <a:pPr lvl="2">
              <a:buNone/>
            </a:pPr>
            <a:r>
              <a:rPr lang="es-AR" dirty="0"/>
              <a:t>	</a:t>
            </a:r>
            <a:r>
              <a:rPr lang="es-AR" u="sng" dirty="0"/>
              <a:t>El propósito de cada enlace puede ser determinado con solo el texto del enlace </a:t>
            </a:r>
            <a:r>
              <a:rPr lang="es-AR" dirty="0"/>
              <a:t>o a través del texto del enlace sumado al contexto del enlace determinado por software, excepto cuando el propósito del enlace resultara ambiguo para los usuarios en general. [Nivel A]</a:t>
            </a:r>
          </a:p>
          <a:p>
            <a:pPr lvl="2">
              <a:buNone/>
            </a:pPr>
            <a:endParaRPr lang="es-AR" dirty="0"/>
          </a:p>
          <a:p>
            <a:pPr lvl="2"/>
            <a:r>
              <a:rPr lang="es-AR" dirty="0"/>
              <a:t>Textos de enlace descriptivos.</a:t>
            </a:r>
          </a:p>
          <a:p>
            <a:pPr lvl="2"/>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67</a:t>
            </a:fld>
            <a:endParaRPr lang="es-ES" altLang="es-AR" dirty="0"/>
          </a:p>
        </p:txBody>
      </p:sp>
    </p:spTree>
    <p:extLst>
      <p:ext uri="{BB962C8B-B14F-4D97-AF65-F5344CB8AC3E}">
        <p14:creationId xmlns:p14="http://schemas.microsoft.com/office/powerpoint/2010/main" val="5119944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249191"/>
          </a:xfrm>
        </p:spPr>
        <p:txBody>
          <a:bodyPr/>
          <a:lstStyle/>
          <a:p>
            <a:r>
              <a:rPr lang="es-AR" dirty="0"/>
              <a:t>Enlaces accesibles</a:t>
            </a:r>
          </a:p>
          <a:p>
            <a:pPr marL="0" indent="0">
              <a:buNone/>
            </a:pPr>
            <a:endParaRPr lang="es-AR" dirty="0"/>
          </a:p>
          <a:p>
            <a:pPr lvl="1"/>
            <a:r>
              <a:rPr lang="es-AR" dirty="0"/>
              <a:t>Ejemplos de textos de enlaces descriptivos:</a:t>
            </a:r>
          </a:p>
          <a:p>
            <a:pPr lvl="1"/>
            <a:endParaRPr lang="es-AR" dirty="0"/>
          </a:p>
          <a:p>
            <a:pPr lvl="2"/>
            <a:r>
              <a:rPr lang="es-AR" b="1" u="sng" dirty="0">
                <a:solidFill>
                  <a:srgbClr val="0070C0"/>
                </a:solidFill>
              </a:rPr>
              <a:t>Artículo “PDF Accesibles” del blog de Olga Carreras</a:t>
            </a:r>
          </a:p>
          <a:p>
            <a:pPr marL="914400" lvl="2" indent="0">
              <a:buNone/>
            </a:pPr>
            <a:endParaRPr lang="es-AR" b="1" u="sng" dirty="0">
              <a:solidFill>
                <a:srgbClr val="0070C0"/>
              </a:solidFill>
            </a:endParaRPr>
          </a:p>
          <a:p>
            <a:pPr lvl="2"/>
            <a:r>
              <a:rPr lang="es-AR" b="1" u="sng" dirty="0">
                <a:solidFill>
                  <a:srgbClr val="0070C0"/>
                </a:solidFill>
              </a:rPr>
              <a:t>Glosario de términos (PDF, 100KB)</a:t>
            </a:r>
          </a:p>
          <a:p>
            <a:pPr lvl="2"/>
            <a:endParaRPr lang="es-AR" b="1" u="sng" dirty="0">
              <a:solidFill>
                <a:srgbClr val="0070C0"/>
              </a:solidFill>
            </a:endParaRPr>
          </a:p>
          <a:p>
            <a:pPr lvl="2"/>
            <a:r>
              <a:rPr lang="es-AR" b="1" u="sng" dirty="0">
                <a:solidFill>
                  <a:srgbClr val="0070C0"/>
                </a:solidFill>
              </a:rPr>
              <a:t>Formulario de contacto (se abre en ventana nueva)</a:t>
            </a:r>
          </a:p>
          <a:p>
            <a:pPr lvl="2"/>
            <a:endParaRPr lang="es-AR" dirty="0"/>
          </a:p>
          <a:p>
            <a:pPr lvl="1"/>
            <a:endParaRPr lang="es-AR" dirty="0"/>
          </a:p>
          <a:p>
            <a:pPr lvl="2"/>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68</a:t>
            </a:fld>
            <a:endParaRPr lang="es-ES" altLang="es-AR" dirty="0"/>
          </a:p>
        </p:txBody>
      </p:sp>
    </p:spTree>
    <p:extLst>
      <p:ext uri="{BB962C8B-B14F-4D97-AF65-F5344CB8AC3E}">
        <p14:creationId xmlns:p14="http://schemas.microsoft.com/office/powerpoint/2010/main" val="11707989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609231"/>
          </a:xfrm>
        </p:spPr>
        <p:txBody>
          <a:bodyPr/>
          <a:lstStyle/>
          <a:p>
            <a:r>
              <a:rPr lang="es-AR" dirty="0"/>
              <a:t>Enlaces accesibles</a:t>
            </a:r>
          </a:p>
          <a:p>
            <a:pPr marL="0" indent="0">
              <a:buNone/>
            </a:pPr>
            <a:endParaRPr lang="es-AR" dirty="0"/>
          </a:p>
          <a:p>
            <a:pPr lvl="1"/>
            <a:r>
              <a:rPr lang="es-AR" dirty="0"/>
              <a:t>Texto de enlace descriptivo fuera del contexto</a:t>
            </a:r>
          </a:p>
          <a:p>
            <a:pPr lvl="2"/>
            <a:r>
              <a:rPr lang="es-AR" dirty="0"/>
              <a:t>Identifica claramente el contenido o información que se encuentra en el documento destino, o la acción o funcionalidad que invocan.</a:t>
            </a:r>
          </a:p>
          <a:p>
            <a:pPr lvl="2"/>
            <a:r>
              <a:rPr lang="es-AR" dirty="0"/>
              <a:t>Mismo texto de enlace = mismo destino.</a:t>
            </a:r>
          </a:p>
          <a:p>
            <a:pPr lvl="2"/>
            <a:r>
              <a:rPr lang="es-AR" dirty="0"/>
              <a:t>Mismo destino = mismo texto de enlace.</a:t>
            </a:r>
          </a:p>
          <a:p>
            <a:pPr lvl="2"/>
            <a:r>
              <a:rPr lang="es-AR" dirty="0"/>
              <a:t>La URL del enlace no se considera descriptiva.</a:t>
            </a:r>
          </a:p>
          <a:p>
            <a:pPr marL="914400" lvl="2" indent="0">
              <a:buNone/>
            </a:pPr>
            <a:r>
              <a:rPr lang="es-AR" dirty="0"/>
              <a:t>							 </a:t>
            </a:r>
            <a:r>
              <a:rPr lang="es-AR" b="1" dirty="0">
                <a:solidFill>
                  <a:srgbClr val="FF0000"/>
                </a:solidFill>
              </a:rPr>
              <a:t>MAL</a:t>
            </a:r>
          </a:p>
          <a:p>
            <a:pPr marL="457200" lvl="1" indent="0">
              <a:buNone/>
            </a:pPr>
            <a:r>
              <a:rPr lang="es-AR" dirty="0"/>
              <a:t>								 </a:t>
            </a:r>
          </a:p>
          <a:p>
            <a:pPr marL="457200" lvl="1" indent="0">
              <a:buNone/>
            </a:pPr>
            <a:r>
              <a:rPr lang="es-AR" dirty="0"/>
              <a:t>								 </a:t>
            </a:r>
            <a:r>
              <a:rPr lang="es-AR" b="1" dirty="0">
                <a:solidFill>
                  <a:srgbClr val="00B050"/>
                </a:solidFill>
              </a:rPr>
              <a:t>BIEN</a:t>
            </a:r>
          </a:p>
          <a:p>
            <a:pPr lvl="1"/>
            <a:endParaRPr lang="es-AR" dirty="0"/>
          </a:p>
          <a:p>
            <a:pPr lvl="2"/>
            <a:endParaRPr lang="es-AR" dirty="0"/>
          </a:p>
          <a:p>
            <a:pPr marL="3657600" lvl="8" indent="0">
              <a:buNone/>
            </a:pPr>
            <a:r>
              <a:rPr lang="es-AR" dirty="0"/>
              <a:t>		</a:t>
            </a:r>
          </a:p>
        </p:txBody>
      </p:sp>
      <p:sp>
        <p:nvSpPr>
          <p:cNvPr id="4" name="6 CuadroTexto"/>
          <p:cNvSpPr txBox="1"/>
          <p:nvPr/>
        </p:nvSpPr>
        <p:spPr>
          <a:xfrm>
            <a:off x="1259632" y="5181204"/>
            <a:ext cx="6552728" cy="707886"/>
          </a:xfrm>
          <a:prstGeom prst="rect">
            <a:avLst/>
          </a:prstGeom>
          <a:noFill/>
          <a:ln>
            <a:solidFill>
              <a:schemeClr val="accent1"/>
            </a:solidFill>
          </a:ln>
        </p:spPr>
        <p:txBody>
          <a:bodyPr wrap="square" rtlCol="0">
            <a:spAutoFit/>
          </a:bodyPr>
          <a:lstStyle/>
          <a:p>
            <a:r>
              <a:rPr lang="es-AR" sz="2000" b="1" u="sng" dirty="0">
                <a:solidFill>
                  <a:srgbClr val="0070C0"/>
                </a:solidFill>
              </a:rPr>
              <a:t>http://www.usableyaccesible/articulos/PDF/pdf-accesibles.html</a:t>
            </a:r>
          </a:p>
        </p:txBody>
      </p:sp>
      <p:sp>
        <p:nvSpPr>
          <p:cNvPr id="5" name="7 CuadroTexto"/>
          <p:cNvSpPr txBox="1"/>
          <p:nvPr/>
        </p:nvSpPr>
        <p:spPr>
          <a:xfrm>
            <a:off x="1238656" y="5944562"/>
            <a:ext cx="6573704" cy="400110"/>
          </a:xfrm>
          <a:prstGeom prst="rect">
            <a:avLst/>
          </a:prstGeom>
          <a:noFill/>
          <a:ln>
            <a:solidFill>
              <a:schemeClr val="accent1"/>
            </a:solidFill>
          </a:ln>
        </p:spPr>
        <p:txBody>
          <a:bodyPr wrap="square" rtlCol="0">
            <a:spAutoFit/>
          </a:bodyPr>
          <a:lstStyle/>
          <a:p>
            <a:r>
              <a:rPr lang="es-AR" sz="2000" b="1" u="sng" dirty="0">
                <a:solidFill>
                  <a:srgbClr val="0070C0"/>
                </a:solidFill>
              </a:rPr>
              <a:t>Artículo “PDF Accesibles” del blog de Olga Carreras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69</a:t>
            </a:fld>
            <a:endParaRPr lang="es-ES" altLang="es-AR" dirty="0"/>
          </a:p>
        </p:txBody>
      </p:sp>
    </p:spTree>
    <p:extLst>
      <p:ext uri="{BB962C8B-B14F-4D97-AF65-F5344CB8AC3E}">
        <p14:creationId xmlns:p14="http://schemas.microsoft.com/office/powerpoint/2010/main" val="11372000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249191"/>
          </a:xfrm>
        </p:spPr>
        <p:txBody>
          <a:bodyPr/>
          <a:lstStyle/>
          <a:p>
            <a:r>
              <a:rPr lang="es-AR" dirty="0"/>
              <a:t>Enlaces accesibles</a:t>
            </a:r>
          </a:p>
          <a:p>
            <a:pPr marL="0" indent="0">
              <a:buNone/>
            </a:pPr>
            <a:endParaRPr lang="es-AR" dirty="0"/>
          </a:p>
          <a:p>
            <a:pPr lvl="1"/>
            <a:r>
              <a:rPr lang="es-AR" dirty="0"/>
              <a:t>Texto de enlace descriptivo fuera del contexto</a:t>
            </a:r>
          </a:p>
          <a:p>
            <a:pPr lvl="1"/>
            <a:endParaRPr lang="es-AR" dirty="0"/>
          </a:p>
          <a:p>
            <a:pPr lvl="2"/>
            <a:r>
              <a:rPr lang="es-AR" dirty="0"/>
              <a:t>Indicar:</a:t>
            </a:r>
          </a:p>
          <a:p>
            <a:pPr lvl="2"/>
            <a:endParaRPr lang="es-AR" dirty="0"/>
          </a:p>
          <a:p>
            <a:pPr lvl="3"/>
            <a:r>
              <a:rPr lang="es-AR" dirty="0"/>
              <a:t>El formato y tamaño del documento (no HTML) de destino.</a:t>
            </a:r>
          </a:p>
          <a:p>
            <a:pPr lvl="3"/>
            <a:r>
              <a:rPr lang="es-AR" dirty="0"/>
              <a:t>Si se abre ventana nueva.</a:t>
            </a:r>
          </a:p>
          <a:p>
            <a:pPr lvl="3"/>
            <a:r>
              <a:rPr lang="es-AR" dirty="0"/>
              <a:t>Si navega a un sitio web diferente.</a:t>
            </a:r>
          </a:p>
          <a:p>
            <a:pPr lvl="3"/>
            <a:r>
              <a:rPr lang="es-AR" dirty="0"/>
              <a:t>Si abre otro programa (por ejemplo, gestor de correo).</a:t>
            </a:r>
          </a:p>
          <a:p>
            <a:pPr marL="457200" lvl="1" indent="0">
              <a:buNone/>
            </a:pPr>
            <a:endParaRPr lang="es-AR" dirty="0"/>
          </a:p>
          <a:p>
            <a:pPr lvl="1"/>
            <a:endParaRPr lang="es-AR" dirty="0"/>
          </a:p>
          <a:p>
            <a:pPr lvl="2"/>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70</a:t>
            </a:fld>
            <a:endParaRPr lang="es-ES" altLang="es-AR" dirty="0"/>
          </a:p>
        </p:txBody>
      </p:sp>
    </p:spTree>
    <p:extLst>
      <p:ext uri="{BB962C8B-B14F-4D97-AF65-F5344CB8AC3E}">
        <p14:creationId xmlns:p14="http://schemas.microsoft.com/office/powerpoint/2010/main" val="269974255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Enlaces “saltar a”</a:t>
            </a:r>
          </a:p>
          <a:p>
            <a:pPr lvl="1"/>
            <a:endParaRPr lang="es-AR" dirty="0"/>
          </a:p>
          <a:p>
            <a:pPr lvl="2"/>
            <a:r>
              <a:rPr lang="es-AR" b="1" dirty="0"/>
              <a:t>Criterio 2.4.1 Evitar bloques</a:t>
            </a:r>
          </a:p>
          <a:p>
            <a:pPr lvl="2">
              <a:buNone/>
            </a:pPr>
            <a:r>
              <a:rPr lang="es-AR" dirty="0"/>
              <a:t>	Existe un mecanismo para evitar los bloques de contenido que se repiten en múltiples páginas web. [Nivel A]</a:t>
            </a:r>
          </a:p>
          <a:p>
            <a:pPr marL="914400" lvl="2" indent="0">
              <a:buNone/>
            </a:pPr>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71</a:t>
            </a:fld>
            <a:endParaRPr lang="es-ES" altLang="es-AR" dirty="0"/>
          </a:p>
        </p:txBody>
      </p:sp>
    </p:spTree>
    <p:extLst>
      <p:ext uri="{BB962C8B-B14F-4D97-AF65-F5344CB8AC3E}">
        <p14:creationId xmlns:p14="http://schemas.microsoft.com/office/powerpoint/2010/main" val="334789789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55514" y="1462088"/>
            <a:ext cx="8229600" cy="723980"/>
          </a:xfrm>
        </p:spPr>
        <p:txBody>
          <a:bodyPr/>
          <a:lstStyle/>
          <a:p>
            <a:r>
              <a:rPr lang="es-AR" dirty="0"/>
              <a:t>Enlaces accesibles</a:t>
            </a:r>
          </a:p>
          <a:p>
            <a:pPr lvl="1"/>
            <a:r>
              <a:rPr lang="es-AR" dirty="0"/>
              <a:t>Enlaces “saltar a”</a:t>
            </a:r>
          </a:p>
          <a:p>
            <a:pPr lvl="1"/>
            <a:endParaRPr lang="es-AR" dirty="0"/>
          </a:p>
          <a:p>
            <a:pPr marL="914400" lvl="2" indent="0">
              <a:buNone/>
            </a:pPr>
            <a:endParaRPr lang="es-AR" dirty="0"/>
          </a:p>
          <a:p>
            <a:pPr marL="3657600" lvl="8" indent="0">
              <a:buNone/>
            </a:pPr>
            <a:r>
              <a:rPr lang="es-AR" dirty="0"/>
              <a:t>		</a:t>
            </a:r>
          </a:p>
        </p:txBody>
      </p:sp>
      <p:pic>
        <p:nvPicPr>
          <p:cNvPr id="4" name="Picture 2"/>
          <p:cNvPicPr>
            <a:picLocks noChangeAspect="1" noChangeArrowheads="1"/>
          </p:cNvPicPr>
          <p:nvPr/>
        </p:nvPicPr>
        <p:blipFill>
          <a:blip r:embed="rId3" cstate="print"/>
          <a:srcRect b="70127"/>
          <a:stretch>
            <a:fillRect/>
          </a:stretch>
        </p:blipFill>
        <p:spPr bwMode="auto">
          <a:xfrm>
            <a:off x="225779" y="2348880"/>
            <a:ext cx="8918221" cy="1498600"/>
          </a:xfrm>
          <a:prstGeom prst="rect">
            <a:avLst/>
          </a:prstGeom>
          <a:noFill/>
          <a:ln w="9525">
            <a:noFill/>
            <a:miter lim="800000"/>
            <a:headEnd/>
            <a:tailEnd/>
          </a:ln>
          <a:effectLst/>
        </p:spPr>
      </p:pic>
      <p:sp>
        <p:nvSpPr>
          <p:cNvPr id="5" name="4 CuadroTexto"/>
          <p:cNvSpPr txBox="1"/>
          <p:nvPr/>
        </p:nvSpPr>
        <p:spPr>
          <a:xfrm>
            <a:off x="7731480" y="2615580"/>
            <a:ext cx="609600" cy="276999"/>
          </a:xfrm>
          <a:prstGeom prst="rect">
            <a:avLst/>
          </a:prstGeom>
          <a:noFill/>
          <a:ln w="25400">
            <a:solidFill>
              <a:schemeClr val="accent1"/>
            </a:solidFill>
          </a:ln>
        </p:spPr>
        <p:txBody>
          <a:bodyPr wrap="square" rtlCol="0">
            <a:spAutoFit/>
          </a:bodyPr>
          <a:lstStyle/>
          <a:p>
            <a:endParaRPr lang="es-AR" sz="1200" dirty="0"/>
          </a:p>
        </p:txBody>
      </p:sp>
      <p:cxnSp>
        <p:nvCxnSpPr>
          <p:cNvPr id="6" name="11 Conector recto de flecha"/>
          <p:cNvCxnSpPr/>
          <p:nvPr/>
        </p:nvCxnSpPr>
        <p:spPr>
          <a:xfrm rot="10800000" flipV="1">
            <a:off x="4277080" y="2882280"/>
            <a:ext cx="3352800" cy="3683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pic>
        <p:nvPicPr>
          <p:cNvPr id="7" name="Picture 3"/>
          <p:cNvPicPr>
            <a:picLocks noChangeAspect="1" noChangeArrowheads="1"/>
          </p:cNvPicPr>
          <p:nvPr/>
        </p:nvPicPr>
        <p:blipFill>
          <a:blip r:embed="rId4" cstate="print"/>
          <a:srcRect t="16049" r="51597" b="78148"/>
          <a:stretch>
            <a:fillRect/>
          </a:stretch>
        </p:blipFill>
        <p:spPr bwMode="auto">
          <a:xfrm>
            <a:off x="539552" y="4077072"/>
            <a:ext cx="8242300" cy="555794"/>
          </a:xfrm>
          <a:prstGeom prst="rect">
            <a:avLst/>
          </a:prstGeom>
          <a:noFill/>
          <a:ln w="9525">
            <a:noFill/>
            <a:miter lim="800000"/>
            <a:headEnd/>
            <a:tailEnd/>
          </a:ln>
          <a:effectLst/>
        </p:spPr>
      </p:pic>
      <p:pic>
        <p:nvPicPr>
          <p:cNvPr id="8" name="Picture 4"/>
          <p:cNvPicPr>
            <a:picLocks noChangeAspect="1" noChangeArrowheads="1"/>
          </p:cNvPicPr>
          <p:nvPr/>
        </p:nvPicPr>
        <p:blipFill>
          <a:blip r:embed="rId5" cstate="print"/>
          <a:srcRect t="40617" r="51111" b="45556"/>
          <a:stretch>
            <a:fillRect/>
          </a:stretch>
        </p:blipFill>
        <p:spPr bwMode="auto">
          <a:xfrm>
            <a:off x="552252" y="4739372"/>
            <a:ext cx="8191500" cy="1303194"/>
          </a:xfrm>
          <a:prstGeom prst="rect">
            <a:avLst/>
          </a:prstGeom>
          <a:noFill/>
          <a:ln w="9525">
            <a:noFill/>
            <a:miter lim="800000"/>
            <a:headEnd/>
            <a:tailEnd/>
          </a:ln>
          <a:effectLst/>
        </p:spPr>
      </p:pic>
      <p:sp>
        <p:nvSpPr>
          <p:cNvPr id="9" name="7 CuadroTexto"/>
          <p:cNvSpPr txBox="1"/>
          <p:nvPr/>
        </p:nvSpPr>
        <p:spPr>
          <a:xfrm>
            <a:off x="1047552" y="4175667"/>
            <a:ext cx="6464300" cy="215444"/>
          </a:xfrm>
          <a:prstGeom prst="rect">
            <a:avLst/>
          </a:prstGeom>
          <a:noFill/>
          <a:ln w="25400">
            <a:solidFill>
              <a:schemeClr val="accent1"/>
            </a:solidFill>
          </a:ln>
        </p:spPr>
        <p:txBody>
          <a:bodyPr wrap="square" rtlCol="0">
            <a:spAutoFit/>
          </a:bodyPr>
          <a:lstStyle/>
          <a:p>
            <a:endParaRPr lang="es-AR" sz="800" dirty="0"/>
          </a:p>
        </p:txBody>
      </p:sp>
      <p:sp>
        <p:nvSpPr>
          <p:cNvPr id="10" name="9 CuadroTexto"/>
          <p:cNvSpPr txBox="1"/>
          <p:nvPr/>
        </p:nvSpPr>
        <p:spPr>
          <a:xfrm>
            <a:off x="996752" y="5255166"/>
            <a:ext cx="6464300" cy="830997"/>
          </a:xfrm>
          <a:prstGeom prst="rect">
            <a:avLst/>
          </a:prstGeom>
          <a:noFill/>
          <a:ln w="25400">
            <a:solidFill>
              <a:schemeClr val="accent1"/>
            </a:solidFill>
          </a:ln>
        </p:spPr>
        <p:txBody>
          <a:bodyPr wrap="square" rtlCol="0">
            <a:spAutoFit/>
          </a:bodyPr>
          <a:lstStyle/>
          <a:p>
            <a:endParaRPr lang="es-AR" sz="800" dirty="0"/>
          </a:p>
          <a:p>
            <a:endParaRPr lang="es-AR" sz="800" dirty="0"/>
          </a:p>
          <a:p>
            <a:endParaRPr lang="es-AR" sz="800" dirty="0"/>
          </a:p>
          <a:p>
            <a:endParaRPr lang="es-AR" sz="800" dirty="0"/>
          </a:p>
          <a:p>
            <a:endParaRPr lang="es-AR" sz="800" dirty="0"/>
          </a:p>
          <a:p>
            <a:endParaRPr lang="es-AR" sz="800"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72</a:t>
            </a:fld>
            <a:endParaRPr lang="es-ES" altLang="es-AR" dirty="0"/>
          </a:p>
        </p:txBody>
      </p:sp>
    </p:spTree>
    <p:extLst>
      <p:ext uri="{BB962C8B-B14F-4D97-AF65-F5344CB8AC3E}">
        <p14:creationId xmlns:p14="http://schemas.microsoft.com/office/powerpoint/2010/main" val="22006159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Enlaces “saltar a”</a:t>
            </a:r>
          </a:p>
          <a:p>
            <a:pPr lvl="1"/>
            <a:endParaRPr lang="es-AR" dirty="0"/>
          </a:p>
          <a:p>
            <a:pPr lvl="2"/>
            <a:r>
              <a:rPr lang="es-AR" dirty="0"/>
              <a:t> Recomendaciones:</a:t>
            </a:r>
          </a:p>
          <a:p>
            <a:pPr marL="914400" lvl="2" indent="0">
              <a:buNone/>
            </a:pPr>
            <a:endParaRPr lang="es-AR" dirty="0"/>
          </a:p>
          <a:p>
            <a:pPr lvl="3"/>
            <a:r>
              <a:rPr lang="es-AR" dirty="0"/>
              <a:t> Al principio de la página.</a:t>
            </a:r>
          </a:p>
          <a:p>
            <a:pPr lvl="3"/>
            <a:r>
              <a:rPr lang="es-AR" dirty="0"/>
              <a:t> 2 o 3 enlaces “saltar a” son suficientes.</a:t>
            </a:r>
          </a:p>
          <a:p>
            <a:pPr lvl="3"/>
            <a:r>
              <a:rPr lang="es-AR" dirty="0"/>
              <a:t> Saltar navegación, Saltar a contenido principal.</a:t>
            </a:r>
          </a:p>
          <a:p>
            <a:pPr lvl="3"/>
            <a:r>
              <a:rPr lang="es-AR" dirty="0"/>
              <a:t> Siempre visibles.</a:t>
            </a:r>
          </a:p>
          <a:p>
            <a:pPr marL="914400" lvl="2" indent="0">
              <a:buNone/>
            </a:pPr>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73</a:t>
            </a:fld>
            <a:endParaRPr lang="es-ES" altLang="es-AR" dirty="0"/>
          </a:p>
        </p:txBody>
      </p:sp>
    </p:spTree>
    <p:extLst>
      <p:ext uri="{BB962C8B-B14F-4D97-AF65-F5344CB8AC3E}">
        <p14:creationId xmlns:p14="http://schemas.microsoft.com/office/powerpoint/2010/main" val="40664389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Navegación por teclado</a:t>
            </a:r>
          </a:p>
          <a:p>
            <a:endParaRPr lang="es-AR" dirty="0"/>
          </a:p>
          <a:p>
            <a:pPr lvl="1"/>
            <a:r>
              <a:rPr lang="es-AR" dirty="0"/>
              <a:t> Usuarios de lector de pantalla.</a:t>
            </a:r>
          </a:p>
          <a:p>
            <a:pPr lvl="1"/>
            <a:endParaRPr lang="es-AR" dirty="0"/>
          </a:p>
          <a:p>
            <a:pPr lvl="1"/>
            <a:r>
              <a:rPr lang="es-AR" dirty="0"/>
              <a:t> Usuarios con movilidad reducida:</a:t>
            </a:r>
          </a:p>
          <a:p>
            <a:pPr lvl="2"/>
            <a:r>
              <a:rPr lang="es-AR" dirty="0"/>
              <a:t> Teclados alternativos.</a:t>
            </a:r>
          </a:p>
          <a:p>
            <a:pPr lvl="2"/>
            <a:r>
              <a:rPr lang="es-AR" dirty="0"/>
              <a:t> Licornios, punteros de cabeza, apuntadores de boca.</a:t>
            </a:r>
          </a:p>
          <a:p>
            <a:pPr lvl="2"/>
            <a:r>
              <a:rPr lang="es-AR" dirty="0"/>
              <a:t> Pulsadores o dispositivos de soplado.</a:t>
            </a:r>
          </a:p>
          <a:p>
            <a:pPr lvl="2"/>
            <a:endParaRPr lang="es-AR" dirty="0"/>
          </a:p>
          <a:p>
            <a:pPr lvl="1"/>
            <a:r>
              <a:rPr lang="es-AR" dirty="0"/>
              <a:t> Usuarios “expertos”.</a:t>
            </a:r>
          </a:p>
          <a:p>
            <a:pPr lvl="1"/>
            <a:endParaRPr lang="es-AR" dirty="0"/>
          </a:p>
          <a:p>
            <a:pPr lvl="1"/>
            <a:r>
              <a:rPr lang="es-AR" dirty="0"/>
              <a:t> No se dispone de un mouse o no funciona.</a:t>
            </a:r>
          </a:p>
          <a:p>
            <a:pPr marL="914400" lvl="2" indent="0">
              <a:buNone/>
            </a:pPr>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74</a:t>
            </a:fld>
            <a:endParaRPr lang="es-ES" altLang="es-AR" dirty="0"/>
          </a:p>
        </p:txBody>
      </p:sp>
    </p:spTree>
    <p:extLst>
      <p:ext uri="{BB962C8B-B14F-4D97-AF65-F5344CB8AC3E}">
        <p14:creationId xmlns:p14="http://schemas.microsoft.com/office/powerpoint/2010/main" val="41055263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Navegación por teclado</a:t>
            </a:r>
          </a:p>
          <a:p>
            <a:endParaRPr lang="es-AR" dirty="0"/>
          </a:p>
          <a:p>
            <a:pPr lvl="1"/>
            <a:r>
              <a:rPr lang="es-AR" b="1" dirty="0"/>
              <a:t> Pauta 2.1 Accesible por teclado</a:t>
            </a:r>
          </a:p>
          <a:p>
            <a:pPr marL="914400" lvl="2" indent="0">
              <a:buNone/>
            </a:pPr>
            <a:r>
              <a:rPr lang="es-AR" dirty="0"/>
              <a:t> </a:t>
            </a:r>
          </a:p>
          <a:p>
            <a:pPr lvl="2"/>
            <a:r>
              <a:rPr lang="es-AR" b="1" dirty="0"/>
              <a:t>Criterio 2.1.1 Teclado</a:t>
            </a:r>
            <a:r>
              <a:rPr lang="es-AR" dirty="0"/>
              <a:t>: toda funcionalidad del contenido es operable a través de una interfaz de teclado sin que se requiera una determinada velocidad para cada pulsación individual de las teclas […]. [Nivel A]</a:t>
            </a:r>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75</a:t>
            </a:fld>
            <a:endParaRPr lang="es-ES" altLang="es-AR" dirty="0"/>
          </a:p>
        </p:txBody>
      </p:sp>
    </p:spTree>
    <p:extLst>
      <p:ext uri="{BB962C8B-B14F-4D97-AF65-F5344CB8AC3E}">
        <p14:creationId xmlns:p14="http://schemas.microsoft.com/office/powerpoint/2010/main" val="35038673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Navegación por teclado</a:t>
            </a:r>
          </a:p>
          <a:p>
            <a:endParaRPr lang="es-AR" dirty="0"/>
          </a:p>
          <a:p>
            <a:pPr lvl="1"/>
            <a:r>
              <a:rPr lang="es-AR" dirty="0"/>
              <a:t>Problemas habituales con el foco de teclado:</a:t>
            </a:r>
          </a:p>
          <a:p>
            <a:pPr lvl="1"/>
            <a:endParaRPr lang="es-AR" dirty="0"/>
          </a:p>
          <a:p>
            <a:pPr lvl="2"/>
            <a:r>
              <a:rPr lang="es-AR" dirty="0"/>
              <a:t>El orden del foco no tiene sentido.</a:t>
            </a:r>
          </a:p>
          <a:p>
            <a:pPr lvl="2"/>
            <a:r>
              <a:rPr lang="es-AR" dirty="0"/>
              <a:t>Trampas para el foco.</a:t>
            </a:r>
          </a:p>
          <a:p>
            <a:pPr lvl="2"/>
            <a:r>
              <a:rPr lang="es-AR" dirty="0"/>
              <a:t>Recibir el foco provoca automáticamente un cambio de contexto sin avisar previamente al usuario.</a:t>
            </a:r>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76</a:t>
            </a:fld>
            <a:endParaRPr lang="es-ES" altLang="es-AR" dirty="0"/>
          </a:p>
        </p:txBody>
      </p:sp>
    </p:spTree>
    <p:extLst>
      <p:ext uri="{BB962C8B-B14F-4D97-AF65-F5344CB8AC3E}">
        <p14:creationId xmlns:p14="http://schemas.microsoft.com/office/powerpoint/2010/main" val="5652233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Navegación por teclado</a:t>
            </a:r>
          </a:p>
          <a:p>
            <a:endParaRPr lang="es-AR" dirty="0"/>
          </a:p>
          <a:p>
            <a:pPr lvl="1"/>
            <a:r>
              <a:rPr lang="es-AR" dirty="0"/>
              <a:t>Problemas habituales con el foco de teclado:</a:t>
            </a:r>
          </a:p>
          <a:p>
            <a:pPr lvl="1"/>
            <a:endParaRPr lang="es-AR" dirty="0"/>
          </a:p>
          <a:p>
            <a:pPr lvl="2"/>
            <a:r>
              <a:rPr lang="es-AR" dirty="0"/>
              <a:t>El orden del foco no tiene sentido.</a:t>
            </a:r>
          </a:p>
          <a:p>
            <a:pPr lvl="2"/>
            <a:endParaRPr lang="es-AR" dirty="0"/>
          </a:p>
          <a:p>
            <a:pPr lvl="3" algn="just"/>
            <a:r>
              <a:rPr lang="es-AR" dirty="0"/>
              <a:t> </a:t>
            </a:r>
            <a:r>
              <a:rPr lang="es-AR" b="1" dirty="0"/>
              <a:t>Criterio 2.4.3 Orden del foco </a:t>
            </a:r>
            <a:r>
              <a:rPr lang="es-AR" dirty="0"/>
              <a:t>[Nivel A]</a:t>
            </a:r>
          </a:p>
          <a:p>
            <a:pPr lvl="3" algn="just"/>
            <a:r>
              <a:rPr lang="es-AR" dirty="0"/>
              <a:t> Orden del contenido correcto en el código HTML.</a:t>
            </a:r>
          </a:p>
          <a:p>
            <a:pPr lvl="3" algn="just"/>
            <a:r>
              <a:rPr lang="es-AR" dirty="0"/>
              <a:t> Si se cambia el orden del foco (por ejemplo con </a:t>
            </a:r>
            <a:r>
              <a:rPr lang="es-AR" b="1" dirty="0" err="1"/>
              <a:t>tabindex</a:t>
            </a:r>
            <a:r>
              <a:rPr lang="es-AR" dirty="0"/>
              <a:t>) debe seguir teniendo sentido.</a:t>
            </a:r>
          </a:p>
          <a:p>
            <a:pPr lvl="2"/>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77</a:t>
            </a:fld>
            <a:endParaRPr lang="es-ES" altLang="es-AR" dirty="0"/>
          </a:p>
        </p:txBody>
      </p:sp>
    </p:spTree>
    <p:extLst>
      <p:ext uri="{BB962C8B-B14F-4D97-AF65-F5344CB8AC3E}">
        <p14:creationId xmlns:p14="http://schemas.microsoft.com/office/powerpoint/2010/main" val="29238037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Navegación por teclado</a:t>
            </a:r>
          </a:p>
          <a:p>
            <a:endParaRPr lang="es-AR" dirty="0"/>
          </a:p>
          <a:p>
            <a:pPr lvl="1"/>
            <a:r>
              <a:rPr lang="es-AR" dirty="0"/>
              <a:t>Problemas habituales con el foco de teclado:</a:t>
            </a:r>
          </a:p>
          <a:p>
            <a:pPr lvl="1"/>
            <a:endParaRPr lang="es-AR" dirty="0"/>
          </a:p>
          <a:p>
            <a:pPr lvl="2"/>
            <a:r>
              <a:rPr lang="es-AR" dirty="0"/>
              <a:t>Trampas para el foco.</a:t>
            </a:r>
          </a:p>
          <a:p>
            <a:pPr lvl="2"/>
            <a:endParaRPr lang="es-AR" dirty="0"/>
          </a:p>
          <a:p>
            <a:pPr lvl="3"/>
            <a:r>
              <a:rPr lang="es-AR" dirty="0"/>
              <a:t> </a:t>
            </a:r>
            <a:r>
              <a:rPr lang="es-AR" b="1" dirty="0"/>
              <a:t>Criterio 2.1.2 Sin trampas para el foco del teclado </a:t>
            </a:r>
            <a:r>
              <a:rPr lang="es-AR" dirty="0"/>
              <a:t>[Nivel A])</a:t>
            </a:r>
          </a:p>
          <a:p>
            <a:pPr lvl="3"/>
            <a:r>
              <a:rPr lang="es-AR" dirty="0"/>
              <a:t> Zonas de la página a la que podemos llegar mediante el teclado, pero de las cuales solo podemos salir, para regresar a otra parte de la página, mediante el mouse.</a:t>
            </a:r>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78</a:t>
            </a:fld>
            <a:endParaRPr lang="es-ES" altLang="es-AR" dirty="0"/>
          </a:p>
        </p:txBody>
      </p:sp>
    </p:spTree>
    <p:extLst>
      <p:ext uri="{BB962C8B-B14F-4D97-AF65-F5344CB8AC3E}">
        <p14:creationId xmlns:p14="http://schemas.microsoft.com/office/powerpoint/2010/main" val="23851627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Navegación por teclado</a:t>
            </a:r>
          </a:p>
          <a:p>
            <a:endParaRPr lang="es-AR" dirty="0"/>
          </a:p>
          <a:p>
            <a:pPr lvl="1"/>
            <a:r>
              <a:rPr lang="es-AR" dirty="0"/>
              <a:t>Problemas habituales con el foco de teclado:</a:t>
            </a:r>
          </a:p>
          <a:p>
            <a:pPr lvl="1"/>
            <a:endParaRPr lang="es-AR" dirty="0"/>
          </a:p>
          <a:p>
            <a:pPr lvl="2"/>
            <a:r>
              <a:rPr lang="es-AR" dirty="0"/>
              <a:t>Recibir el foco provoca un cambio de contexto.</a:t>
            </a:r>
          </a:p>
          <a:p>
            <a:pPr lvl="2"/>
            <a:endParaRPr lang="es-AR" dirty="0"/>
          </a:p>
          <a:p>
            <a:pPr lvl="3"/>
            <a:r>
              <a:rPr lang="es-AR" b="1" dirty="0"/>
              <a:t>Criterio 3.2.1 Al recibir el foco </a:t>
            </a:r>
            <a:r>
              <a:rPr lang="es-AR" dirty="0"/>
              <a:t>[Nivel A] y </a:t>
            </a:r>
            <a:r>
              <a:rPr lang="es-AR" b="1" dirty="0"/>
              <a:t>Criterio 3.2.2 Al recibir entradas</a:t>
            </a:r>
            <a:r>
              <a:rPr lang="es-AR" dirty="0"/>
              <a:t> [Nivel A])</a:t>
            </a:r>
          </a:p>
          <a:p>
            <a:pPr lvl="3"/>
            <a:r>
              <a:rPr lang="es-AR" sz="1600" dirty="0"/>
              <a:t> </a:t>
            </a:r>
            <a:r>
              <a:rPr lang="es-AR" dirty="0"/>
              <a:t>Los cambios de contexto solo deberían producirse cuando el usuario realiza una acción que habitualmente se utilice para solicitar un cambio de contexto, como hacer clic en un enlace o botón.</a:t>
            </a:r>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79</a:t>
            </a:fld>
            <a:endParaRPr lang="es-ES" altLang="es-AR" dirty="0"/>
          </a:p>
        </p:txBody>
      </p:sp>
    </p:spTree>
    <p:extLst>
      <p:ext uri="{BB962C8B-B14F-4D97-AF65-F5344CB8AC3E}">
        <p14:creationId xmlns:p14="http://schemas.microsoft.com/office/powerpoint/2010/main" val="40551008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Navegación por teclado</a:t>
            </a:r>
          </a:p>
          <a:p>
            <a:endParaRPr lang="es-AR" dirty="0"/>
          </a:p>
          <a:p>
            <a:pPr lvl="1"/>
            <a:r>
              <a:rPr lang="es-AR" dirty="0"/>
              <a:t>Cambio de contexto:</a:t>
            </a:r>
          </a:p>
          <a:p>
            <a:pPr lvl="2"/>
            <a:r>
              <a:rPr lang="es-AR" dirty="0"/>
              <a:t> Es un cambio importante en el contenido de la página, que cuando se hace sin el consentimiento del usuario, puede desorientar a quienes no pueden ver la página o no pueden ver toda la página al mismo tiempo.</a:t>
            </a:r>
          </a:p>
          <a:p>
            <a:pPr lvl="2"/>
            <a:r>
              <a:rPr lang="es-AR" dirty="0"/>
              <a:t> Incluye cambios en:</a:t>
            </a:r>
          </a:p>
          <a:p>
            <a:pPr lvl="3"/>
            <a:r>
              <a:rPr lang="es-AR" dirty="0"/>
              <a:t> abrir un lector de PDF, </a:t>
            </a:r>
          </a:p>
          <a:p>
            <a:pPr lvl="3"/>
            <a:r>
              <a:rPr lang="es-AR" dirty="0"/>
              <a:t> mover automáticamente el foco a otro elemento, </a:t>
            </a:r>
          </a:p>
          <a:p>
            <a:pPr lvl="3"/>
            <a:r>
              <a:rPr lang="es-AR" dirty="0"/>
              <a:t> abrir otra ventana, otra pestaña, </a:t>
            </a:r>
          </a:p>
          <a:p>
            <a:pPr lvl="3"/>
            <a:r>
              <a:rPr lang="es-AR" dirty="0"/>
              <a:t> enviar un formulario, ir a otra página, etc.</a:t>
            </a:r>
          </a:p>
          <a:p>
            <a:pPr lvl="2"/>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80</a:t>
            </a:fld>
            <a:endParaRPr lang="es-ES" altLang="es-AR" dirty="0"/>
          </a:p>
        </p:txBody>
      </p:sp>
    </p:spTree>
    <p:extLst>
      <p:ext uri="{BB962C8B-B14F-4D97-AF65-F5344CB8AC3E}">
        <p14:creationId xmlns:p14="http://schemas.microsoft.com/office/powerpoint/2010/main" val="25326548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a:t>Organización</a:t>
            </a:r>
          </a:p>
        </p:txBody>
      </p:sp>
      <p:sp>
        <p:nvSpPr>
          <p:cNvPr id="35843" name="2 Marcador de contenido"/>
          <p:cNvSpPr>
            <a:spLocks noGrp="1"/>
          </p:cNvSpPr>
          <p:nvPr>
            <p:ph idx="1"/>
          </p:nvPr>
        </p:nvSpPr>
        <p:spPr/>
        <p:txBody>
          <a:bodyPr/>
          <a:lstStyle/>
          <a:p>
            <a:r>
              <a:rPr lang="es-AR" altLang="es-AR" dirty="0"/>
              <a:t>¿Qué es la accesibilidad web?</a:t>
            </a:r>
          </a:p>
          <a:p>
            <a:r>
              <a:rPr lang="es-AR" altLang="es-AR" dirty="0"/>
              <a:t>Pautas y leyes.</a:t>
            </a:r>
          </a:p>
          <a:p>
            <a:r>
              <a:rPr lang="es-AR" altLang="es-AR" dirty="0"/>
              <a:t>Contenido accesible.</a:t>
            </a:r>
          </a:p>
          <a:p>
            <a:r>
              <a:rPr lang="es-AR" altLang="es-AR" dirty="0"/>
              <a:t>Navegación accesible.</a:t>
            </a:r>
          </a:p>
          <a:p>
            <a:r>
              <a:rPr lang="es-AR" altLang="es-AR" b="1" dirty="0">
                <a:solidFill>
                  <a:srgbClr val="0070C0"/>
                </a:solidFill>
              </a:rPr>
              <a:t>Diseño accesible.</a:t>
            </a:r>
          </a:p>
          <a:p>
            <a:r>
              <a:rPr lang="es-AR" altLang="es-AR" dirty="0"/>
              <a:t>Análisis y evaluación de la accesibilidad web.</a:t>
            </a:r>
          </a:p>
          <a:p>
            <a:r>
              <a:rPr lang="es-AR" altLang="es-AR" dirty="0"/>
              <a:t>Conclusiones.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81</a:t>
            </a:fld>
            <a:endParaRPr lang="es-ES" altLang="es-AR" dirty="0"/>
          </a:p>
        </p:txBody>
      </p:sp>
    </p:spTree>
    <p:extLst>
      <p:ext uri="{BB962C8B-B14F-4D97-AF65-F5344CB8AC3E}">
        <p14:creationId xmlns:p14="http://schemas.microsoft.com/office/powerpoint/2010/main" val="7549139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sp>
        <p:nvSpPr>
          <p:cNvPr id="57347" name="2 Marcador de contenido"/>
          <p:cNvSpPr>
            <a:spLocks noGrp="1"/>
          </p:cNvSpPr>
          <p:nvPr>
            <p:ph idx="1"/>
          </p:nvPr>
        </p:nvSpPr>
        <p:spPr>
          <a:xfrm>
            <a:off x="430213" y="1916113"/>
            <a:ext cx="8229600" cy="4537223"/>
          </a:xfrm>
        </p:spPr>
        <p:txBody>
          <a:bodyPr/>
          <a:lstStyle/>
          <a:p>
            <a:r>
              <a:rPr lang="es-AR" dirty="0"/>
              <a:t>Introducción</a:t>
            </a:r>
          </a:p>
          <a:p>
            <a:pPr marL="0" indent="0">
              <a:buNone/>
            </a:pPr>
            <a:endParaRPr lang="es-AR" dirty="0"/>
          </a:p>
          <a:p>
            <a:pPr lvl="1" algn="just"/>
            <a:r>
              <a:rPr lang="es-AR" dirty="0"/>
              <a:t> </a:t>
            </a:r>
            <a:r>
              <a:rPr lang="es-AR" b="1" dirty="0"/>
              <a:t>Pauta 1.4 Distinguible</a:t>
            </a:r>
            <a:r>
              <a:rPr lang="es-AR" dirty="0"/>
              <a:t>. </a:t>
            </a:r>
          </a:p>
          <a:p>
            <a:pPr marL="857250" lvl="2" indent="0" algn="just">
              <a:buNone/>
            </a:pPr>
            <a:r>
              <a:rPr lang="es-AR" dirty="0"/>
              <a:t>Facilitar a los usuarios ver y oír el contenido, incluyendo la separación entre el primer plano y el fondo en la que se proporcionan algunos consejos sobre el uso del color, del contraste y del tamaño del texto.</a:t>
            </a:r>
          </a:p>
          <a:p>
            <a:pPr lvl="2"/>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82</a:t>
            </a:fld>
            <a:endParaRPr lang="es-ES" altLang="es-AR" dirty="0"/>
          </a:p>
        </p:txBody>
      </p:sp>
    </p:spTree>
    <p:extLst>
      <p:ext uri="{BB962C8B-B14F-4D97-AF65-F5344CB8AC3E}">
        <p14:creationId xmlns:p14="http://schemas.microsoft.com/office/powerpoint/2010/main" val="101265454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sp>
        <p:nvSpPr>
          <p:cNvPr id="57347" name="2 Marcador de contenido"/>
          <p:cNvSpPr>
            <a:spLocks noGrp="1"/>
          </p:cNvSpPr>
          <p:nvPr>
            <p:ph idx="1"/>
          </p:nvPr>
        </p:nvSpPr>
        <p:spPr>
          <a:xfrm>
            <a:off x="430213" y="1916113"/>
            <a:ext cx="8229600" cy="4537223"/>
          </a:xfrm>
        </p:spPr>
        <p:txBody>
          <a:bodyPr/>
          <a:lstStyle/>
          <a:p>
            <a:r>
              <a:rPr lang="es-AR" dirty="0"/>
              <a:t>Contraste</a:t>
            </a:r>
          </a:p>
          <a:p>
            <a:pPr marL="0" indent="0">
              <a:buNone/>
            </a:pPr>
            <a:endParaRPr lang="es-AR" dirty="0"/>
          </a:p>
          <a:p>
            <a:pPr lvl="1"/>
            <a:r>
              <a:rPr lang="es-AR" dirty="0"/>
              <a:t>Seleccionar colores que tengan un alto contraste para lograr un DISEÑO UNIVERSAL.</a:t>
            </a:r>
          </a:p>
          <a:p>
            <a:pPr lvl="1"/>
            <a:r>
              <a:rPr lang="es-AR" dirty="0"/>
              <a:t>Combinación de colores de alto contraste puede ayudar a todos los usuarios.</a:t>
            </a:r>
          </a:p>
          <a:p>
            <a:pPr lvl="1"/>
            <a:r>
              <a:rPr lang="es-AR" dirty="0"/>
              <a:t>Situaciones:</a:t>
            </a:r>
          </a:p>
          <a:p>
            <a:pPr lvl="2" algn="just"/>
            <a:r>
              <a:rPr lang="es-AR" dirty="0"/>
              <a:t>Día muy soleado en la playa o en la nieve, una gran cantidad de luminosidad produce que no se vean correctamente en la pantallas.</a:t>
            </a:r>
          </a:p>
          <a:p>
            <a:pPr lvl="2"/>
            <a:r>
              <a:rPr lang="es-AR" dirty="0"/>
              <a:t>Cuando se emplea un video proyector, ya sea porque tiene la lámpara gastada o porque la sala donde se está empleando tiene mucha iluminación.</a:t>
            </a:r>
          </a:p>
          <a:p>
            <a:pPr lvl="2"/>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83</a:t>
            </a:fld>
            <a:endParaRPr lang="es-ES" altLang="es-AR" dirty="0"/>
          </a:p>
        </p:txBody>
      </p:sp>
    </p:spTree>
    <p:extLst>
      <p:ext uri="{BB962C8B-B14F-4D97-AF65-F5344CB8AC3E}">
        <p14:creationId xmlns:p14="http://schemas.microsoft.com/office/powerpoint/2010/main" val="16551851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sp>
        <p:nvSpPr>
          <p:cNvPr id="57347" name="2 Marcador de contenido"/>
          <p:cNvSpPr>
            <a:spLocks noGrp="1"/>
          </p:cNvSpPr>
          <p:nvPr>
            <p:ph idx="1"/>
          </p:nvPr>
        </p:nvSpPr>
        <p:spPr>
          <a:xfrm>
            <a:off x="430213" y="1916113"/>
            <a:ext cx="8229600" cy="4537223"/>
          </a:xfrm>
        </p:spPr>
        <p:txBody>
          <a:bodyPr/>
          <a:lstStyle/>
          <a:p>
            <a:r>
              <a:rPr lang="es-AR" dirty="0"/>
              <a:t>Contraste</a:t>
            </a:r>
          </a:p>
          <a:p>
            <a:pPr marL="0" indent="0">
              <a:buNone/>
            </a:pPr>
            <a:endParaRPr lang="es-AR" dirty="0"/>
          </a:p>
          <a:p>
            <a:pPr lvl="1"/>
            <a:r>
              <a:rPr lang="es-AR" dirty="0"/>
              <a:t>Combinación de colores</a:t>
            </a:r>
          </a:p>
          <a:p>
            <a:pPr lvl="1"/>
            <a:endParaRPr lang="es-AR" dirty="0"/>
          </a:p>
          <a:p>
            <a:pPr lvl="1"/>
            <a:endParaRPr lang="es-AR" dirty="0"/>
          </a:p>
          <a:p>
            <a:pPr lvl="1"/>
            <a:endParaRPr lang="es-AR" dirty="0"/>
          </a:p>
          <a:p>
            <a:pPr lvl="1"/>
            <a:endParaRPr lang="es-AR" dirty="0"/>
          </a:p>
          <a:p>
            <a:pPr lvl="1"/>
            <a:endParaRPr lang="es-AR" dirty="0"/>
          </a:p>
          <a:p>
            <a:pPr lvl="1"/>
            <a:endParaRPr lang="es-AR" dirty="0"/>
          </a:p>
          <a:p>
            <a:pPr marL="457200" lvl="1" indent="0">
              <a:buNone/>
            </a:pPr>
            <a:endParaRPr lang="es-AR" dirty="0"/>
          </a:p>
          <a:p>
            <a:pPr marL="457200" lvl="1" indent="0">
              <a:buNone/>
            </a:pPr>
            <a:r>
              <a:rPr lang="es-AR" dirty="0"/>
              <a:t>Ayuda a que una página web se visualice correctamente.</a:t>
            </a:r>
          </a:p>
          <a:p>
            <a:pPr lvl="2"/>
            <a:endParaRPr lang="es-AR" dirty="0"/>
          </a:p>
          <a:p>
            <a:pPr lvl="1"/>
            <a:endParaRPr lang="es-AR" dirty="0"/>
          </a:p>
          <a:p>
            <a:pPr marL="3657600" lvl="8" indent="0">
              <a:buNone/>
            </a:pPr>
            <a:r>
              <a:rPr lang="es-AR" dirty="0"/>
              <a:t>		</a:t>
            </a:r>
          </a:p>
        </p:txBody>
      </p:sp>
      <p:pic>
        <p:nvPicPr>
          <p:cNvPr id="4" name="Picture 2" descr="http://www.catedracosgaya.com.ar/tipoblog/2014/wp-content/uploads/2014/05/Pub-blog-imagen-num-5RGB.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1600" y="3068960"/>
            <a:ext cx="6504039" cy="1857208"/>
          </a:xfrm>
          <a:prstGeom prst="rect">
            <a:avLst/>
          </a:prstGeom>
          <a:noFill/>
          <a:extLst>
            <a:ext uri="{909E8E84-426E-40DD-AFC4-6F175D3DCCD1}">
              <a14:hiddenFill xmlns:a14="http://schemas.microsoft.com/office/drawing/2010/main">
                <a:solidFill>
                  <a:srgbClr val="FFFFFF"/>
                </a:solidFill>
              </a14:hiddenFill>
            </a:ext>
          </a:extLst>
        </p:spPr>
      </p:pic>
      <p:sp>
        <p:nvSpPr>
          <p:cNvPr id="5" name="Flecha: hacia arriba 4"/>
          <p:cNvSpPr/>
          <p:nvPr/>
        </p:nvSpPr>
        <p:spPr>
          <a:xfrm>
            <a:off x="1797509" y="4697979"/>
            <a:ext cx="634181" cy="9144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84</a:t>
            </a:fld>
            <a:endParaRPr lang="es-ES" altLang="es-AR" dirty="0"/>
          </a:p>
        </p:txBody>
      </p:sp>
    </p:spTree>
    <p:extLst>
      <p:ext uri="{BB962C8B-B14F-4D97-AF65-F5344CB8AC3E}">
        <p14:creationId xmlns:p14="http://schemas.microsoft.com/office/powerpoint/2010/main" val="259291205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sp>
        <p:nvSpPr>
          <p:cNvPr id="57347" name="2 Marcador de contenido"/>
          <p:cNvSpPr>
            <a:spLocks noGrp="1"/>
          </p:cNvSpPr>
          <p:nvPr>
            <p:ph idx="1"/>
          </p:nvPr>
        </p:nvSpPr>
        <p:spPr>
          <a:xfrm>
            <a:off x="430213" y="1916113"/>
            <a:ext cx="3637731" cy="4537223"/>
          </a:xfrm>
        </p:spPr>
        <p:txBody>
          <a:bodyPr/>
          <a:lstStyle/>
          <a:p>
            <a:r>
              <a:rPr lang="es-AR" dirty="0"/>
              <a:t>Contraste</a:t>
            </a:r>
          </a:p>
          <a:p>
            <a:pPr marL="0" indent="0">
              <a:buNone/>
            </a:pPr>
            <a:endParaRPr lang="es-AR" dirty="0"/>
          </a:p>
          <a:p>
            <a:pPr lvl="1"/>
            <a:r>
              <a:rPr lang="es-AR" dirty="0"/>
              <a:t>Ejemplo de lo que NO se debe hacer:</a:t>
            </a:r>
          </a:p>
          <a:p>
            <a:pPr lvl="2"/>
            <a:r>
              <a:rPr lang="es-AR" sz="1800" dirty="0"/>
              <a:t>Simulación de cómo verá esta página web una persona que presente sensibilidad reducida al contraste </a:t>
            </a:r>
            <a:r>
              <a:rPr lang="es-AR" sz="1800" dirty="0">
                <a:sym typeface="Wingdings" pitchFamily="2" charset="2"/>
              </a:rPr>
              <a:t> Página apagada y es más aburrida. Importante: Hay ciertas partes de la página que pueden llegar a desaparecer.</a:t>
            </a:r>
            <a:endParaRPr lang="es-AR" sz="1800" dirty="0"/>
          </a:p>
          <a:p>
            <a:pPr lvl="2"/>
            <a:endParaRPr lang="es-AR" dirty="0"/>
          </a:p>
          <a:p>
            <a:pPr lvl="1"/>
            <a:endParaRPr lang="es-AR" dirty="0"/>
          </a:p>
          <a:p>
            <a:pPr marL="3657600" lvl="8" indent="0">
              <a:buNone/>
            </a:pPr>
            <a:r>
              <a:rPr lang="es-AR" dirty="0"/>
              <a:t>		</a:t>
            </a:r>
          </a:p>
        </p:txBody>
      </p:sp>
      <p:pic>
        <p:nvPicPr>
          <p:cNvPr id="4" name="Picture 2"/>
          <p:cNvPicPr>
            <a:picLocks noChangeAspect="1" noChangeArrowheads="1"/>
          </p:cNvPicPr>
          <p:nvPr/>
        </p:nvPicPr>
        <p:blipFill>
          <a:blip r:embed="rId3" cstate="print"/>
          <a:srcRect/>
          <a:stretch>
            <a:fillRect/>
          </a:stretch>
        </p:blipFill>
        <p:spPr bwMode="auto">
          <a:xfrm>
            <a:off x="4107615" y="3140968"/>
            <a:ext cx="4608513" cy="2592288"/>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85</a:t>
            </a:fld>
            <a:endParaRPr lang="es-ES" altLang="es-AR" dirty="0"/>
          </a:p>
        </p:txBody>
      </p:sp>
    </p:spTree>
    <p:extLst>
      <p:ext uri="{BB962C8B-B14F-4D97-AF65-F5344CB8AC3E}">
        <p14:creationId xmlns:p14="http://schemas.microsoft.com/office/powerpoint/2010/main" val="18552732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sp>
        <p:nvSpPr>
          <p:cNvPr id="57347" name="2 Marcador de contenido"/>
          <p:cNvSpPr>
            <a:spLocks noGrp="1"/>
          </p:cNvSpPr>
          <p:nvPr>
            <p:ph idx="1"/>
          </p:nvPr>
        </p:nvSpPr>
        <p:spPr>
          <a:xfrm>
            <a:off x="430213" y="1916113"/>
            <a:ext cx="8229600" cy="4537223"/>
          </a:xfrm>
        </p:spPr>
        <p:txBody>
          <a:bodyPr/>
          <a:lstStyle/>
          <a:p>
            <a:r>
              <a:rPr lang="es-AR" dirty="0"/>
              <a:t>Color </a:t>
            </a:r>
          </a:p>
          <a:p>
            <a:endParaRPr lang="es-AR" dirty="0"/>
          </a:p>
          <a:p>
            <a:pPr lvl="1"/>
            <a:r>
              <a:rPr lang="es-AR" b="1" dirty="0"/>
              <a:t> </a:t>
            </a:r>
            <a:r>
              <a:rPr lang="es-AR" b="1" dirty="0">
                <a:sym typeface="Wingdings" pitchFamily="2" charset="2"/>
              </a:rPr>
              <a:t>Criterio 1.4.1 Uso del Color</a:t>
            </a:r>
            <a:r>
              <a:rPr lang="es-AR" dirty="0">
                <a:sym typeface="Wingdings" pitchFamily="2" charset="2"/>
              </a:rPr>
              <a:t>.</a:t>
            </a:r>
          </a:p>
          <a:p>
            <a:pPr marL="857250" lvl="2" indent="0">
              <a:buNone/>
            </a:pPr>
            <a:r>
              <a:rPr lang="es-AR" dirty="0">
                <a:sym typeface="Wingdings" pitchFamily="2" charset="2"/>
              </a:rPr>
              <a:t>El color no se usa como único medio visual para transmitir la información, indicar una acción, solicitar una respuesta o distinguir un elemento visual. [Nivel A]</a:t>
            </a:r>
          </a:p>
          <a:p>
            <a:pPr lvl="1"/>
            <a:endParaRPr lang="es-AR" dirty="0"/>
          </a:p>
          <a:p>
            <a:pPr lvl="2"/>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86</a:t>
            </a:fld>
            <a:endParaRPr lang="es-ES" altLang="es-AR" dirty="0"/>
          </a:p>
        </p:txBody>
      </p:sp>
    </p:spTree>
    <p:extLst>
      <p:ext uri="{BB962C8B-B14F-4D97-AF65-F5344CB8AC3E}">
        <p14:creationId xmlns:p14="http://schemas.microsoft.com/office/powerpoint/2010/main" val="250180746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sp>
        <p:nvSpPr>
          <p:cNvPr id="57347" name="2 Marcador de contenido"/>
          <p:cNvSpPr>
            <a:spLocks noGrp="1"/>
          </p:cNvSpPr>
          <p:nvPr>
            <p:ph idx="1"/>
          </p:nvPr>
        </p:nvSpPr>
        <p:spPr>
          <a:xfrm>
            <a:off x="457200" y="1412777"/>
            <a:ext cx="8229600" cy="2160240"/>
          </a:xfrm>
        </p:spPr>
        <p:txBody>
          <a:bodyPr/>
          <a:lstStyle/>
          <a:p>
            <a:r>
              <a:rPr lang="es-AR" dirty="0"/>
              <a:t>Color </a:t>
            </a:r>
          </a:p>
          <a:p>
            <a:endParaRPr lang="es-AR" dirty="0"/>
          </a:p>
          <a:p>
            <a:pPr lvl="1"/>
            <a:r>
              <a:rPr lang="es-AR" dirty="0"/>
              <a:t>Mecanismos para lograr que los colores de fondo y primer plano puedan ser elegidos por el usuario.</a:t>
            </a:r>
          </a:p>
          <a:p>
            <a:pPr lvl="1"/>
            <a:r>
              <a:rPr lang="es-AR" dirty="0"/>
              <a:t>Los navegadores web permiten cambiar los colores de fondo y primer plano:</a:t>
            </a:r>
          </a:p>
          <a:p>
            <a:pPr lvl="1"/>
            <a:endParaRPr lang="es-AR" dirty="0"/>
          </a:p>
          <a:p>
            <a:pPr lvl="2"/>
            <a:endParaRPr lang="es-AR" dirty="0"/>
          </a:p>
          <a:p>
            <a:pPr lvl="1"/>
            <a:endParaRPr lang="es-AR" dirty="0"/>
          </a:p>
          <a:p>
            <a:pPr marL="3657600" lvl="8" indent="0">
              <a:buNone/>
            </a:pPr>
            <a:r>
              <a:rPr lang="es-AR" dirty="0"/>
              <a:t>		</a:t>
            </a:r>
          </a:p>
        </p:txBody>
      </p:sp>
      <p:pic>
        <p:nvPicPr>
          <p:cNvPr id="4" name="Picture 2"/>
          <p:cNvPicPr>
            <a:picLocks noChangeAspect="1" noChangeArrowheads="1"/>
          </p:cNvPicPr>
          <p:nvPr/>
        </p:nvPicPr>
        <p:blipFill>
          <a:blip r:embed="rId3" cstate="print"/>
          <a:srcRect r="64100" b="45098"/>
          <a:stretch>
            <a:fillRect/>
          </a:stretch>
        </p:blipFill>
        <p:spPr bwMode="auto">
          <a:xfrm>
            <a:off x="620109" y="3573017"/>
            <a:ext cx="3147219" cy="2707341"/>
          </a:xfrm>
          <a:prstGeom prst="rect">
            <a:avLst/>
          </a:prstGeom>
          <a:noFill/>
          <a:ln w="9525">
            <a:noFill/>
            <a:miter lim="800000"/>
            <a:headEnd/>
            <a:tailEnd/>
          </a:ln>
          <a:effectLst/>
        </p:spPr>
      </p:pic>
      <p:pic>
        <p:nvPicPr>
          <p:cNvPr id="5" name="Picture 3"/>
          <p:cNvPicPr>
            <a:picLocks noChangeAspect="1" noChangeArrowheads="1"/>
          </p:cNvPicPr>
          <p:nvPr/>
        </p:nvPicPr>
        <p:blipFill>
          <a:blip r:embed="rId4" cstate="print"/>
          <a:srcRect r="36950" b="36622"/>
          <a:stretch>
            <a:fillRect/>
          </a:stretch>
        </p:blipFill>
        <p:spPr bwMode="auto">
          <a:xfrm>
            <a:off x="4067944" y="3579138"/>
            <a:ext cx="4919472" cy="2781589"/>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87</a:t>
            </a:fld>
            <a:endParaRPr lang="es-ES" altLang="es-AR" dirty="0"/>
          </a:p>
        </p:txBody>
      </p:sp>
    </p:spTree>
    <p:extLst>
      <p:ext uri="{BB962C8B-B14F-4D97-AF65-F5344CB8AC3E}">
        <p14:creationId xmlns:p14="http://schemas.microsoft.com/office/powerpoint/2010/main" val="345918262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sp>
        <p:nvSpPr>
          <p:cNvPr id="57347" name="2 Marcador de contenido"/>
          <p:cNvSpPr>
            <a:spLocks noGrp="1"/>
          </p:cNvSpPr>
          <p:nvPr>
            <p:ph idx="1"/>
          </p:nvPr>
        </p:nvSpPr>
        <p:spPr>
          <a:xfrm>
            <a:off x="430213" y="1916113"/>
            <a:ext cx="8229600" cy="4537223"/>
          </a:xfrm>
        </p:spPr>
        <p:txBody>
          <a:bodyPr/>
          <a:lstStyle/>
          <a:p>
            <a:r>
              <a:rPr lang="es-AR" dirty="0"/>
              <a:t>Color </a:t>
            </a:r>
          </a:p>
          <a:p>
            <a:endParaRPr lang="es-AR" dirty="0"/>
          </a:p>
          <a:p>
            <a:pPr lvl="1"/>
            <a:r>
              <a:rPr lang="es-AR" dirty="0"/>
              <a:t>Esta función era interesante hace años, cuando el diseño de las páginas web era muy simple.</a:t>
            </a:r>
          </a:p>
          <a:p>
            <a:pPr lvl="1"/>
            <a:r>
              <a:rPr lang="es-AR" dirty="0"/>
              <a:t>Hoy en día no soluciona todas las situaciones problemáticas que pueden existir.</a:t>
            </a:r>
          </a:p>
          <a:p>
            <a:pPr lvl="1"/>
            <a:r>
              <a:rPr lang="es-AR" dirty="0"/>
              <a:t>Lo más adecuado es que el desarrollador de un sitio web proporcione algún mecanismo para lograr  que los colores de fondo y primer plano puedan ser elegidos por el usuario.</a:t>
            </a:r>
          </a:p>
          <a:p>
            <a:pPr lvl="1"/>
            <a:r>
              <a:rPr lang="es-AR" dirty="0"/>
              <a:t>Esto se logra con el empleo de CSS (Técnica C15)</a:t>
            </a:r>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88</a:t>
            </a:fld>
            <a:endParaRPr lang="es-ES" altLang="es-AR" dirty="0"/>
          </a:p>
        </p:txBody>
      </p:sp>
    </p:spTree>
    <p:extLst>
      <p:ext uri="{BB962C8B-B14F-4D97-AF65-F5344CB8AC3E}">
        <p14:creationId xmlns:p14="http://schemas.microsoft.com/office/powerpoint/2010/main" val="296375019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755576" y="2996952"/>
            <a:ext cx="7772400" cy="1470025"/>
          </a:xfrm>
        </p:spPr>
        <p:txBody>
          <a:bodyPr/>
          <a:lstStyle/>
          <a:p>
            <a:r>
              <a:rPr lang="es-AR" dirty="0"/>
              <a:t>EJEMPLO</a:t>
            </a:r>
          </a:p>
        </p:txBody>
      </p:sp>
      <p:sp>
        <p:nvSpPr>
          <p:cNvPr id="3" name="Marcador de número de diapositiva 2"/>
          <p:cNvSpPr>
            <a:spLocks noGrp="1"/>
          </p:cNvSpPr>
          <p:nvPr>
            <p:ph type="sldNum" sz="quarter" idx="12"/>
          </p:nvPr>
        </p:nvSpPr>
        <p:spPr/>
        <p:txBody>
          <a:bodyPr/>
          <a:lstStyle/>
          <a:p>
            <a:pPr>
              <a:defRPr/>
            </a:pPr>
            <a:fld id="{07540478-50BE-49C6-B241-19303790821C}" type="slidenum">
              <a:rPr lang="es-ES" altLang="es-AR" smtClean="0"/>
              <a:pPr>
                <a:defRPr/>
              </a:pPr>
              <a:t>89</a:t>
            </a:fld>
            <a:endParaRPr lang="es-ES" altLang="es-AR"/>
          </a:p>
        </p:txBody>
      </p:sp>
    </p:spTree>
    <p:extLst>
      <p:ext uri="{BB962C8B-B14F-4D97-AF65-F5344CB8AC3E}">
        <p14:creationId xmlns:p14="http://schemas.microsoft.com/office/powerpoint/2010/main" val="206252252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a:t>Organización</a:t>
            </a:r>
          </a:p>
        </p:txBody>
      </p:sp>
      <p:sp>
        <p:nvSpPr>
          <p:cNvPr id="35843" name="2 Marcador de contenido"/>
          <p:cNvSpPr>
            <a:spLocks noGrp="1"/>
          </p:cNvSpPr>
          <p:nvPr>
            <p:ph idx="1"/>
          </p:nvPr>
        </p:nvSpPr>
        <p:spPr/>
        <p:txBody>
          <a:bodyPr/>
          <a:lstStyle/>
          <a:p>
            <a:r>
              <a:rPr lang="es-AR" altLang="es-AR" dirty="0"/>
              <a:t>¿Qué es la accesibilidad web?</a:t>
            </a:r>
          </a:p>
          <a:p>
            <a:r>
              <a:rPr lang="es-AR" altLang="es-AR" dirty="0"/>
              <a:t>Pautas y leyes.</a:t>
            </a:r>
          </a:p>
          <a:p>
            <a:r>
              <a:rPr lang="es-AR" altLang="es-AR" dirty="0"/>
              <a:t>Contenido accesible.</a:t>
            </a:r>
          </a:p>
          <a:p>
            <a:r>
              <a:rPr lang="es-AR" altLang="es-AR" dirty="0"/>
              <a:t>Navegación accesible.</a:t>
            </a:r>
          </a:p>
          <a:p>
            <a:r>
              <a:rPr lang="es-AR" altLang="es-AR" dirty="0"/>
              <a:t>Diseño accesible.</a:t>
            </a:r>
          </a:p>
          <a:p>
            <a:r>
              <a:rPr lang="es-AR" altLang="es-AR" b="1" dirty="0">
                <a:solidFill>
                  <a:srgbClr val="0070C0"/>
                </a:solidFill>
              </a:rPr>
              <a:t>Análisis y evaluación de la accesibilidad web.</a:t>
            </a:r>
          </a:p>
          <a:p>
            <a:r>
              <a:rPr lang="es-AR" altLang="es-AR" dirty="0"/>
              <a:t>Conclusiones.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90</a:t>
            </a:fld>
            <a:endParaRPr lang="es-ES" altLang="es-AR" dirty="0"/>
          </a:p>
        </p:txBody>
      </p:sp>
    </p:spTree>
    <p:extLst>
      <p:ext uri="{BB962C8B-B14F-4D97-AF65-F5344CB8AC3E}">
        <p14:creationId xmlns:p14="http://schemas.microsoft.com/office/powerpoint/2010/main" val="5052883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Metodología de evaluación: WCAG-EM</a:t>
            </a:r>
          </a:p>
          <a:p>
            <a:endParaRPr lang="es-AR" dirty="0"/>
          </a:p>
          <a:p>
            <a:pPr lvl="1"/>
            <a:r>
              <a:rPr lang="es-AR" dirty="0"/>
              <a:t>Pretende proporcionar  una metodología armonizada internacionalmente para la evaluación de todo tipo de sitios web de acuerdo con las WCAG 2.0.</a:t>
            </a:r>
          </a:p>
          <a:p>
            <a:pPr lvl="1"/>
            <a:endParaRPr lang="es-AR" dirty="0"/>
          </a:p>
          <a:p>
            <a:pPr lvl="1"/>
            <a:r>
              <a:rPr lang="es-AR" dirty="0"/>
              <a:t>Describe el procedimiento para guiar a los evaluadores y promover buenas prácticas.</a:t>
            </a:r>
          </a:p>
          <a:p>
            <a:pPr lvl="1"/>
            <a:endParaRPr lang="es-AR" dirty="0"/>
          </a:p>
          <a:p>
            <a:pPr lvl="1"/>
            <a:r>
              <a:rPr lang="es-AR" dirty="0"/>
              <a:t>El evaluador debe tener conocimientos de: </a:t>
            </a:r>
          </a:p>
          <a:p>
            <a:pPr lvl="2"/>
            <a:r>
              <a:rPr lang="es-AR" dirty="0"/>
              <a:t> WCAG 2.0, </a:t>
            </a:r>
          </a:p>
          <a:p>
            <a:pPr lvl="2"/>
            <a:r>
              <a:rPr lang="es-AR" dirty="0"/>
              <a:t> diseño accesible, y</a:t>
            </a:r>
          </a:p>
          <a:p>
            <a:pPr lvl="2"/>
            <a:r>
              <a:rPr lang="es-AR" dirty="0"/>
              <a:t> cómo las personas usan la Web. </a:t>
            </a:r>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91</a:t>
            </a:fld>
            <a:endParaRPr lang="es-ES" altLang="es-AR" dirty="0"/>
          </a:p>
        </p:txBody>
      </p:sp>
    </p:spTree>
    <p:extLst>
      <p:ext uri="{BB962C8B-B14F-4D97-AF65-F5344CB8AC3E}">
        <p14:creationId xmlns:p14="http://schemas.microsoft.com/office/powerpoint/2010/main" val="134134440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algn="just"/>
            <a:r>
              <a:rPr lang="es-AR" dirty="0"/>
              <a:t>Metodología de evaluación: WCAG-EM</a:t>
            </a:r>
          </a:p>
          <a:p>
            <a:pPr algn="just"/>
            <a:endParaRPr lang="es-AR" dirty="0"/>
          </a:p>
          <a:p>
            <a:pPr lvl="1" algn="just"/>
            <a:r>
              <a:rPr lang="es-AR" dirty="0"/>
              <a:t>Pasos del procedimiento de evaluación:</a:t>
            </a:r>
          </a:p>
          <a:p>
            <a:pPr lvl="1" algn="just"/>
            <a:endParaRPr lang="es-AR" dirty="0"/>
          </a:p>
          <a:p>
            <a:pPr marL="914400" lvl="2" indent="0" algn="just">
              <a:buNone/>
            </a:pPr>
            <a:r>
              <a:rPr lang="es-AR" b="1" dirty="0">
                <a:solidFill>
                  <a:srgbClr val="0070C0"/>
                </a:solidFill>
              </a:rPr>
              <a:t> 1.  Definir el alcance de la evaluación.</a:t>
            </a:r>
          </a:p>
          <a:p>
            <a:pPr marL="914400" lvl="2" indent="0" algn="just">
              <a:buNone/>
            </a:pPr>
            <a:r>
              <a:rPr lang="es-AR" dirty="0"/>
              <a:t> 2.  Explorar el sitio web.</a:t>
            </a:r>
          </a:p>
          <a:p>
            <a:pPr marL="914400" lvl="2" indent="0" algn="just">
              <a:buNone/>
            </a:pPr>
            <a:r>
              <a:rPr lang="es-AR" dirty="0"/>
              <a:t> 3.  Seleccionar una muestra representativa.</a:t>
            </a:r>
          </a:p>
          <a:p>
            <a:pPr marL="914400" lvl="2" indent="0" algn="just">
              <a:buNone/>
            </a:pPr>
            <a:r>
              <a:rPr lang="es-AR" dirty="0"/>
              <a:t> 4.  Auditar la muestra seleccionada.</a:t>
            </a:r>
          </a:p>
          <a:p>
            <a:pPr marL="914400" lvl="2" indent="0" algn="just">
              <a:buNone/>
            </a:pPr>
            <a:r>
              <a:rPr lang="es-AR" dirty="0"/>
              <a:t> 5.  Registrar los resultados de la evaluación. </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92</a:t>
            </a:fld>
            <a:endParaRPr lang="es-ES" altLang="es-AR" dirty="0"/>
          </a:p>
        </p:txBody>
      </p:sp>
    </p:spTree>
    <p:extLst>
      <p:ext uri="{BB962C8B-B14F-4D97-AF65-F5344CB8AC3E}">
        <p14:creationId xmlns:p14="http://schemas.microsoft.com/office/powerpoint/2010/main" val="264144114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marL="457200" indent="-457200" algn="just">
              <a:buAutoNum type="arabicPeriod"/>
            </a:pPr>
            <a:r>
              <a:rPr lang="es-AR" dirty="0"/>
              <a:t>Definir el alcance de la evaluación:</a:t>
            </a:r>
          </a:p>
          <a:p>
            <a:pPr marL="0" indent="0" algn="just">
              <a:buNone/>
            </a:pPr>
            <a:endParaRPr lang="es-AR" dirty="0"/>
          </a:p>
          <a:p>
            <a:pPr marL="914400" lvl="1" indent="-457200" algn="just">
              <a:buAutoNum type="alphaLcParenR"/>
            </a:pPr>
            <a:r>
              <a:rPr lang="es-AR" dirty="0"/>
              <a:t>Definir el alcance del sitio.</a:t>
            </a:r>
          </a:p>
          <a:p>
            <a:pPr marL="914400" lvl="1" indent="-457200">
              <a:buAutoNum type="alphaLcParenR" startAt="2"/>
            </a:pPr>
            <a:r>
              <a:rPr lang="es-AR" dirty="0"/>
              <a:t>Definir cual es el nivel de adecuación (A, AA, AAA) que se va a evaluar.</a:t>
            </a:r>
          </a:p>
          <a:p>
            <a:pPr marL="914400" lvl="1" indent="-457200" algn="just">
              <a:buAutoNum type="alphaLcParenR" startAt="3"/>
            </a:pPr>
            <a:r>
              <a:rPr lang="es-AR" dirty="0"/>
              <a:t>Definir el soporte de la accesibilidad.</a:t>
            </a:r>
          </a:p>
          <a:p>
            <a:pPr marL="914400" lvl="1" indent="-457200" algn="just">
              <a:buAutoNum type="alphaLcParenR" startAt="4"/>
            </a:pPr>
            <a:r>
              <a:rPr lang="es-AR" dirty="0"/>
              <a:t>(opcional) Definir los requisitos de evaluación adicionales.</a:t>
            </a:r>
          </a:p>
          <a:p>
            <a:pPr marL="457200" lvl="1" indent="0" algn="just">
              <a:buNone/>
            </a:pPr>
            <a:endParaRPr lang="es-AR" dirty="0"/>
          </a:p>
          <a:p>
            <a:pPr marL="457200" lvl="1" indent="0" algn="just">
              <a:buNone/>
            </a:pPr>
            <a:endParaRPr lang="es-AR" dirty="0"/>
          </a:p>
          <a:p>
            <a:pPr marL="457200" lvl="1" indent="0" algn="just">
              <a:buNone/>
            </a:pPr>
            <a:endParaRPr lang="es-AR" dirty="0"/>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93</a:t>
            </a:fld>
            <a:endParaRPr lang="es-ES" altLang="es-AR" dirty="0"/>
          </a:p>
        </p:txBody>
      </p:sp>
    </p:spTree>
    <p:extLst>
      <p:ext uri="{BB962C8B-B14F-4D97-AF65-F5344CB8AC3E}">
        <p14:creationId xmlns:p14="http://schemas.microsoft.com/office/powerpoint/2010/main" val="92424801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algn="just"/>
            <a:r>
              <a:rPr lang="es-AR" dirty="0"/>
              <a:t>Metodología de evaluación: WCAG-EM</a:t>
            </a:r>
          </a:p>
          <a:p>
            <a:pPr algn="just"/>
            <a:endParaRPr lang="es-AR" dirty="0"/>
          </a:p>
          <a:p>
            <a:pPr lvl="1" algn="just"/>
            <a:r>
              <a:rPr lang="es-AR" dirty="0"/>
              <a:t>Pasos del procedimiento de evaluación:</a:t>
            </a:r>
          </a:p>
          <a:p>
            <a:pPr lvl="1" algn="just"/>
            <a:endParaRPr lang="es-AR" dirty="0"/>
          </a:p>
          <a:p>
            <a:pPr marL="914400" lvl="2" indent="0" algn="just">
              <a:buNone/>
            </a:pPr>
            <a:r>
              <a:rPr lang="es-AR" dirty="0"/>
              <a:t> 1.  Definir el alcance de la evaluación.</a:t>
            </a:r>
          </a:p>
          <a:p>
            <a:pPr marL="914400" lvl="2" indent="0" algn="just">
              <a:buNone/>
            </a:pPr>
            <a:r>
              <a:rPr lang="es-AR" b="1" dirty="0">
                <a:solidFill>
                  <a:srgbClr val="0070C0"/>
                </a:solidFill>
              </a:rPr>
              <a:t> 2.  Explorar el sitio web.</a:t>
            </a:r>
          </a:p>
          <a:p>
            <a:pPr marL="914400" lvl="2" indent="0" algn="just">
              <a:buNone/>
            </a:pPr>
            <a:r>
              <a:rPr lang="es-AR" dirty="0"/>
              <a:t> 3.  Seleccionar una muestra representativa.</a:t>
            </a:r>
          </a:p>
          <a:p>
            <a:pPr marL="914400" lvl="2" indent="0">
              <a:buNone/>
            </a:pPr>
            <a:r>
              <a:rPr lang="es-AR" dirty="0"/>
              <a:t> 4.  Auditar la muestra seleccionada.</a:t>
            </a:r>
          </a:p>
          <a:p>
            <a:pPr marL="914400" lvl="2" indent="0" algn="just">
              <a:buNone/>
            </a:pPr>
            <a:r>
              <a:rPr lang="es-AR" dirty="0"/>
              <a:t> 5.  Registrar los resultados de la evaluación. </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94</a:t>
            </a:fld>
            <a:endParaRPr lang="es-ES" altLang="es-AR" dirty="0"/>
          </a:p>
        </p:txBody>
      </p:sp>
    </p:spTree>
    <p:extLst>
      <p:ext uri="{BB962C8B-B14F-4D97-AF65-F5344CB8AC3E}">
        <p14:creationId xmlns:p14="http://schemas.microsoft.com/office/powerpoint/2010/main" val="90833382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marL="457200" indent="-457200">
              <a:buAutoNum type="arabicPeriod" startAt="2"/>
            </a:pPr>
            <a:r>
              <a:rPr lang="es-AR" dirty="0"/>
              <a:t>Explorar el sitio web:</a:t>
            </a:r>
          </a:p>
          <a:p>
            <a:pPr marL="0" indent="0">
              <a:buNone/>
            </a:pPr>
            <a:endParaRPr lang="es-AR" dirty="0"/>
          </a:p>
          <a:p>
            <a:pPr marL="914400" lvl="1" indent="-457200">
              <a:buFont typeface="+mj-lt"/>
              <a:buAutoNum type="alphaLcParenR"/>
            </a:pPr>
            <a:r>
              <a:rPr lang="es-AR" dirty="0"/>
              <a:t>Identificar las páginas relevantes.</a:t>
            </a:r>
          </a:p>
          <a:p>
            <a:pPr marL="914400" lvl="1" indent="-457200">
              <a:buFont typeface="+mj-lt"/>
              <a:buAutoNum type="alphaLcParenR"/>
            </a:pPr>
            <a:r>
              <a:rPr lang="es-AR" dirty="0"/>
              <a:t>Identificar las funcionalidades clave del sitio.</a:t>
            </a:r>
          </a:p>
          <a:p>
            <a:pPr marL="914400" lvl="1" indent="-457200">
              <a:buFont typeface="+mj-lt"/>
              <a:buAutoNum type="alphaLcParenR"/>
            </a:pPr>
            <a:r>
              <a:rPr lang="es-AR" dirty="0"/>
              <a:t>Identificar los diferentes tipos de páginas.</a:t>
            </a:r>
          </a:p>
          <a:p>
            <a:pPr marL="914400" lvl="1" indent="-457200">
              <a:buFont typeface="+mj-lt"/>
              <a:buAutoNum type="alphaLcParenR"/>
            </a:pPr>
            <a:r>
              <a:rPr lang="es-AR" dirty="0"/>
              <a:t>Identificar las tecnologías de las que se dependen.</a:t>
            </a:r>
          </a:p>
          <a:p>
            <a:pPr marL="914400" lvl="1" indent="-457200">
              <a:buFont typeface="+mj-lt"/>
              <a:buAutoNum type="alphaLcParenR"/>
            </a:pPr>
            <a:r>
              <a:rPr lang="es-AR" dirty="0"/>
              <a:t>Identificar otras páginas (o estados de páginas) relevantes.</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95</a:t>
            </a:fld>
            <a:endParaRPr lang="es-ES" altLang="es-AR" dirty="0"/>
          </a:p>
        </p:txBody>
      </p:sp>
    </p:spTree>
    <p:extLst>
      <p:ext uri="{BB962C8B-B14F-4D97-AF65-F5344CB8AC3E}">
        <p14:creationId xmlns:p14="http://schemas.microsoft.com/office/powerpoint/2010/main" val="420104508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algn="just"/>
            <a:r>
              <a:rPr lang="es-AR" dirty="0"/>
              <a:t>Metodología de evaluación: WCAG-EM</a:t>
            </a:r>
          </a:p>
          <a:p>
            <a:pPr algn="just"/>
            <a:endParaRPr lang="es-AR" dirty="0"/>
          </a:p>
          <a:p>
            <a:pPr lvl="1" algn="just"/>
            <a:r>
              <a:rPr lang="es-AR" dirty="0"/>
              <a:t>Pasos del procedimiento de evaluación:</a:t>
            </a:r>
          </a:p>
          <a:p>
            <a:pPr lvl="1" algn="just"/>
            <a:endParaRPr lang="es-AR" dirty="0"/>
          </a:p>
          <a:p>
            <a:pPr marL="914400" lvl="2" indent="0" algn="just">
              <a:buNone/>
            </a:pPr>
            <a:r>
              <a:rPr lang="es-AR" dirty="0"/>
              <a:t> 1.  Definir el alcance de la evaluación.</a:t>
            </a:r>
          </a:p>
          <a:p>
            <a:pPr marL="914400" lvl="2" indent="0" algn="just">
              <a:buNone/>
            </a:pPr>
            <a:r>
              <a:rPr lang="es-AR" dirty="0"/>
              <a:t> 2.  Explorar el sitio web.</a:t>
            </a:r>
          </a:p>
          <a:p>
            <a:pPr marL="914400" lvl="2" indent="0" algn="just">
              <a:buNone/>
            </a:pPr>
            <a:r>
              <a:rPr lang="es-AR" b="1" dirty="0">
                <a:solidFill>
                  <a:srgbClr val="0070C0"/>
                </a:solidFill>
              </a:rPr>
              <a:t> 3.  Seleccionar una muestra representativa.</a:t>
            </a:r>
          </a:p>
          <a:p>
            <a:pPr marL="914400" lvl="2" indent="0" algn="just">
              <a:buNone/>
            </a:pPr>
            <a:r>
              <a:rPr lang="es-AR" dirty="0"/>
              <a:t> 4.  Auditar la muestra seleccionada.</a:t>
            </a:r>
          </a:p>
          <a:p>
            <a:pPr marL="914400" lvl="2" indent="0" algn="just">
              <a:buNone/>
            </a:pPr>
            <a:r>
              <a:rPr lang="es-AR" dirty="0"/>
              <a:t> 5.  Registrar los resultados de la evaluación. </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96</a:t>
            </a:fld>
            <a:endParaRPr lang="es-ES" altLang="es-AR" dirty="0"/>
          </a:p>
        </p:txBody>
      </p:sp>
    </p:spTree>
    <p:extLst>
      <p:ext uri="{BB962C8B-B14F-4D97-AF65-F5344CB8AC3E}">
        <p14:creationId xmlns:p14="http://schemas.microsoft.com/office/powerpoint/2010/main" val="284299491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marL="457200" indent="-457200">
              <a:buAutoNum type="arabicPeriod" startAt="3"/>
            </a:pPr>
            <a:r>
              <a:rPr lang="es-AR" dirty="0"/>
              <a:t>Seleccionar una muestra representativa:</a:t>
            </a:r>
          </a:p>
          <a:p>
            <a:pPr marL="0" indent="0">
              <a:buNone/>
            </a:pPr>
            <a:endParaRPr lang="es-AR" dirty="0"/>
          </a:p>
          <a:p>
            <a:pPr marL="914400" lvl="1" indent="-457200">
              <a:buFont typeface="+mj-lt"/>
              <a:buAutoNum type="alphaLcParenR"/>
            </a:pPr>
            <a:r>
              <a:rPr lang="es-AR" dirty="0"/>
              <a:t>Incluir una muestra estructurada.</a:t>
            </a:r>
          </a:p>
          <a:p>
            <a:pPr marL="914400" lvl="1" indent="-457200">
              <a:buFont typeface="+mj-lt"/>
              <a:buAutoNum type="alphaLcParenR"/>
            </a:pPr>
            <a:r>
              <a:rPr lang="es-AR" dirty="0"/>
              <a:t>Incluir una muestra al azar.</a:t>
            </a:r>
          </a:p>
          <a:p>
            <a:pPr marL="914400" lvl="1" indent="-457200">
              <a:buFont typeface="+mj-lt"/>
              <a:buAutoNum type="alphaLcParenR"/>
            </a:pPr>
            <a:r>
              <a:rPr lang="es-AR" dirty="0"/>
              <a:t>Incluir en la muestra procesos completos.</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97</a:t>
            </a:fld>
            <a:endParaRPr lang="es-ES" altLang="es-AR" dirty="0"/>
          </a:p>
        </p:txBody>
      </p:sp>
    </p:spTree>
    <p:extLst>
      <p:ext uri="{BB962C8B-B14F-4D97-AF65-F5344CB8AC3E}">
        <p14:creationId xmlns:p14="http://schemas.microsoft.com/office/powerpoint/2010/main" val="252640543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algn="just"/>
            <a:r>
              <a:rPr lang="es-AR" dirty="0"/>
              <a:t>Metodología de evaluación: WCAG-EM</a:t>
            </a:r>
          </a:p>
          <a:p>
            <a:pPr algn="just"/>
            <a:endParaRPr lang="es-AR" dirty="0"/>
          </a:p>
          <a:p>
            <a:pPr lvl="1" algn="just"/>
            <a:r>
              <a:rPr lang="es-AR" dirty="0"/>
              <a:t>Pasos del procedimiento de evaluación:</a:t>
            </a:r>
          </a:p>
          <a:p>
            <a:pPr lvl="1" algn="just"/>
            <a:endParaRPr lang="es-AR" dirty="0"/>
          </a:p>
          <a:p>
            <a:pPr marL="914400" lvl="2" indent="0" algn="just">
              <a:buNone/>
            </a:pPr>
            <a:r>
              <a:rPr lang="es-AR" dirty="0"/>
              <a:t> 1.  Definir el alcance de la evaluación.</a:t>
            </a:r>
          </a:p>
          <a:p>
            <a:pPr marL="914400" lvl="2" indent="0" algn="just">
              <a:buNone/>
            </a:pPr>
            <a:r>
              <a:rPr lang="es-AR" dirty="0"/>
              <a:t> 2.  Explorar el sitio web.</a:t>
            </a:r>
          </a:p>
          <a:p>
            <a:pPr marL="914400" lvl="2" indent="0" algn="just">
              <a:buNone/>
            </a:pPr>
            <a:r>
              <a:rPr lang="es-AR" dirty="0"/>
              <a:t> 3.  Seleccionar una muestra representativa.</a:t>
            </a:r>
          </a:p>
          <a:p>
            <a:pPr marL="914400" lvl="2" indent="0" algn="just">
              <a:buNone/>
            </a:pPr>
            <a:r>
              <a:rPr lang="es-AR" b="1" dirty="0">
                <a:solidFill>
                  <a:srgbClr val="0070C0"/>
                </a:solidFill>
              </a:rPr>
              <a:t> 4.  Auditar la muestra seleccionada.</a:t>
            </a:r>
          </a:p>
          <a:p>
            <a:pPr marL="914400" lvl="2" indent="0" algn="just">
              <a:buNone/>
            </a:pPr>
            <a:r>
              <a:rPr lang="es-AR" dirty="0"/>
              <a:t> 5.  Registrar los resultados de la evaluación. </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98</a:t>
            </a:fld>
            <a:endParaRPr lang="es-ES" altLang="es-AR" dirty="0"/>
          </a:p>
        </p:txBody>
      </p:sp>
    </p:spTree>
    <p:extLst>
      <p:ext uri="{BB962C8B-B14F-4D97-AF65-F5344CB8AC3E}">
        <p14:creationId xmlns:p14="http://schemas.microsoft.com/office/powerpoint/2010/main" val="264226187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marL="457200" indent="-457200">
              <a:buAutoNum type="arabicPeriod" startAt="4"/>
            </a:pPr>
            <a:r>
              <a:rPr lang="es-AR" dirty="0"/>
              <a:t>Auditar la muestra seleccionada:</a:t>
            </a:r>
          </a:p>
          <a:p>
            <a:pPr marL="0" indent="0">
              <a:buNone/>
            </a:pPr>
            <a:endParaRPr lang="es-AR" dirty="0"/>
          </a:p>
          <a:p>
            <a:pPr marL="914400" lvl="1" indent="-457200">
              <a:buFont typeface="+mj-lt"/>
              <a:buAutoNum type="alphaLcParenR"/>
            </a:pPr>
            <a:r>
              <a:rPr lang="es-AR" dirty="0"/>
              <a:t>Revisar todas las páginas iniciales.</a:t>
            </a:r>
          </a:p>
          <a:p>
            <a:pPr marL="914400" lvl="1" indent="-457200">
              <a:buFont typeface="+mj-lt"/>
              <a:buAutoNum type="alphaLcParenR"/>
            </a:pPr>
            <a:r>
              <a:rPr lang="es-AR" dirty="0"/>
              <a:t>Evaluar todos los procesos completos.</a:t>
            </a:r>
          </a:p>
          <a:p>
            <a:pPr marL="914400" lvl="1" indent="-457200">
              <a:buFont typeface="+mj-lt"/>
              <a:buAutoNum type="alphaLcParenR"/>
            </a:pPr>
            <a:r>
              <a:rPr lang="es-AR" dirty="0"/>
              <a:t>Comparar las páginas de la muestra que se seleccionaron de forma estructurada con las páginas de la muestra que se seleccionaron aleatoriamente.</a:t>
            </a:r>
          </a:p>
          <a:p>
            <a:pPr marL="914400" lvl="2" indent="0" algn="just">
              <a:buNone/>
            </a:pPr>
            <a:r>
              <a:rPr lang="es-AR" dirty="0"/>
              <a:t>. </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99</a:t>
            </a:fld>
            <a:endParaRPr lang="es-ES" altLang="es-AR" dirty="0"/>
          </a:p>
        </p:txBody>
      </p:sp>
    </p:spTree>
    <p:extLst>
      <p:ext uri="{BB962C8B-B14F-4D97-AF65-F5344CB8AC3E}">
        <p14:creationId xmlns:p14="http://schemas.microsoft.com/office/powerpoint/2010/main" val="408178693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algn="just"/>
            <a:r>
              <a:rPr lang="es-AR" dirty="0"/>
              <a:t>Metodología de evaluación: WCAG-EM</a:t>
            </a:r>
          </a:p>
          <a:p>
            <a:pPr algn="just"/>
            <a:endParaRPr lang="es-AR" dirty="0"/>
          </a:p>
          <a:p>
            <a:pPr lvl="1" algn="just"/>
            <a:r>
              <a:rPr lang="es-AR" dirty="0"/>
              <a:t>Pasos del procedimiento de evaluación:</a:t>
            </a:r>
          </a:p>
          <a:p>
            <a:pPr lvl="1" algn="just"/>
            <a:endParaRPr lang="es-AR" dirty="0"/>
          </a:p>
          <a:p>
            <a:pPr marL="914400" lvl="2" indent="0" algn="just">
              <a:buNone/>
            </a:pPr>
            <a:r>
              <a:rPr lang="es-AR" dirty="0"/>
              <a:t> 1.  Definir el alcance de la evaluación.</a:t>
            </a:r>
          </a:p>
          <a:p>
            <a:pPr marL="914400" lvl="2" indent="0" algn="just">
              <a:buNone/>
            </a:pPr>
            <a:r>
              <a:rPr lang="es-AR" dirty="0"/>
              <a:t> 2.  Explorar el sitio web.</a:t>
            </a:r>
          </a:p>
          <a:p>
            <a:pPr marL="914400" lvl="2" indent="0" algn="just">
              <a:buNone/>
            </a:pPr>
            <a:r>
              <a:rPr lang="es-AR" dirty="0"/>
              <a:t> 3.  Seleccionar una muestra representativa.</a:t>
            </a:r>
          </a:p>
          <a:p>
            <a:pPr marL="914400" lvl="2" indent="0" algn="just">
              <a:buNone/>
            </a:pPr>
            <a:r>
              <a:rPr lang="es-AR" dirty="0"/>
              <a:t> 4.  Auditar la muestra seleccionada.</a:t>
            </a:r>
          </a:p>
          <a:p>
            <a:pPr marL="914400" lvl="2" indent="0" algn="just">
              <a:buNone/>
            </a:pPr>
            <a:r>
              <a:rPr lang="es-AR" dirty="0"/>
              <a:t> </a:t>
            </a:r>
            <a:r>
              <a:rPr lang="es-AR" b="1" dirty="0">
                <a:solidFill>
                  <a:srgbClr val="0070C0"/>
                </a:solidFill>
              </a:rPr>
              <a:t>5.  Registrar los resultados de la evaluación. </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100</a:t>
            </a:fld>
            <a:endParaRPr lang="es-ES" altLang="es-AR" dirty="0"/>
          </a:p>
        </p:txBody>
      </p:sp>
    </p:spTree>
    <p:extLst>
      <p:ext uri="{BB962C8B-B14F-4D97-AF65-F5344CB8AC3E}">
        <p14:creationId xmlns:p14="http://schemas.microsoft.com/office/powerpoint/2010/main" val="16899631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marL="457200" indent="-457200">
              <a:buAutoNum type="arabicPeriod" startAt="5"/>
            </a:pPr>
            <a:r>
              <a:rPr lang="es-AR" dirty="0"/>
              <a:t>Registrar los resultados de la evaluación:</a:t>
            </a:r>
          </a:p>
          <a:p>
            <a:pPr marL="0" indent="0">
              <a:buNone/>
            </a:pPr>
            <a:endParaRPr lang="es-AR" dirty="0"/>
          </a:p>
          <a:p>
            <a:pPr marL="914400" lvl="1" indent="-457200">
              <a:buFont typeface="+mj-lt"/>
              <a:buAutoNum type="alphaLcParenR"/>
            </a:pPr>
            <a:r>
              <a:rPr lang="es-AR" dirty="0"/>
              <a:t>Proporcionar documentación para cada paso.</a:t>
            </a:r>
          </a:p>
          <a:p>
            <a:pPr marL="914400" lvl="1" indent="-457200">
              <a:buFont typeface="+mj-lt"/>
              <a:buAutoNum type="alphaLcParenR"/>
            </a:pPr>
            <a:r>
              <a:rPr lang="es-AR" dirty="0"/>
              <a:t>(opcional) Registrar los detalles específicos de la evaluación.</a:t>
            </a:r>
          </a:p>
          <a:p>
            <a:pPr marL="914400" lvl="1" indent="-457200">
              <a:buFont typeface="+mj-lt"/>
              <a:buAutoNum type="alphaLcParenR"/>
            </a:pPr>
            <a:r>
              <a:rPr lang="es-AR" dirty="0"/>
              <a:t>(opcional) Proporcionar una declaración.</a:t>
            </a:r>
          </a:p>
          <a:p>
            <a:pPr marL="914400" lvl="1" indent="-457200">
              <a:buFont typeface="+mj-lt"/>
              <a:buAutoNum type="alphaLcParenR"/>
            </a:pPr>
            <a:r>
              <a:rPr lang="es-AR" dirty="0"/>
              <a:t>(opcional) Proporcionar una puntuación.</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101</a:t>
            </a:fld>
            <a:endParaRPr lang="es-ES" altLang="es-AR" dirty="0"/>
          </a:p>
        </p:txBody>
      </p:sp>
    </p:spTree>
    <p:extLst>
      <p:ext uri="{BB962C8B-B14F-4D97-AF65-F5344CB8AC3E}">
        <p14:creationId xmlns:p14="http://schemas.microsoft.com/office/powerpoint/2010/main" val="389486487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Herramientas de evaluación automática:</a:t>
            </a:r>
          </a:p>
          <a:p>
            <a:pPr marL="0" indent="0">
              <a:buNone/>
            </a:pPr>
            <a:endParaRPr lang="es-AR" dirty="0"/>
          </a:p>
          <a:p>
            <a:pPr lvl="1"/>
            <a:r>
              <a:rPr lang="es-AR" dirty="0"/>
              <a:t> Son muy útiles para facilitar nuestro trabajo.</a:t>
            </a:r>
          </a:p>
          <a:p>
            <a:pPr lvl="1"/>
            <a:endParaRPr lang="es-AR" dirty="0"/>
          </a:p>
          <a:p>
            <a:pPr lvl="1"/>
            <a:r>
              <a:rPr lang="es-AR" dirty="0"/>
              <a:t> Nunca sustituyen a una evaluación manual realizada por un experto.</a:t>
            </a:r>
          </a:p>
          <a:p>
            <a:pPr lvl="1"/>
            <a:endParaRPr lang="es-AR" dirty="0"/>
          </a:p>
          <a:p>
            <a:pPr lvl="1"/>
            <a:r>
              <a:rPr lang="es-AR" dirty="0"/>
              <a:t> A continuación se enumeran algunas herramientas gratuitas de evaluación automática que pueden a ayudar a revisar un sitio web.</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102</a:t>
            </a:fld>
            <a:endParaRPr lang="es-ES" altLang="es-AR" dirty="0"/>
          </a:p>
        </p:txBody>
      </p:sp>
    </p:spTree>
    <p:extLst>
      <p:ext uri="{BB962C8B-B14F-4D97-AF65-F5344CB8AC3E}">
        <p14:creationId xmlns:p14="http://schemas.microsoft.com/office/powerpoint/2010/main" val="199992132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28818" y="1678803"/>
            <a:ext cx="8229600" cy="4537223"/>
          </a:xfrm>
        </p:spPr>
        <p:txBody>
          <a:bodyPr/>
          <a:lstStyle/>
          <a:p>
            <a:r>
              <a:rPr lang="es-AR" dirty="0"/>
              <a:t>Herramientas de evaluación automática:</a:t>
            </a:r>
          </a:p>
          <a:p>
            <a:pPr marL="0" indent="0">
              <a:buNone/>
            </a:pPr>
            <a:endParaRPr lang="es-AR" dirty="0"/>
          </a:p>
          <a:p>
            <a:pPr lvl="1"/>
            <a:r>
              <a:rPr lang="es-AR" b="1" dirty="0"/>
              <a:t>Validadores de código HTML/CSS:</a:t>
            </a:r>
          </a:p>
          <a:p>
            <a:pPr lvl="2"/>
            <a:r>
              <a:rPr lang="es-AR" i="1" dirty="0"/>
              <a:t>W3C </a:t>
            </a:r>
            <a:r>
              <a:rPr lang="es-AR" i="1" dirty="0" err="1"/>
              <a:t>Unicorn</a:t>
            </a:r>
            <a:r>
              <a:rPr lang="es-AR" i="1" dirty="0"/>
              <a:t>, W3C </a:t>
            </a:r>
            <a:r>
              <a:rPr lang="es-AR" i="1" dirty="0" err="1"/>
              <a:t>Markup</a:t>
            </a:r>
            <a:r>
              <a:rPr lang="es-AR" i="1" dirty="0"/>
              <a:t> </a:t>
            </a:r>
            <a:r>
              <a:rPr lang="es-AR" i="1" dirty="0" err="1"/>
              <a:t>Validation</a:t>
            </a:r>
            <a:r>
              <a:rPr lang="es-AR" i="1" dirty="0"/>
              <a:t> </a:t>
            </a:r>
            <a:r>
              <a:rPr lang="es-AR" i="1" dirty="0" err="1"/>
              <a:t>Service</a:t>
            </a:r>
            <a:r>
              <a:rPr lang="es-AR" i="1" dirty="0"/>
              <a:t>, W3C CSS </a:t>
            </a:r>
            <a:r>
              <a:rPr lang="es-AR" i="1" dirty="0" err="1"/>
              <a:t>Validation</a:t>
            </a:r>
            <a:r>
              <a:rPr lang="es-AR" i="1" dirty="0"/>
              <a:t> </a:t>
            </a:r>
            <a:r>
              <a:rPr lang="es-AR" i="1" dirty="0" err="1"/>
              <a:t>Service</a:t>
            </a:r>
            <a:r>
              <a:rPr lang="es-AR" i="1" dirty="0"/>
              <a:t>, etc</a:t>
            </a:r>
            <a:r>
              <a:rPr lang="es-AR" dirty="0"/>
              <a:t>.</a:t>
            </a:r>
          </a:p>
          <a:p>
            <a:pPr lvl="1"/>
            <a:r>
              <a:rPr lang="es-AR" b="1" dirty="0"/>
              <a:t>Validadores de accesibilidad (WCAG 2.0):</a:t>
            </a:r>
          </a:p>
          <a:p>
            <a:pPr lvl="2"/>
            <a:r>
              <a:rPr lang="es-AR" i="1" dirty="0"/>
              <a:t>TAW, HERA, WAVE, </a:t>
            </a:r>
            <a:r>
              <a:rPr lang="es-AR" i="1" dirty="0" err="1"/>
              <a:t>eXaminator</a:t>
            </a:r>
            <a:r>
              <a:rPr lang="es-AR" i="1" dirty="0"/>
              <a:t>, ARWeb, etc.</a:t>
            </a:r>
          </a:p>
          <a:p>
            <a:pPr lvl="1"/>
            <a:r>
              <a:rPr lang="es-AR" b="1" dirty="0"/>
              <a:t>Extensiones para los navegadores:</a:t>
            </a:r>
          </a:p>
          <a:p>
            <a:pPr lvl="2"/>
            <a:r>
              <a:rPr lang="es-AR" i="1" dirty="0">
                <a:sym typeface="Wingdings" pitchFamily="2" charset="2"/>
              </a:rPr>
              <a:t>Firefox </a:t>
            </a:r>
            <a:r>
              <a:rPr lang="es-AR" i="1" dirty="0" err="1">
                <a:sym typeface="Wingdings" pitchFamily="2" charset="2"/>
              </a:rPr>
              <a:t>Accessibility</a:t>
            </a:r>
            <a:r>
              <a:rPr lang="es-AR" i="1" dirty="0">
                <a:sym typeface="Wingdings" pitchFamily="2" charset="2"/>
              </a:rPr>
              <a:t> </a:t>
            </a:r>
            <a:r>
              <a:rPr lang="es-AR" i="1" dirty="0" err="1">
                <a:sym typeface="Wingdings" pitchFamily="2" charset="2"/>
              </a:rPr>
              <a:t>Extension</a:t>
            </a:r>
            <a:r>
              <a:rPr lang="es-AR" i="1" dirty="0">
                <a:sym typeface="Wingdings" pitchFamily="2" charset="2"/>
              </a:rPr>
              <a:t>, Web </a:t>
            </a:r>
            <a:r>
              <a:rPr lang="es-AR" i="1" dirty="0" err="1">
                <a:sym typeface="Wingdings" pitchFamily="2" charset="2"/>
              </a:rPr>
              <a:t>Accessibility</a:t>
            </a:r>
            <a:r>
              <a:rPr lang="es-AR" i="1" dirty="0">
                <a:sym typeface="Wingdings" pitchFamily="2" charset="2"/>
              </a:rPr>
              <a:t> </a:t>
            </a:r>
            <a:r>
              <a:rPr lang="es-AR" i="1" dirty="0" err="1">
                <a:sym typeface="Wingdings" pitchFamily="2" charset="2"/>
              </a:rPr>
              <a:t>Toolbar</a:t>
            </a:r>
            <a:r>
              <a:rPr lang="es-AR" i="1" dirty="0">
                <a:sym typeface="Wingdings" pitchFamily="2" charset="2"/>
              </a:rPr>
              <a:t>, Web </a:t>
            </a:r>
            <a:r>
              <a:rPr lang="es-AR" i="1" dirty="0" err="1">
                <a:sym typeface="Wingdings" pitchFamily="2" charset="2"/>
              </a:rPr>
              <a:t>Developer</a:t>
            </a:r>
            <a:r>
              <a:rPr lang="es-AR" i="1" dirty="0">
                <a:sym typeface="Wingdings" pitchFamily="2" charset="2"/>
              </a:rPr>
              <a:t> </a:t>
            </a:r>
            <a:r>
              <a:rPr lang="es-AR" i="1" dirty="0" err="1">
                <a:sym typeface="Wingdings" pitchFamily="2" charset="2"/>
              </a:rPr>
              <a:t>Toolbar</a:t>
            </a:r>
            <a:r>
              <a:rPr lang="es-AR" i="1" dirty="0">
                <a:sym typeface="Wingdings" pitchFamily="2" charset="2"/>
              </a:rPr>
              <a:t>, </a:t>
            </a:r>
            <a:r>
              <a:rPr lang="es-AR" i="1" dirty="0" err="1">
                <a:sym typeface="Wingdings" pitchFamily="2" charset="2"/>
              </a:rPr>
              <a:t>Accessibility</a:t>
            </a:r>
            <a:r>
              <a:rPr lang="es-AR" i="1" dirty="0">
                <a:sym typeface="Wingdings" pitchFamily="2" charset="2"/>
              </a:rPr>
              <a:t> </a:t>
            </a:r>
            <a:r>
              <a:rPr lang="es-AR" i="1" dirty="0" err="1">
                <a:sym typeface="Wingdings" pitchFamily="2" charset="2"/>
              </a:rPr>
              <a:t>Developer</a:t>
            </a:r>
            <a:r>
              <a:rPr lang="es-AR" i="1" dirty="0">
                <a:sym typeface="Wingdings" pitchFamily="2" charset="2"/>
              </a:rPr>
              <a:t> Tools, etc.</a:t>
            </a:r>
            <a:endParaRPr lang="es-AR" i="1" dirty="0"/>
          </a:p>
          <a:p>
            <a:pPr lvl="1"/>
            <a:r>
              <a:rPr lang="es-AR" b="1" dirty="0"/>
              <a:t>Contraste de color:</a:t>
            </a:r>
          </a:p>
          <a:p>
            <a:pPr lvl="2"/>
            <a:r>
              <a:rPr lang="es-AR" i="1" dirty="0">
                <a:sym typeface="Wingdings" pitchFamily="2" charset="2"/>
              </a:rPr>
              <a:t>WCAG </a:t>
            </a:r>
            <a:r>
              <a:rPr lang="es-AR" i="1" dirty="0" err="1">
                <a:sym typeface="Wingdings" pitchFamily="2" charset="2"/>
              </a:rPr>
              <a:t>Contrast</a:t>
            </a:r>
            <a:r>
              <a:rPr lang="es-AR" i="1" dirty="0">
                <a:sym typeface="Wingdings" pitchFamily="2" charset="2"/>
              </a:rPr>
              <a:t> </a:t>
            </a:r>
            <a:r>
              <a:rPr lang="es-AR" i="1" dirty="0" err="1">
                <a:sym typeface="Wingdings" pitchFamily="2" charset="2"/>
              </a:rPr>
              <a:t>checker</a:t>
            </a:r>
            <a:r>
              <a:rPr lang="es-AR" i="1" dirty="0">
                <a:sym typeface="Wingdings" pitchFamily="2" charset="2"/>
              </a:rPr>
              <a:t>, </a:t>
            </a:r>
            <a:r>
              <a:rPr lang="es-AR" i="1" dirty="0" err="1">
                <a:sym typeface="Wingdings" pitchFamily="2" charset="2"/>
              </a:rPr>
              <a:t>Accessibility</a:t>
            </a:r>
            <a:r>
              <a:rPr lang="es-AR" i="1" dirty="0">
                <a:sym typeface="Wingdings" pitchFamily="2" charset="2"/>
              </a:rPr>
              <a:t> Color Wheel, etc.</a:t>
            </a:r>
            <a:endParaRPr lang="es-AR" i="1" dirty="0"/>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103</a:t>
            </a:fld>
            <a:endParaRPr lang="es-ES" altLang="es-AR" dirty="0"/>
          </a:p>
        </p:txBody>
      </p:sp>
    </p:spTree>
    <p:extLst>
      <p:ext uri="{BB962C8B-B14F-4D97-AF65-F5344CB8AC3E}">
        <p14:creationId xmlns:p14="http://schemas.microsoft.com/office/powerpoint/2010/main" val="397426741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Validadores de accesibilidad (WCAG 2.0)</a:t>
            </a:r>
          </a:p>
          <a:p>
            <a:endParaRPr lang="es-AR" dirty="0"/>
          </a:p>
          <a:p>
            <a:pPr lvl="1"/>
            <a:r>
              <a:rPr lang="es-AR" dirty="0"/>
              <a:t> </a:t>
            </a:r>
            <a:r>
              <a:rPr lang="es-AR" b="1" dirty="0"/>
              <a:t>TAW: </a:t>
            </a:r>
            <a:r>
              <a:rPr lang="es-AR" dirty="0">
                <a:hlinkClick r:id="rId3"/>
              </a:rPr>
              <a:t>http://www.tawdis.net/</a:t>
            </a:r>
            <a:endParaRPr lang="es-AR" dirty="0"/>
          </a:p>
          <a:p>
            <a:pPr lvl="1"/>
            <a:endParaRPr lang="es-AR" dirty="0"/>
          </a:p>
          <a:p>
            <a:pPr lvl="2"/>
            <a:r>
              <a:rPr lang="es-AR" b="1" dirty="0"/>
              <a:t>Validación:</a:t>
            </a:r>
            <a:r>
              <a:rPr lang="es-AR" dirty="0"/>
              <a:t> WCAG 2.0 (A, AA, AAA) y </a:t>
            </a:r>
            <a:r>
              <a:rPr lang="es-AR" dirty="0" err="1"/>
              <a:t>mobileOK</a:t>
            </a:r>
            <a:r>
              <a:rPr lang="es-AR" dirty="0"/>
              <a:t>.</a:t>
            </a:r>
          </a:p>
          <a:p>
            <a:pPr lvl="2"/>
            <a:r>
              <a:rPr lang="es-AR" b="1" dirty="0"/>
              <a:t>Tipo de herramienta: </a:t>
            </a:r>
            <a:r>
              <a:rPr lang="es-AR" dirty="0"/>
              <a:t>online. La versión local y la extensión para Firefox validan de acuerdo a las WCAG 1.0.</a:t>
            </a:r>
          </a:p>
          <a:p>
            <a:pPr lvl="2"/>
            <a:r>
              <a:rPr lang="es-AR" b="1" dirty="0"/>
              <a:t>Opciones:</a:t>
            </a:r>
            <a:r>
              <a:rPr lang="es-AR" dirty="0"/>
              <a:t> URL. No permiten validación de un sitio completo salvo con su herramienta “TAW Monitor” que es pago.</a:t>
            </a:r>
          </a:p>
          <a:p>
            <a:pPr lvl="2"/>
            <a:r>
              <a:rPr lang="es-AR" b="1" dirty="0"/>
              <a:t>Idioma:</a:t>
            </a:r>
            <a:r>
              <a:rPr lang="es-AR" dirty="0"/>
              <a:t> castellano.</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104</a:t>
            </a:fld>
            <a:endParaRPr lang="es-ES" altLang="es-AR" dirty="0"/>
          </a:p>
        </p:txBody>
      </p:sp>
    </p:spTree>
    <p:extLst>
      <p:ext uri="{BB962C8B-B14F-4D97-AF65-F5344CB8AC3E}">
        <p14:creationId xmlns:p14="http://schemas.microsoft.com/office/powerpoint/2010/main" val="267349111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Validadores de accesibilidad (WCAG 2.0)</a:t>
            </a:r>
          </a:p>
          <a:p>
            <a:endParaRPr lang="es-AR" dirty="0"/>
          </a:p>
          <a:p>
            <a:pPr lvl="1"/>
            <a:r>
              <a:rPr lang="es-AR" dirty="0"/>
              <a:t> </a:t>
            </a:r>
            <a:r>
              <a:rPr lang="es-AR" b="1" dirty="0" err="1"/>
              <a:t>eXaminator</a:t>
            </a:r>
            <a:r>
              <a:rPr lang="es-AR" b="1" dirty="0"/>
              <a:t>: </a:t>
            </a:r>
            <a:r>
              <a:rPr lang="es-AR" dirty="0">
                <a:hlinkClick r:id="rId3"/>
              </a:rPr>
              <a:t>http://examinator.ws/</a:t>
            </a:r>
            <a:endParaRPr lang="es-AR" dirty="0"/>
          </a:p>
          <a:p>
            <a:pPr lvl="1"/>
            <a:endParaRPr lang="es-AR" dirty="0"/>
          </a:p>
          <a:p>
            <a:pPr lvl="2"/>
            <a:r>
              <a:rPr lang="es-AR" b="1" dirty="0"/>
              <a:t>Validación:</a:t>
            </a:r>
            <a:r>
              <a:rPr lang="es-AR" dirty="0"/>
              <a:t> usa como referencia técnicas de las WCAG 2.0 para otorgar una puntuación a  la página.</a:t>
            </a:r>
          </a:p>
          <a:p>
            <a:pPr lvl="2"/>
            <a:r>
              <a:rPr lang="es-AR" b="1" dirty="0"/>
              <a:t>Tipo de herramienta: </a:t>
            </a:r>
            <a:r>
              <a:rPr lang="es-AR" dirty="0"/>
              <a:t>online, sólo permite revisar una cantidad limitada de páginas por día.</a:t>
            </a:r>
          </a:p>
          <a:p>
            <a:pPr lvl="2"/>
            <a:r>
              <a:rPr lang="es-AR" b="1" dirty="0"/>
              <a:t>Opciones:</a:t>
            </a:r>
            <a:r>
              <a:rPr lang="es-AR" dirty="0"/>
              <a:t> URL, </a:t>
            </a:r>
            <a:r>
              <a:rPr lang="es-AR" dirty="0" err="1"/>
              <a:t>upload</a:t>
            </a:r>
            <a:r>
              <a:rPr lang="es-AR" dirty="0"/>
              <a:t> de archivo e inclusión directa de código. </a:t>
            </a:r>
          </a:p>
          <a:p>
            <a:pPr lvl="2"/>
            <a:r>
              <a:rPr lang="es-AR" b="1" dirty="0"/>
              <a:t>Idioma:</a:t>
            </a:r>
            <a:r>
              <a:rPr lang="es-AR" dirty="0"/>
              <a:t> castellano.</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105</a:t>
            </a:fld>
            <a:endParaRPr lang="es-ES" altLang="es-AR" dirty="0"/>
          </a:p>
        </p:txBody>
      </p:sp>
    </p:spTree>
    <p:extLst>
      <p:ext uri="{BB962C8B-B14F-4D97-AF65-F5344CB8AC3E}">
        <p14:creationId xmlns:p14="http://schemas.microsoft.com/office/powerpoint/2010/main" val="126668205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Validadores de accesibilidad (WCAG 2.0)</a:t>
            </a:r>
          </a:p>
          <a:p>
            <a:endParaRPr lang="es-AR" dirty="0"/>
          </a:p>
          <a:p>
            <a:pPr lvl="1"/>
            <a:r>
              <a:rPr lang="es-AR" dirty="0"/>
              <a:t> </a:t>
            </a:r>
            <a:r>
              <a:rPr lang="es-AR" b="1" dirty="0"/>
              <a:t>ARWeb: </a:t>
            </a:r>
            <a:r>
              <a:rPr lang="es-AR" dirty="0">
                <a:sym typeface="Wingdings" pitchFamily="2" charset="2"/>
                <a:hlinkClick r:id="rId3"/>
              </a:rPr>
              <a:t>https://sites.google.com/site/uadeticarweb/arweb-deploy</a:t>
            </a:r>
            <a:endParaRPr lang="es-AR" dirty="0">
              <a:sym typeface="Wingdings" pitchFamily="2" charset="2"/>
            </a:endParaRPr>
          </a:p>
          <a:p>
            <a:pPr lvl="1"/>
            <a:endParaRPr lang="es-AR" dirty="0"/>
          </a:p>
          <a:p>
            <a:pPr lvl="2"/>
            <a:r>
              <a:rPr lang="es-AR" b="1" dirty="0"/>
              <a:t>Validación:</a:t>
            </a:r>
            <a:r>
              <a:rPr lang="es-AR" dirty="0"/>
              <a:t> WCAG 2.0 (A) para otorgar una puntuación a  la página de acuerdo a la legislación argentina vigente.</a:t>
            </a:r>
          </a:p>
          <a:p>
            <a:pPr lvl="2"/>
            <a:r>
              <a:rPr lang="es-AR" b="1" dirty="0"/>
              <a:t>Tipo de herramienta: </a:t>
            </a:r>
            <a:r>
              <a:rPr lang="es-AR" dirty="0"/>
              <a:t>versión local.</a:t>
            </a:r>
          </a:p>
          <a:p>
            <a:pPr lvl="2"/>
            <a:r>
              <a:rPr lang="es-AR" b="1" dirty="0"/>
              <a:t>Opciones:</a:t>
            </a:r>
            <a:r>
              <a:rPr lang="es-AR" dirty="0"/>
              <a:t> URL, </a:t>
            </a:r>
            <a:r>
              <a:rPr lang="es-AR" dirty="0" err="1"/>
              <a:t>upload</a:t>
            </a:r>
            <a:r>
              <a:rPr lang="es-AR" dirty="0"/>
              <a:t> de archivo e inclusión directa de código. </a:t>
            </a:r>
          </a:p>
          <a:p>
            <a:pPr lvl="2"/>
            <a:r>
              <a:rPr lang="es-AR" b="1" dirty="0"/>
              <a:t>Idioma:</a:t>
            </a:r>
            <a:r>
              <a:rPr lang="es-AR" dirty="0"/>
              <a:t> castellano.</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106</a:t>
            </a:fld>
            <a:endParaRPr lang="es-ES" altLang="es-AR" dirty="0"/>
          </a:p>
        </p:txBody>
      </p:sp>
    </p:spTree>
    <p:extLst>
      <p:ext uri="{BB962C8B-B14F-4D97-AF65-F5344CB8AC3E}">
        <p14:creationId xmlns:p14="http://schemas.microsoft.com/office/powerpoint/2010/main" val="254936171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Validadores de accesibilidad (WCAG 2.0)</a:t>
            </a:r>
          </a:p>
          <a:p>
            <a:endParaRPr lang="es-AR" dirty="0"/>
          </a:p>
          <a:p>
            <a:pPr lvl="1"/>
            <a:r>
              <a:rPr lang="es-AR" dirty="0"/>
              <a:t> Sólo la revisión de los resultados por parte de un experto puede legitimar los resultados.</a:t>
            </a:r>
          </a:p>
          <a:p>
            <a:pPr lvl="1"/>
            <a:endParaRPr lang="es-AR" dirty="0"/>
          </a:p>
          <a:p>
            <a:pPr lvl="1"/>
            <a:r>
              <a:rPr lang="es-AR" dirty="0"/>
              <a:t> Las herramientas de evaluación automática de accesibilidad </a:t>
            </a:r>
            <a:r>
              <a:rPr lang="es-AR" b="1" dirty="0"/>
              <a:t>pueden reportar falsos positivos y falsos negativos.</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107</a:t>
            </a:fld>
            <a:endParaRPr lang="es-ES" altLang="es-AR" dirty="0"/>
          </a:p>
        </p:txBody>
      </p:sp>
    </p:spTree>
    <p:extLst>
      <p:ext uri="{BB962C8B-B14F-4D97-AF65-F5344CB8AC3E}">
        <p14:creationId xmlns:p14="http://schemas.microsoft.com/office/powerpoint/2010/main" val="27426364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2701627" cy="4537223"/>
          </a:xfrm>
        </p:spPr>
        <p:txBody>
          <a:bodyPr/>
          <a:lstStyle/>
          <a:p>
            <a:r>
              <a:rPr lang="es-AR" dirty="0">
                <a:sym typeface="Wingdings" pitchFamily="2" charset="2"/>
              </a:rPr>
              <a:t>Análisis de accesibilidad con TAW</a:t>
            </a:r>
          </a:p>
          <a:p>
            <a:endParaRPr lang="es-AR" dirty="0">
              <a:sym typeface="Wingdings" pitchFamily="2" charset="2"/>
            </a:endParaRPr>
          </a:p>
          <a:p>
            <a:pPr lvl="1"/>
            <a:r>
              <a:rPr lang="es-AR" dirty="0">
                <a:sym typeface="Wingdings" pitchFamily="2" charset="2"/>
              </a:rPr>
              <a:t>TAW es un analizador basado en las Pautas de Accesibilidad al Contenido Web 2.0 (WCAG).</a:t>
            </a:r>
          </a:p>
          <a:p>
            <a:pPr lvl="1"/>
            <a:r>
              <a:rPr lang="es-AR" dirty="0">
                <a:sym typeface="Wingdings" pitchFamily="2" charset="2"/>
              </a:rPr>
              <a:t>URL: </a:t>
            </a:r>
            <a:r>
              <a:rPr lang="es-AR" dirty="0">
                <a:sym typeface="Wingdings" pitchFamily="2" charset="2"/>
                <a:hlinkClick r:id="rId3"/>
              </a:rPr>
              <a:t>http://www.tawdis.net/</a:t>
            </a:r>
            <a:endParaRPr lang="es-AR" dirty="0">
              <a:sym typeface="Wingdings" pitchFamily="2" charset="2"/>
            </a:endParaRPr>
          </a:p>
          <a:p>
            <a:pPr algn="just"/>
            <a:endParaRPr lang="es-AR" dirty="0"/>
          </a:p>
          <a:p>
            <a:pPr lvl="1"/>
            <a:endParaRPr lang="es-AR" dirty="0"/>
          </a:p>
          <a:p>
            <a:pPr marL="3657600" lvl="8" indent="0">
              <a:buNone/>
            </a:pPr>
            <a:r>
              <a:rPr lang="es-AR" dirty="0"/>
              <a:t>		</a:t>
            </a:r>
          </a:p>
        </p:txBody>
      </p:sp>
      <p:pic>
        <p:nvPicPr>
          <p:cNvPr id="4" name="Picture 2"/>
          <p:cNvPicPr>
            <a:picLocks noChangeAspect="1" noChangeArrowheads="1"/>
          </p:cNvPicPr>
          <p:nvPr/>
        </p:nvPicPr>
        <p:blipFill>
          <a:blip r:embed="rId4" cstate="print"/>
          <a:srcRect l="16349" t="6349" r="16032" b="19718"/>
          <a:stretch>
            <a:fillRect/>
          </a:stretch>
        </p:blipFill>
        <p:spPr bwMode="auto">
          <a:xfrm>
            <a:off x="3288690" y="2852936"/>
            <a:ext cx="5400600" cy="3321495"/>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108</a:t>
            </a:fld>
            <a:endParaRPr lang="es-ES" altLang="es-AR" dirty="0"/>
          </a:p>
        </p:txBody>
      </p:sp>
    </p:spTree>
    <p:extLst>
      <p:ext uri="{BB962C8B-B14F-4D97-AF65-F5344CB8AC3E}">
        <p14:creationId xmlns:p14="http://schemas.microsoft.com/office/powerpoint/2010/main" val="118609383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32767"/>
          </a:xfrm>
        </p:spPr>
        <p:txBody>
          <a:bodyPr/>
          <a:lstStyle/>
          <a:p>
            <a:r>
              <a:rPr lang="es-AR" dirty="0">
                <a:sym typeface="Wingdings" pitchFamily="2" charset="2"/>
              </a:rPr>
              <a:t>Análisis de accesibilidad con TAW</a:t>
            </a:r>
          </a:p>
          <a:p>
            <a:pPr algn="just"/>
            <a:endParaRPr lang="es-AR" dirty="0"/>
          </a:p>
          <a:p>
            <a:pPr lvl="1"/>
            <a:endParaRPr lang="es-AR" dirty="0"/>
          </a:p>
          <a:p>
            <a:pPr marL="3657600" lvl="8" indent="0">
              <a:buNone/>
            </a:pPr>
            <a:r>
              <a:rPr lang="es-AR" dirty="0"/>
              <a:t>		</a:t>
            </a:r>
          </a:p>
        </p:txBody>
      </p:sp>
      <p:pic>
        <p:nvPicPr>
          <p:cNvPr id="4" name="Picture 2"/>
          <p:cNvPicPr>
            <a:picLocks noChangeAspect="1" noChangeArrowheads="1"/>
          </p:cNvPicPr>
          <p:nvPr/>
        </p:nvPicPr>
        <p:blipFill>
          <a:blip r:embed="rId3" cstate="print"/>
          <a:srcRect l="30159" t="50652" r="29603" b="13228"/>
          <a:stretch>
            <a:fillRect/>
          </a:stretch>
        </p:blipFill>
        <p:spPr bwMode="auto">
          <a:xfrm>
            <a:off x="2575825" y="2510786"/>
            <a:ext cx="6432753" cy="3248097"/>
          </a:xfrm>
          <a:prstGeom prst="rect">
            <a:avLst/>
          </a:prstGeom>
          <a:noFill/>
          <a:ln w="9525">
            <a:noFill/>
            <a:miter lim="800000"/>
            <a:headEnd/>
            <a:tailEnd/>
          </a:ln>
          <a:effectLst/>
        </p:spPr>
      </p:pic>
      <p:sp>
        <p:nvSpPr>
          <p:cNvPr id="5" name="5 CuadroTexto"/>
          <p:cNvSpPr txBox="1"/>
          <p:nvPr/>
        </p:nvSpPr>
        <p:spPr>
          <a:xfrm>
            <a:off x="422221" y="2510786"/>
            <a:ext cx="1413475" cy="1015663"/>
          </a:xfrm>
          <a:prstGeom prst="rect">
            <a:avLst/>
          </a:prstGeom>
          <a:noFill/>
        </p:spPr>
        <p:txBody>
          <a:bodyPr wrap="square" rtlCol="0">
            <a:spAutoFit/>
          </a:bodyPr>
          <a:lstStyle/>
          <a:p>
            <a:pPr marL="0" lvl="1"/>
            <a:r>
              <a:rPr lang="es-AR" sz="2000" dirty="0">
                <a:sym typeface="Wingdings" pitchFamily="2" charset="2"/>
              </a:rPr>
              <a:t>1. Escribir la Web a analizar.</a:t>
            </a:r>
            <a:endParaRPr lang="es-AR" dirty="0"/>
          </a:p>
        </p:txBody>
      </p:sp>
      <p:sp>
        <p:nvSpPr>
          <p:cNvPr id="6" name="6 CuadroTexto"/>
          <p:cNvSpPr txBox="1"/>
          <p:nvPr/>
        </p:nvSpPr>
        <p:spPr>
          <a:xfrm>
            <a:off x="457200" y="3728321"/>
            <a:ext cx="1513950" cy="1015663"/>
          </a:xfrm>
          <a:prstGeom prst="rect">
            <a:avLst/>
          </a:prstGeom>
          <a:noFill/>
        </p:spPr>
        <p:txBody>
          <a:bodyPr wrap="square" rtlCol="0">
            <a:spAutoFit/>
          </a:bodyPr>
          <a:lstStyle/>
          <a:p>
            <a:r>
              <a:rPr lang="es-AR" sz="2000" dirty="0">
                <a:sym typeface="Wingdings" pitchFamily="2" charset="2"/>
              </a:rPr>
              <a:t>2. Revisar Opciones de análisis.</a:t>
            </a:r>
            <a:endParaRPr lang="es-AR" dirty="0"/>
          </a:p>
        </p:txBody>
      </p:sp>
      <p:sp>
        <p:nvSpPr>
          <p:cNvPr id="7" name="7 Flecha a la derecha con muesca"/>
          <p:cNvSpPr/>
          <p:nvPr/>
        </p:nvSpPr>
        <p:spPr>
          <a:xfrm>
            <a:off x="1911687" y="3081515"/>
            <a:ext cx="593916" cy="44493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9 Abrir llave"/>
          <p:cNvSpPr/>
          <p:nvPr/>
        </p:nvSpPr>
        <p:spPr>
          <a:xfrm>
            <a:off x="2191033" y="3728321"/>
            <a:ext cx="45719" cy="1175657"/>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9" name="10 CuadroTexto"/>
          <p:cNvSpPr txBox="1"/>
          <p:nvPr/>
        </p:nvSpPr>
        <p:spPr>
          <a:xfrm>
            <a:off x="458505" y="4934671"/>
            <a:ext cx="1512645" cy="1015663"/>
          </a:xfrm>
          <a:prstGeom prst="rect">
            <a:avLst/>
          </a:prstGeom>
          <a:noFill/>
        </p:spPr>
        <p:txBody>
          <a:bodyPr wrap="square" rtlCol="0">
            <a:spAutoFit/>
          </a:bodyPr>
          <a:lstStyle/>
          <a:p>
            <a:r>
              <a:rPr lang="es-AR" sz="2000" dirty="0">
                <a:sym typeface="Wingdings" pitchFamily="2" charset="2"/>
              </a:rPr>
              <a:t>3. Clic en botón analizar.</a:t>
            </a:r>
            <a:endParaRPr lang="es-AR" dirty="0"/>
          </a:p>
        </p:txBody>
      </p:sp>
      <p:sp>
        <p:nvSpPr>
          <p:cNvPr id="11" name="7 Flecha a la derecha con muesca"/>
          <p:cNvSpPr/>
          <p:nvPr/>
        </p:nvSpPr>
        <p:spPr>
          <a:xfrm>
            <a:off x="1908803" y="5094665"/>
            <a:ext cx="593916" cy="44493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109</a:t>
            </a:fld>
            <a:endParaRPr lang="es-ES" altLang="es-AR" dirty="0"/>
          </a:p>
        </p:txBody>
      </p:sp>
    </p:spTree>
    <p:extLst>
      <p:ext uri="{BB962C8B-B14F-4D97-AF65-F5344CB8AC3E}">
        <p14:creationId xmlns:p14="http://schemas.microsoft.com/office/powerpoint/2010/main" val="32233724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32767"/>
          </a:xfrm>
        </p:spPr>
        <p:txBody>
          <a:bodyPr/>
          <a:lstStyle/>
          <a:p>
            <a:r>
              <a:rPr lang="es-AR" dirty="0">
                <a:sym typeface="Wingdings" pitchFamily="2" charset="2"/>
              </a:rPr>
              <a:t>Análisis de accesibilidad con TAW (Resumen)</a:t>
            </a:r>
          </a:p>
          <a:p>
            <a:pPr algn="just"/>
            <a:endParaRPr lang="es-AR" dirty="0"/>
          </a:p>
          <a:p>
            <a:pPr lvl="1"/>
            <a:endParaRPr lang="es-AR" dirty="0"/>
          </a:p>
          <a:p>
            <a:pPr marL="3657600" lvl="8" indent="0">
              <a:buNone/>
            </a:pPr>
            <a:r>
              <a:rPr lang="es-AR" dirty="0"/>
              <a:t>		</a:t>
            </a:r>
          </a:p>
        </p:txBody>
      </p:sp>
      <p:sp>
        <p:nvSpPr>
          <p:cNvPr id="12" name="5 CuadroTexto"/>
          <p:cNvSpPr txBox="1"/>
          <p:nvPr/>
        </p:nvSpPr>
        <p:spPr>
          <a:xfrm>
            <a:off x="3150843" y="4509120"/>
            <a:ext cx="2653369" cy="1938992"/>
          </a:xfrm>
          <a:prstGeom prst="rect">
            <a:avLst/>
          </a:prstGeom>
          <a:noFill/>
        </p:spPr>
        <p:txBody>
          <a:bodyPr wrap="square" rtlCol="0">
            <a:spAutoFit/>
          </a:bodyPr>
          <a:lstStyle/>
          <a:p>
            <a:pPr marL="0" lvl="1"/>
            <a:r>
              <a:rPr lang="es-AR" sz="2000" dirty="0">
                <a:sym typeface="Wingdings" pitchFamily="2" charset="2"/>
              </a:rPr>
              <a:t>Posibles errores de accesibilidad que deberemos de comprobar de forma manual si realmente son un error o no.</a:t>
            </a:r>
            <a:endParaRPr lang="es-AR" dirty="0"/>
          </a:p>
        </p:txBody>
      </p:sp>
      <p:sp>
        <p:nvSpPr>
          <p:cNvPr id="13" name="6 CuadroTexto"/>
          <p:cNvSpPr txBox="1"/>
          <p:nvPr/>
        </p:nvSpPr>
        <p:spPr>
          <a:xfrm>
            <a:off x="6066557" y="4509120"/>
            <a:ext cx="2806121" cy="1938992"/>
          </a:xfrm>
          <a:prstGeom prst="rect">
            <a:avLst/>
          </a:prstGeom>
          <a:noFill/>
        </p:spPr>
        <p:txBody>
          <a:bodyPr wrap="square" rtlCol="0">
            <a:spAutoFit/>
          </a:bodyPr>
          <a:lstStyle/>
          <a:p>
            <a:r>
              <a:rPr lang="es-AR" sz="2000" dirty="0">
                <a:sym typeface="Wingdings" pitchFamily="2" charset="2"/>
              </a:rPr>
              <a:t>Indica los criterios que no se han podido comprobar de forma automática y por lo tanto debemos hacerlo de forma manual.</a:t>
            </a:r>
            <a:endParaRPr lang="es-AR" dirty="0"/>
          </a:p>
        </p:txBody>
      </p:sp>
      <p:sp>
        <p:nvSpPr>
          <p:cNvPr id="14" name="10 CuadroTexto"/>
          <p:cNvSpPr txBox="1"/>
          <p:nvPr/>
        </p:nvSpPr>
        <p:spPr>
          <a:xfrm>
            <a:off x="179512" y="4509120"/>
            <a:ext cx="2877141" cy="1631216"/>
          </a:xfrm>
          <a:prstGeom prst="rect">
            <a:avLst/>
          </a:prstGeom>
          <a:noFill/>
        </p:spPr>
        <p:txBody>
          <a:bodyPr wrap="square" rtlCol="0">
            <a:spAutoFit/>
          </a:bodyPr>
          <a:lstStyle/>
          <a:p>
            <a:r>
              <a:rPr lang="es-AR" sz="2000" dirty="0">
                <a:sym typeface="Wingdings" pitchFamily="2" charset="2"/>
              </a:rPr>
              <a:t>Problemas automáticos que ha detectado la herramienta en x criterios de éxito y que deberemos corregir.</a:t>
            </a:r>
            <a:endParaRPr lang="es-AR" dirty="0"/>
          </a:p>
        </p:txBody>
      </p:sp>
      <p:pic>
        <p:nvPicPr>
          <p:cNvPr id="15" name="Picture 2"/>
          <p:cNvPicPr>
            <a:picLocks noChangeAspect="1" noChangeArrowheads="1"/>
          </p:cNvPicPr>
          <p:nvPr/>
        </p:nvPicPr>
        <p:blipFill>
          <a:blip r:embed="rId3" cstate="print"/>
          <a:srcRect l="3175" t="43316" r="6746" b="38342"/>
          <a:stretch>
            <a:fillRect/>
          </a:stretch>
        </p:blipFill>
        <p:spPr bwMode="auto">
          <a:xfrm>
            <a:off x="457200" y="2564904"/>
            <a:ext cx="8415478" cy="963887"/>
          </a:xfrm>
          <a:prstGeom prst="rect">
            <a:avLst/>
          </a:prstGeom>
          <a:noFill/>
          <a:ln w="9525">
            <a:noFill/>
            <a:miter lim="800000"/>
            <a:headEnd/>
            <a:tailEnd/>
          </a:ln>
          <a:effectLst/>
        </p:spPr>
      </p:pic>
      <p:sp>
        <p:nvSpPr>
          <p:cNvPr id="16" name="12 Flecha arriba"/>
          <p:cNvSpPr/>
          <p:nvPr/>
        </p:nvSpPr>
        <p:spPr>
          <a:xfrm>
            <a:off x="1067289" y="3896606"/>
            <a:ext cx="1101585" cy="4066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7" name="13 Flecha arriba"/>
          <p:cNvSpPr/>
          <p:nvPr/>
        </p:nvSpPr>
        <p:spPr>
          <a:xfrm>
            <a:off x="3926734" y="3905869"/>
            <a:ext cx="1101585" cy="4066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8" name="14 Flecha arriba"/>
          <p:cNvSpPr/>
          <p:nvPr/>
        </p:nvSpPr>
        <p:spPr>
          <a:xfrm>
            <a:off x="6918824" y="3905869"/>
            <a:ext cx="1101585" cy="4066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110</a:t>
            </a:fld>
            <a:endParaRPr lang="es-ES" altLang="es-AR" dirty="0"/>
          </a:p>
        </p:txBody>
      </p:sp>
    </p:spTree>
    <p:extLst>
      <p:ext uri="{BB962C8B-B14F-4D97-AF65-F5344CB8AC3E}">
        <p14:creationId xmlns:p14="http://schemas.microsoft.com/office/powerpoint/2010/main" val="64437212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32767"/>
          </a:xfrm>
        </p:spPr>
        <p:txBody>
          <a:bodyPr/>
          <a:lstStyle/>
          <a:p>
            <a:r>
              <a:rPr lang="es-AR" dirty="0">
                <a:sym typeface="Wingdings" pitchFamily="2" charset="2"/>
              </a:rPr>
              <a:t>Análisis de accesibilidad con TAW (Vista Marcada)</a:t>
            </a:r>
          </a:p>
          <a:p>
            <a:pPr algn="just"/>
            <a:endParaRPr lang="es-AR" dirty="0"/>
          </a:p>
          <a:p>
            <a:pPr lvl="1"/>
            <a:endParaRPr lang="es-AR" dirty="0"/>
          </a:p>
          <a:p>
            <a:pPr marL="3657600" lvl="8" indent="0">
              <a:buNone/>
            </a:pPr>
            <a:r>
              <a:rPr lang="es-AR" dirty="0"/>
              <a:t>		</a:t>
            </a:r>
          </a:p>
        </p:txBody>
      </p:sp>
      <p:sp>
        <p:nvSpPr>
          <p:cNvPr id="14" name="10 CuadroTexto"/>
          <p:cNvSpPr txBox="1"/>
          <p:nvPr/>
        </p:nvSpPr>
        <p:spPr>
          <a:xfrm>
            <a:off x="430213" y="5733256"/>
            <a:ext cx="8507288" cy="707886"/>
          </a:xfrm>
          <a:prstGeom prst="rect">
            <a:avLst/>
          </a:prstGeom>
          <a:noFill/>
        </p:spPr>
        <p:txBody>
          <a:bodyPr wrap="square" rtlCol="0">
            <a:spAutoFit/>
          </a:bodyPr>
          <a:lstStyle/>
          <a:p>
            <a:r>
              <a:rPr lang="es-AR" sz="2000" dirty="0">
                <a:sym typeface="Wingdings" pitchFamily="2" charset="2"/>
              </a:rPr>
              <a:t>Podemos ver los errores y advertencias, detectados de forma automática por la herramienta en la visualización del sitio web.</a:t>
            </a:r>
            <a:endParaRPr lang="es-AR" sz="2000" dirty="0"/>
          </a:p>
        </p:txBody>
      </p:sp>
      <p:pic>
        <p:nvPicPr>
          <p:cNvPr id="11" name="Picture 2"/>
          <p:cNvPicPr>
            <a:picLocks noChangeAspect="1" noChangeArrowheads="1"/>
          </p:cNvPicPr>
          <p:nvPr/>
        </p:nvPicPr>
        <p:blipFill>
          <a:blip r:embed="rId3" cstate="print"/>
          <a:srcRect t="8042" r="5714" b="2928"/>
          <a:stretch>
            <a:fillRect/>
          </a:stretch>
        </p:blipFill>
        <p:spPr bwMode="auto">
          <a:xfrm>
            <a:off x="1331640" y="2348880"/>
            <a:ext cx="6120680" cy="3250969"/>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111</a:t>
            </a:fld>
            <a:endParaRPr lang="es-ES" altLang="es-AR" dirty="0"/>
          </a:p>
        </p:txBody>
      </p:sp>
    </p:spTree>
    <p:extLst>
      <p:ext uri="{BB962C8B-B14F-4D97-AF65-F5344CB8AC3E}">
        <p14:creationId xmlns:p14="http://schemas.microsoft.com/office/powerpoint/2010/main" val="339459631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32767"/>
          </a:xfrm>
        </p:spPr>
        <p:txBody>
          <a:bodyPr/>
          <a:lstStyle/>
          <a:p>
            <a:r>
              <a:rPr lang="es-AR" dirty="0">
                <a:sym typeface="Wingdings" pitchFamily="2" charset="2"/>
              </a:rPr>
              <a:t>Análisis de accesibilidad con TAW (Detalle)</a:t>
            </a:r>
          </a:p>
          <a:p>
            <a:pPr algn="just"/>
            <a:endParaRPr lang="es-AR" dirty="0"/>
          </a:p>
          <a:p>
            <a:pPr lvl="1"/>
            <a:endParaRPr lang="es-AR" dirty="0"/>
          </a:p>
          <a:p>
            <a:pPr marL="3657600" lvl="8" indent="0">
              <a:buNone/>
            </a:pPr>
            <a:r>
              <a:rPr lang="es-AR" dirty="0"/>
              <a:t>		</a:t>
            </a:r>
          </a:p>
        </p:txBody>
      </p:sp>
      <p:sp>
        <p:nvSpPr>
          <p:cNvPr id="14" name="10 CuadroTexto"/>
          <p:cNvSpPr txBox="1"/>
          <p:nvPr/>
        </p:nvSpPr>
        <p:spPr>
          <a:xfrm>
            <a:off x="318356" y="5229200"/>
            <a:ext cx="8507288" cy="1015663"/>
          </a:xfrm>
          <a:prstGeom prst="rect">
            <a:avLst/>
          </a:prstGeom>
          <a:noFill/>
        </p:spPr>
        <p:txBody>
          <a:bodyPr wrap="square" rtlCol="0">
            <a:spAutoFit/>
          </a:bodyPr>
          <a:lstStyle/>
          <a:p>
            <a:r>
              <a:rPr lang="es-AR" sz="2000" dirty="0">
                <a:sym typeface="Wingdings" pitchFamily="2" charset="2"/>
              </a:rPr>
              <a:t>Para cada principio se muestra el criterio de conformidad afectado,  detallando las comprobaciones que hemos de realizar, según la tipología del elemento, indicando las técnicas en las que ha ocurrido el error.</a:t>
            </a:r>
            <a:endParaRPr lang="es-AR" sz="2000" dirty="0"/>
          </a:p>
        </p:txBody>
      </p:sp>
      <p:pic>
        <p:nvPicPr>
          <p:cNvPr id="6" name="Picture 2"/>
          <p:cNvPicPr>
            <a:picLocks noChangeAspect="1" noChangeArrowheads="1"/>
          </p:cNvPicPr>
          <p:nvPr/>
        </p:nvPicPr>
        <p:blipFill>
          <a:blip r:embed="rId3" cstate="print"/>
          <a:srcRect l="2540" t="38942" r="9180" b="10123"/>
          <a:stretch>
            <a:fillRect/>
          </a:stretch>
        </p:blipFill>
        <p:spPr bwMode="auto">
          <a:xfrm>
            <a:off x="424200" y="2348880"/>
            <a:ext cx="8513301" cy="2762966"/>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112</a:t>
            </a:fld>
            <a:endParaRPr lang="es-ES" altLang="es-AR" dirty="0"/>
          </a:p>
        </p:txBody>
      </p:sp>
    </p:spTree>
    <p:extLst>
      <p:ext uri="{BB962C8B-B14F-4D97-AF65-F5344CB8AC3E}">
        <p14:creationId xmlns:p14="http://schemas.microsoft.com/office/powerpoint/2010/main" val="310403865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32767"/>
          </a:xfrm>
        </p:spPr>
        <p:txBody>
          <a:bodyPr/>
          <a:lstStyle/>
          <a:p>
            <a:r>
              <a:rPr lang="es-AR" dirty="0">
                <a:sym typeface="Wingdings" pitchFamily="2" charset="2"/>
              </a:rPr>
              <a:t>Análisis de accesibilidad con TAW (Listado)</a:t>
            </a:r>
          </a:p>
          <a:p>
            <a:pPr algn="just"/>
            <a:endParaRPr lang="es-AR" dirty="0"/>
          </a:p>
          <a:p>
            <a:pPr lvl="1"/>
            <a:endParaRPr lang="es-AR" dirty="0"/>
          </a:p>
          <a:p>
            <a:pPr marL="3657600" lvl="8" indent="0">
              <a:buNone/>
            </a:pPr>
            <a:r>
              <a:rPr lang="es-AR" dirty="0"/>
              <a:t>		</a:t>
            </a:r>
          </a:p>
        </p:txBody>
      </p:sp>
      <p:sp>
        <p:nvSpPr>
          <p:cNvPr id="14" name="10 CuadroTexto"/>
          <p:cNvSpPr txBox="1"/>
          <p:nvPr/>
        </p:nvSpPr>
        <p:spPr>
          <a:xfrm>
            <a:off x="370711" y="4869160"/>
            <a:ext cx="8507288" cy="1631216"/>
          </a:xfrm>
          <a:prstGeom prst="rect">
            <a:avLst/>
          </a:prstGeom>
          <a:noFill/>
        </p:spPr>
        <p:txBody>
          <a:bodyPr wrap="square" rtlCol="0">
            <a:spAutoFit/>
          </a:bodyPr>
          <a:lstStyle/>
          <a:p>
            <a:r>
              <a:rPr lang="es-AR" sz="2000" dirty="0">
                <a:sym typeface="Wingdings" pitchFamily="2" charset="2"/>
              </a:rPr>
              <a:t>En ella podemos obtener un resumen de los resultados a nivel de pauta y de criterio de conformidad.</a:t>
            </a:r>
          </a:p>
          <a:p>
            <a:r>
              <a:rPr lang="es-AR" sz="2000" dirty="0">
                <a:sym typeface="Wingdings" pitchFamily="2" charset="2"/>
              </a:rPr>
              <a:t>En los resultado aparece un nuevo símbolo, “</a:t>
            </a:r>
            <a:r>
              <a:rPr lang="es-AR" sz="2000" b="1" dirty="0">
                <a:sym typeface="Wingdings" pitchFamily="2" charset="2"/>
              </a:rPr>
              <a:t>na</a:t>
            </a:r>
            <a:r>
              <a:rPr lang="es-AR" sz="2000" dirty="0">
                <a:sym typeface="Wingdings" pitchFamily="2" charset="2"/>
              </a:rPr>
              <a:t>”, que indica que "no es aplicable"; es decir, que este criterio de conformidad no hemos de analizar.</a:t>
            </a:r>
          </a:p>
        </p:txBody>
      </p:sp>
      <p:pic>
        <p:nvPicPr>
          <p:cNvPr id="7" name="Picture 2"/>
          <p:cNvPicPr>
            <a:picLocks noChangeAspect="1" noChangeArrowheads="1"/>
          </p:cNvPicPr>
          <p:nvPr/>
        </p:nvPicPr>
        <p:blipFill>
          <a:blip r:embed="rId3" cstate="print"/>
          <a:srcRect l="2540" t="38942" r="2063" b="19294"/>
          <a:stretch>
            <a:fillRect/>
          </a:stretch>
        </p:blipFill>
        <p:spPr bwMode="auto">
          <a:xfrm>
            <a:off x="427824" y="2492896"/>
            <a:ext cx="8479916" cy="2088232"/>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113</a:t>
            </a:fld>
            <a:endParaRPr lang="es-ES" altLang="es-AR" dirty="0"/>
          </a:p>
        </p:txBody>
      </p:sp>
    </p:spTree>
    <p:extLst>
      <p:ext uri="{BB962C8B-B14F-4D97-AF65-F5344CB8AC3E}">
        <p14:creationId xmlns:p14="http://schemas.microsoft.com/office/powerpoint/2010/main" val="174501327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110"/>
          <p:cNvSpPr>
            <a:spLocks noGrp="1" noChangeArrowheads="1"/>
          </p:cNvSpPr>
          <p:nvPr>
            <p:ph type="ctrTitle"/>
          </p:nvPr>
        </p:nvSpPr>
        <p:spPr>
          <a:xfrm>
            <a:off x="2195736" y="3068960"/>
            <a:ext cx="4950216" cy="898525"/>
          </a:xfrm>
          <a:noFill/>
        </p:spPr>
        <p:txBody>
          <a:bodyPr/>
          <a:lstStyle/>
          <a:p>
            <a:pPr algn="l" eaLnBrk="1" hangingPunct="1"/>
            <a:r>
              <a:rPr lang="es-UY" altLang="es-AR" sz="3600" b="1" dirty="0">
                <a:solidFill>
                  <a:schemeClr val="tx1"/>
                </a:solidFill>
              </a:rPr>
              <a:t>Herramienta ARWeb</a:t>
            </a:r>
            <a:endParaRPr lang="es-ES" altLang="es-AR" sz="3600" b="1" dirty="0">
              <a:solidFill>
                <a:schemeClr val="tx1"/>
              </a:solidFill>
            </a:endParaRPr>
          </a:p>
        </p:txBody>
      </p:sp>
    </p:spTree>
    <p:extLst>
      <p:ext uri="{BB962C8B-B14F-4D97-AF65-F5344CB8AC3E}">
        <p14:creationId xmlns:p14="http://schemas.microsoft.com/office/powerpoint/2010/main" val="3072195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57200" y="1628800"/>
            <a:ext cx="2701627" cy="5229200"/>
          </a:xfrm>
        </p:spPr>
        <p:txBody>
          <a:bodyPr/>
          <a:lstStyle/>
          <a:p>
            <a:r>
              <a:rPr lang="es-AR" dirty="0">
                <a:sym typeface="Wingdings" pitchFamily="2" charset="2"/>
              </a:rPr>
              <a:t>Análisis de accesibilidad con ARWeb</a:t>
            </a:r>
          </a:p>
          <a:p>
            <a:endParaRPr lang="es-AR" dirty="0">
              <a:sym typeface="Wingdings" pitchFamily="2" charset="2"/>
            </a:endParaRPr>
          </a:p>
          <a:p>
            <a:pPr lvl="1"/>
            <a:r>
              <a:rPr lang="es-AR" dirty="0">
                <a:sym typeface="Wingdings" pitchFamily="2" charset="2"/>
              </a:rPr>
              <a:t>ARWeb es un analizador basado en la norma vigente en Argentina.</a:t>
            </a:r>
          </a:p>
          <a:p>
            <a:pPr lvl="1"/>
            <a:r>
              <a:rPr lang="es-AR" dirty="0">
                <a:sym typeface="Wingdings" pitchFamily="2" charset="2"/>
              </a:rPr>
              <a:t>URL: </a:t>
            </a:r>
            <a:r>
              <a:rPr lang="es-AR" dirty="0">
                <a:sym typeface="Wingdings" pitchFamily="2" charset="2"/>
                <a:hlinkClick r:id="rId3"/>
              </a:rPr>
              <a:t>https://sites.google.com/site/uadeticarweb/arweb-deploy</a:t>
            </a:r>
            <a:endParaRPr lang="es-AR" dirty="0">
              <a:sym typeface="Wingdings" pitchFamily="2" charset="2"/>
            </a:endParaRPr>
          </a:p>
          <a:p>
            <a:pPr algn="just"/>
            <a:endParaRPr lang="es-AR" dirty="0"/>
          </a:p>
          <a:p>
            <a:pPr lvl="1"/>
            <a:endParaRPr lang="es-AR" dirty="0"/>
          </a:p>
          <a:p>
            <a:pPr marL="3657600" lvl="8" indent="0">
              <a:buNone/>
            </a:pPr>
            <a:r>
              <a:rPr lang="es-AR" dirty="0"/>
              <a:t>		</a:t>
            </a:r>
          </a:p>
        </p:txBody>
      </p:sp>
      <p:pic>
        <p:nvPicPr>
          <p:cNvPr id="5" name="Picture 2"/>
          <p:cNvPicPr>
            <a:picLocks noChangeAspect="1" noChangeArrowheads="1"/>
          </p:cNvPicPr>
          <p:nvPr/>
        </p:nvPicPr>
        <p:blipFill>
          <a:blip r:embed="rId4" cstate="print"/>
          <a:srcRect/>
          <a:stretch>
            <a:fillRect/>
          </a:stretch>
        </p:blipFill>
        <p:spPr bwMode="auto">
          <a:xfrm>
            <a:off x="3491880" y="2204864"/>
            <a:ext cx="5472609" cy="4104456"/>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115</a:t>
            </a:fld>
            <a:endParaRPr lang="es-ES" altLang="es-AR" dirty="0"/>
          </a:p>
        </p:txBody>
      </p:sp>
    </p:spTree>
    <p:extLst>
      <p:ext uri="{BB962C8B-B14F-4D97-AF65-F5344CB8AC3E}">
        <p14:creationId xmlns:p14="http://schemas.microsoft.com/office/powerpoint/2010/main" val="108739825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22221" y="1495336"/>
            <a:ext cx="8229600" cy="432767"/>
          </a:xfrm>
        </p:spPr>
        <p:txBody>
          <a:bodyPr/>
          <a:lstStyle/>
          <a:p>
            <a:r>
              <a:rPr lang="es-AR" dirty="0">
                <a:sym typeface="Wingdings" pitchFamily="2" charset="2"/>
              </a:rPr>
              <a:t>Análisis de accesibilidad con ARWeb (Página Web)</a:t>
            </a:r>
          </a:p>
          <a:p>
            <a:pPr algn="just"/>
            <a:endParaRPr lang="es-AR" dirty="0"/>
          </a:p>
          <a:p>
            <a:pPr lvl="1"/>
            <a:endParaRPr lang="es-AR" dirty="0"/>
          </a:p>
          <a:p>
            <a:pPr marL="3657600" lvl="8" indent="0">
              <a:buNone/>
            </a:pPr>
            <a:r>
              <a:rPr lang="es-AR" dirty="0"/>
              <a:t>		</a:t>
            </a:r>
          </a:p>
        </p:txBody>
      </p:sp>
      <p:sp>
        <p:nvSpPr>
          <p:cNvPr id="5" name="5 CuadroTexto"/>
          <p:cNvSpPr txBox="1"/>
          <p:nvPr/>
        </p:nvSpPr>
        <p:spPr>
          <a:xfrm>
            <a:off x="422221" y="2005247"/>
            <a:ext cx="2107280" cy="1938992"/>
          </a:xfrm>
          <a:prstGeom prst="rect">
            <a:avLst/>
          </a:prstGeom>
          <a:noFill/>
        </p:spPr>
        <p:txBody>
          <a:bodyPr wrap="square" rtlCol="0">
            <a:spAutoFit/>
          </a:bodyPr>
          <a:lstStyle/>
          <a:p>
            <a:pPr marL="0" lvl="1"/>
            <a:r>
              <a:rPr lang="es-AR" sz="2000" dirty="0">
                <a:sym typeface="Wingdings" pitchFamily="2" charset="2"/>
              </a:rPr>
              <a:t>1. Escribir la Web a analizar o </a:t>
            </a:r>
            <a:r>
              <a:rPr lang="es-AR" sz="2000" dirty="0" err="1"/>
              <a:t>upload</a:t>
            </a:r>
            <a:r>
              <a:rPr lang="es-AR" sz="2000" dirty="0"/>
              <a:t> de archivo o inclusión directa de código.</a:t>
            </a:r>
          </a:p>
        </p:txBody>
      </p:sp>
      <p:sp>
        <p:nvSpPr>
          <p:cNvPr id="6" name="6 CuadroTexto"/>
          <p:cNvSpPr txBox="1"/>
          <p:nvPr/>
        </p:nvSpPr>
        <p:spPr>
          <a:xfrm>
            <a:off x="464948" y="3870347"/>
            <a:ext cx="1908872" cy="1015663"/>
          </a:xfrm>
          <a:prstGeom prst="rect">
            <a:avLst/>
          </a:prstGeom>
          <a:noFill/>
        </p:spPr>
        <p:txBody>
          <a:bodyPr wrap="square" rtlCol="0">
            <a:spAutoFit/>
          </a:bodyPr>
          <a:lstStyle/>
          <a:p>
            <a:r>
              <a:rPr lang="es-AR" sz="2000" dirty="0">
                <a:sym typeface="Wingdings" pitchFamily="2" charset="2"/>
              </a:rPr>
              <a:t>2. Seleccionar Principios a Verificar.</a:t>
            </a:r>
            <a:endParaRPr lang="es-AR" sz="2000" dirty="0"/>
          </a:p>
        </p:txBody>
      </p:sp>
      <p:sp>
        <p:nvSpPr>
          <p:cNvPr id="7" name="7 Flecha a la derecha con muesca"/>
          <p:cNvSpPr/>
          <p:nvPr/>
        </p:nvSpPr>
        <p:spPr>
          <a:xfrm>
            <a:off x="2529501" y="3499305"/>
            <a:ext cx="593916" cy="44493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9 Abrir llave"/>
          <p:cNvSpPr/>
          <p:nvPr/>
        </p:nvSpPr>
        <p:spPr>
          <a:xfrm>
            <a:off x="2662322" y="4119541"/>
            <a:ext cx="45719" cy="1175657"/>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9" name="10 CuadroTexto"/>
          <p:cNvSpPr txBox="1"/>
          <p:nvPr/>
        </p:nvSpPr>
        <p:spPr>
          <a:xfrm>
            <a:off x="458505" y="4934671"/>
            <a:ext cx="1512645" cy="1015663"/>
          </a:xfrm>
          <a:prstGeom prst="rect">
            <a:avLst/>
          </a:prstGeom>
          <a:noFill/>
        </p:spPr>
        <p:txBody>
          <a:bodyPr wrap="square" rtlCol="0">
            <a:spAutoFit/>
          </a:bodyPr>
          <a:lstStyle/>
          <a:p>
            <a:r>
              <a:rPr lang="es-AR" sz="2000" dirty="0">
                <a:sym typeface="Wingdings" pitchFamily="2" charset="2"/>
              </a:rPr>
              <a:t>3. Clic en botón Validar.</a:t>
            </a:r>
            <a:endParaRPr lang="es-AR" sz="2000" dirty="0"/>
          </a:p>
        </p:txBody>
      </p:sp>
      <p:sp>
        <p:nvSpPr>
          <p:cNvPr id="11" name="7 Flecha a la derecha con muesca"/>
          <p:cNvSpPr/>
          <p:nvPr/>
        </p:nvSpPr>
        <p:spPr>
          <a:xfrm>
            <a:off x="2529501" y="5510303"/>
            <a:ext cx="593916" cy="44493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12" name="Picture 2"/>
          <p:cNvPicPr>
            <a:picLocks noChangeAspect="1" noChangeArrowheads="1"/>
          </p:cNvPicPr>
          <p:nvPr/>
        </p:nvPicPr>
        <p:blipFill>
          <a:blip r:embed="rId3" cstate="print"/>
          <a:srcRect/>
          <a:stretch>
            <a:fillRect/>
          </a:stretch>
        </p:blipFill>
        <p:spPr bwMode="auto">
          <a:xfrm>
            <a:off x="3279098" y="2359698"/>
            <a:ext cx="5653314" cy="4239986"/>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116</a:t>
            </a:fld>
            <a:endParaRPr lang="es-ES" altLang="es-AR" dirty="0"/>
          </a:p>
        </p:txBody>
      </p:sp>
    </p:spTree>
    <p:extLst>
      <p:ext uri="{BB962C8B-B14F-4D97-AF65-F5344CB8AC3E}">
        <p14:creationId xmlns:p14="http://schemas.microsoft.com/office/powerpoint/2010/main" val="134405657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22221" y="1495336"/>
            <a:ext cx="8229600" cy="432767"/>
          </a:xfrm>
        </p:spPr>
        <p:txBody>
          <a:bodyPr/>
          <a:lstStyle/>
          <a:p>
            <a:r>
              <a:rPr lang="es-AR" dirty="0">
                <a:sym typeface="Wingdings" pitchFamily="2" charset="2"/>
              </a:rPr>
              <a:t>Análisis de accesibilidad con ARWeb (URLs)</a:t>
            </a:r>
          </a:p>
          <a:p>
            <a:pPr algn="just"/>
            <a:endParaRPr lang="es-AR" dirty="0"/>
          </a:p>
          <a:p>
            <a:pPr lvl="1"/>
            <a:endParaRPr lang="es-AR" dirty="0"/>
          </a:p>
          <a:p>
            <a:pPr marL="3657600" lvl="8" indent="0">
              <a:buNone/>
            </a:pPr>
            <a:r>
              <a:rPr lang="es-AR" dirty="0"/>
              <a:t>		</a:t>
            </a:r>
          </a:p>
        </p:txBody>
      </p:sp>
      <p:sp>
        <p:nvSpPr>
          <p:cNvPr id="5" name="5 CuadroTexto"/>
          <p:cNvSpPr txBox="1"/>
          <p:nvPr/>
        </p:nvSpPr>
        <p:spPr>
          <a:xfrm>
            <a:off x="399885" y="3011317"/>
            <a:ext cx="2107280" cy="707886"/>
          </a:xfrm>
          <a:prstGeom prst="rect">
            <a:avLst/>
          </a:prstGeom>
          <a:noFill/>
        </p:spPr>
        <p:txBody>
          <a:bodyPr wrap="square" rtlCol="0">
            <a:spAutoFit/>
          </a:bodyPr>
          <a:lstStyle/>
          <a:p>
            <a:pPr marL="0" lvl="1"/>
            <a:r>
              <a:rPr lang="es-AR" sz="2000" dirty="0">
                <a:sym typeface="Wingdings" pitchFamily="2" charset="2"/>
              </a:rPr>
              <a:t>1. Seleccionar la URL a validar.</a:t>
            </a:r>
            <a:endParaRPr lang="es-AR" sz="2000" dirty="0"/>
          </a:p>
        </p:txBody>
      </p:sp>
      <p:sp>
        <p:nvSpPr>
          <p:cNvPr id="6" name="6 CuadroTexto"/>
          <p:cNvSpPr txBox="1"/>
          <p:nvPr/>
        </p:nvSpPr>
        <p:spPr>
          <a:xfrm>
            <a:off x="464948" y="3870347"/>
            <a:ext cx="1908872" cy="1015663"/>
          </a:xfrm>
          <a:prstGeom prst="rect">
            <a:avLst/>
          </a:prstGeom>
          <a:noFill/>
        </p:spPr>
        <p:txBody>
          <a:bodyPr wrap="square" rtlCol="0">
            <a:spAutoFit/>
          </a:bodyPr>
          <a:lstStyle/>
          <a:p>
            <a:r>
              <a:rPr lang="es-AR" sz="2000" dirty="0">
                <a:sym typeface="Wingdings" pitchFamily="2" charset="2"/>
              </a:rPr>
              <a:t>2. Seleccionar Principios a Verificar.</a:t>
            </a:r>
            <a:endParaRPr lang="es-AR" sz="2000" dirty="0"/>
          </a:p>
        </p:txBody>
      </p:sp>
      <p:sp>
        <p:nvSpPr>
          <p:cNvPr id="7" name="7 Flecha a la derecha con muesca"/>
          <p:cNvSpPr/>
          <p:nvPr/>
        </p:nvSpPr>
        <p:spPr>
          <a:xfrm>
            <a:off x="2540308" y="3274269"/>
            <a:ext cx="593916" cy="44493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9 Abrir llave"/>
          <p:cNvSpPr/>
          <p:nvPr/>
        </p:nvSpPr>
        <p:spPr>
          <a:xfrm>
            <a:off x="2654180" y="4007273"/>
            <a:ext cx="45719" cy="1175657"/>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9" name="10 CuadroTexto"/>
          <p:cNvSpPr txBox="1"/>
          <p:nvPr/>
        </p:nvSpPr>
        <p:spPr>
          <a:xfrm>
            <a:off x="458505" y="4934671"/>
            <a:ext cx="1512645" cy="1015663"/>
          </a:xfrm>
          <a:prstGeom prst="rect">
            <a:avLst/>
          </a:prstGeom>
          <a:noFill/>
        </p:spPr>
        <p:txBody>
          <a:bodyPr wrap="square" rtlCol="0">
            <a:spAutoFit/>
          </a:bodyPr>
          <a:lstStyle/>
          <a:p>
            <a:r>
              <a:rPr lang="es-AR" sz="2000" dirty="0">
                <a:sym typeface="Wingdings" pitchFamily="2" charset="2"/>
              </a:rPr>
              <a:t>3. Clic en botón Validar.</a:t>
            </a:r>
            <a:endParaRPr lang="es-AR" sz="2000" dirty="0"/>
          </a:p>
        </p:txBody>
      </p:sp>
      <p:sp>
        <p:nvSpPr>
          <p:cNvPr id="11" name="7 Flecha a la derecha con muesca"/>
          <p:cNvSpPr/>
          <p:nvPr/>
        </p:nvSpPr>
        <p:spPr>
          <a:xfrm>
            <a:off x="2529501" y="5510303"/>
            <a:ext cx="593916" cy="44493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13" name="Picture 2"/>
          <p:cNvPicPr>
            <a:picLocks noChangeAspect="1" noChangeArrowheads="1"/>
          </p:cNvPicPr>
          <p:nvPr/>
        </p:nvPicPr>
        <p:blipFill>
          <a:blip r:embed="rId3" cstate="print"/>
          <a:srcRect/>
          <a:stretch>
            <a:fillRect/>
          </a:stretch>
        </p:blipFill>
        <p:spPr bwMode="auto">
          <a:xfrm>
            <a:off x="3213055" y="2132856"/>
            <a:ext cx="5788055" cy="4341041"/>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117</a:t>
            </a:fld>
            <a:endParaRPr lang="es-ES" altLang="es-AR" dirty="0"/>
          </a:p>
        </p:txBody>
      </p:sp>
    </p:spTree>
    <p:extLst>
      <p:ext uri="{BB962C8B-B14F-4D97-AF65-F5344CB8AC3E}">
        <p14:creationId xmlns:p14="http://schemas.microsoft.com/office/powerpoint/2010/main" val="320244584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22221" y="1495336"/>
            <a:ext cx="8229600" cy="432767"/>
          </a:xfrm>
        </p:spPr>
        <p:txBody>
          <a:bodyPr/>
          <a:lstStyle/>
          <a:p>
            <a:r>
              <a:rPr lang="es-AR" dirty="0">
                <a:sym typeface="Wingdings" pitchFamily="2" charset="2"/>
              </a:rPr>
              <a:t>Análisis de accesibilidad con ARWeb (Resultados)</a:t>
            </a:r>
          </a:p>
          <a:p>
            <a:pPr algn="just"/>
            <a:endParaRPr lang="es-AR" dirty="0"/>
          </a:p>
          <a:p>
            <a:pPr lvl="1"/>
            <a:endParaRPr lang="es-AR" dirty="0"/>
          </a:p>
          <a:p>
            <a:pPr marL="3657600" lvl="8" indent="0">
              <a:buNone/>
            </a:pPr>
            <a:r>
              <a:rPr lang="es-AR" dirty="0"/>
              <a:t>		</a:t>
            </a:r>
          </a:p>
        </p:txBody>
      </p:sp>
      <p:sp>
        <p:nvSpPr>
          <p:cNvPr id="5" name="5 CuadroTexto"/>
          <p:cNvSpPr txBox="1"/>
          <p:nvPr/>
        </p:nvSpPr>
        <p:spPr>
          <a:xfrm>
            <a:off x="402668" y="2060848"/>
            <a:ext cx="2513148" cy="4401205"/>
          </a:xfrm>
          <a:prstGeom prst="rect">
            <a:avLst/>
          </a:prstGeom>
          <a:noFill/>
        </p:spPr>
        <p:txBody>
          <a:bodyPr wrap="square" rtlCol="0">
            <a:spAutoFit/>
          </a:bodyPr>
          <a:lstStyle/>
          <a:p>
            <a:r>
              <a:rPr lang="es-AR" sz="2000" dirty="0">
                <a:sym typeface="Wingdings" pitchFamily="2" charset="2"/>
              </a:rPr>
              <a:t>Puntos= Para Nivel A, hay 25 criterios de conformidad.</a:t>
            </a:r>
          </a:p>
          <a:p>
            <a:endParaRPr lang="es-AR" sz="2000" dirty="0">
              <a:sym typeface="Wingdings" pitchFamily="2" charset="2"/>
            </a:endParaRPr>
          </a:p>
          <a:p>
            <a:r>
              <a:rPr lang="es-AR" sz="2000" dirty="0">
                <a:sym typeface="Wingdings" pitchFamily="2" charset="2"/>
              </a:rPr>
              <a:t>Si todas las técnicas suficientes de un criterio dan OK  suma 4 puntos.</a:t>
            </a:r>
          </a:p>
          <a:p>
            <a:r>
              <a:rPr lang="es-AR" sz="2000" dirty="0">
                <a:sym typeface="Wingdings" pitchFamily="2" charset="2"/>
              </a:rPr>
              <a:t>Un sitio es accesible si la cantidad de puntos es MAYOR O IGUAL a 50. [Fuente: Disposición 2/2014] </a:t>
            </a:r>
            <a:endParaRPr lang="es-AR" dirty="0"/>
          </a:p>
        </p:txBody>
      </p:sp>
      <p:sp>
        <p:nvSpPr>
          <p:cNvPr id="7" name="7 Flecha a la derecha con muesca"/>
          <p:cNvSpPr/>
          <p:nvPr/>
        </p:nvSpPr>
        <p:spPr>
          <a:xfrm>
            <a:off x="2537924" y="4038983"/>
            <a:ext cx="593916" cy="44493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12" name="Picture 3"/>
          <p:cNvPicPr>
            <a:picLocks noChangeAspect="1" noChangeArrowheads="1"/>
          </p:cNvPicPr>
          <p:nvPr/>
        </p:nvPicPr>
        <p:blipFill>
          <a:blip r:embed="rId3" cstate="print"/>
          <a:srcRect/>
          <a:stretch>
            <a:fillRect/>
          </a:stretch>
        </p:blipFill>
        <p:spPr bwMode="auto">
          <a:xfrm>
            <a:off x="3131840" y="2060848"/>
            <a:ext cx="5905936" cy="4429452"/>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118</a:t>
            </a:fld>
            <a:endParaRPr lang="es-ES" altLang="es-AR" dirty="0"/>
          </a:p>
        </p:txBody>
      </p:sp>
    </p:spTree>
    <p:extLst>
      <p:ext uri="{BB962C8B-B14F-4D97-AF65-F5344CB8AC3E}">
        <p14:creationId xmlns:p14="http://schemas.microsoft.com/office/powerpoint/2010/main" val="110616526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22221" y="1495336"/>
            <a:ext cx="8229600" cy="432767"/>
          </a:xfrm>
        </p:spPr>
        <p:txBody>
          <a:bodyPr/>
          <a:lstStyle/>
          <a:p>
            <a:r>
              <a:rPr lang="es-AR" dirty="0">
                <a:sym typeface="Wingdings" pitchFamily="2" charset="2"/>
              </a:rPr>
              <a:t>Análisis de accesibilidad con ARWeb (Verificación)</a:t>
            </a:r>
          </a:p>
          <a:p>
            <a:pPr algn="just"/>
            <a:endParaRPr lang="es-AR" dirty="0"/>
          </a:p>
          <a:p>
            <a:pPr lvl="1"/>
            <a:endParaRPr lang="es-AR" dirty="0"/>
          </a:p>
          <a:p>
            <a:pPr marL="3657600" lvl="8" indent="0">
              <a:buNone/>
            </a:pPr>
            <a:r>
              <a:rPr lang="es-AR" dirty="0"/>
              <a:t>		</a:t>
            </a:r>
          </a:p>
        </p:txBody>
      </p:sp>
      <p:pic>
        <p:nvPicPr>
          <p:cNvPr id="8" name="Picture 5"/>
          <p:cNvPicPr>
            <a:picLocks noChangeAspect="1" noChangeArrowheads="1"/>
          </p:cNvPicPr>
          <p:nvPr/>
        </p:nvPicPr>
        <p:blipFill>
          <a:blip r:embed="rId3" cstate="print"/>
          <a:srcRect/>
          <a:stretch>
            <a:fillRect/>
          </a:stretch>
        </p:blipFill>
        <p:spPr bwMode="auto">
          <a:xfrm>
            <a:off x="1259632" y="2060848"/>
            <a:ext cx="6840760" cy="4354963"/>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119</a:t>
            </a:fld>
            <a:endParaRPr lang="es-ES" altLang="es-AR" dirty="0"/>
          </a:p>
        </p:txBody>
      </p:sp>
    </p:spTree>
    <p:extLst>
      <p:ext uri="{BB962C8B-B14F-4D97-AF65-F5344CB8AC3E}">
        <p14:creationId xmlns:p14="http://schemas.microsoft.com/office/powerpoint/2010/main" val="199955327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22221" y="1495336"/>
            <a:ext cx="8229600" cy="432767"/>
          </a:xfrm>
        </p:spPr>
        <p:txBody>
          <a:bodyPr/>
          <a:lstStyle/>
          <a:p>
            <a:r>
              <a:rPr lang="es-AR" dirty="0">
                <a:sym typeface="Wingdings" pitchFamily="2" charset="2"/>
              </a:rPr>
              <a:t>Análisis de accesibilidad con ARWeb (Ver Código HTML)</a:t>
            </a:r>
          </a:p>
          <a:p>
            <a:pPr algn="just"/>
            <a:endParaRPr lang="es-AR" dirty="0"/>
          </a:p>
          <a:p>
            <a:pPr lvl="1"/>
            <a:endParaRPr lang="es-AR" dirty="0"/>
          </a:p>
          <a:p>
            <a:pPr marL="3657600" lvl="8" indent="0">
              <a:buNone/>
            </a:pPr>
            <a:r>
              <a:rPr lang="es-AR" dirty="0"/>
              <a:t>		</a:t>
            </a:r>
          </a:p>
        </p:txBody>
      </p:sp>
      <p:pic>
        <p:nvPicPr>
          <p:cNvPr id="5" name="Picture 2"/>
          <p:cNvPicPr>
            <a:picLocks noChangeAspect="1" noChangeArrowheads="1"/>
          </p:cNvPicPr>
          <p:nvPr/>
        </p:nvPicPr>
        <p:blipFill>
          <a:blip r:embed="rId3" cstate="print"/>
          <a:srcRect/>
          <a:stretch>
            <a:fillRect/>
          </a:stretch>
        </p:blipFill>
        <p:spPr bwMode="auto">
          <a:xfrm>
            <a:off x="3347864" y="2060849"/>
            <a:ext cx="5112568" cy="4090054"/>
          </a:xfrm>
          <a:prstGeom prst="rect">
            <a:avLst/>
          </a:prstGeom>
          <a:noFill/>
          <a:ln w="9525">
            <a:noFill/>
            <a:miter lim="800000"/>
            <a:headEnd/>
            <a:tailEnd/>
          </a:ln>
          <a:effectLst/>
        </p:spPr>
      </p:pic>
      <p:sp>
        <p:nvSpPr>
          <p:cNvPr id="7" name="10 CuadroTexto"/>
          <p:cNvSpPr txBox="1"/>
          <p:nvPr/>
        </p:nvSpPr>
        <p:spPr>
          <a:xfrm>
            <a:off x="407413" y="2988726"/>
            <a:ext cx="2016224" cy="2554545"/>
          </a:xfrm>
          <a:prstGeom prst="rect">
            <a:avLst/>
          </a:prstGeom>
          <a:noFill/>
          <a:ln w="9525">
            <a:solidFill>
              <a:schemeClr val="accent1"/>
            </a:solidFill>
          </a:ln>
        </p:spPr>
        <p:txBody>
          <a:bodyPr wrap="square" rtlCol="0">
            <a:spAutoFit/>
          </a:bodyPr>
          <a:lstStyle/>
          <a:p>
            <a:r>
              <a:rPr lang="es-AR" sz="2000" dirty="0">
                <a:sym typeface="Wingdings" pitchFamily="2" charset="2"/>
              </a:rPr>
              <a:t>Muestra el código fuente de la página, indicando donde ocurre el error, la advertencia y no verificado.</a:t>
            </a:r>
            <a:endParaRPr lang="es-AR" dirty="0"/>
          </a:p>
        </p:txBody>
      </p:sp>
      <p:sp>
        <p:nvSpPr>
          <p:cNvPr id="9" name="7 Flecha a la derecha con muesca"/>
          <p:cNvSpPr/>
          <p:nvPr/>
        </p:nvSpPr>
        <p:spPr>
          <a:xfrm>
            <a:off x="2588792" y="4043531"/>
            <a:ext cx="593916" cy="44493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120</a:t>
            </a:fld>
            <a:endParaRPr lang="es-ES" altLang="es-AR" dirty="0"/>
          </a:p>
        </p:txBody>
      </p:sp>
    </p:spTree>
    <p:extLst>
      <p:ext uri="{BB962C8B-B14F-4D97-AF65-F5344CB8AC3E}">
        <p14:creationId xmlns:p14="http://schemas.microsoft.com/office/powerpoint/2010/main" val="82055434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22221" y="1495336"/>
            <a:ext cx="8229600" cy="1069568"/>
          </a:xfrm>
        </p:spPr>
        <p:txBody>
          <a:bodyPr/>
          <a:lstStyle/>
          <a:p>
            <a:r>
              <a:rPr lang="es-AR" dirty="0">
                <a:sym typeface="Wingdings" pitchFamily="2" charset="2"/>
              </a:rPr>
              <a:t>Análisis de accesibilidad con ARWeb (Exportar Anexo PDF)</a:t>
            </a:r>
          </a:p>
          <a:p>
            <a:pPr lvl="1"/>
            <a:r>
              <a:rPr lang="es-AR" dirty="0">
                <a:sym typeface="Wingdings" pitchFamily="2" charset="2"/>
              </a:rPr>
              <a:t>Información expuesta conforme el modelo del Anexo II de Disposición 2/2014 de la ONTI. </a:t>
            </a:r>
          </a:p>
          <a:p>
            <a:pPr lvl="1"/>
            <a:endParaRPr lang="es-AR" dirty="0">
              <a:sym typeface="Wingdings" pitchFamily="2" charset="2"/>
            </a:endParaRPr>
          </a:p>
          <a:p>
            <a:pPr algn="just"/>
            <a:endParaRPr lang="es-AR" dirty="0"/>
          </a:p>
          <a:p>
            <a:pPr lvl="1"/>
            <a:endParaRPr lang="es-AR" dirty="0"/>
          </a:p>
          <a:p>
            <a:pPr marL="3657600" lvl="8" indent="0">
              <a:buNone/>
            </a:pPr>
            <a:r>
              <a:rPr lang="es-AR" dirty="0"/>
              <a:t>		</a:t>
            </a:r>
          </a:p>
        </p:txBody>
      </p:sp>
      <p:pic>
        <p:nvPicPr>
          <p:cNvPr id="8" name="Picture 2"/>
          <p:cNvPicPr>
            <a:picLocks noChangeAspect="1" noChangeArrowheads="1"/>
          </p:cNvPicPr>
          <p:nvPr/>
        </p:nvPicPr>
        <p:blipFill rotWithShape="1">
          <a:blip r:embed="rId3" cstate="print"/>
          <a:srcRect l="27381" t="22011" r="26032" b="19462"/>
          <a:stretch/>
        </p:blipFill>
        <p:spPr bwMode="auto">
          <a:xfrm>
            <a:off x="1871700" y="2564905"/>
            <a:ext cx="5400600" cy="3816424"/>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121</a:t>
            </a:fld>
            <a:endParaRPr lang="es-ES" altLang="es-AR" dirty="0"/>
          </a:p>
        </p:txBody>
      </p:sp>
    </p:spTree>
    <p:extLst>
      <p:ext uri="{BB962C8B-B14F-4D97-AF65-F5344CB8AC3E}">
        <p14:creationId xmlns:p14="http://schemas.microsoft.com/office/powerpoint/2010/main" val="72521241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22221" y="1495336"/>
            <a:ext cx="8229600" cy="1069568"/>
          </a:xfrm>
        </p:spPr>
        <p:txBody>
          <a:bodyPr/>
          <a:lstStyle/>
          <a:p>
            <a:r>
              <a:rPr lang="es-AR" dirty="0">
                <a:sym typeface="Wingdings" pitchFamily="2" charset="2"/>
              </a:rPr>
              <a:t>Análisis de accesibilidad con ARWeb (Exportar Detalle PDF)</a:t>
            </a:r>
          </a:p>
          <a:p>
            <a:pPr lvl="1"/>
            <a:r>
              <a:rPr lang="es-AR" dirty="0">
                <a:sym typeface="Wingdings" pitchFamily="2" charset="2"/>
              </a:rPr>
              <a:t>Información detallada de Análisis de Accesibilidad Web  (formato PDF)</a:t>
            </a:r>
          </a:p>
          <a:p>
            <a:pPr lvl="1"/>
            <a:endParaRPr lang="es-AR" dirty="0">
              <a:sym typeface="Wingdings" pitchFamily="2" charset="2"/>
            </a:endParaRPr>
          </a:p>
          <a:p>
            <a:pPr algn="just"/>
            <a:endParaRPr lang="es-AR" dirty="0"/>
          </a:p>
          <a:p>
            <a:pPr lvl="1"/>
            <a:endParaRPr lang="es-AR" dirty="0"/>
          </a:p>
          <a:p>
            <a:pPr marL="3657600" lvl="8" indent="0">
              <a:buNone/>
            </a:pPr>
            <a:r>
              <a:rPr lang="es-AR" dirty="0"/>
              <a:t>		</a:t>
            </a:r>
          </a:p>
        </p:txBody>
      </p:sp>
      <p:pic>
        <p:nvPicPr>
          <p:cNvPr id="4" name="Picture 2"/>
          <p:cNvPicPr>
            <a:picLocks noChangeAspect="1" noChangeArrowheads="1"/>
          </p:cNvPicPr>
          <p:nvPr/>
        </p:nvPicPr>
        <p:blipFill rotWithShape="1">
          <a:blip r:embed="rId3" cstate="print"/>
          <a:srcRect l="14286" t="15520" r="12936" b="19648"/>
          <a:stretch/>
        </p:blipFill>
        <p:spPr bwMode="auto">
          <a:xfrm>
            <a:off x="899592" y="2564904"/>
            <a:ext cx="7344816" cy="3680321"/>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122</a:t>
            </a:fld>
            <a:endParaRPr lang="es-ES" altLang="es-AR" dirty="0"/>
          </a:p>
        </p:txBody>
      </p:sp>
    </p:spTree>
    <p:extLst>
      <p:ext uri="{BB962C8B-B14F-4D97-AF65-F5344CB8AC3E}">
        <p14:creationId xmlns:p14="http://schemas.microsoft.com/office/powerpoint/2010/main" val="80685678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22221" y="1495336"/>
            <a:ext cx="8229600" cy="1069568"/>
          </a:xfrm>
        </p:spPr>
        <p:txBody>
          <a:bodyPr/>
          <a:lstStyle/>
          <a:p>
            <a:r>
              <a:rPr lang="es-AR" dirty="0">
                <a:sym typeface="Wingdings" pitchFamily="2" charset="2"/>
              </a:rPr>
              <a:t>Análisis de accesibilidad con ARWeb (Exportar Detalle XLS)</a:t>
            </a:r>
          </a:p>
          <a:p>
            <a:pPr lvl="1"/>
            <a:r>
              <a:rPr lang="es-AR" dirty="0">
                <a:sym typeface="Wingdings" pitchFamily="2" charset="2"/>
              </a:rPr>
              <a:t>Información detallada de Análisis de Accesibilidad Web  (formato XLS)</a:t>
            </a:r>
          </a:p>
          <a:p>
            <a:pPr algn="just"/>
            <a:endParaRPr lang="es-AR" dirty="0"/>
          </a:p>
          <a:p>
            <a:pPr lvl="1"/>
            <a:endParaRPr lang="es-AR" dirty="0"/>
          </a:p>
          <a:p>
            <a:pPr marL="3657600" lvl="8" indent="0">
              <a:buNone/>
            </a:pPr>
            <a:r>
              <a:rPr lang="es-AR" dirty="0"/>
              <a:t>		</a:t>
            </a:r>
          </a:p>
        </p:txBody>
      </p:sp>
      <p:pic>
        <p:nvPicPr>
          <p:cNvPr id="5" name="Picture 2"/>
          <p:cNvPicPr>
            <a:picLocks noChangeAspect="1" noChangeArrowheads="1"/>
          </p:cNvPicPr>
          <p:nvPr/>
        </p:nvPicPr>
        <p:blipFill rotWithShape="1">
          <a:blip r:embed="rId3" cstate="print"/>
          <a:srcRect t="15238" r="39841" b="12303"/>
          <a:stretch/>
        </p:blipFill>
        <p:spPr bwMode="auto">
          <a:xfrm>
            <a:off x="1880729" y="2564904"/>
            <a:ext cx="5739271" cy="3888432"/>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123</a:t>
            </a:fld>
            <a:endParaRPr lang="es-ES" altLang="es-AR" dirty="0"/>
          </a:p>
        </p:txBody>
      </p:sp>
    </p:spTree>
    <p:extLst>
      <p:ext uri="{BB962C8B-B14F-4D97-AF65-F5344CB8AC3E}">
        <p14:creationId xmlns:p14="http://schemas.microsoft.com/office/powerpoint/2010/main" val="331927870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a:t>Organización</a:t>
            </a:r>
          </a:p>
        </p:txBody>
      </p:sp>
      <p:sp>
        <p:nvSpPr>
          <p:cNvPr id="35843" name="2 Marcador de contenido"/>
          <p:cNvSpPr>
            <a:spLocks noGrp="1"/>
          </p:cNvSpPr>
          <p:nvPr>
            <p:ph idx="1"/>
          </p:nvPr>
        </p:nvSpPr>
        <p:spPr/>
        <p:txBody>
          <a:bodyPr/>
          <a:lstStyle/>
          <a:p>
            <a:r>
              <a:rPr lang="es-AR" altLang="es-AR" dirty="0"/>
              <a:t>¿Qué es la accesibilidad web?</a:t>
            </a:r>
          </a:p>
          <a:p>
            <a:r>
              <a:rPr lang="es-AR" altLang="es-AR" dirty="0"/>
              <a:t>Pautas y leyes.</a:t>
            </a:r>
          </a:p>
          <a:p>
            <a:r>
              <a:rPr lang="es-AR" altLang="es-AR" dirty="0"/>
              <a:t>Contenido accesible.</a:t>
            </a:r>
          </a:p>
          <a:p>
            <a:r>
              <a:rPr lang="es-AR" altLang="es-AR" dirty="0"/>
              <a:t>Navegación accesible.</a:t>
            </a:r>
          </a:p>
          <a:p>
            <a:r>
              <a:rPr lang="es-AR" altLang="es-AR" dirty="0"/>
              <a:t>Diseño accesible.</a:t>
            </a:r>
          </a:p>
          <a:p>
            <a:r>
              <a:rPr lang="es-AR" altLang="es-AR" dirty="0"/>
              <a:t>Análisis y evaluación de la accesibilidad web.</a:t>
            </a:r>
          </a:p>
          <a:p>
            <a:r>
              <a:rPr lang="es-AR" altLang="es-AR" b="1" dirty="0">
                <a:solidFill>
                  <a:srgbClr val="0070C0"/>
                </a:solidFill>
              </a:rPr>
              <a:t>Conclusiones.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124</a:t>
            </a:fld>
            <a:endParaRPr lang="es-ES" altLang="es-AR" dirty="0"/>
          </a:p>
        </p:txBody>
      </p:sp>
    </p:spTree>
    <p:extLst>
      <p:ext uri="{BB962C8B-B14F-4D97-AF65-F5344CB8AC3E}">
        <p14:creationId xmlns:p14="http://schemas.microsoft.com/office/powerpoint/2010/main" val="424101257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dirty="0"/>
              <a:t>Conclusiones</a:t>
            </a:r>
          </a:p>
        </p:txBody>
      </p:sp>
      <p:sp>
        <p:nvSpPr>
          <p:cNvPr id="35843" name="2 Marcador de contenido"/>
          <p:cNvSpPr>
            <a:spLocks noGrp="1"/>
          </p:cNvSpPr>
          <p:nvPr>
            <p:ph idx="1"/>
          </p:nvPr>
        </p:nvSpPr>
        <p:spPr>
          <a:xfrm>
            <a:off x="457200" y="2276872"/>
            <a:ext cx="8229600" cy="3849291"/>
          </a:xfrm>
        </p:spPr>
        <p:txBody>
          <a:bodyPr/>
          <a:lstStyle/>
          <a:p>
            <a:r>
              <a:rPr lang="es-AR" dirty="0"/>
              <a:t>Las pautas sobre accesibilidad web que en la actualidad se aplican son las Web Content </a:t>
            </a:r>
            <a:r>
              <a:rPr lang="es-AR" dirty="0" err="1"/>
              <a:t>Accessibility</a:t>
            </a:r>
            <a:r>
              <a:rPr lang="es-AR" dirty="0"/>
              <a:t> </a:t>
            </a:r>
            <a:r>
              <a:rPr lang="es-AR" dirty="0" err="1"/>
              <a:t>Guidelines</a:t>
            </a:r>
            <a:r>
              <a:rPr lang="es-AR" dirty="0"/>
              <a:t> 2.0 (WCAG 2.0)</a:t>
            </a:r>
          </a:p>
          <a:p>
            <a:pPr marL="0" indent="0">
              <a:buNone/>
            </a:pPr>
            <a:endParaRPr lang="es-AR" dirty="0"/>
          </a:p>
          <a:p>
            <a:r>
              <a:rPr lang="es-AR" dirty="0"/>
              <a:t>Consejos generales que resumen lo que se debe hacer para lograr que un sitio web sea accesible:</a:t>
            </a:r>
          </a:p>
          <a:p>
            <a:endParaRPr lang="es-AR" dirty="0"/>
          </a:p>
          <a:p>
            <a:pPr lvl="3"/>
            <a:r>
              <a:rPr lang="es-AR" dirty="0"/>
              <a:t>Asegurar una transformación correcta.</a:t>
            </a:r>
          </a:p>
          <a:p>
            <a:pPr lvl="3"/>
            <a:endParaRPr lang="es-AR" dirty="0"/>
          </a:p>
          <a:p>
            <a:pPr lvl="3"/>
            <a:r>
              <a:rPr lang="es-AR" dirty="0"/>
              <a:t>Hacer comprensible y navegable el contenido.</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125</a:t>
            </a:fld>
            <a:endParaRPr lang="es-ES" altLang="es-AR" dirty="0"/>
          </a:p>
        </p:txBody>
      </p:sp>
    </p:spTree>
    <p:extLst>
      <p:ext uri="{BB962C8B-B14F-4D97-AF65-F5344CB8AC3E}">
        <p14:creationId xmlns:p14="http://schemas.microsoft.com/office/powerpoint/2010/main" val="116135349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dirty="0"/>
              <a:t>Conclusiones</a:t>
            </a:r>
          </a:p>
        </p:txBody>
      </p:sp>
      <p:sp>
        <p:nvSpPr>
          <p:cNvPr id="35843" name="2 Marcador de contenido"/>
          <p:cNvSpPr>
            <a:spLocks noGrp="1"/>
          </p:cNvSpPr>
          <p:nvPr>
            <p:ph idx="1"/>
          </p:nvPr>
        </p:nvSpPr>
        <p:spPr>
          <a:xfrm>
            <a:off x="457200" y="2276872"/>
            <a:ext cx="8229600" cy="3849291"/>
          </a:xfrm>
        </p:spPr>
        <p:txBody>
          <a:bodyPr/>
          <a:lstStyle/>
          <a:p>
            <a:r>
              <a:rPr lang="es-AR" dirty="0"/>
              <a:t>Asegurar una transformación correcta.</a:t>
            </a:r>
          </a:p>
          <a:p>
            <a:pPr>
              <a:buNone/>
            </a:pPr>
            <a:endParaRPr lang="es-AR" dirty="0"/>
          </a:p>
          <a:p>
            <a:pPr lvl="1"/>
            <a:r>
              <a:rPr lang="es-AR" dirty="0"/>
              <a:t> En las páginas web se deben ofrecer alternativas, diferentes presentaciones que se adapten a las necesidades de diferentes usuarios y que sean reproducibles bajo diferentes circunstancias.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126</a:t>
            </a:fld>
            <a:endParaRPr lang="es-ES" altLang="es-AR" dirty="0"/>
          </a:p>
        </p:txBody>
      </p:sp>
    </p:spTree>
    <p:extLst>
      <p:ext uri="{BB962C8B-B14F-4D97-AF65-F5344CB8AC3E}">
        <p14:creationId xmlns:p14="http://schemas.microsoft.com/office/powerpoint/2010/main" val="158253332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dirty="0"/>
              <a:t>Conclusiones</a:t>
            </a:r>
          </a:p>
        </p:txBody>
      </p:sp>
      <p:sp>
        <p:nvSpPr>
          <p:cNvPr id="35843" name="2 Marcador de contenido"/>
          <p:cNvSpPr>
            <a:spLocks noGrp="1"/>
          </p:cNvSpPr>
          <p:nvPr>
            <p:ph idx="1"/>
          </p:nvPr>
        </p:nvSpPr>
        <p:spPr>
          <a:xfrm>
            <a:off x="457200" y="2276872"/>
            <a:ext cx="8229600" cy="3849291"/>
          </a:xfrm>
        </p:spPr>
        <p:txBody>
          <a:bodyPr/>
          <a:lstStyle/>
          <a:p>
            <a:r>
              <a:rPr lang="es-AR" dirty="0"/>
              <a:t>Hacer comprensible y navegable el contenido.</a:t>
            </a:r>
          </a:p>
          <a:p>
            <a:pPr>
              <a:buNone/>
            </a:pPr>
            <a:endParaRPr lang="es-AR" dirty="0"/>
          </a:p>
          <a:p>
            <a:pPr lvl="1"/>
            <a:r>
              <a:rPr lang="es-AR" dirty="0"/>
              <a:t>Para que el contenido sea comprensible se debe emplear un lenguaje claro y simple.</a:t>
            </a:r>
          </a:p>
          <a:p>
            <a:pPr lvl="1"/>
            <a:endParaRPr lang="es-AR" dirty="0"/>
          </a:p>
          <a:p>
            <a:pPr lvl="1"/>
            <a:r>
              <a:rPr lang="es-AR" dirty="0"/>
              <a:t>Para que el contenido sea navegable se deben proporcionar mecanismos comprensibles para navegar y orientarse dentro de cada página y entre las páginas de un sitio web.</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127</a:t>
            </a:fld>
            <a:endParaRPr lang="es-ES" altLang="es-AR" dirty="0"/>
          </a:p>
        </p:txBody>
      </p:sp>
    </p:spTree>
    <p:extLst>
      <p:ext uri="{BB962C8B-B14F-4D97-AF65-F5344CB8AC3E}">
        <p14:creationId xmlns:p14="http://schemas.microsoft.com/office/powerpoint/2010/main" val="359625370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755576" y="2996952"/>
            <a:ext cx="7772400" cy="1470025"/>
          </a:xfrm>
        </p:spPr>
        <p:txBody>
          <a:bodyPr/>
          <a:lstStyle/>
          <a:p>
            <a:r>
              <a:rPr lang="es-AR" dirty="0"/>
              <a:t>Muchas Gracias</a:t>
            </a:r>
          </a:p>
        </p:txBody>
      </p:sp>
      <p:sp>
        <p:nvSpPr>
          <p:cNvPr id="3" name="Marcador de número de diapositiva 2"/>
          <p:cNvSpPr>
            <a:spLocks noGrp="1"/>
          </p:cNvSpPr>
          <p:nvPr>
            <p:ph type="sldNum" sz="quarter" idx="12"/>
          </p:nvPr>
        </p:nvSpPr>
        <p:spPr/>
        <p:txBody>
          <a:bodyPr/>
          <a:lstStyle/>
          <a:p>
            <a:pPr>
              <a:defRPr/>
            </a:pPr>
            <a:fld id="{07540478-50BE-49C6-B241-19303790821C}" type="slidenum">
              <a:rPr lang="es-ES" altLang="es-AR" smtClean="0"/>
              <a:pPr>
                <a:defRPr/>
              </a:pPr>
              <a:t>128</a:t>
            </a:fld>
            <a:endParaRPr lang="es-ES" altLang="es-AR"/>
          </a:p>
        </p:txBody>
      </p:sp>
    </p:spTree>
    <p:extLst>
      <p:ext uri="{BB962C8B-B14F-4D97-AF65-F5344CB8AC3E}">
        <p14:creationId xmlns:p14="http://schemas.microsoft.com/office/powerpoint/2010/main" val="313197824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dirty="0"/>
              <a:t>Bibliografía</a:t>
            </a:r>
          </a:p>
        </p:txBody>
      </p:sp>
      <p:sp>
        <p:nvSpPr>
          <p:cNvPr id="35843" name="2 Marcador de contenido"/>
          <p:cNvSpPr>
            <a:spLocks noGrp="1"/>
          </p:cNvSpPr>
          <p:nvPr>
            <p:ph idx="1"/>
          </p:nvPr>
        </p:nvSpPr>
        <p:spPr>
          <a:xfrm>
            <a:off x="457200" y="2060848"/>
            <a:ext cx="8229600" cy="4536504"/>
          </a:xfrm>
        </p:spPr>
        <p:txBody>
          <a:bodyPr/>
          <a:lstStyle/>
          <a:p>
            <a:r>
              <a:rPr lang="es-AR" dirty="0"/>
              <a:t>EXAMINATOR. Servicio en línea para evaluar de modo automático la Accesibilidad de una Página Web </a:t>
            </a:r>
            <a:r>
              <a:rPr lang="es-AR" sz="1800" dirty="0"/>
              <a:t>[en línea] </a:t>
            </a:r>
            <a:r>
              <a:rPr lang="es-AR" dirty="0"/>
              <a:t>&lt;</a:t>
            </a:r>
            <a:r>
              <a:rPr lang="es-AR" u="sng" dirty="0">
                <a:hlinkClick r:id="rId3"/>
              </a:rPr>
              <a:t>http://examinator.ws/</a:t>
            </a:r>
            <a:r>
              <a:rPr lang="es-AR" dirty="0"/>
              <a:t>&gt;</a:t>
            </a:r>
          </a:p>
          <a:p>
            <a:pPr algn="just">
              <a:spcBef>
                <a:spcPct val="0"/>
              </a:spcBef>
            </a:pPr>
            <a:r>
              <a:rPr lang="es-ES" altLang="ko-KR" dirty="0">
                <a:latin typeface="Arial" panose="020B0604020202020204" pitchFamily="34" charset="0"/>
                <a:ea typeface="Times New Roman" panose="02020603050405020304" pitchFamily="18" charset="0"/>
                <a:cs typeface="Arial" panose="020B0604020202020204" pitchFamily="34" charset="0"/>
              </a:rPr>
              <a:t>HONORABLE CONGRESO DE LA NACIÓN ARGENTINA. Ley 26.653 de Accesibilidad de la Información en Páginas Web. Buenos Aires. Argentina. [en línea]</a:t>
            </a:r>
            <a:endParaRPr lang="es-AR" altLang="ko-KR" sz="1100" dirty="0"/>
          </a:p>
          <a:p>
            <a:pPr marL="400050" lvl="1" indent="0" algn="just">
              <a:spcBef>
                <a:spcPct val="0"/>
              </a:spcBef>
              <a:buNone/>
            </a:pPr>
            <a:r>
              <a:rPr lang="es-ES" altLang="ko-KR" dirty="0">
                <a:latin typeface="Arial" panose="020B0604020202020204" pitchFamily="34" charset="0"/>
                <a:ea typeface="Times New Roman" panose="02020603050405020304" pitchFamily="18" charset="0"/>
                <a:cs typeface="Arial" panose="020B0604020202020204" pitchFamily="34" charset="0"/>
              </a:rPr>
              <a:t>&lt;</a:t>
            </a:r>
            <a:r>
              <a:rPr lang="es-ES" altLang="ko-KR" dirty="0">
                <a:latin typeface="Arial" panose="020B0604020202020204" pitchFamily="34" charset="0"/>
                <a:ea typeface="Times New Roman" panose="02020603050405020304" pitchFamily="18" charset="0"/>
                <a:cs typeface="Arial" panose="020B0604020202020204" pitchFamily="34" charset="0"/>
                <a:hlinkClick r:id="rId4"/>
              </a:rPr>
              <a:t>http://www.infoleg.gob.ar/infolegInternet/anexos/175000-179999/175694/norma.htm</a:t>
            </a:r>
            <a:r>
              <a:rPr lang="es-ES" altLang="ko-KR" dirty="0">
                <a:latin typeface="Arial" panose="020B0604020202020204" pitchFamily="34" charset="0"/>
                <a:ea typeface="Times New Roman" panose="02020603050405020304" pitchFamily="18" charset="0"/>
                <a:cs typeface="Arial" panose="020B0604020202020204" pitchFamily="34" charset="0"/>
              </a:rPr>
              <a:t>&gt;</a:t>
            </a:r>
          </a:p>
          <a:p>
            <a:r>
              <a:rPr lang="es-AR" dirty="0"/>
              <a:t>OFICINA NACIONAL DE TECNOLOGÍAS DE INFORMACIÓN. Decreto 2/2014: Norma de Accesibilidad Web 2.0. Buenos Aires. Argentina [en línea]. 2014. [consulta 15 julio 2016].</a:t>
            </a:r>
          </a:p>
          <a:p>
            <a:pPr marL="400050" lvl="1" indent="0">
              <a:buNone/>
            </a:pPr>
            <a:r>
              <a:rPr lang="es-AR" dirty="0"/>
              <a:t>&lt;</a:t>
            </a:r>
            <a:r>
              <a:rPr lang="es-AR" u="sng" dirty="0">
                <a:hlinkClick r:id="rId5"/>
              </a:rPr>
              <a:t>http://servicios.infoleg.gob.ar/infolegInternet/anexos/230000-234999/233667/norma.htm</a:t>
            </a:r>
            <a:r>
              <a:rPr lang="es-AR" dirty="0"/>
              <a:t>&gt;</a:t>
            </a:r>
          </a:p>
          <a:p>
            <a:pPr algn="just">
              <a:spcBef>
                <a:spcPct val="0"/>
              </a:spcBef>
            </a:pPr>
            <a:endParaRPr lang="es-ES" altLang="ko-KR" sz="3200" dirty="0">
              <a:latin typeface="Arial" panose="020B0604020202020204" pitchFamily="34" charset="0"/>
            </a:endParaRPr>
          </a:p>
          <a:p>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129</a:t>
            </a:fld>
            <a:endParaRPr lang="es-ES" altLang="es-AR" dirty="0"/>
          </a:p>
        </p:txBody>
      </p:sp>
    </p:spTree>
    <p:extLst>
      <p:ext uri="{BB962C8B-B14F-4D97-AF65-F5344CB8AC3E}">
        <p14:creationId xmlns:p14="http://schemas.microsoft.com/office/powerpoint/2010/main" val="320044466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dirty="0"/>
              <a:t>Bibliografía</a:t>
            </a:r>
          </a:p>
        </p:txBody>
      </p:sp>
      <p:sp>
        <p:nvSpPr>
          <p:cNvPr id="35843" name="2 Marcador de contenido"/>
          <p:cNvSpPr>
            <a:spLocks noGrp="1"/>
          </p:cNvSpPr>
          <p:nvPr>
            <p:ph idx="1"/>
          </p:nvPr>
        </p:nvSpPr>
        <p:spPr>
          <a:xfrm>
            <a:off x="457200" y="1556792"/>
            <a:ext cx="8229600" cy="5301208"/>
          </a:xfrm>
        </p:spPr>
        <p:txBody>
          <a:bodyPr/>
          <a:lstStyle/>
          <a:p>
            <a:r>
              <a:rPr lang="es-AR" dirty="0"/>
              <a:t>REVILLA MUÑOZ, Olga. </a:t>
            </a:r>
            <a:r>
              <a:rPr lang="es-AR" i="1" dirty="0"/>
              <a:t>WCAG 2.0 de forma sencilla</a:t>
            </a:r>
            <a:r>
              <a:rPr lang="es-AR" dirty="0"/>
              <a:t>. 1a. ed. Madrid: </a:t>
            </a:r>
            <a:r>
              <a:rPr lang="es-AR" dirty="0" err="1"/>
              <a:t>Itákora</a:t>
            </a:r>
            <a:r>
              <a:rPr lang="es-AR" dirty="0"/>
              <a:t> </a:t>
            </a:r>
            <a:r>
              <a:rPr lang="es-AR" dirty="0" err="1"/>
              <a:t>Press</a:t>
            </a:r>
            <a:r>
              <a:rPr lang="es-AR" dirty="0"/>
              <a:t>, 2013. 170 p. ISBN 978-84-614-6410-4.</a:t>
            </a:r>
          </a:p>
          <a:p>
            <a:pPr algn="just">
              <a:spcBef>
                <a:spcPct val="0"/>
              </a:spcBef>
            </a:pPr>
            <a:r>
              <a:rPr lang="es-AR" dirty="0"/>
              <a:t>SEGOVIA, Claudio. </a:t>
            </a:r>
            <a:r>
              <a:rPr lang="es-AR" i="1" dirty="0"/>
              <a:t>Accesibilidad en Internet</a:t>
            </a:r>
            <a:r>
              <a:rPr lang="es-AR" dirty="0"/>
              <a:t>. 1a. ed. California: </a:t>
            </a:r>
            <a:r>
              <a:rPr lang="es-AR" dirty="0" err="1"/>
              <a:t>Creative</a:t>
            </a:r>
            <a:r>
              <a:rPr lang="es-AR" dirty="0"/>
              <a:t> </a:t>
            </a:r>
            <a:r>
              <a:rPr lang="es-AR" dirty="0" err="1"/>
              <a:t>Commons</a:t>
            </a:r>
            <a:r>
              <a:rPr lang="es-AR" dirty="0"/>
              <a:t>, 2006. 212 p.</a:t>
            </a:r>
          </a:p>
          <a:p>
            <a:r>
              <a:rPr lang="es-AR" dirty="0"/>
              <a:t>TAW. Servicios de Accesibilidad y Movilidad Web [en línea]. </a:t>
            </a:r>
          </a:p>
          <a:p>
            <a:pPr marL="400050" lvl="1" indent="0">
              <a:buNone/>
            </a:pPr>
            <a:r>
              <a:rPr lang="es-AR" dirty="0"/>
              <a:t>&lt;</a:t>
            </a:r>
            <a:r>
              <a:rPr lang="es-AR" u="sng" dirty="0">
                <a:hlinkClick r:id="rId3"/>
              </a:rPr>
              <a:t>http://www.tawdis.net/index.html?lang=es</a:t>
            </a:r>
            <a:r>
              <a:rPr lang="es-AR" dirty="0"/>
              <a:t>&gt;</a:t>
            </a:r>
          </a:p>
          <a:p>
            <a:r>
              <a:rPr lang="es-AR" dirty="0"/>
              <a:t>W3C. World Wide Web </a:t>
            </a:r>
            <a:r>
              <a:rPr lang="es-AR" dirty="0" err="1"/>
              <a:t>Consortium</a:t>
            </a:r>
            <a:r>
              <a:rPr lang="es-AR" dirty="0"/>
              <a:t>. [en línea]. &lt;</a:t>
            </a:r>
            <a:r>
              <a:rPr lang="es-AR" u="sng" dirty="0">
                <a:hlinkClick r:id="rId4"/>
              </a:rPr>
              <a:t>https://www.w3.org/</a:t>
            </a:r>
            <a:r>
              <a:rPr lang="es-AR" dirty="0"/>
              <a:t>&gt;</a:t>
            </a:r>
          </a:p>
          <a:p>
            <a:r>
              <a:rPr lang="es-AR" dirty="0"/>
              <a:t>WAI. Web </a:t>
            </a:r>
            <a:r>
              <a:rPr lang="es-AR" dirty="0" err="1"/>
              <a:t>Accessibility</a:t>
            </a:r>
            <a:r>
              <a:rPr lang="es-AR" dirty="0"/>
              <a:t> </a:t>
            </a:r>
            <a:r>
              <a:rPr lang="es-AR" dirty="0" err="1"/>
              <a:t>Initiative</a:t>
            </a:r>
            <a:r>
              <a:rPr lang="es-AR" dirty="0"/>
              <a:t>. [en línea]. &lt;</a:t>
            </a:r>
            <a:r>
              <a:rPr lang="es-AR" u="sng" dirty="0">
                <a:hlinkClick r:id="rId5"/>
              </a:rPr>
              <a:t>https://www.w3.org/WAI/</a:t>
            </a:r>
            <a:r>
              <a:rPr lang="es-AR" dirty="0"/>
              <a:t>&gt;</a:t>
            </a:r>
          </a:p>
          <a:p>
            <a:r>
              <a:rPr lang="en-US" dirty="0"/>
              <a:t>WCAG. Web Content Accessibility Guidelines 2.0. </a:t>
            </a:r>
            <a:r>
              <a:rPr lang="es-ES" dirty="0"/>
              <a:t>[en línea]. </a:t>
            </a:r>
            <a:r>
              <a:rPr lang="en-US" dirty="0"/>
              <a:t>&lt;</a:t>
            </a:r>
            <a:r>
              <a:rPr lang="en-US" u="sng" dirty="0">
                <a:hlinkClick r:id="rId6"/>
              </a:rPr>
              <a:t>https://www.w3.org/TR/WCAG20</a:t>
            </a:r>
            <a:r>
              <a:rPr lang="en-US" dirty="0"/>
              <a:t>&gt;</a:t>
            </a:r>
            <a:endParaRPr lang="es-AR" dirty="0"/>
          </a:p>
          <a:p>
            <a:r>
              <a:rPr lang="es-AR" dirty="0"/>
              <a:t>WCAG-EM. </a:t>
            </a:r>
            <a:r>
              <a:rPr lang="es-AR" dirty="0" err="1"/>
              <a:t>Website</a:t>
            </a:r>
            <a:r>
              <a:rPr lang="es-AR" dirty="0"/>
              <a:t> </a:t>
            </a:r>
            <a:r>
              <a:rPr lang="es-AR" dirty="0" err="1"/>
              <a:t>Accessibility</a:t>
            </a:r>
            <a:r>
              <a:rPr lang="es-AR" dirty="0"/>
              <a:t> </a:t>
            </a:r>
            <a:r>
              <a:rPr lang="es-AR" dirty="0" err="1"/>
              <a:t>Conformance</a:t>
            </a:r>
            <a:r>
              <a:rPr lang="es-AR" dirty="0"/>
              <a:t> </a:t>
            </a:r>
            <a:r>
              <a:rPr lang="es-AR" dirty="0" err="1"/>
              <a:t>Evaluation</a:t>
            </a:r>
            <a:r>
              <a:rPr lang="es-AR" dirty="0"/>
              <a:t> </a:t>
            </a:r>
            <a:r>
              <a:rPr lang="es-AR" dirty="0" err="1"/>
              <a:t>Methodology</a:t>
            </a:r>
            <a:r>
              <a:rPr lang="es-AR" dirty="0"/>
              <a:t>. [en línea]. </a:t>
            </a:r>
          </a:p>
          <a:p>
            <a:pPr marL="400050" lvl="1" indent="0">
              <a:buNone/>
            </a:pPr>
            <a:r>
              <a:rPr lang="es-AR" dirty="0"/>
              <a:t>&lt;</a:t>
            </a:r>
            <a:r>
              <a:rPr lang="es-AR" u="sng" dirty="0">
                <a:hlinkClick r:id="rId7"/>
              </a:rPr>
              <a:t>https://www.w3.org/TR/WCAG-EM/</a:t>
            </a:r>
            <a:r>
              <a:rPr lang="es-AR" dirty="0"/>
              <a:t>&gt;</a:t>
            </a:r>
          </a:p>
          <a:p>
            <a:pPr algn="just">
              <a:spcBef>
                <a:spcPct val="0"/>
              </a:spcBef>
            </a:pPr>
            <a:endParaRPr lang="es-ES" altLang="ko-KR" sz="3200" dirty="0">
              <a:latin typeface="Arial" panose="020B0604020202020204" pitchFamily="34" charset="0"/>
            </a:endParaRPr>
          </a:p>
          <a:p>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130</a:t>
            </a:fld>
            <a:endParaRPr lang="es-ES" altLang="es-AR" dirty="0"/>
          </a:p>
        </p:txBody>
      </p:sp>
    </p:spTree>
    <p:extLst>
      <p:ext uri="{BB962C8B-B14F-4D97-AF65-F5344CB8AC3E}">
        <p14:creationId xmlns:p14="http://schemas.microsoft.com/office/powerpoint/2010/main" val="338590242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dirty="0"/>
              <a:t>Frases</a:t>
            </a:r>
          </a:p>
        </p:txBody>
      </p:sp>
      <p:sp>
        <p:nvSpPr>
          <p:cNvPr id="35843" name="2 Marcador de contenido"/>
          <p:cNvSpPr>
            <a:spLocks noGrp="1"/>
          </p:cNvSpPr>
          <p:nvPr>
            <p:ph idx="1"/>
          </p:nvPr>
        </p:nvSpPr>
        <p:spPr>
          <a:xfrm>
            <a:off x="457200" y="2420888"/>
            <a:ext cx="8229600" cy="3960440"/>
          </a:xfrm>
        </p:spPr>
        <p:txBody>
          <a:bodyPr/>
          <a:lstStyle/>
          <a:p>
            <a:r>
              <a:rPr lang="es-AR" sz="1800" i="1" dirty="0"/>
              <a:t>“Cuando tres profesionales de la accesibilidad se reúnen, al menos habrá cuatro o más opiniones diferentes”</a:t>
            </a:r>
            <a:r>
              <a:rPr lang="es-AR" sz="1800" dirty="0"/>
              <a:t>. B. </a:t>
            </a:r>
            <a:r>
              <a:rPr lang="es-AR" sz="1800" dirty="0" err="1"/>
              <a:t>Lawson</a:t>
            </a:r>
            <a:r>
              <a:rPr lang="es-AR" sz="1800" dirty="0"/>
              <a:t>.</a:t>
            </a:r>
          </a:p>
          <a:p>
            <a:r>
              <a:rPr lang="es-AR" sz="1800" i="1" dirty="0"/>
              <a:t>“Hacer la web accesible puede mejorar dramáticamente las vidas de las personas y beneficiar a la sociedad en su conjunto”</a:t>
            </a:r>
            <a:r>
              <a:rPr lang="es-AR" sz="1800" dirty="0"/>
              <a:t>. S. L. Henry.</a:t>
            </a:r>
          </a:p>
          <a:p>
            <a:r>
              <a:rPr lang="es-AR" sz="1800" i="1" dirty="0"/>
              <a:t>“El poder de la Web está en su universalidad. El acceso por cualquiera, independientemente de su discapacidad, es esencial”</a:t>
            </a:r>
            <a:r>
              <a:rPr lang="es-AR" sz="1800" dirty="0"/>
              <a:t>. T. </a:t>
            </a:r>
            <a:r>
              <a:rPr lang="es-AR" sz="1800" dirty="0" err="1"/>
              <a:t>Berners</a:t>
            </a:r>
            <a:r>
              <a:rPr lang="es-AR" sz="1800" dirty="0"/>
              <a:t>-Lee.</a:t>
            </a:r>
          </a:p>
          <a:p>
            <a:r>
              <a:rPr lang="es-AR" sz="1800" i="1" dirty="0"/>
              <a:t>“Antes de empezar con WCAG, antes de estudiar los resultados de las herramientas de evaluación, primero comprende los problemas”</a:t>
            </a:r>
            <a:r>
              <a:rPr lang="es-AR" sz="1800" dirty="0"/>
              <a:t>. S. L. Henry.</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131</a:t>
            </a:fld>
            <a:endParaRPr lang="es-ES" altLang="es-AR" dirty="0"/>
          </a:p>
        </p:txBody>
      </p:sp>
    </p:spTree>
    <p:extLst>
      <p:ext uri="{BB962C8B-B14F-4D97-AF65-F5344CB8AC3E}">
        <p14:creationId xmlns:p14="http://schemas.microsoft.com/office/powerpoint/2010/main" val="9903322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dirty="0"/>
              <a:t>Análisis ARWeb</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132</a:t>
            </a:fld>
            <a:endParaRPr lang="es-ES" altLang="es-AR"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3013129368"/>
              </p:ext>
            </p:extLst>
          </p:nvPr>
        </p:nvGraphicFramePr>
        <p:xfrm>
          <a:off x="446653" y="1852880"/>
          <a:ext cx="8229600" cy="4384432"/>
        </p:xfrm>
        <a:graphic>
          <a:graphicData uri="http://schemas.openxmlformats.org/drawingml/2006/table">
            <a:tbl>
              <a:tblPr firstRow="1" bandRow="1">
                <a:tableStyleId>{5C22544A-7EE6-4342-B048-85BDC9FD1C3A}</a:tableStyleId>
              </a:tblPr>
              <a:tblGrid>
                <a:gridCol w="1823003">
                  <a:extLst>
                    <a:ext uri="{9D8B030D-6E8A-4147-A177-3AD203B41FA5}">
                      <a16:colId xmlns:a16="http://schemas.microsoft.com/office/drawing/2014/main" val="2477780813"/>
                    </a:ext>
                  </a:extLst>
                </a:gridCol>
                <a:gridCol w="1078208">
                  <a:extLst>
                    <a:ext uri="{9D8B030D-6E8A-4147-A177-3AD203B41FA5}">
                      <a16:colId xmlns:a16="http://schemas.microsoft.com/office/drawing/2014/main" val="478385955"/>
                    </a:ext>
                  </a:extLst>
                </a:gridCol>
                <a:gridCol w="4453949">
                  <a:extLst>
                    <a:ext uri="{9D8B030D-6E8A-4147-A177-3AD203B41FA5}">
                      <a16:colId xmlns:a16="http://schemas.microsoft.com/office/drawing/2014/main" val="2306482188"/>
                    </a:ext>
                  </a:extLst>
                </a:gridCol>
                <a:gridCol w="874440">
                  <a:extLst>
                    <a:ext uri="{9D8B030D-6E8A-4147-A177-3AD203B41FA5}">
                      <a16:colId xmlns:a16="http://schemas.microsoft.com/office/drawing/2014/main" val="432321085"/>
                    </a:ext>
                  </a:extLst>
                </a:gridCol>
              </a:tblGrid>
              <a:tr h="714779">
                <a:tc>
                  <a:txBody>
                    <a:bodyPr/>
                    <a:lstStyle/>
                    <a:p>
                      <a:pPr algn="ctr"/>
                      <a:r>
                        <a:rPr lang="es-AR" sz="2000" dirty="0">
                          <a:solidFill>
                            <a:schemeClr val="tx1"/>
                          </a:solidFill>
                        </a:rPr>
                        <a:t>Recurso</a:t>
                      </a:r>
                    </a:p>
                  </a:txBody>
                  <a:tcPr/>
                </a:tc>
                <a:tc>
                  <a:txBody>
                    <a:bodyPr/>
                    <a:lstStyle/>
                    <a:p>
                      <a:pPr algn="ctr"/>
                      <a:r>
                        <a:rPr lang="es-AR" sz="2000" dirty="0">
                          <a:solidFill>
                            <a:schemeClr val="tx1"/>
                          </a:solidFill>
                        </a:rPr>
                        <a:t>Pautas</a:t>
                      </a:r>
                    </a:p>
                  </a:txBody>
                  <a:tcPr/>
                </a:tc>
                <a:tc>
                  <a:txBody>
                    <a:bodyPr/>
                    <a:lstStyle/>
                    <a:p>
                      <a:pPr algn="ctr"/>
                      <a:r>
                        <a:rPr lang="es-AR" sz="2000" dirty="0">
                          <a:solidFill>
                            <a:schemeClr val="tx1"/>
                          </a:solidFill>
                        </a:rPr>
                        <a:t>Técnicas</a:t>
                      </a:r>
                    </a:p>
                  </a:txBody>
                  <a:tcPr/>
                </a:tc>
                <a:tc>
                  <a:txBody>
                    <a:bodyPr/>
                    <a:lstStyle/>
                    <a:p>
                      <a:pPr algn="ctr"/>
                      <a:r>
                        <a:rPr lang="es-AR" sz="2000" dirty="0">
                          <a:solidFill>
                            <a:schemeClr val="tx1"/>
                          </a:solidFill>
                        </a:rPr>
                        <a:t>Línea</a:t>
                      </a:r>
                    </a:p>
                  </a:txBody>
                  <a:tcPr/>
                </a:tc>
                <a:extLst>
                  <a:ext uri="{0D108BD9-81ED-4DB2-BD59-A6C34878D82A}">
                    <a16:rowId xmlns:a16="http://schemas.microsoft.com/office/drawing/2014/main" val="3755929048"/>
                  </a:ext>
                </a:extLst>
              </a:tr>
              <a:tr h="414118">
                <a:tc rowSpan="3">
                  <a:txBody>
                    <a:bodyPr/>
                    <a:lstStyle/>
                    <a:p>
                      <a:r>
                        <a:rPr lang="es-AR" sz="2000" dirty="0"/>
                        <a:t>http://www.nahuelhuapi.gov.ar/registro_trekking/intro.htm</a:t>
                      </a:r>
                    </a:p>
                  </a:txBody>
                  <a:tcPr/>
                </a:tc>
                <a:tc>
                  <a:txBody>
                    <a:bodyPr/>
                    <a:lstStyle/>
                    <a:p>
                      <a:pPr algn="ctr"/>
                      <a:r>
                        <a:rPr lang="es-AR" sz="2000" dirty="0"/>
                        <a:t>1.3.1</a:t>
                      </a:r>
                    </a:p>
                  </a:txBody>
                  <a:tcPr/>
                </a:tc>
                <a:tc>
                  <a:txBody>
                    <a:bodyPr/>
                    <a:lstStyle/>
                    <a:p>
                      <a:r>
                        <a:rPr lang="es-AR" sz="2000" dirty="0"/>
                        <a:t>H51 Tablas sin celdas de encabezado (</a:t>
                      </a:r>
                      <a:r>
                        <a:rPr lang="es-AR" sz="2000" b="1" dirty="0" err="1"/>
                        <a:t>th</a:t>
                      </a:r>
                      <a:r>
                        <a:rPr lang="es-AR" sz="2000" dirty="0"/>
                        <a:t>).</a:t>
                      </a:r>
                    </a:p>
                  </a:txBody>
                  <a:tcPr/>
                </a:tc>
                <a:tc>
                  <a:txBody>
                    <a:bodyPr/>
                    <a:lstStyle/>
                    <a:p>
                      <a:pPr algn="r"/>
                      <a:r>
                        <a:rPr lang="es-AR" sz="2000" dirty="0"/>
                        <a:t>11</a:t>
                      </a:r>
                    </a:p>
                  </a:txBody>
                  <a:tcPr/>
                </a:tc>
                <a:extLst>
                  <a:ext uri="{0D108BD9-81ED-4DB2-BD59-A6C34878D82A}">
                    <a16:rowId xmlns:a16="http://schemas.microsoft.com/office/drawing/2014/main" val="3255690481"/>
                  </a:ext>
                </a:extLst>
              </a:tr>
              <a:tr h="414118">
                <a:tc vMerge="1">
                  <a:txBody>
                    <a:bodyPr/>
                    <a:lstStyle/>
                    <a:p>
                      <a:endParaRPr lang="es-AR" sz="2000" dirty="0"/>
                    </a:p>
                  </a:txBody>
                  <a:tcPr/>
                </a:tc>
                <a:tc>
                  <a:txBody>
                    <a:bodyPr/>
                    <a:lstStyle/>
                    <a:p>
                      <a:pPr algn="ctr"/>
                      <a:r>
                        <a:rPr lang="es-AR" sz="2000" dirty="0"/>
                        <a:t>1.3.1</a:t>
                      </a:r>
                    </a:p>
                  </a:txBody>
                  <a:tcPr/>
                </a:tc>
                <a:tc>
                  <a:txBody>
                    <a:bodyPr/>
                    <a:lstStyle/>
                    <a:p>
                      <a:r>
                        <a:rPr lang="es-AR" sz="2000" dirty="0"/>
                        <a:t>H39 Tablas sin elemento </a:t>
                      </a:r>
                      <a:r>
                        <a:rPr lang="es-AR" sz="2000" b="1" dirty="0" err="1"/>
                        <a:t>caption</a:t>
                      </a:r>
                      <a:r>
                        <a:rPr lang="es-AR" sz="2000" dirty="0"/>
                        <a:t>.</a:t>
                      </a:r>
                    </a:p>
                  </a:txBody>
                  <a:tcPr/>
                </a:tc>
                <a:tc>
                  <a:txBody>
                    <a:bodyPr/>
                    <a:lstStyle/>
                    <a:p>
                      <a:pPr algn="r"/>
                      <a:r>
                        <a:rPr lang="es-AR" sz="2000" dirty="0"/>
                        <a:t>11</a:t>
                      </a:r>
                    </a:p>
                  </a:txBody>
                  <a:tcPr/>
                </a:tc>
                <a:extLst>
                  <a:ext uri="{0D108BD9-81ED-4DB2-BD59-A6C34878D82A}">
                    <a16:rowId xmlns:a16="http://schemas.microsoft.com/office/drawing/2014/main" val="3100741043"/>
                  </a:ext>
                </a:extLst>
              </a:tr>
              <a:tr h="738297">
                <a:tc vMerge="1">
                  <a:txBody>
                    <a:bodyPr/>
                    <a:lstStyle/>
                    <a:p>
                      <a:endParaRPr lang="es-AR" sz="2000" dirty="0"/>
                    </a:p>
                  </a:txBody>
                  <a:tcPr/>
                </a:tc>
                <a:tc>
                  <a:txBody>
                    <a:bodyPr/>
                    <a:lstStyle/>
                    <a:p>
                      <a:pPr algn="ctr"/>
                      <a:r>
                        <a:rPr lang="es-AR" sz="2000" dirty="0"/>
                        <a:t>3.1.1</a:t>
                      </a:r>
                    </a:p>
                  </a:txBody>
                  <a:tcPr/>
                </a:tc>
                <a:tc>
                  <a:txBody>
                    <a:bodyPr/>
                    <a:lstStyle/>
                    <a:p>
                      <a:r>
                        <a:rPr lang="es-AR" sz="2000" dirty="0"/>
                        <a:t>H57 Declaración de idioma del documento.</a:t>
                      </a:r>
                    </a:p>
                  </a:txBody>
                  <a:tcPr/>
                </a:tc>
                <a:tc>
                  <a:txBody>
                    <a:bodyPr/>
                    <a:lstStyle/>
                    <a:p>
                      <a:pPr algn="r"/>
                      <a:r>
                        <a:rPr lang="es-AR" sz="2000" dirty="0"/>
                        <a:t>2</a:t>
                      </a:r>
                    </a:p>
                  </a:txBody>
                  <a:tcPr/>
                </a:tc>
                <a:extLst>
                  <a:ext uri="{0D108BD9-81ED-4DB2-BD59-A6C34878D82A}">
                    <a16:rowId xmlns:a16="http://schemas.microsoft.com/office/drawing/2014/main" val="1068124797"/>
                  </a:ext>
                </a:extLst>
              </a:tr>
              <a:tr h="414118">
                <a:tc rowSpan="3">
                  <a:txBody>
                    <a:bodyPr/>
                    <a:lstStyle/>
                    <a:p>
                      <a:r>
                        <a:rPr lang="es-AR" sz="2000" dirty="0"/>
                        <a:t>http://www.msaludjujuy.gov.ar/infectologia/uncinarias.htm</a:t>
                      </a:r>
                    </a:p>
                  </a:txBody>
                  <a:tcPr/>
                </a:tc>
                <a:tc>
                  <a:txBody>
                    <a:bodyPr/>
                    <a:lstStyle/>
                    <a:p>
                      <a:pPr algn="ctr"/>
                      <a:r>
                        <a:rPr lang="es-AR" sz="2000" dirty="0"/>
                        <a:t>1.1.1</a:t>
                      </a:r>
                    </a:p>
                  </a:txBody>
                  <a:tcPr/>
                </a:tc>
                <a:tc>
                  <a:txBody>
                    <a:bodyPr/>
                    <a:lstStyle/>
                    <a:p>
                      <a:r>
                        <a:rPr lang="es-AR" sz="2000" dirty="0"/>
                        <a:t>H37 Imágenes sin atributo </a:t>
                      </a:r>
                      <a:r>
                        <a:rPr lang="es-AR" sz="2000" b="1" dirty="0" err="1"/>
                        <a:t>alt</a:t>
                      </a:r>
                      <a:r>
                        <a:rPr lang="es-AR" sz="2000" dirty="0"/>
                        <a:t>.</a:t>
                      </a:r>
                    </a:p>
                  </a:txBody>
                  <a:tcPr/>
                </a:tc>
                <a:tc>
                  <a:txBody>
                    <a:bodyPr/>
                    <a:lstStyle/>
                    <a:p>
                      <a:pPr algn="r"/>
                      <a:r>
                        <a:rPr lang="es-AR" sz="2000" dirty="0"/>
                        <a:t>18</a:t>
                      </a:r>
                    </a:p>
                  </a:txBody>
                  <a:tcPr/>
                </a:tc>
                <a:extLst>
                  <a:ext uri="{0D108BD9-81ED-4DB2-BD59-A6C34878D82A}">
                    <a16:rowId xmlns:a16="http://schemas.microsoft.com/office/drawing/2014/main" val="3928061207"/>
                  </a:ext>
                </a:extLst>
              </a:tr>
              <a:tr h="414118">
                <a:tc vMerge="1">
                  <a:txBody>
                    <a:bodyPr/>
                    <a:lstStyle/>
                    <a:p>
                      <a:endParaRPr lang="es-AR" sz="2000" dirty="0"/>
                    </a:p>
                  </a:txBody>
                  <a:tcPr/>
                </a:tc>
                <a:tc>
                  <a:txBody>
                    <a:bodyPr/>
                    <a:lstStyle/>
                    <a:p>
                      <a:pPr algn="ctr"/>
                      <a:r>
                        <a:rPr lang="es-AR" sz="2000" dirty="0"/>
                        <a:t>1.1.1</a:t>
                      </a:r>
                    </a:p>
                  </a:txBody>
                  <a:tcPr/>
                </a:tc>
                <a:tc>
                  <a:txBody>
                    <a:bodyPr/>
                    <a:lstStyle/>
                    <a:p>
                      <a:r>
                        <a:rPr lang="es-AR" sz="2000" dirty="0"/>
                        <a:t>H24 Elementos </a:t>
                      </a:r>
                      <a:r>
                        <a:rPr lang="es-AR" sz="2000" b="1" dirty="0" err="1"/>
                        <a:t>area</a:t>
                      </a:r>
                      <a:r>
                        <a:rPr lang="es-AR" sz="2000" dirty="0"/>
                        <a:t> de los mapas de imagen sin atributo </a:t>
                      </a:r>
                      <a:r>
                        <a:rPr lang="es-AR" sz="2000" b="1" dirty="0" err="1"/>
                        <a:t>alt</a:t>
                      </a:r>
                      <a:r>
                        <a:rPr lang="es-AR" sz="2000" dirty="0"/>
                        <a:t>.</a:t>
                      </a:r>
                    </a:p>
                  </a:txBody>
                  <a:tcPr/>
                </a:tc>
                <a:tc>
                  <a:txBody>
                    <a:bodyPr/>
                    <a:lstStyle/>
                    <a:p>
                      <a:pPr algn="r"/>
                      <a:r>
                        <a:rPr lang="es-AR" sz="2000" dirty="0"/>
                        <a:t>23</a:t>
                      </a:r>
                    </a:p>
                  </a:txBody>
                  <a:tcPr/>
                </a:tc>
                <a:extLst>
                  <a:ext uri="{0D108BD9-81ED-4DB2-BD59-A6C34878D82A}">
                    <a16:rowId xmlns:a16="http://schemas.microsoft.com/office/drawing/2014/main" val="2754834841"/>
                  </a:ext>
                </a:extLst>
              </a:tr>
              <a:tr h="414118">
                <a:tc vMerge="1">
                  <a:txBody>
                    <a:bodyPr/>
                    <a:lstStyle/>
                    <a:p>
                      <a:endParaRPr lang="es-AR" sz="2000" dirty="0"/>
                    </a:p>
                  </a:txBody>
                  <a:tcPr/>
                </a:tc>
                <a:tc>
                  <a:txBody>
                    <a:bodyPr/>
                    <a:lstStyle/>
                    <a:p>
                      <a:pPr algn="ctr"/>
                      <a:r>
                        <a:rPr lang="es-AR" sz="2000" dirty="0"/>
                        <a:t>3.1.1</a:t>
                      </a:r>
                    </a:p>
                  </a:txBody>
                  <a:tcPr/>
                </a:tc>
                <a:tc>
                  <a:txBody>
                    <a:bodyPr/>
                    <a:lstStyle/>
                    <a:p>
                      <a:r>
                        <a:rPr lang="es-AR" sz="2000" dirty="0"/>
                        <a:t>H57 Declaración de idioma del documento.</a:t>
                      </a:r>
                    </a:p>
                  </a:txBody>
                  <a:tcPr/>
                </a:tc>
                <a:tc>
                  <a:txBody>
                    <a:bodyPr/>
                    <a:lstStyle/>
                    <a:p>
                      <a:pPr algn="r"/>
                      <a:r>
                        <a:rPr lang="es-AR" sz="2000" dirty="0"/>
                        <a:t>2</a:t>
                      </a:r>
                    </a:p>
                  </a:txBody>
                  <a:tcPr/>
                </a:tc>
                <a:extLst>
                  <a:ext uri="{0D108BD9-81ED-4DB2-BD59-A6C34878D82A}">
                    <a16:rowId xmlns:a16="http://schemas.microsoft.com/office/drawing/2014/main" val="1582089008"/>
                  </a:ext>
                </a:extLst>
              </a:tr>
            </a:tbl>
          </a:graphicData>
        </a:graphic>
      </p:graphicFrame>
    </p:spTree>
    <p:extLst>
      <p:ext uri="{BB962C8B-B14F-4D97-AF65-F5344CB8AC3E}">
        <p14:creationId xmlns:p14="http://schemas.microsoft.com/office/powerpoint/2010/main" val="426164786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dirty="0"/>
              <a:t>Análisis ARWeb</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133</a:t>
            </a:fld>
            <a:endParaRPr lang="es-ES" altLang="es-AR"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189666951"/>
              </p:ext>
            </p:extLst>
          </p:nvPr>
        </p:nvGraphicFramePr>
        <p:xfrm>
          <a:off x="425354" y="1512559"/>
          <a:ext cx="8229600" cy="4732666"/>
        </p:xfrm>
        <a:graphic>
          <a:graphicData uri="http://schemas.openxmlformats.org/drawingml/2006/table">
            <a:tbl>
              <a:tblPr firstRow="1" bandRow="1">
                <a:tableStyleId>{5C22544A-7EE6-4342-B048-85BDC9FD1C3A}</a:tableStyleId>
              </a:tblPr>
              <a:tblGrid>
                <a:gridCol w="1823003">
                  <a:extLst>
                    <a:ext uri="{9D8B030D-6E8A-4147-A177-3AD203B41FA5}">
                      <a16:colId xmlns:a16="http://schemas.microsoft.com/office/drawing/2014/main" val="2477780813"/>
                    </a:ext>
                  </a:extLst>
                </a:gridCol>
                <a:gridCol w="1127232">
                  <a:extLst>
                    <a:ext uri="{9D8B030D-6E8A-4147-A177-3AD203B41FA5}">
                      <a16:colId xmlns:a16="http://schemas.microsoft.com/office/drawing/2014/main" val="478385955"/>
                    </a:ext>
                  </a:extLst>
                </a:gridCol>
                <a:gridCol w="4404925">
                  <a:extLst>
                    <a:ext uri="{9D8B030D-6E8A-4147-A177-3AD203B41FA5}">
                      <a16:colId xmlns:a16="http://schemas.microsoft.com/office/drawing/2014/main" val="2306482188"/>
                    </a:ext>
                  </a:extLst>
                </a:gridCol>
                <a:gridCol w="874440">
                  <a:extLst>
                    <a:ext uri="{9D8B030D-6E8A-4147-A177-3AD203B41FA5}">
                      <a16:colId xmlns:a16="http://schemas.microsoft.com/office/drawing/2014/main" val="432321085"/>
                    </a:ext>
                  </a:extLst>
                </a:gridCol>
              </a:tblGrid>
              <a:tr h="714779">
                <a:tc>
                  <a:txBody>
                    <a:bodyPr/>
                    <a:lstStyle/>
                    <a:p>
                      <a:pPr algn="ctr"/>
                      <a:r>
                        <a:rPr lang="es-AR" sz="2000" dirty="0">
                          <a:solidFill>
                            <a:schemeClr val="tx1"/>
                          </a:solidFill>
                        </a:rPr>
                        <a:t>Recurso</a:t>
                      </a:r>
                    </a:p>
                  </a:txBody>
                  <a:tcPr/>
                </a:tc>
                <a:tc>
                  <a:txBody>
                    <a:bodyPr/>
                    <a:lstStyle/>
                    <a:p>
                      <a:pPr algn="ctr"/>
                      <a:r>
                        <a:rPr lang="es-AR" sz="2000" dirty="0">
                          <a:solidFill>
                            <a:schemeClr val="tx1"/>
                          </a:solidFill>
                        </a:rPr>
                        <a:t>Pautas</a:t>
                      </a:r>
                    </a:p>
                  </a:txBody>
                  <a:tcPr/>
                </a:tc>
                <a:tc>
                  <a:txBody>
                    <a:bodyPr/>
                    <a:lstStyle/>
                    <a:p>
                      <a:pPr algn="ctr"/>
                      <a:r>
                        <a:rPr lang="es-AR" sz="2000" dirty="0">
                          <a:solidFill>
                            <a:schemeClr val="tx1"/>
                          </a:solidFill>
                        </a:rPr>
                        <a:t>Técnicas</a:t>
                      </a:r>
                    </a:p>
                  </a:txBody>
                  <a:tcPr/>
                </a:tc>
                <a:tc>
                  <a:txBody>
                    <a:bodyPr/>
                    <a:lstStyle/>
                    <a:p>
                      <a:pPr algn="ctr"/>
                      <a:r>
                        <a:rPr lang="es-AR" sz="2000" dirty="0">
                          <a:solidFill>
                            <a:schemeClr val="tx1"/>
                          </a:solidFill>
                        </a:rPr>
                        <a:t>Línea</a:t>
                      </a:r>
                    </a:p>
                  </a:txBody>
                  <a:tcPr/>
                </a:tc>
                <a:extLst>
                  <a:ext uri="{0D108BD9-81ED-4DB2-BD59-A6C34878D82A}">
                    <a16:rowId xmlns:a16="http://schemas.microsoft.com/office/drawing/2014/main" val="3755929048"/>
                  </a:ext>
                </a:extLst>
              </a:tr>
              <a:tr h="414118">
                <a:tc rowSpan="3">
                  <a:txBody>
                    <a:bodyPr/>
                    <a:lstStyle/>
                    <a:p>
                      <a:r>
                        <a:rPr lang="es-AR" sz="2000" dirty="0"/>
                        <a:t>&lt;</a:t>
                      </a:r>
                      <a:r>
                        <a:rPr lang="es-AR" sz="2000" dirty="0" err="1"/>
                        <a:t>html</a:t>
                      </a:r>
                      <a:r>
                        <a:rPr lang="es-AR" sz="2000" dirty="0"/>
                        <a:t>&gt; &lt;</a:t>
                      </a:r>
                      <a:r>
                        <a:rPr lang="es-AR" sz="2000" dirty="0" err="1"/>
                        <a:t>html</a:t>
                      </a:r>
                      <a:r>
                        <a:rPr lang="es-AR" sz="2000" dirty="0"/>
                        <a:t>&gt;</a:t>
                      </a:r>
                    </a:p>
                  </a:txBody>
                  <a:tcPr/>
                </a:tc>
                <a:tc>
                  <a:txBody>
                    <a:bodyPr/>
                    <a:lstStyle/>
                    <a:p>
                      <a:pPr algn="ctr"/>
                      <a:r>
                        <a:rPr lang="es-AR" sz="2000" dirty="0"/>
                        <a:t>2.4.2</a:t>
                      </a:r>
                    </a:p>
                  </a:txBody>
                  <a:tcPr/>
                </a:tc>
                <a:tc>
                  <a:txBody>
                    <a:bodyPr/>
                    <a:lstStyle/>
                    <a:p>
                      <a:r>
                        <a:rPr lang="es-AR" sz="2000" dirty="0"/>
                        <a:t>H25 Sin título.</a:t>
                      </a:r>
                    </a:p>
                  </a:txBody>
                  <a:tcPr/>
                </a:tc>
                <a:tc>
                  <a:txBody>
                    <a:bodyPr/>
                    <a:lstStyle/>
                    <a:p>
                      <a:pPr algn="r"/>
                      <a:endParaRPr lang="es-AR" sz="2000" dirty="0"/>
                    </a:p>
                  </a:txBody>
                  <a:tcPr/>
                </a:tc>
                <a:extLst>
                  <a:ext uri="{0D108BD9-81ED-4DB2-BD59-A6C34878D82A}">
                    <a16:rowId xmlns:a16="http://schemas.microsoft.com/office/drawing/2014/main" val="3255690481"/>
                  </a:ext>
                </a:extLst>
              </a:tr>
              <a:tr h="414118">
                <a:tc vMerge="1">
                  <a:txBody>
                    <a:bodyPr/>
                    <a:lstStyle/>
                    <a:p>
                      <a:endParaRPr lang="es-AR" sz="2000" dirty="0"/>
                    </a:p>
                  </a:txBody>
                  <a:tcPr/>
                </a:tc>
                <a:tc>
                  <a:txBody>
                    <a:bodyPr/>
                    <a:lstStyle/>
                    <a:p>
                      <a:pPr algn="ctr"/>
                      <a:r>
                        <a:rPr lang="es-AR" sz="2000" dirty="0"/>
                        <a:t>3.1.1</a:t>
                      </a:r>
                    </a:p>
                  </a:txBody>
                  <a:tcPr/>
                </a:tc>
                <a:tc>
                  <a:txBody>
                    <a:bodyPr/>
                    <a:lstStyle/>
                    <a:p>
                      <a:r>
                        <a:rPr lang="es-AR" sz="2000" dirty="0"/>
                        <a:t>H57 Sin idioma.</a:t>
                      </a:r>
                    </a:p>
                  </a:txBody>
                  <a:tcPr/>
                </a:tc>
                <a:tc>
                  <a:txBody>
                    <a:bodyPr/>
                    <a:lstStyle/>
                    <a:p>
                      <a:pPr algn="r"/>
                      <a:r>
                        <a:rPr lang="es-AR" sz="2000" dirty="0"/>
                        <a:t>1</a:t>
                      </a:r>
                    </a:p>
                  </a:txBody>
                  <a:tcPr/>
                </a:tc>
                <a:extLst>
                  <a:ext uri="{0D108BD9-81ED-4DB2-BD59-A6C34878D82A}">
                    <a16:rowId xmlns:a16="http://schemas.microsoft.com/office/drawing/2014/main" val="3100741043"/>
                  </a:ext>
                </a:extLst>
              </a:tr>
              <a:tr h="545217">
                <a:tc vMerge="1">
                  <a:txBody>
                    <a:bodyPr/>
                    <a:lstStyle/>
                    <a:p>
                      <a:endParaRPr lang="es-AR" sz="2000" dirty="0"/>
                    </a:p>
                  </a:txBody>
                  <a:tcPr/>
                </a:tc>
                <a:tc>
                  <a:txBody>
                    <a:bodyPr/>
                    <a:lstStyle/>
                    <a:p>
                      <a:pPr algn="ctr"/>
                      <a:r>
                        <a:rPr lang="es-AR" sz="2000" dirty="0"/>
                        <a:t>4.1.2</a:t>
                      </a:r>
                    </a:p>
                  </a:txBody>
                  <a:tcPr/>
                </a:tc>
                <a:tc>
                  <a:txBody>
                    <a:bodyPr/>
                    <a:lstStyle/>
                    <a:p>
                      <a:r>
                        <a:rPr lang="es-AR" sz="2000" dirty="0"/>
                        <a:t>H88</a:t>
                      </a:r>
                      <a:r>
                        <a:rPr lang="es-AR" sz="2000" baseline="0" dirty="0"/>
                        <a:t> Sin tipo de documento.</a:t>
                      </a:r>
                      <a:endParaRPr lang="es-AR" sz="2000" dirty="0"/>
                    </a:p>
                  </a:txBody>
                  <a:tcPr/>
                </a:tc>
                <a:tc>
                  <a:txBody>
                    <a:bodyPr/>
                    <a:lstStyle/>
                    <a:p>
                      <a:pPr algn="r"/>
                      <a:r>
                        <a:rPr lang="es-AR" sz="2000" dirty="0"/>
                        <a:t>1</a:t>
                      </a:r>
                    </a:p>
                  </a:txBody>
                  <a:tcPr/>
                </a:tc>
                <a:extLst>
                  <a:ext uri="{0D108BD9-81ED-4DB2-BD59-A6C34878D82A}">
                    <a16:rowId xmlns:a16="http://schemas.microsoft.com/office/drawing/2014/main" val="1068124797"/>
                  </a:ext>
                </a:extLst>
              </a:tr>
              <a:tr h="414118">
                <a:tc>
                  <a:txBody>
                    <a:bodyPr/>
                    <a:lstStyle/>
                    <a:p>
                      <a:r>
                        <a:rPr lang="es-AR" sz="2000" dirty="0"/>
                        <a:t>http://www.transporte.gob.ar</a:t>
                      </a:r>
                    </a:p>
                  </a:txBody>
                  <a:tcPr/>
                </a:tc>
                <a:tc>
                  <a:txBody>
                    <a:bodyPr/>
                    <a:lstStyle/>
                    <a:p>
                      <a:pPr algn="ctr"/>
                      <a:r>
                        <a:rPr lang="es-AR" sz="2000" dirty="0"/>
                        <a:t>1.3.1</a:t>
                      </a:r>
                    </a:p>
                  </a:txBody>
                  <a:tcPr/>
                </a:tc>
                <a:tc>
                  <a:txBody>
                    <a:bodyPr/>
                    <a:lstStyle/>
                    <a:p>
                      <a:r>
                        <a:rPr lang="pt-BR" sz="2000" dirty="0"/>
                        <a:t>H42 Anidamiento incorrecto, pasa de </a:t>
                      </a:r>
                      <a:r>
                        <a:rPr lang="pt-BR" sz="2000" b="1" dirty="0"/>
                        <a:t>H1</a:t>
                      </a:r>
                      <a:r>
                        <a:rPr lang="pt-BR" sz="2000" dirty="0"/>
                        <a:t> a </a:t>
                      </a:r>
                      <a:r>
                        <a:rPr lang="pt-BR" sz="2000" b="1" dirty="0"/>
                        <a:t>H3</a:t>
                      </a:r>
                      <a:r>
                        <a:rPr lang="pt-BR" sz="2000" dirty="0"/>
                        <a:t>.</a:t>
                      </a:r>
                      <a:endParaRPr lang="es-AR" sz="2000" dirty="0"/>
                    </a:p>
                  </a:txBody>
                  <a:tcPr/>
                </a:tc>
                <a:tc>
                  <a:txBody>
                    <a:bodyPr/>
                    <a:lstStyle/>
                    <a:p>
                      <a:pPr algn="r"/>
                      <a:endParaRPr lang="es-AR" sz="2000" dirty="0"/>
                    </a:p>
                  </a:txBody>
                  <a:tcPr/>
                </a:tc>
                <a:extLst>
                  <a:ext uri="{0D108BD9-81ED-4DB2-BD59-A6C34878D82A}">
                    <a16:rowId xmlns:a16="http://schemas.microsoft.com/office/drawing/2014/main" val="3928061207"/>
                  </a:ext>
                </a:extLst>
              </a:tr>
              <a:tr h="414118">
                <a:tc rowSpan="4">
                  <a:txBody>
                    <a:bodyPr/>
                    <a:lstStyle/>
                    <a:p>
                      <a:r>
                        <a:rPr lang="es-AR" sz="2000" dirty="0"/>
                        <a:t>http://www.bcra.gov.ar</a:t>
                      </a:r>
                    </a:p>
                  </a:txBody>
                  <a:tcPr/>
                </a:tc>
                <a:tc>
                  <a:txBody>
                    <a:bodyPr/>
                    <a:lstStyle/>
                    <a:p>
                      <a:pPr algn="ctr"/>
                      <a:r>
                        <a:rPr lang="es-AR" sz="2000" dirty="0"/>
                        <a:t>1.3.1</a:t>
                      </a:r>
                    </a:p>
                  </a:txBody>
                  <a:tcPr/>
                </a:tc>
                <a:tc>
                  <a:txBody>
                    <a:bodyPr/>
                    <a:lstStyle/>
                    <a:p>
                      <a:r>
                        <a:rPr lang="es-AR" sz="2000" dirty="0"/>
                        <a:t>H51 Tabla sin encabezado (</a:t>
                      </a:r>
                      <a:r>
                        <a:rPr lang="es-AR" sz="2000" b="1" dirty="0" err="1"/>
                        <a:t>th</a:t>
                      </a:r>
                      <a:r>
                        <a:rPr lang="es-AR" sz="2000" dirty="0"/>
                        <a:t>).</a:t>
                      </a:r>
                    </a:p>
                  </a:txBody>
                  <a:tcPr/>
                </a:tc>
                <a:tc>
                  <a:txBody>
                    <a:bodyPr/>
                    <a:lstStyle/>
                    <a:p>
                      <a:pPr algn="r"/>
                      <a:r>
                        <a:rPr lang="es-AR" sz="2000" dirty="0"/>
                        <a:t>741</a:t>
                      </a:r>
                    </a:p>
                  </a:txBody>
                  <a:tcPr/>
                </a:tc>
                <a:extLst>
                  <a:ext uri="{0D108BD9-81ED-4DB2-BD59-A6C34878D82A}">
                    <a16:rowId xmlns:a16="http://schemas.microsoft.com/office/drawing/2014/main" val="604757788"/>
                  </a:ext>
                </a:extLst>
              </a:tr>
              <a:tr h="414118">
                <a:tc vMerge="1">
                  <a:txBody>
                    <a:bodyPr/>
                    <a:lstStyle/>
                    <a:p>
                      <a:endParaRPr lang="es-AR" sz="2000" dirty="0"/>
                    </a:p>
                  </a:txBody>
                  <a:tcPr/>
                </a:tc>
                <a:tc>
                  <a:txBody>
                    <a:bodyPr/>
                    <a:lstStyle/>
                    <a:p>
                      <a:pPr algn="ctr"/>
                      <a:r>
                        <a:rPr lang="es-AR" sz="2000" dirty="0"/>
                        <a:t>1.3.1</a:t>
                      </a:r>
                    </a:p>
                  </a:txBody>
                  <a:tcPr/>
                </a:tc>
                <a:tc>
                  <a:txBody>
                    <a:bodyPr/>
                    <a:lstStyle/>
                    <a:p>
                      <a:r>
                        <a:rPr lang="es-AR" sz="2000" dirty="0"/>
                        <a:t>H39 Tabla sin </a:t>
                      </a:r>
                      <a:r>
                        <a:rPr lang="es-AR" sz="2000" b="1" dirty="0" err="1"/>
                        <a:t>caption</a:t>
                      </a:r>
                      <a:r>
                        <a:rPr lang="es-AR" sz="2000" dirty="0"/>
                        <a:t>.</a:t>
                      </a:r>
                    </a:p>
                  </a:txBody>
                  <a:tcPr/>
                </a:tc>
                <a:tc>
                  <a:txBody>
                    <a:bodyPr/>
                    <a:lstStyle/>
                    <a:p>
                      <a:pPr algn="r"/>
                      <a:r>
                        <a:rPr lang="es-AR" sz="2000" dirty="0"/>
                        <a:t>741</a:t>
                      </a:r>
                    </a:p>
                  </a:txBody>
                  <a:tcPr/>
                </a:tc>
                <a:extLst>
                  <a:ext uri="{0D108BD9-81ED-4DB2-BD59-A6C34878D82A}">
                    <a16:rowId xmlns:a16="http://schemas.microsoft.com/office/drawing/2014/main" val="1820495044"/>
                  </a:ext>
                </a:extLst>
              </a:tr>
              <a:tr h="414118">
                <a:tc vMerge="1">
                  <a:txBody>
                    <a:bodyPr/>
                    <a:lstStyle/>
                    <a:p>
                      <a:endParaRPr lang="es-AR" sz="2000" dirty="0"/>
                    </a:p>
                  </a:txBody>
                  <a:tcPr/>
                </a:tc>
                <a:tc>
                  <a:txBody>
                    <a:bodyPr/>
                    <a:lstStyle/>
                    <a:p>
                      <a:pPr algn="ctr"/>
                      <a:r>
                        <a:rPr lang="es-AR" sz="2000" dirty="0"/>
                        <a:t>3.2.2</a:t>
                      </a:r>
                    </a:p>
                  </a:txBody>
                  <a:tcPr/>
                </a:tc>
                <a:tc>
                  <a:txBody>
                    <a:bodyPr/>
                    <a:lstStyle/>
                    <a:p>
                      <a:r>
                        <a:rPr lang="es-AR" sz="2000" dirty="0"/>
                        <a:t>G80 Formulario sin botón de envío.</a:t>
                      </a:r>
                    </a:p>
                  </a:txBody>
                  <a:tcPr/>
                </a:tc>
                <a:tc>
                  <a:txBody>
                    <a:bodyPr/>
                    <a:lstStyle/>
                    <a:p>
                      <a:pPr algn="r"/>
                      <a:r>
                        <a:rPr lang="es-AR" sz="2000" dirty="0"/>
                        <a:t>86</a:t>
                      </a:r>
                    </a:p>
                  </a:txBody>
                  <a:tcPr/>
                </a:tc>
                <a:extLst>
                  <a:ext uri="{0D108BD9-81ED-4DB2-BD59-A6C34878D82A}">
                    <a16:rowId xmlns:a16="http://schemas.microsoft.com/office/drawing/2014/main" val="3123799396"/>
                  </a:ext>
                </a:extLst>
              </a:tr>
              <a:tr h="414118">
                <a:tc vMerge="1">
                  <a:txBody>
                    <a:bodyPr/>
                    <a:lstStyle/>
                    <a:p>
                      <a:endParaRPr lang="es-AR" sz="2000" dirty="0"/>
                    </a:p>
                  </a:txBody>
                  <a:tcPr/>
                </a:tc>
                <a:tc>
                  <a:txBody>
                    <a:bodyPr/>
                    <a:lstStyle/>
                    <a:p>
                      <a:pPr algn="ctr"/>
                      <a:r>
                        <a:rPr lang="es-AR" sz="2000" dirty="0"/>
                        <a:t>4.1.1</a:t>
                      </a:r>
                    </a:p>
                  </a:txBody>
                  <a:tcPr/>
                </a:tc>
                <a:tc>
                  <a:txBody>
                    <a:bodyPr/>
                    <a:lstStyle/>
                    <a:p>
                      <a:r>
                        <a:rPr lang="pt-BR" sz="2000" dirty="0"/>
                        <a:t>H75 Documento HTML mal formado.</a:t>
                      </a:r>
                    </a:p>
                    <a:p>
                      <a:r>
                        <a:rPr lang="es-AR" sz="2000" dirty="0"/>
                        <a:t>Chequear: https://validator.w3.org/</a:t>
                      </a:r>
                    </a:p>
                  </a:txBody>
                  <a:tcPr/>
                </a:tc>
                <a:tc>
                  <a:txBody>
                    <a:bodyPr/>
                    <a:lstStyle/>
                    <a:p>
                      <a:pPr algn="r"/>
                      <a:endParaRPr lang="es-AR" sz="2000" dirty="0"/>
                    </a:p>
                  </a:txBody>
                  <a:tcPr/>
                </a:tc>
                <a:extLst>
                  <a:ext uri="{0D108BD9-81ED-4DB2-BD59-A6C34878D82A}">
                    <a16:rowId xmlns:a16="http://schemas.microsoft.com/office/drawing/2014/main" val="2438459138"/>
                  </a:ext>
                </a:extLst>
              </a:tr>
            </a:tbl>
          </a:graphicData>
        </a:graphic>
      </p:graphicFrame>
    </p:spTree>
    <p:extLst>
      <p:ext uri="{BB962C8B-B14F-4D97-AF65-F5344CB8AC3E}">
        <p14:creationId xmlns:p14="http://schemas.microsoft.com/office/powerpoint/2010/main" val="3204887039"/>
      </p:ext>
    </p:extLst>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11797</TotalTime>
  <Words>12008</Words>
  <Application>Microsoft Office PowerPoint</Application>
  <PresentationFormat>Presentación en pantalla (4:3)</PresentationFormat>
  <Paragraphs>1994</Paragraphs>
  <Slides>133</Slides>
  <Notes>133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133</vt:i4>
      </vt:variant>
    </vt:vector>
  </HeadingPairs>
  <TitlesOfParts>
    <vt:vector size="138" baseType="lpstr">
      <vt:lpstr>Arial</vt:lpstr>
      <vt:lpstr>Calibri</vt:lpstr>
      <vt:lpstr>Times New Roman</vt:lpstr>
      <vt:lpstr>Wingdings</vt:lpstr>
      <vt:lpstr>Diseño predeterminado</vt:lpstr>
      <vt:lpstr>Seminario de Accesibilidad Web</vt:lpstr>
      <vt:lpstr>Pablo Miguel Angel Pandolfo</vt:lpstr>
      <vt:lpstr>Organización</vt:lpstr>
      <vt:lpstr>Planificación</vt:lpstr>
      <vt:lpstr>¿Qué es la accesibilidad web?</vt:lpstr>
      <vt:lpstr>¿Qué es la accesibilidad web?</vt:lpstr>
      <vt:lpstr>¿Qué es la accesibilidad web?</vt:lpstr>
      <vt:lpstr>¿Qué es la accesibilidad web?</vt:lpstr>
      <vt:lpstr>¿Qué es la accesibilidad web?</vt:lpstr>
      <vt:lpstr>¿Qué es la accesibilidad web?</vt:lpstr>
      <vt:lpstr>¿Qué es la accesibilidad web?</vt:lpstr>
      <vt:lpstr>¿Qué es la accesibilidad web?</vt:lpstr>
      <vt:lpstr>Organización</vt:lpstr>
      <vt:lpstr>Pautas y leyes</vt:lpstr>
      <vt:lpstr>Pautas y leyes</vt:lpstr>
      <vt:lpstr>Pautas y leyes</vt:lpstr>
      <vt:lpstr>Pautas y leyes</vt:lpstr>
      <vt:lpstr>Pautas y leyes</vt:lpstr>
      <vt:lpstr>Pautas y leyes</vt:lpstr>
      <vt:lpstr>Pautas y leyes</vt:lpstr>
      <vt:lpstr>Pautas y leyes</vt:lpstr>
      <vt:lpstr>Pautas y leyes</vt:lpstr>
      <vt:lpstr>Pautas y leyes</vt:lpstr>
      <vt:lpstr>Pautas y leyes</vt:lpstr>
      <vt:lpstr>Organización</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Organización</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Organización</vt:lpstr>
      <vt:lpstr>Diseño accesible</vt:lpstr>
      <vt:lpstr>Diseño accesible</vt:lpstr>
      <vt:lpstr>Diseño accesible</vt:lpstr>
      <vt:lpstr>Diseño accesible</vt:lpstr>
      <vt:lpstr>Diseño accesible</vt:lpstr>
      <vt:lpstr>Diseño accesible</vt:lpstr>
      <vt:lpstr>Diseño accesible</vt:lpstr>
      <vt:lpstr>EJEMPLO</vt:lpstr>
      <vt:lpstr>Organización</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Herramienta ARWeb</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Organización</vt:lpstr>
      <vt:lpstr>Conclusiones</vt:lpstr>
      <vt:lpstr>Conclusiones</vt:lpstr>
      <vt:lpstr>Conclusiones</vt:lpstr>
      <vt:lpstr>Muchas Gracias</vt:lpstr>
      <vt:lpstr>Bibliografía</vt:lpstr>
      <vt:lpstr>Bibliografía</vt:lpstr>
      <vt:lpstr>Frases</vt:lpstr>
      <vt:lpstr>Análisis ARWeb</vt:lpstr>
      <vt:lpstr>Análisis ARWeb</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Pablo Pandolfo</cp:lastModifiedBy>
  <cp:revision>1124</cp:revision>
  <cp:lastPrinted>2016-09-27T16:55:46Z</cp:lastPrinted>
  <dcterms:created xsi:type="dcterms:W3CDTF">2010-05-23T14:28:12Z</dcterms:created>
  <dcterms:modified xsi:type="dcterms:W3CDTF">2016-10-01T09:54:21Z</dcterms:modified>
</cp:coreProperties>
</file>